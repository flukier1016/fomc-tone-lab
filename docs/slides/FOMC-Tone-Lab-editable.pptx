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7367cfa2e04b37" /><Relationship Type="http://schemas.openxmlformats.org/officeDocument/2006/relationships/extended-properties" Target="/docProps/app.xml" Id="R923797e1fe53493d" /><Relationship Type="http://schemas.openxmlformats.org/officeDocument/2006/relationships/officeDocument" Target="/ppt/presentation.xml" Id="Rbd26e330567d4caf" /></Relationships>
</file>

<file path=ppt/presentation.xml><?xml version="1.0" encoding="utf-8"?>
<p:presentation xmlns:p="http://schemas.openxmlformats.org/presentationml/2006/main">
  <p:sldMasterIdLst>
    <p:sldMasterId xmlns:r="http://schemas.openxmlformats.org/officeDocument/2006/relationships" id="2147483648" r:id="R8abde7933b4d429d"/>
  </p:sldMasterIdLst>
  <p:notesMasterIdLst>
    <p:notesMasterId xmlns:r="http://schemas.openxmlformats.org/officeDocument/2006/relationships" r:id="Reefad68a5a1c4e4d"/>
  </p:notesMasterIdLst>
  <p:sldIdLst>
    <p:sldId xmlns:r="http://schemas.openxmlformats.org/officeDocument/2006/relationships" id="256" r:id="R8f3053c206d242d5"/>
    <p:sldId xmlns:r="http://schemas.openxmlformats.org/officeDocument/2006/relationships" id="257" r:id="Rd4208d11f40f4ada"/>
    <p:sldId xmlns:r="http://schemas.openxmlformats.org/officeDocument/2006/relationships" id="258" r:id="R50aece78a9a24f6f"/>
    <p:sldId xmlns:r="http://schemas.openxmlformats.org/officeDocument/2006/relationships" id="259" r:id="R94a6b73920ea46f9"/>
    <p:sldId xmlns:r="http://schemas.openxmlformats.org/officeDocument/2006/relationships" id="260" r:id="Rf17e1ce1949b4d9a"/>
    <p:sldId xmlns:r="http://schemas.openxmlformats.org/officeDocument/2006/relationships" id="261" r:id="R40d915e2f0b64fe5"/>
    <p:sldId xmlns:r="http://schemas.openxmlformats.org/officeDocument/2006/relationships" id="262" r:id="Rfb97200e6caf4e19"/>
    <p:sldId xmlns:r="http://schemas.openxmlformats.org/officeDocument/2006/relationships" id="263" r:id="Rd793ae0e98f74d4b"/>
    <p:sldId xmlns:r="http://schemas.openxmlformats.org/officeDocument/2006/relationships" id="264" r:id="R88347bb376104305"/>
    <p:sldId xmlns:r="http://schemas.openxmlformats.org/officeDocument/2006/relationships" id="265" r:id="Rcdfca82180664eed"/>
    <p:sldId xmlns:r="http://schemas.openxmlformats.org/officeDocument/2006/relationships" id="266" r:id="Rb2aed3da95354fea"/>
    <p:sldId xmlns:r="http://schemas.openxmlformats.org/officeDocument/2006/relationships" id="267" r:id="R99aa7f3a5ebf4f14"/>
    <p:sldId xmlns:r="http://schemas.openxmlformats.org/officeDocument/2006/relationships" id="268" r:id="Rf2fd70e7f8b94fc0"/>
    <p:sldId xmlns:r="http://schemas.openxmlformats.org/officeDocument/2006/relationships" id="269" r:id="R03dd2c45a5bd4d01"/>
    <p:sldId xmlns:r="http://schemas.openxmlformats.org/officeDocument/2006/relationships" id="270" r:id="R6041cffa4fd34e7b"/>
    <p:sldId xmlns:r="http://schemas.openxmlformats.org/officeDocument/2006/relationships" id="271" r:id="R1633e3d46e2f410a"/>
    <p:sldId xmlns:r="http://schemas.openxmlformats.org/officeDocument/2006/relationships" id="272" r:id="R0a0c529069e8435e"/>
    <p:sldId xmlns:r="http://schemas.openxmlformats.org/officeDocument/2006/relationships" id="273" r:id="R75a7a39861bc4bed"/>
    <p:sldId xmlns:r="http://schemas.openxmlformats.org/officeDocument/2006/relationships" id="274" r:id="R0029e40e75b941e5"/>
    <p:sldId xmlns:r="http://schemas.openxmlformats.org/officeDocument/2006/relationships" id="275" r:id="Rbda4a301cd2a4990"/>
    <p:sldId xmlns:r="http://schemas.openxmlformats.org/officeDocument/2006/relationships" id="276" r:id="Rf5e85e775a1e430b"/>
    <p:sldId xmlns:r="http://schemas.openxmlformats.org/officeDocument/2006/relationships" id="277" r:id="R707d6de0ce414223"/>
    <p:sldId xmlns:r="http://schemas.openxmlformats.org/officeDocument/2006/relationships" id="278" r:id="Rd8cc9ad1efe348f8"/>
    <p:sldId xmlns:r="http://schemas.openxmlformats.org/officeDocument/2006/relationships" id="279" r:id="Rb240060cdff14651"/>
    <p:sldId xmlns:r="http://schemas.openxmlformats.org/officeDocument/2006/relationships" id="280" r:id="Rd049961f53724a4a"/>
    <p:sldId xmlns:r="http://schemas.openxmlformats.org/officeDocument/2006/relationships" id="281" r:id="R3ec4050cd605434b"/>
    <p:sldId xmlns:r="http://schemas.openxmlformats.org/officeDocument/2006/relationships" id="282" r:id="R7c0f5310ce5c43f1"/>
    <p:sldId xmlns:r="http://schemas.openxmlformats.org/officeDocument/2006/relationships" id="283" r:id="Re54e5cc2a1c54036"/>
    <p:sldId xmlns:r="http://schemas.openxmlformats.org/officeDocument/2006/relationships" id="284" r:id="Rd8b022949152491a"/>
    <p:sldId xmlns:r="http://schemas.openxmlformats.org/officeDocument/2006/relationships" id="285" r:id="R976ccc118eba40bd"/>
    <p:sldId xmlns:r="http://schemas.openxmlformats.org/officeDocument/2006/relationships" id="286" r:id="R9151fb7df7a644e0"/>
    <p:sldId xmlns:r="http://schemas.openxmlformats.org/officeDocument/2006/relationships" id="287" r:id="R110aa735a1f24d5c"/>
    <p:sldId xmlns:r="http://schemas.openxmlformats.org/officeDocument/2006/relationships" id="288" r:id="R529b529185994087"/>
    <p:sldId xmlns:r="http://schemas.openxmlformats.org/officeDocument/2006/relationships" id="289" r:id="R42820d561d084c0f"/>
    <p:sldId xmlns:r="http://schemas.openxmlformats.org/officeDocument/2006/relationships" id="290" r:id="R8e09be9884d04218"/>
    <p:sldId xmlns:r="http://schemas.openxmlformats.org/officeDocument/2006/relationships" id="291" r:id="R1d3fb6187c334023"/>
    <p:sldId xmlns:r="http://schemas.openxmlformats.org/officeDocument/2006/relationships" id="292" r:id="R4563b6c02d9b4d1a"/>
    <p:sldId xmlns:r="http://schemas.openxmlformats.org/officeDocument/2006/relationships" id="293" r:id="Rce461104a98c4f25"/>
    <p:sldId xmlns:r="http://schemas.openxmlformats.org/officeDocument/2006/relationships" id="294" r:id="R9ce6da3e85204a5a"/>
    <p:sldId xmlns:r="http://schemas.openxmlformats.org/officeDocument/2006/relationships" id="295" r:id="Rd80d3531c15a48a1"/>
    <p:sldId xmlns:r="http://schemas.openxmlformats.org/officeDocument/2006/relationships" id="296" r:id="Rc3da13cfc4fc45f0"/>
    <p:sldId xmlns:r="http://schemas.openxmlformats.org/officeDocument/2006/relationships" id="297" r:id="Rf309943e844a408f"/>
    <p:sldId xmlns:r="http://schemas.openxmlformats.org/officeDocument/2006/relationships" id="298" r:id="R185336f1be994ae8"/>
    <p:sldId xmlns:r="http://schemas.openxmlformats.org/officeDocument/2006/relationships" id="299" r:id="R08ff5feb4eec4e9e"/>
    <p:sldId xmlns:r="http://schemas.openxmlformats.org/officeDocument/2006/relationships" id="300" r:id="Rdb97829a08674819"/>
    <p:sldId xmlns:r="http://schemas.openxmlformats.org/officeDocument/2006/relationships" id="301" r:id="Rc5c17ec57e5744ee"/>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701899c0424eb8" /><Relationship Type="http://schemas.openxmlformats.org/officeDocument/2006/relationships/slideMaster" Target="/ppt/slideMasters/slideMaster1.xml" Id="R8abde7933b4d429d" /><Relationship Type="http://schemas.openxmlformats.org/officeDocument/2006/relationships/notesMaster" Target="/ppt/notesMasters/notesMaster1.xml" Id="Reefad68a5a1c4e4d" /><Relationship Type="http://schemas.openxmlformats.org/officeDocument/2006/relationships/presProps" Target="/ppt/presProps.xml" Id="Rc595677dd2544924" /><Relationship Type="http://schemas.openxmlformats.org/officeDocument/2006/relationships/tableStyles" Target="/ppt/tableStyles.xml" Id="R78f8d343368743f4" /><Relationship Type="http://schemas.openxmlformats.org/officeDocument/2006/relationships/slide" Target="/ppt/slides/slide1.xml" Id="R8f3053c206d242d5" /><Relationship Type="http://schemas.openxmlformats.org/officeDocument/2006/relationships/slide" Target="/ppt/slides/slide2.xml" Id="Rd4208d11f40f4ada" /><Relationship Type="http://schemas.openxmlformats.org/officeDocument/2006/relationships/slide" Target="/ppt/slides/slide3.xml" Id="R50aece78a9a24f6f" /><Relationship Type="http://schemas.openxmlformats.org/officeDocument/2006/relationships/slide" Target="/ppt/slides/slide4.xml" Id="R94a6b73920ea46f9" /><Relationship Type="http://schemas.openxmlformats.org/officeDocument/2006/relationships/slide" Target="/ppt/slides/slide5.xml" Id="Rf17e1ce1949b4d9a" /><Relationship Type="http://schemas.openxmlformats.org/officeDocument/2006/relationships/slide" Target="/ppt/slides/slide6.xml" Id="R40d915e2f0b64fe5" /><Relationship Type="http://schemas.openxmlformats.org/officeDocument/2006/relationships/slide" Target="/ppt/slides/slide7.xml" Id="Rfb97200e6caf4e19" /><Relationship Type="http://schemas.openxmlformats.org/officeDocument/2006/relationships/slide" Target="/ppt/slides/slide8.xml" Id="Rd793ae0e98f74d4b" /><Relationship Type="http://schemas.openxmlformats.org/officeDocument/2006/relationships/slide" Target="/ppt/slides/slide9.xml" Id="R88347bb376104305" /><Relationship Type="http://schemas.openxmlformats.org/officeDocument/2006/relationships/slide" Target="/ppt/slides/slide10.xml" Id="Rcdfca82180664eed" /><Relationship Type="http://schemas.openxmlformats.org/officeDocument/2006/relationships/slide" Target="/ppt/slides/slide11.xml" Id="Rb2aed3da95354fea" /><Relationship Type="http://schemas.openxmlformats.org/officeDocument/2006/relationships/slide" Target="/ppt/slides/slide12.xml" Id="R99aa7f3a5ebf4f14" /><Relationship Type="http://schemas.openxmlformats.org/officeDocument/2006/relationships/slide" Target="/ppt/slides/slide13.xml" Id="Rf2fd70e7f8b94fc0" /><Relationship Type="http://schemas.openxmlformats.org/officeDocument/2006/relationships/slide" Target="/ppt/slides/slide14.xml" Id="R03dd2c45a5bd4d01" /><Relationship Type="http://schemas.openxmlformats.org/officeDocument/2006/relationships/slide" Target="/ppt/slides/slide15.xml" Id="R6041cffa4fd34e7b" /><Relationship Type="http://schemas.openxmlformats.org/officeDocument/2006/relationships/slide" Target="/ppt/slides/slide16.xml" Id="R1633e3d46e2f410a" /><Relationship Type="http://schemas.openxmlformats.org/officeDocument/2006/relationships/slide" Target="/ppt/slides/slide17.xml" Id="R0a0c529069e8435e" /><Relationship Type="http://schemas.openxmlformats.org/officeDocument/2006/relationships/slide" Target="/ppt/slides/slide18.xml" Id="R75a7a39861bc4bed" /><Relationship Type="http://schemas.openxmlformats.org/officeDocument/2006/relationships/slide" Target="/ppt/slides/slide19.xml" Id="R0029e40e75b941e5" /><Relationship Type="http://schemas.openxmlformats.org/officeDocument/2006/relationships/slide" Target="/ppt/slides/slide20.xml" Id="Rbda4a301cd2a4990" /><Relationship Type="http://schemas.openxmlformats.org/officeDocument/2006/relationships/slide" Target="/ppt/slides/slide21.xml" Id="Rf5e85e775a1e430b" /><Relationship Type="http://schemas.openxmlformats.org/officeDocument/2006/relationships/slide" Target="/ppt/slides/slide22.xml" Id="R707d6de0ce414223" /><Relationship Type="http://schemas.openxmlformats.org/officeDocument/2006/relationships/slide" Target="/ppt/slides/slide23.xml" Id="Rd8cc9ad1efe348f8" /><Relationship Type="http://schemas.openxmlformats.org/officeDocument/2006/relationships/slide" Target="/ppt/slides/slide24.xml" Id="Rb240060cdff14651" /><Relationship Type="http://schemas.openxmlformats.org/officeDocument/2006/relationships/slide" Target="/ppt/slides/slide25.xml" Id="Rd049961f53724a4a" /><Relationship Type="http://schemas.openxmlformats.org/officeDocument/2006/relationships/slide" Target="/ppt/slides/slide26.xml" Id="R3ec4050cd605434b" /><Relationship Type="http://schemas.openxmlformats.org/officeDocument/2006/relationships/slide" Target="/ppt/slides/slide27.xml" Id="R7c0f5310ce5c43f1" /><Relationship Type="http://schemas.openxmlformats.org/officeDocument/2006/relationships/slide" Target="/ppt/slides/slide28.xml" Id="Re54e5cc2a1c54036" /><Relationship Type="http://schemas.openxmlformats.org/officeDocument/2006/relationships/slide" Target="/ppt/slides/slide29.xml" Id="Rd8b022949152491a" /><Relationship Type="http://schemas.openxmlformats.org/officeDocument/2006/relationships/slide" Target="/ppt/slides/slide30.xml" Id="R976ccc118eba40bd" /><Relationship Type="http://schemas.openxmlformats.org/officeDocument/2006/relationships/slide" Target="/ppt/slides/slide31.xml" Id="R9151fb7df7a644e0" /><Relationship Type="http://schemas.openxmlformats.org/officeDocument/2006/relationships/slide" Target="/ppt/slides/slide32.xml" Id="R110aa735a1f24d5c" /><Relationship Type="http://schemas.openxmlformats.org/officeDocument/2006/relationships/slide" Target="/ppt/slides/slide33.xml" Id="R529b529185994087" /><Relationship Type="http://schemas.openxmlformats.org/officeDocument/2006/relationships/slide" Target="/ppt/slides/slide34.xml" Id="R42820d561d084c0f" /><Relationship Type="http://schemas.openxmlformats.org/officeDocument/2006/relationships/slide" Target="/ppt/slides/slide35.xml" Id="R8e09be9884d04218" /><Relationship Type="http://schemas.openxmlformats.org/officeDocument/2006/relationships/slide" Target="/ppt/slides/slide36.xml" Id="R1d3fb6187c334023" /><Relationship Type="http://schemas.openxmlformats.org/officeDocument/2006/relationships/slide" Target="/ppt/slides/slide37.xml" Id="R4563b6c02d9b4d1a" /><Relationship Type="http://schemas.openxmlformats.org/officeDocument/2006/relationships/slide" Target="/ppt/slides/slide38.xml" Id="Rce461104a98c4f25" /><Relationship Type="http://schemas.openxmlformats.org/officeDocument/2006/relationships/slide" Target="/ppt/slides/slide39.xml" Id="R9ce6da3e85204a5a" /><Relationship Type="http://schemas.openxmlformats.org/officeDocument/2006/relationships/slide" Target="/ppt/slides/slide40.xml" Id="Rd80d3531c15a48a1" /><Relationship Type="http://schemas.openxmlformats.org/officeDocument/2006/relationships/slide" Target="/ppt/slides/slide41.xml" Id="Rc3da13cfc4fc45f0" /><Relationship Type="http://schemas.openxmlformats.org/officeDocument/2006/relationships/slide" Target="/ppt/slides/slide42.xml" Id="Rf309943e844a408f" /><Relationship Type="http://schemas.openxmlformats.org/officeDocument/2006/relationships/slide" Target="/ppt/slides/slide43.xml" Id="R185336f1be994ae8" /><Relationship Type="http://schemas.openxmlformats.org/officeDocument/2006/relationships/slide" Target="/ppt/slides/slide44.xml" Id="R08ff5feb4eec4e9e" /><Relationship Type="http://schemas.openxmlformats.org/officeDocument/2006/relationships/slide" Target="/ppt/slides/slide45.xml" Id="Rdb97829a08674819" /><Relationship Type="http://schemas.openxmlformats.org/officeDocument/2006/relationships/slide" Target="/ppt/slides/slide46.xml" Id="Rc5c17ec57e5744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e6a2ff245b4d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2f3feebca0413b" /><Relationship Type="http://schemas.openxmlformats.org/officeDocument/2006/relationships/notesMaster" Target="/ppt/notesMasters/notesMaster1.xml" Id="R11d8be24198047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3fe68b1e714217" /><Relationship Type="http://schemas.openxmlformats.org/officeDocument/2006/relationships/notesMaster" Target="/ppt/notesMasters/notesMaster1.xml" Id="Rce36098024f049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b18098db5143b7" /><Relationship Type="http://schemas.openxmlformats.org/officeDocument/2006/relationships/notesMaster" Target="/ppt/notesMasters/notesMaster1.xml" Id="Re23c6e2ea84841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5dbe61d3b642de" /><Relationship Type="http://schemas.openxmlformats.org/officeDocument/2006/relationships/notesMaster" Target="/ppt/notesMasters/notesMaster1.xml" Id="Rab7bb0b1bddd48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379bed593d4170" /><Relationship Type="http://schemas.openxmlformats.org/officeDocument/2006/relationships/notesMaster" Target="/ppt/notesMasters/notesMaster1.xml" Id="Rdbe10e09a2bf4d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6cedc68ba64837" /><Relationship Type="http://schemas.openxmlformats.org/officeDocument/2006/relationships/notesMaster" Target="/ppt/notesMasters/notesMaster1.xml" Id="R8d342bcbdbdf45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bc0410c10344fdf" /><Relationship Type="http://schemas.openxmlformats.org/officeDocument/2006/relationships/notesMaster" Target="/ppt/notesMasters/notesMaster1.xml" Id="R21f1c9153a6240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60bfcc71724e62" /><Relationship Type="http://schemas.openxmlformats.org/officeDocument/2006/relationships/notesMaster" Target="/ppt/notesMasters/notesMaster1.xml" Id="Rc043472e2e9f4d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7018236dcd4c1c" /><Relationship Type="http://schemas.openxmlformats.org/officeDocument/2006/relationships/notesMaster" Target="/ppt/notesMasters/notesMaster1.xml" Id="R23add5c95bdc4b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b55ab36bed4bb8" /><Relationship Type="http://schemas.openxmlformats.org/officeDocument/2006/relationships/notesMaster" Target="/ppt/notesMasters/notesMaster1.xml" Id="R1d70e1479bae43f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37d001f928f4a5b" /><Relationship Type="http://schemas.openxmlformats.org/officeDocument/2006/relationships/notesMaster" Target="/ppt/notesMasters/notesMaster1.xml" Id="R08b6cd0baeb84e1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d0a9677f4c4446f" /><Relationship Type="http://schemas.openxmlformats.org/officeDocument/2006/relationships/notesMaster" Target="/ppt/notesMasters/notesMaster1.xml" Id="R7f9ca898e1c14f8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d7fb3570fba4f1f" /><Relationship Type="http://schemas.openxmlformats.org/officeDocument/2006/relationships/notesMaster" Target="/ppt/notesMasters/notesMaster1.xml" Id="Rfb6fb023e4634cb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a2c9648bd40420d" /><Relationship Type="http://schemas.openxmlformats.org/officeDocument/2006/relationships/notesMaster" Target="/ppt/notesMasters/notesMaster1.xml" Id="R52dab93dedb44c9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9004dd1dbf740a1" /><Relationship Type="http://schemas.openxmlformats.org/officeDocument/2006/relationships/notesMaster" Target="/ppt/notesMasters/notesMaster1.xml" Id="R7bdd5b741160498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d9b6d6b396d45df" /><Relationship Type="http://schemas.openxmlformats.org/officeDocument/2006/relationships/notesMaster" Target="/ppt/notesMasters/notesMaster1.xml" Id="R4a10367a6f48478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559587fe3484384" /><Relationship Type="http://schemas.openxmlformats.org/officeDocument/2006/relationships/notesMaster" Target="/ppt/notesMasters/notesMaster1.xml" Id="R5f61c7a86735402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e273c968ef24ce1" /><Relationship Type="http://schemas.openxmlformats.org/officeDocument/2006/relationships/notesMaster" Target="/ppt/notesMasters/notesMaster1.xml" Id="R502d213f2b6a46e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dd62a4d54b04e1d" /><Relationship Type="http://schemas.openxmlformats.org/officeDocument/2006/relationships/notesMaster" Target="/ppt/notesMasters/notesMaster1.xml" Id="Rc1a3ca226fd94cd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87a7ad4afe64c5a" /><Relationship Type="http://schemas.openxmlformats.org/officeDocument/2006/relationships/notesMaster" Target="/ppt/notesMasters/notesMaster1.xml" Id="R84b20f1c7fbb44e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979f3b5e4054ce6" /><Relationship Type="http://schemas.openxmlformats.org/officeDocument/2006/relationships/notesMaster" Target="/ppt/notesMasters/notesMaster1.xml" Id="R789923f60a344b0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2489b6af8bb46ea" /><Relationship Type="http://schemas.openxmlformats.org/officeDocument/2006/relationships/notesMaster" Target="/ppt/notesMasters/notesMaster1.xml" Id="R6f4cf0ddc3644b8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b162afe8e4e4c3a" /><Relationship Type="http://schemas.openxmlformats.org/officeDocument/2006/relationships/notesMaster" Target="/ppt/notesMasters/notesMaster1.xml" Id="R607ad9f77373454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605571a31bc417a" /><Relationship Type="http://schemas.openxmlformats.org/officeDocument/2006/relationships/notesMaster" Target="/ppt/notesMasters/notesMaster1.xml" Id="R2efcb7de8ce94f6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63566a38c5844a0" /><Relationship Type="http://schemas.openxmlformats.org/officeDocument/2006/relationships/notesMaster" Target="/ppt/notesMasters/notesMaster1.xml" Id="R2f41018aeebe4c4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031f8ee24724a64" /><Relationship Type="http://schemas.openxmlformats.org/officeDocument/2006/relationships/notesMaster" Target="/ppt/notesMasters/notesMaster1.xml" Id="Rcec299f34f68473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fd00dd3784b4856" /><Relationship Type="http://schemas.openxmlformats.org/officeDocument/2006/relationships/notesMaster" Target="/ppt/notesMasters/notesMaster1.xml" Id="R5abfc1f4dada427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5c087581d974c8e" /><Relationship Type="http://schemas.openxmlformats.org/officeDocument/2006/relationships/notesMaster" Target="/ppt/notesMasters/notesMaster1.xml" Id="R084bc66dfa11438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b36b88074d442d8" /><Relationship Type="http://schemas.openxmlformats.org/officeDocument/2006/relationships/notesMaster" Target="/ppt/notesMasters/notesMaster1.xml" Id="R8ceb4520e7dd40f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55c756cda4249a6" /><Relationship Type="http://schemas.openxmlformats.org/officeDocument/2006/relationships/notesMaster" Target="/ppt/notesMasters/notesMaster1.xml" Id="R0ef7424362c84d7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67f65737da6457d" /><Relationship Type="http://schemas.openxmlformats.org/officeDocument/2006/relationships/notesMaster" Target="/ppt/notesMasters/notesMaster1.xml" Id="R07cdc84a9156412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3f48706e85b4c7e" /><Relationship Type="http://schemas.openxmlformats.org/officeDocument/2006/relationships/notesMaster" Target="/ppt/notesMasters/notesMaster1.xml" Id="Reb0d4a8c2e19404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3f8e45f3d43477e" /><Relationship Type="http://schemas.openxmlformats.org/officeDocument/2006/relationships/notesMaster" Target="/ppt/notesMasters/notesMaster1.xml" Id="R2bad8f801aa4401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4fec84c6218411a" /><Relationship Type="http://schemas.openxmlformats.org/officeDocument/2006/relationships/notesMaster" Target="/ppt/notesMasters/notesMaster1.xml" Id="R7194586894174df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cf2c775ba2e40cf" /><Relationship Type="http://schemas.openxmlformats.org/officeDocument/2006/relationships/notesMaster" Target="/ppt/notesMasters/notesMaster1.xml" Id="R6ca113eabc83418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63e0d043422474e" /><Relationship Type="http://schemas.openxmlformats.org/officeDocument/2006/relationships/notesMaster" Target="/ppt/notesMasters/notesMaster1.xml" Id="R6a38e298e113413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cd5626b8ff44b46" /><Relationship Type="http://schemas.openxmlformats.org/officeDocument/2006/relationships/notesMaster" Target="/ppt/notesMasters/notesMaster1.xml" Id="R916b2d08ce2b43c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f85f4372a8745f2" /><Relationship Type="http://schemas.openxmlformats.org/officeDocument/2006/relationships/notesMaster" Target="/ppt/notesMasters/notesMaster1.xml" Id="R6b0c6cab37064dd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bbc5c5c76a14e23" /><Relationship Type="http://schemas.openxmlformats.org/officeDocument/2006/relationships/notesMaster" Target="/ppt/notesMasters/notesMaster1.xml" Id="Rc24223479905477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b3c1d7c9a694ab0" /><Relationship Type="http://schemas.openxmlformats.org/officeDocument/2006/relationships/notesMaster" Target="/ppt/notesMasters/notesMaster1.xml" Id="Ra014ee406d67458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9d637fd78a14db4" /><Relationship Type="http://schemas.openxmlformats.org/officeDocument/2006/relationships/notesMaster" Target="/ppt/notesMasters/notesMaster1.xml" Id="Rdefc7aaa38c443a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7d022c68d6347b8" /><Relationship Type="http://schemas.openxmlformats.org/officeDocument/2006/relationships/notesMaster" Target="/ppt/notesMasters/notesMaster1.xml" Id="Re407f92c8c394e1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07054e4e449f4f8c" /><Relationship Type="http://schemas.openxmlformats.org/officeDocument/2006/relationships/notesMaster" Target="/ppt/notesMasters/notesMaster1.xml" Id="Rdd250d88740b418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f115c26ab3043bb" /><Relationship Type="http://schemas.openxmlformats.org/officeDocument/2006/relationships/notesMaster" Target="/ppt/notesMasters/notesMaster1.xml" Id="R010de0b656b5414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be6cb5aa8af44d9" /><Relationship Type="http://schemas.openxmlformats.org/officeDocument/2006/relationships/notesMaster" Target="/ppt/notesMasters/notesMaster1.xml" Id="Rd608a79419c7423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e476bb8b7814562" /><Relationship Type="http://schemas.openxmlformats.org/officeDocument/2006/relationships/notesMaster" Target="/ppt/notesMasters/notesMaster1.xml" Id="R2e9dacce196d4b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are Group 2. Our topic is the central bank communication index: read everything the Fed publishes, score its tone with Claude, see whether Treasuries react, and ask whether a duration trade can use it. Everything on these slides is computed live from our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define the investment question and the information available at each release. Then explain the readers, including the model fine-tuned locally, before judging their accuracy and recognition risk. Only then move to Treasury responses and the delayed duration trade. Forward evaluation and implementation follow the research results, and the close separates delivered functionality from evidence of profitability.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results, the idea. The Fed sets short-term interest rates, and it signals where they are going through what it says: statements, minutes, press conferences and speeches. When it sounds hawkish, ready to raise rates to cool inflation, yields rise and bond prices fall; when it sounds dovish, they move the other way. How much a bond portfolio gains or loses depends on its duration: seven years of duration loses about seven percent if yields rise one point. So the topic asks: can we read the tone of the Fed’s words, turn it into an index, and use it to decide how much duration to hold?</a:t>
            </a:r>
          </a:p>
          <a:p xmlns:a="http://schemas.openxmlformats.org/drawingml/2006/main">
            <a:r>
              <a:t>Source: FOMC statements of 21 Sep 2022 (+0.90) and 15 Mar 2020 (−0.95), scored by Claude; IEF and SHY durations from the backtest.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topic is number four: build a hawkish-dovish index from everything the Fed publishes, score it with Claude against a defined rubric with evidence, compare it with simpler baselines, test it on Treasury yields across the curve, and use it to tilt duration in a bond portfolio. The left column is what the brief asks for; the right column is what we built for each line. Why it matters: The brief’s key insight shapes every test: the market reprices a statement within minutes, so any tradable edge has to sit in slower documents or in the change of tone.</a:t>
            </a:r>
          </a:p>
          <a:p xmlns:a="http://schemas.openxmlformats.org/drawingml/2006/main">
            <a:r>
              <a:t>Source: IEOR 4723 final project brief, Topic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Six things from the lectures shaped how we built this. From Session One: prompting a general model has a ceiling, and training on labeled data can go past it, so we fine-tuned RoBERTa on the expert labels and report that it beats Claude. From Session Two: treat the prompt as a specification you version and check, and test whether a model is simply remembering history; hence the JSON rubric, the quote checks, the masked dates and the re-scoring. From Session Three: use only information that was public at the time, and count every variant you try; hence the release clocks, the next-close entry, and every strategy reported with costs and a placebo, including the one that failed. From Session Four: ground answers in sources; every score links back to the Fed's own words, and the archive is searchable by full text.</a:t>
            </a:r>
          </a:p>
          <a:p xmlns:a="http://schemas.openxmlformats.org/drawingml/2006/main">
            <a:r>
              <a:t>Source: IEOR 4723 Sessions 1 to 4 and the Topic 4 brief; page references in docs/COURSE_ALIGNMENT.md.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answers before the evidence, one card per hypothesis. H1: supported. H2: supported. H3: not supported. H4: mixed. For the desk: Use Claude to read the Fed faster and with evidence; do not expect a daily duration tilt on tone alone to pay.</a:t>
            </a:r>
          </a:p>
          <a:p xmlns:a="http://schemas.openxmlformats.org/drawingml/2006/main">
            <a:r>
              <a:t>Source: Project results, frozen 21 October 2026; design and pre-registration in docs/DESIGN.md.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corpus is collected from the Federal Reserve Board's own calendar, statements, minutes, transcripts and speech feed. Each release minute retains its source: text, the speech feed or a recorded convention. Press conferences keep the Chair's words, minutes omit attendance lists, and speeches under 300 words are excluded. The counts and annual bars use documents without an exclusion note. For the desk: One searchable store keeps source text, time provenance and every score, so a reading can be checked against its source.</a:t>
            </a:r>
          </a:p>
          <a:p xmlns:a="http://schemas.openxmlformats.org/drawingml/2006/main">
            <a:r>
              <a:t>Source: Federal Reserve Board website: FOMC calendar, statements, minutes, press conferences and speeches.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document's event window begins at the last Treasury fix before the first information is public, and ends at the first eligible fix after the full text is available. A statement has one fix-to-fix window; a press conference that straddles the Treasury fix spans two. A feed-timestamped speech's availability is delayed by 60 minutes for both the Treasury-window end and ETF-entry calculation. The exploratory entry is the first eligible ETF close; the primary waits one more trading day. A position earns only close-to-close returns after its entry. Weekends and holidays follow the observed trading calendar. For the desk: The event study asks when yields adjust; the backtest asks whether a later executable position can use the signal.</a:t>
            </a:r>
          </a:p>
          <a:p xmlns:a="http://schemas.openxmlformats.org/drawingml/2006/main">
            <a:r>
              <a:t>Source: Fed release times; Treasury par yields (about 3:30 p.m.) and ETF closes (4:00 p.m.); align.py.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level reading returns this object. Six dimensions on an integer scale from minus two to plus two, null when a document does not address one; an overall stance that weighs forward guidance and the balance of risks most; a continuous score for finer ranking between documents with the same stance; a confidence; and evidence quotes tied to a dimension. The schema is enforced by structured outputs, so nothing is parsed from prose. For the desk: The stance_score is the index; dimensions explain it and quotes locate supporting language.</a:t>
            </a:r>
          </a:p>
          <a:p xmlns:a="http://schemas.openxmlformats.org/drawingml/2006/main">
            <a:r>
              <a:t>Source: llm/rubric.py and llm/scorer.py.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document is scored against six policy dimensions with a holistic stance, a continuous score, confidence and quoted evidence. Every returned quote is checked against the cleaned source with typography normalized; matched spans are located as character offsets. The mean document evidence-match share is 99.96% over 1,509 level records. Unmatched quotes are disclosed, not treated as verified evidence. Finding the quoted language proves its location, not the correctness of the model's economic judgment. Request provenance and spending are detailed on the next page. For the desk: Matched spans make scores inspectable; quote matching alone does not establish that an economic interpretation is correct.</a:t>
            </a:r>
          </a:p>
          <a:p xmlns:a="http://schemas.openxmlformats.org/drawingml/2006/main">
            <a:r>
              <a:t>Source: Claude Opus 5.5 readings in the project store; quote checks in llm/scorer.py.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Claude traffic goes through one module. The full corpus ran as 7 Message Batches at half price, with the system prompt cached. Each record is keyed by a hash of prompt, schema and text, so a rerun never pays twice, and the 2,057 records are committed. 21 direct calls are the scheduled scoring of new documents and the monthly re-read. For the desk: Every reading is reproducible from its record: request and message IDs, tokens, cost and raw text.</a:t>
            </a:r>
          </a:p>
          <a:p xmlns:a="http://schemas.openxmlformats.org/drawingml/2006/main">
            <a:r>
              <a:t>Source: Anthropic Message Batches records in data/llm/; llm/scorer.py.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one real reading: the statement of 16 September. Claude scores it +0.75, hawkish, with confidence 0.85. The highlights are its evidence: the rate decision, the inflation language, the commitment to price stability. Each quote was found in the source text. For the desk: An analyst can check any score in seconds: the highlighted words are the evidence, located in the source.</a:t>
            </a:r>
          </a:p>
          <a:p xmlns:a="http://schemas.openxmlformats.org/drawingml/2006/main">
            <a:r>
              <a:t>Source: FOMC statement of 16 September 2026; Claude Opus 5.5, rubric 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readers. The dictionary needs no training. TF-IDF and sentence embeddings each fit a balanced logistic regression, with the penalty chosen by five-fold cross-validated macro-F1 on the train split. The RoBERTa reference uses the same folds and score. Claude reads the same test sentences for H1, and whole documents for the index, without task-specific training. A document's score for the sentence readers is the mean of P(hawkish) minus P(dovish) over its sentences. Why it matters: Same data, same folds, same score: the readers differ only in how they represent a sentence.</a:t>
            </a:r>
          </a:p>
          <a:p xmlns:a="http://schemas.openxmlformats.org/drawingml/2006/main">
            <a:r>
              <a:t>Source: Trillion Dollar Words (Shah, Paturi and Chava, 2023): 1,984 training and 496 test sentences.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a pretrained RoBERTa encoder with a three-class classification head. We update all its parameters locally on an Apple GPU through PyTorch MPS. The saved record identifies the backbone revision, train/test sentence hashes, device, software versions, every search run and the final seeds. The 1,984 training sentences and the 496-sentence held-out test are the same split used by the supervised baselines. Five-fold stratified validation selects architecture, learning rate and stopping epoch without consulting test performance. Training uses class-balanced cross-entropy, AdamW, 10% warmup, linear decay and gradient clipping. The final chosen configuration is fit on all training sentences with five seeds; their class probabilities are averaged before the fixed ensemble is evaluated. Document tone is the mean of P(hawkish) minus P(dovish) across sentences. This reference was added after the original results and does not replace the frozen Claude H1 comparison, event study or duration strategy. The next slide shows the complete parameter search; the following slides compare held-out performance.</a:t>
            </a:r>
          </a:p>
          <a:p xmlns:a="http://schemas.openxmlformats.org/drawingml/2006/main">
            <a:r>
              <a:t>Source: RoBERTa (Liu et al., 2019); Trillion Dollar Words training labels; finetune.py.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search ran RoBERTa-base at four learning rates and RoBERTa-large at three, then two refinements of the best: layer-wise learning-rate decay and batches of 32. Each setting ran on the TF-IDF baseline's five folds for ten epochs, scored after each, so the epoch with the best average was chosen with the rest. The winner was refit on all 1,984 sentences with five seeds, stopped at that epoch, and their probabilities averaged. For the desk: The test split was read once, by the chosen setting; every setting tried is in the record.</a:t>
            </a:r>
          </a:p>
          <a:p xmlns:a="http://schemas.openxmlformats.org/drawingml/2006/main">
            <a:r>
              <a:t>Source: finetune.py; data/baselines/roberta-tuned.json.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readers on the same 496 sentences that finance experts labeled hawkish, dovish or neutral. A dictionary of policy words reaches 0.51; two learned baselines, TF-IDF and sentence embeddings, reach about 0.58. Claude reaches 0.66, the highest agreement beyond chance of the four. For reference, added after the results: a RoBERTa we fine-tuned on the same 1,984 labeled sentences reaches 0.74. Trained on the labels, a transformer does better still; Claude needed none. For the desk: The baselines see words; Claude sees policy. The gap is largest on sentences that hedge, qualify or look ahead.</a:t>
            </a:r>
          </a:p>
          <a:p xmlns:a="http://schemas.openxmlformats.org/drawingml/2006/main">
            <a:r>
              <a:t>Source: Trillion Dollar Words test split, 496 expert-labeled sentences (Shah, Paturi and Chava,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Claude's macro-F1 is 0.661. Against each reader, the gap is bootstrapped by resampling the same sentences 2,000 times; the interval and two-sided p come from that distribution. McNemar's test uses only the sentences the two readers label differently. These labels have been public since 2023 and may be in training. The post-cutoff human test was not run; masked/raw agreement partly addresses contamination risk. How to read it: A paired test on the same sentences: each reader's gap to Claude, its interval, and the sentences only one of them gets right.</a:t>
            </a:r>
          </a:p>
          <a:p xmlns:a="http://schemas.openxmlformats.org/drawingml/2006/main">
            <a:r>
              <a:t>Source: Trillion Dollar Words test split (496 sentences); evaluate/validity.py.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matrices count the 496 test sentences by the experts' label in rows and the reader's label in columns. Claude's largest error is reading neutral sentences as dovish: it leans where the annotators saw none, which fits a reader of whole documents applied to single sentences. For the desk: Shading is each row's share: a dark diagonal is a reader that agrees with the experts.</a:t>
            </a:r>
          </a:p>
          <a:p xmlns:a="http://schemas.openxmlformats.org/drawingml/2006/main">
            <a:r>
              <a:t>Source: Trillion Dollar Words test split; rows are the experts’ labels, columns the reader’s.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obvious question after the last slide: what if, instead of an LLM, we train a transformer on the same 1,984 hand-labeled sentences the TF-IDF classifier learns from? We fine-tuned RoBERTa, tried 9 settings on the same five folds, refit the best with five seeds and read the test sentences once. It reaches 0.74, above Claude's 0.66. On whole documents the two readers mostly agree: r = statements 0.77 · minutes 0.86 · press conferences 0.79 · speeches 0.70. Because it came after the results, it is a reference, not part of H1. For the desk: Labels buy accuracy on sentences like these; Claude needs none, reads whole documents and quotes its evidence.</a:t>
            </a:r>
          </a:p>
          <a:p xmlns:a="http://schemas.openxmlformats.org/drawingml/2006/main">
            <a:r>
              <a:t>Source: RoBERTa (Liu et al., 2019); Trillion Dollar Words (Shah, Paturi and Chava,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honest worry: Claude has read history, including what markets did. With every date, name and rate level masked, it still dates 99% of statements to the exact month, so it recognizes them. But its scores barely move when those details are removed: correlation 0.99. The check partly addresses recognition risk; it cannot rule out contamination. For the desk: The model knows Fed history, so trust rests on two checks: masked scores match, and the post-cutoff sample keeps growing.</a:t>
            </a:r>
          </a:p>
          <a:p xmlns:a="http://schemas.openxmlformats.org/drawingml/2006/main">
            <a:r>
              <a:t>Source: audit.py: masked and raw readings, month identification.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checks. A separate batch of 152 documents re-scored gives r of 0.996. Masked statements are dated to the exact month almost every time, consistent with recognition but not proof of memorization. Scores with dates, names and rate levels masked track the raw ones at r of 0.99. Every month eight anchor documents are read again through the current model and pipeline; a change past the limits starts a new experiment. For the desk: Masking dates and names barely changes scores; recognition risk and possible shared bias remain.</a:t>
            </a:r>
          </a:p>
          <a:p xmlns:a="http://schemas.openxmlformats.org/drawingml/2006/main">
            <a:r>
              <a:t>Source: audit.py.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dot is a set of minutes scored by Claude Opus 5.5; the line is a rolling median. The latest minutes, released 7 October, rank in the 96th percentile of all minutes since 2009.</a:t>
            </a:r>
          </a:p>
          <a:p xmlns:a="http://schemas.openxmlformats.org/drawingml/2006/main">
            <a:r>
              <a:t>Source: FOMC minutes since 2009, scored by Claude Opus 5.5.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statement is parsed for the decision and compared word by word with the previous one. The September hike rewrote 35 percent of the statement against a median of 14 percent. At the previous meeting 3 members had dissented for a hike. For the desk: Read the redline, not only the decision: new phrases and vanished dissents show how much conviction is behind a move.</a:t>
            </a:r>
          </a:p>
          <a:p xmlns:a="http://schemas.openxmlformats.org/drawingml/2006/main">
            <a:r>
              <a:t>Source: FOMC statements since 2009 (21 hikes, 11 cuts, 111 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specification across the grid: the yield change over the release window on standardized tone, with HC1 errors. The main grid crosses four document groups, the readers, level and shift, and six outcomes: 198 tests, with Benjamini-Hochberg q-values across all of them. 26 survive at q below 0.10. Controls, split samples, the day-before placebo and the drift outcomes are reported beside each test, outside the family. For the desk: BH adjustment addresses the main-grid search; it does not identify an exogenous communication shock.</a:t>
            </a:r>
          </a:p>
          <a:p xmlns:a="http://schemas.openxmlformats.org/drawingml/2006/main">
            <a:r>
              <a:t>Source: evaluate/event_study.py.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lines show the average path of the 2-year around release days for the most dovish, middle and most hawkish thirds of tone shift in press conferences. One SD more hawkish accompanies a 2-year move of +3.9 basis points over the release window, t of 3.90. The day before: t of 1.71. With the 3-month bill as a control: t of 3.20. With the TF-IDF classifier's tone of the same documents as a control, Claude's tone still has a t of 3.57; it adds an association beyond the TF-IDF score.</a:t>
            </a:r>
          </a:p>
          <a:p xmlns:a="http://schemas.openxmlformats.org/drawingml/2006/main">
            <a:r>
              <a:t>Source: Treasury par yields; 94 release windows; evaluate/event_study.py.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brief’s tone shift between consecutive statements. We regress each yield’s move over the statement window on the change in level score since the previous decision. The strongest association is at the 5-year; the result is descriptive, not a causal estimate. The yields are the Treasury’s daily par curve, the same series FRED republishes; FRED was unavailable when we last ran the pipeline, and the next run tries it first again. For the desk: Daily fixes cannot isolate statement information from an overlapping press conference.</a:t>
            </a:r>
          </a:p>
          <a:p xmlns:a="http://schemas.openxmlformats.org/drawingml/2006/main">
            <a:r>
              <a:t>Source: FOMC statements and Treasury par yields; evaluate/event_study.py.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2-year relationship, read across every robustness row. The near-term surprise, the announced move and the TF-IDF tone of the same transcript each leave it significant, so Claude reads something the decision and word counts do not. It holds in both halves of the sample. The day-before placebo is weaker and later drift is not statistically detectable; full market pricing is not established. For the desk: Control and split-sample checks do not separate an exogenous language shock from shared news.</a:t>
            </a:r>
          </a:p>
          <a:p xmlns:a="http://schemas.openxmlformats.org/drawingml/2006/main">
            <a:r>
              <a:t>Source: Stored event-study estimates; evaluate/event_study.py.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ran 198 exploratory release-window regressions and corrected for that family. 26 survive at a 10 percent false-discovery rate, and 16 of them use Claude’s reading. The chart shows the 2-year coefficients by document group for the three strongest readers. For the desk: False-discovery control addresses specification search, not shared news or causal identification.</a:t>
            </a:r>
          </a:p>
          <a:p xmlns:a="http://schemas.openxmlformats.org/drawingml/2006/main">
            <a:r>
              <a:t>Source: Benjamini and Hochberg (1995); evaluate/event_study.py.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Signals are standardized against earlier documents of the same type only. A hawkish document sets a negative position, capped so one signal moves at most half a unit and all open trades at most one. Returns are the IEF-minus-SHY spread with costs on both legs for every change. The probabilistic Sharpe ratio allows for skew and fat tails; the deflated one raises the bar to what the best of all variants would show by luck.</a:t>
            </a:r>
          </a:p>
          <a:p xmlns:a="http://schemas.openxmlformats.org/drawingml/2006/main">
            <a:r>
              <a:t>Source: Bailey and López de Prado (2012, 2014); evaluate/backtest.py.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tilt was specified before results: Claude's level scores on minutes and speeches, next-day ETF entry, five-day hold, after costs. Its Sharpe is -0.18. All 116 tested variants are reported; 0 pass the 95% deflated-Sharpe criterion, against an expected-best no-skill Sharpe of 0.48. PSR compares the primary Sharpe with zero; DSR adjusts the comparison for the search. The primary test was rerun once on 21 October 2026 after code review restored the speech-availability buffer and decision-with-decision comparisons in the written design. Sharpe changed from −0.23 to -0.18; the verdict did not change. This daily-horizon result does not establish that every possible trading edge has disappeared.</a:t>
            </a:r>
          </a:p>
          <a:p xmlns:a="http://schemas.openxmlformats.org/drawingml/2006/main">
            <a:r>
              <a:t>Source: Yahoo Finance ETF closes; Bailey and López de Prado (2014); evaluate/backtest.py; docs/DESIGN.md.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a document and choose Explore duration. The workspace reads its score from the frozen primary model. It standardizes only against earlier eligible documents of the same type. The fixed rule maps that z-score to a share of the duration budget, as in the historical test. The user supplies capital, portfolio duration and the budget; an equal-dollar ETF overlay then gives dollar DV01, round-trip trading cost and parallel-shock P&amp;L. Non-primary types, insufficient history and low policy relevance receive no rule-sized trade. Manual overrides remain labeled. Historical and forward tests stay one click away, including the negative H3 result. This tool does not add evidence of profitability.</a:t>
            </a:r>
          </a:p>
          <a:p xmlns:a="http://schemas.openxmlformats.org/drawingml/2006/main">
            <a:r>
              <a:t>Source: duration.py; frozen reader and entry rules from the backtest.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live Fed-now page. The band is the target range, the blue line is where overnight money trades, and the orange line is the 2-year. The gap between the last two is a rough read of where the market thinks policy is going.</a:t>
            </a:r>
          </a:p>
          <a:p xmlns:a="http://schemas.openxmlformats.org/drawingml/2006/main">
            <a:r>
              <a:t>Source: New York Fed (EFFR, SOFR); FRED or U.S. Treasury (2-year); FOMC minutes (roster).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Does Claude's reading add to what the market already prices about the next decision? For each of the 142 decisions since 2009 we model the decision (cut, hold or hike) on the 3-month bill and 2-year over the policy rate at the last close before it, and on the tone of the latest minutes, the speeches of the previous 60 days and the previous statement. The market's lean alone explains 63%; tone adds a little in sample. In real time, forecasting every decision from 2017 with only earlier data, adding tone does not lower the error. We added this test after the results, so treat it as exploratory.</a:t>
            </a:r>
          </a:p>
          <a:p xmlns:a="http://schemas.openxmlformats.org/drawingml/2006/main">
            <a:r>
              <a:t>Source: FOMC decisions and pre-meeting Treasury yields; evaluate/forecast.py.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decision since 2009 is modeled on the market's lean the evening before and on the tone of the latest minutes, recent speeches and the previous statement. In sample the tone terms are jointly significant at the 5% level; R² is 0.625 for the market and 0.644 with tone. Forecasting each decision from 2017 with only earlier data, adding tone does not lower the error. For the desk: Adding tone does not lower real-time forecast error in this sample; this result is exploratory.</a:t>
            </a:r>
          </a:p>
          <a:p xmlns:a="http://schemas.openxmlformats.org/drawingml/2006/main">
            <a:r>
              <a:t>Source: evaluate/forecast.py.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21 October 2026 the research was frozen. For each document type the strongest surviving 2-year relationship was written to a file with its coefficient and the in-sample mean and SD of its tone measure. Every evening each new release gets a predicted move beside its actual one, and the pre-registered trade runs through the backtest's own code, counted from the first close after the freeze.</a:t>
            </a:r>
          </a:p>
          <a:p xmlns:a="http://schemas.openxmlformats.org/drawingml/2006/main">
            <a:r>
              <a:t>Source: evaluate/forward.py; data/forward/rules.json.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in one picture. Five public sources feed ten pipeline stages. Every stage writes to a single SQLite store, and three front doors read it: the command line that runs the research, a REST API, and the dashboard, deployed as a read-only demo. Why it matters: Stages talk only through the store, so each can be rerun, tested or replaced on its own.</a:t>
            </a:r>
          </a:p>
          <a:p xmlns:a="http://schemas.openxmlformats.org/drawingml/2006/main">
            <a:r>
              <a:t>Source: Project code in src/fomc/ (Python 3.12, SQLite, FastAPI, ECharts), deployed on Cloud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fomc run walks ten stages in order. Each stage's inputs are hashed, files, code and the parts of the settings it reads, and the stage is skipped when the hash matches the last run. Since the freeze the research stages are skipped regardless, unless asked to unfreeze. Full-text search is an FTS5 index over the documents table without duplicating text. The store: 20 tables, schema v4 with automatic migrations; every stage run is logged in pipeline_runs.</a:t>
            </a:r>
          </a:p>
          <a:p xmlns:a="http://schemas.openxmlformats.org/drawingml/2006/main">
            <a:r>
              <a:t>Source: db.py, store.py and cli.py.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 serves 36 JSON endpoints; every read carries a validator, so an unchanged response costs a 304. The front end has no build step. The deck is rendered by parallel headless Chrome into one unified story with PDF and editable PowerPoint exports. An Atom feed gives each new document with its reading. Security: The hosted app holds no key: settings, scoring and labeling are locked by FOMC_PUBLIC=1.</a:t>
            </a:r>
          </a:p>
          <a:p xmlns:a="http://schemas.openxmlformats.org/drawingml/2006/main">
            <a:r>
              <a:t>Source: api.py and web/app.js.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workflow is configured for every evening and the afternoon of a statement or minutes, after a fifteen-second check. It refreshes data, scores what is new under the caps, runs the forward test, then signs in to Google Cloud without a key and rolls out a new revision. A strict check fails the run if a scheduled release never arrives. The service scales to zero, kept warm by a free scheduler ping. These are configured controls; verify the workflow and cloud build's terminal state before treating a refresh as successful. Operations: A refresh that stops bringing things in fails loudly: GitHub emails the owner.</a:t>
            </a:r>
          </a:p>
          <a:p xmlns:a="http://schemas.openxmlformats.org/drawingml/2006/main">
            <a:r>
              <a:t>Source: .github/workflows/refresh.yml; docs/OPERATIONS.md.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132 tests run offline on this revision. The duration tests check the sizing identities, prior-only signals and input validation. The timing suite holds the no-look-ahead rules. The scoring engine is tested against a stub client, so the suite never spends money. The research tests check Benjamini-Hochberg against statsmodels and the Sharpe statistics. The operations tests cover the release-day check, the cap, drift and the strict freshness check. For the desk: The rules that make a result trustworthy, like no look-ahead, are tests, not intentions.</a:t>
            </a:r>
          </a:p>
          <a:p xmlns:a="http://schemas.openxmlformats.org/drawingml/2006/main">
            <a:r>
              <a:t>Source: pytest collection of this revision (src/fomc/test_inventory.json).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product: a home page with the Fed pulse and the four findings, the Fed-now pages with rates, the Committee (click a member for their background, the tone of every speech and their dissents) and every decision redlined, and the research pages. It is live; we can switch to it now. Try it: Everything in this deck is one click away in the live app, with the source documents behind every number.</a:t>
            </a:r>
          </a:p>
          <a:p xmlns:a="http://schemas.openxmlformats.org/drawingml/2006/main">
            <a:r>
              <a:t>Source: fedtone.web.app (read-only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additions extend the brief without changing the frozen H1 to H4 results. The trained transformer and forecast are exploratory references. The forward test uses new releases under fixed rules.</a:t>
            </a:r>
          </a:p>
          <a:p xmlns:a="http://schemas.openxmlformats.org/drawingml/2006/main">
            <a:r>
              <a:t>Source: Project code; docs/ASSIGNMENT.md.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seven components in the brief are implemented. A negative trading result does not mean the backtest is missing. The corpus covers the four requested document types. Claude scores have a defined rubric and evidence spans. Dictionary and sentence-embedding baselines share an expert-labeled test. Five Treasury tenors use the FRED series with an official Treasury fallback. AGG and IEI views expose the delayed duration tilt, including costs and multiple-testing controls. Daily windows respect public-release times but cannot identify minute-by-minute pricing. Minutes, speeches and statement shifts are all tested. Optional post-cutoff human annotation was not run and is not presented as completed.</a:t>
            </a:r>
          </a:p>
          <a:p xmlns:a="http://schemas.openxmlformats.org/drawingml/2006/main">
            <a:r>
              <a:t>Source: docs/ASSIGNMENT.md and docs/BRIEF_AUDIT.md.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takeaways. Claude outperforms the stated baselines on public expert sentences, with no task-specific training, but public-label exposure remains possible. Tone is associated with release-window yield changes. The tested delayed duration tilt does not beat chance; this does not prove full market pricing. For the desk: Use the evidence-linked index for inspection; the tested daily tilt does not establish an investable edge.</a:t>
            </a:r>
          </a:p>
          <a:p xmlns:a="http://schemas.openxmlformats.org/drawingml/2006/main">
            <a:r>
              <a:t>Source: Project results, frozen 21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Limits, stated plainly. We use daily closes; intraday data would sharpen the statement tests. The sample after the configured cutoff is still small. The post-cutoff human test was not run. H1 is supported on the public expert labels, which may have appeared in training. The masking audit only partly addresses that risk.</a:t>
            </a:r>
          </a:p>
          <a:p xmlns:a="http://schemas.openxmlformats.org/drawingml/2006/main">
            <a:r>
              <a:t>Source: docs/DESIGN.md (limitations); docs/PRODUCT_VALIDATION.md.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Happy to take questions, or to open any page of the dashboard live. The code is public at github.com/flukier1016/fomc-tone-lab, with the same files as the submitted code 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b781b0df9645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5036688832413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196883e5a3b45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6a745c17a2d44f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c47f51a25534ce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fe27f93dc4549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D951AF-DA59-48E5-A59A-795222F8B709}"/>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F5DC490-0BEE-450D-AC78-F2FB8CC2F756}"/>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F8C743E-C161-45BB-97B8-9C9E773D94C3}"/>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ACA3F2-876F-44B5-8CF2-6DAA794423D2}"/>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27CB4BA-6840-4237-8D9A-25DE89EEC6F3}"/>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0FF6BAC-BF94-44EF-8792-6944F84AD49E}"/>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E86A1C-5E20-47A5-A360-5033E5BEA0CE}"/>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58F046F-52CA-435A-B1AE-2C2620B25651}"/>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ABE5C8-FAF8-4967-A49D-8E7147F59C0D}"/>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E46A749-DAED-4DA2-825D-D6E225BE4CC3}"/>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d5fc0c263846e4" /><Relationship Type="http://schemas.openxmlformats.org/officeDocument/2006/relationships/slideLayout" Target="/ppt/slideLayouts/slideLayout1.xml" Id="R63d25515d4054dfc" /><Relationship Type="http://schemas.openxmlformats.org/officeDocument/2006/relationships/slideLayout" Target="/ppt/slideLayouts/slideLayout2.xml" Id="R930cc2a421094244" /><Relationship Type="http://schemas.openxmlformats.org/officeDocument/2006/relationships/slideLayout" Target="/ppt/slideLayouts/slideLayout3.xml" Id="R2f4b3ce908ec4d49" /><Relationship Type="http://schemas.openxmlformats.org/officeDocument/2006/relationships/slideLayout" Target="/ppt/slideLayouts/slideLayout4.xml" Id="Rebdc6ded048e439f" /><Relationship Type="http://schemas.openxmlformats.org/officeDocument/2006/relationships/slideLayout" Target="/ppt/slideLayouts/slideLayout5.xml" Id="R1f22dafb25944ef1" /><Relationship Type="http://schemas.openxmlformats.org/officeDocument/2006/relationships/slideLayout" Target="/ppt/slideLayouts/slideLayout6.xml" Id="R85696988eb3b44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d25515d4054dfc"/>
    <p:sldLayoutId xmlns:r="http://schemas.openxmlformats.org/officeDocument/2006/relationships" id="2147483650" r:id="R930cc2a421094244"/>
    <p:sldLayoutId xmlns:r="http://schemas.openxmlformats.org/officeDocument/2006/relationships" id="2147483651" r:id="R2f4b3ce908ec4d49"/>
    <p:sldLayoutId xmlns:r="http://schemas.openxmlformats.org/officeDocument/2006/relationships" id="2147483652" r:id="Rebdc6ded048e439f"/>
    <p:sldLayoutId xmlns:r="http://schemas.openxmlformats.org/officeDocument/2006/relationships" id="2147483653" r:id="R1f22dafb25944ef1"/>
    <p:sldLayoutId xmlns:r="http://schemas.openxmlformats.org/officeDocument/2006/relationships" id="2147483654" r:id="R85696988eb3b44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19e056062c249e9" /><Relationship Type="http://schemas.openxmlformats.org/officeDocument/2006/relationships/image" Target="/ppt/media/image.png" Id="R7af166ac4e734f44" /><Relationship Type="http://schemas.openxmlformats.org/officeDocument/2006/relationships/notesSlide" Target="/ppt/notesSlides/notesSlide1.xml" Id="Rf2052b0628944f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1348c34ff9249d8" /><Relationship Type="http://schemas.openxmlformats.org/officeDocument/2006/relationships/notesSlide" Target="/ppt/notesSlides/notesSlide2.xml" Id="R40882f80356a46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7690aff34e34968" /><Relationship Type="http://schemas.openxmlformats.org/officeDocument/2006/relationships/image" Target="/ppt/media/image2.png" Id="R4485170dfb5b49ff" /><Relationship Type="http://schemas.openxmlformats.org/officeDocument/2006/relationships/notesSlide" Target="/ppt/notesSlides/notesSlide3.xml" Id="R114e12d634814d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77b21a3e9b346c2" /><Relationship Type="http://schemas.openxmlformats.org/officeDocument/2006/relationships/notesSlide" Target="/ppt/notesSlides/notesSlide4.xml" Id="R76eff1735eda42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943bebe541349e8" /><Relationship Type="http://schemas.openxmlformats.org/officeDocument/2006/relationships/notesSlide" Target="/ppt/notesSlides/notesSlide5.xml" Id="R90266145d43042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b074bb130df4b28" /><Relationship Type="http://schemas.openxmlformats.org/officeDocument/2006/relationships/notesSlide" Target="/ppt/notesSlides/notesSlide6.xml" Id="R975a421022c544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08235a7b84f4843" /><Relationship Type="http://schemas.openxmlformats.org/officeDocument/2006/relationships/image" Target="/ppt/media/image3.png" Id="R33afb3fa22194687" /><Relationship Type="http://schemas.openxmlformats.org/officeDocument/2006/relationships/notesSlide" Target="/ppt/notesSlides/notesSlide7.xml" Id="R83f959910d6c45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43be97fc59c497f" /><Relationship Type="http://schemas.openxmlformats.org/officeDocument/2006/relationships/image" Target="/ppt/media/image4.png" Id="Rb8ffb72b4a0e4b8d" /><Relationship Type="http://schemas.openxmlformats.org/officeDocument/2006/relationships/notesSlide" Target="/ppt/notesSlides/notesSlide8.xml" Id="R486f0bfd85ce4e0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acf290bbde148e3" /><Relationship Type="http://schemas.openxmlformats.org/officeDocument/2006/relationships/notesSlide" Target="/ppt/notesSlides/notesSlide9.xml" Id="R0f6b1ec1a4674ed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d9781cf041a41d8" /><Relationship Type="http://schemas.openxmlformats.org/officeDocument/2006/relationships/notesSlide" Target="/ppt/notesSlides/notesSlide10.xml" Id="R6ce1ea2ab22342e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414edc0253e477f" /><Relationship Type="http://schemas.openxmlformats.org/officeDocument/2006/relationships/notesSlide" Target="/ppt/notesSlides/notesSlide11.xml" Id="Rdff79121e48742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cdcb1d30b0c48dc" /><Relationship Type="http://schemas.openxmlformats.org/officeDocument/2006/relationships/image" Target="/ppt/media/image5.png" Id="R5364a5aa6c724b7d" /><Relationship Type="http://schemas.openxmlformats.org/officeDocument/2006/relationships/notesSlide" Target="/ppt/notesSlides/notesSlide12.xml" Id="R068daeb6c53f466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8bb849a08f543b5" /><Relationship Type="http://schemas.openxmlformats.org/officeDocument/2006/relationships/notesSlide" Target="/ppt/notesSlides/notesSlide13.xml" Id="R4c3a6658fd7d4a0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153477a68d14eb9" /><Relationship Type="http://schemas.openxmlformats.org/officeDocument/2006/relationships/notesSlide" Target="/ppt/notesSlides/notesSlide14.xml" Id="R3bd8b7d92e2a4bd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2e1a795e47f4a44" /><Relationship Type="http://schemas.openxmlformats.org/officeDocument/2006/relationships/image" Target="/ppt/media/image6.png" Id="R451692388ed041a8" /><Relationship Type="http://schemas.openxmlformats.org/officeDocument/2006/relationships/notesSlide" Target="/ppt/notesSlides/notesSlide15.xml" Id="R7e9229fca0774d7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f09724b578d4744" /><Relationship Type="http://schemas.openxmlformats.org/officeDocument/2006/relationships/image" Target="/ppt/media/image7.png" Id="Rf20c57e77826491a" /><Relationship Type="http://schemas.openxmlformats.org/officeDocument/2006/relationships/notesSlide" Target="/ppt/notesSlides/notesSlide16.xml" Id="R384d08fb143349d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fe0b132f7444a81" /><Relationship Type="http://schemas.openxmlformats.org/officeDocument/2006/relationships/notesSlide" Target="/ppt/notesSlides/notesSlide17.xml" Id="R5319eaaeeedf4d7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e65e075189249c2" /><Relationship Type="http://schemas.openxmlformats.org/officeDocument/2006/relationships/image" Target="/ppt/media/image8.png" Id="Raa8040bcd25640a3" /><Relationship Type="http://schemas.openxmlformats.org/officeDocument/2006/relationships/notesSlide" Target="/ppt/notesSlides/notesSlide18.xml" Id="R280e2ebb5bd3406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7a0767745ff49e8" /><Relationship Type="http://schemas.openxmlformats.org/officeDocument/2006/relationships/image" Target="/ppt/media/image9.png" Id="Rc2234e094787495a" /><Relationship Type="http://schemas.openxmlformats.org/officeDocument/2006/relationships/notesSlide" Target="/ppt/notesSlides/notesSlide19.xml" Id="Ra53c0132b595414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dd1c2715b784b09" /><Relationship Type="http://schemas.openxmlformats.org/officeDocument/2006/relationships/image" Target="/ppt/media/image10.png" Id="Rfd1fa149474a4bb3" /><Relationship Type="http://schemas.openxmlformats.org/officeDocument/2006/relationships/notesSlide" Target="/ppt/notesSlides/notesSlide20.xml" Id="Rf9538e76b35443e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d5bcd35dec24143" /><Relationship Type="http://schemas.openxmlformats.org/officeDocument/2006/relationships/notesSlide" Target="/ppt/notesSlides/notesSlide21.xml" Id="R7c2b104f0818446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9204ed504824b20" /><Relationship Type="http://schemas.openxmlformats.org/officeDocument/2006/relationships/image" Target="/ppt/media/image11.png" Id="Rd49230494b834360" /><Relationship Type="http://schemas.openxmlformats.org/officeDocument/2006/relationships/notesSlide" Target="/ppt/notesSlides/notesSlide22.xml" Id="R17d1ebb808e1434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87f87c76fb94043" /><Relationship Type="http://schemas.openxmlformats.org/officeDocument/2006/relationships/image" Target="/ppt/media/image12.png" Id="Re99939642c984a71" /><Relationship Type="http://schemas.openxmlformats.org/officeDocument/2006/relationships/notesSlide" Target="/ppt/notesSlides/notesSlide23.xml" Id="R13779335bcae46c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15bef5bc42d42d6" /><Relationship Type="http://schemas.openxmlformats.org/officeDocument/2006/relationships/notesSlide" Target="/ppt/notesSlides/notesSlide24.xml" Id="R20beeaf45ba6400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f0d8cb75a894a11" /><Relationship Type="http://schemas.openxmlformats.org/officeDocument/2006/relationships/image" Target="/ppt/media/image13.png" Id="Reb9635e1452a4cc2" /><Relationship Type="http://schemas.openxmlformats.org/officeDocument/2006/relationships/notesSlide" Target="/ppt/notesSlides/notesSlide25.xml" Id="Rc0470a78eb564b4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14d1e419a394687" /><Relationship Type="http://schemas.openxmlformats.org/officeDocument/2006/relationships/image" Target="/ppt/media/image14.png" Id="R709aa77b6b11449c" /><Relationship Type="http://schemas.openxmlformats.org/officeDocument/2006/relationships/notesSlide" Target="/ppt/notesSlides/notesSlide26.xml" Id="Ra90539eaf90344b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11e6d054ea84223" /><Relationship Type="http://schemas.openxmlformats.org/officeDocument/2006/relationships/image" Target="/ppt/media/image15.png" Id="Rbde4c09b75ad4350" /><Relationship Type="http://schemas.openxmlformats.org/officeDocument/2006/relationships/notesSlide" Target="/ppt/notesSlides/notesSlide27.xml" Id="Rcccfab5532d6467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27747a290734f85" /><Relationship Type="http://schemas.openxmlformats.org/officeDocument/2006/relationships/image" Target="/ppt/media/image16.png" Id="Rf0fc88fa003b42fa" /><Relationship Type="http://schemas.openxmlformats.org/officeDocument/2006/relationships/notesSlide" Target="/ppt/notesSlides/notesSlide28.xml" Id="R0eb2cabc2007450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9ca70e6fa34467e" /><Relationship Type="http://schemas.openxmlformats.org/officeDocument/2006/relationships/notesSlide" Target="/ppt/notesSlides/notesSlide29.xml" Id="R27c9a0fa86bd4d2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611c20010c547c0" /><Relationship Type="http://schemas.openxmlformats.org/officeDocument/2006/relationships/image" Target="/ppt/media/image17.png" Id="Rf827ed94b28541d3" /><Relationship Type="http://schemas.openxmlformats.org/officeDocument/2006/relationships/notesSlide" Target="/ppt/notesSlides/notesSlide30.xml" Id="Rd2dae6a6663c469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96fef1c5bc74856" /><Relationship Type="http://schemas.openxmlformats.org/officeDocument/2006/relationships/notesSlide" Target="/ppt/notesSlides/notesSlide31.xml" Id="R91f099a66c9144d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9645be580c94259" /><Relationship Type="http://schemas.openxmlformats.org/officeDocument/2006/relationships/image" Target="/ppt/media/image18.png" Id="R9c289f2e361c403a" /><Relationship Type="http://schemas.openxmlformats.org/officeDocument/2006/relationships/notesSlide" Target="/ppt/notesSlides/notesSlide32.xml" Id="R19ebd70400c14b1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346cf35bc5ae465b" /><Relationship Type="http://schemas.openxmlformats.org/officeDocument/2006/relationships/image" Target="/ppt/media/image19.png" Id="R5dd6d3982f3242a0" /><Relationship Type="http://schemas.openxmlformats.org/officeDocument/2006/relationships/notesSlide" Target="/ppt/notesSlides/notesSlide33.xml" Id="R7e9bc247153b433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57fcf18ef0b438c" /><Relationship Type="http://schemas.openxmlformats.org/officeDocument/2006/relationships/notesSlide" Target="/ppt/notesSlides/notesSlide34.xml" Id="R2d2092a7305e4ee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c2c4b7d9637f4a40" /><Relationship Type="http://schemas.openxmlformats.org/officeDocument/2006/relationships/notesSlide" Target="/ppt/notesSlides/notesSlide35.xml" Id="Raee3f87e63894f2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4d7ee6a0aab84c1d" /><Relationship Type="http://schemas.openxmlformats.org/officeDocument/2006/relationships/image" Target="/ppt/media/image20.png" Id="R0264dbe763b64ef3" /><Relationship Type="http://schemas.openxmlformats.org/officeDocument/2006/relationships/notesSlide" Target="/ppt/notesSlides/notesSlide36.xml" Id="R26954a96228c40f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d0f5cd5b524f4984" /><Relationship Type="http://schemas.openxmlformats.org/officeDocument/2006/relationships/notesSlide" Target="/ppt/notesSlides/notesSlide37.xml" Id="R217531fad71146f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11530066ac60412c" /><Relationship Type="http://schemas.openxmlformats.org/officeDocument/2006/relationships/notesSlide" Target="/ppt/notesSlides/notesSlide38.xml" Id="R27a9295ac3994e6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6908f8dca15840a9" /><Relationship Type="http://schemas.openxmlformats.org/officeDocument/2006/relationships/notesSlide" Target="/ppt/notesSlides/notesSlide39.xml" Id="R45ac83860bcb4f2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50b0c3f395964c01" /><Relationship Type="http://schemas.openxmlformats.org/officeDocument/2006/relationships/notesSlide" Target="/ppt/notesSlides/notesSlide40.xml" Id="Rfe4207070ad74d3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2549d3da70b24ab2" /><Relationship Type="http://schemas.openxmlformats.org/officeDocument/2006/relationships/image" Target="/ppt/media/image21.png" Id="R117a89da7e2f4431" /><Relationship Type="http://schemas.openxmlformats.org/officeDocument/2006/relationships/notesSlide" Target="/ppt/notesSlides/notesSlide41.xml" Id="R28dad0b767de441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647583c41ca445e4" /><Relationship Type="http://schemas.openxmlformats.org/officeDocument/2006/relationships/notesSlide" Target="/ppt/notesSlides/notesSlide42.xml" Id="Rca2c49298c484fe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802922f8544c49d2" /><Relationship Type="http://schemas.openxmlformats.org/officeDocument/2006/relationships/notesSlide" Target="/ppt/notesSlides/notesSlide43.xml" Id="Rc057177294e3444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4f061b71c96d4cce" /><Relationship Type="http://schemas.openxmlformats.org/officeDocument/2006/relationships/notesSlide" Target="/ppt/notesSlides/notesSlide44.xml" Id="R96d2f2f1308b48a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e27a72eeed334bef" /><Relationship Type="http://schemas.openxmlformats.org/officeDocument/2006/relationships/notesSlide" Target="/ppt/notesSlides/notesSlide45.xml" Id="Rcd51f5667bfd47a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b11a22f464a049f4" /><Relationship Type="http://schemas.openxmlformats.org/officeDocument/2006/relationships/image" Target="/ppt/media/image22.png" Id="R003c68f0d5df4bf7" /><Relationship Type="http://schemas.openxmlformats.org/officeDocument/2006/relationships/notesSlide" Target="/ppt/notesSlides/notesSlide46.xml" Id="Ra329d99b5aef4df2" /></Relationships>
</file>

<file path=ppt/slides/slide1.xml><?xml version="1.0" encoding="utf-8"?>
<p:sld xmlns:p="http://schemas.openxmlformats.org/presentationml/2006/main">
  <p:cSld>
    <p:bg>
      <p:bgPr>
        <a:solidFill xmlns:a="http://schemas.openxmlformats.org/drawingml/2006/main">
          <a:srgbClr val="F1ECE2"/>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AC04B45D-8481-4176-8F64-DDC4FDA0C5DD}"/>
              </a:ext>
            </a:extLst>
          </p:cNvPr>
          <p:cNvPicPr>
            <a:picLocks xmlns:a="http://schemas.openxmlformats.org/drawingml/2006/main" noChangeAspect="1"/>
          </p:cNvPicPr>
          <p:nvPr/>
        </p:nvPicPr>
        <p:blipFill>
          <a:blip xmlns:r="http://schemas.openxmlformats.org/officeDocument/2006/relationships" xmlns:a="http://schemas.openxmlformats.org/drawingml/2006/main" r:embed="R7af166ac4e734f44"/>
          <a:stretch xmlns:a="http://schemas.openxmlformats.org/drawingml/2006/main"/>
        </p:blipFill>
        <p:spPr>
          <a:xfrm xmlns:a="http://schemas.openxmlformats.org/drawingml/2006/main">
            <a:off x="609585" y="426726"/>
            <a:ext cx="487668" cy="487668"/>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B96600D-A33F-4508-AE93-347ED0AF9517}"/>
              </a:ext>
            </a:extLst>
          </p:cNvPr>
          <p:cNvSpPr>
            <a:spLocks xmlns:a="http://schemas.openxmlformats.org/drawingml/2006/main" noGrp="1"/>
          </p:cNvSpPr>
          <p:nvPr/>
        </p:nvSpPr>
        <p:spPr>
          <a:xfrm xmlns:a="http://schemas.openxmlformats.org/drawingml/2006/main">
            <a:off x="1295368" y="518160"/>
            <a:ext cx="1028674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55504A"/>
                </a:solidFill>
                <a:latin typeface="Arial"/>
                <a:ea typeface="Arial"/>
                <a:cs typeface="Arial"/>
              </a:defRPr>
            </a:defPPr>
            <a:lvl1pPr algn="l">
              <a:defRPr sz="1020" b="1">
                <a:solidFill>
                  <a:srgbClr val="55504A"/>
                </a:solidFill>
                <a:latin typeface="Arial"/>
                <a:ea typeface="Arial"/>
                <a:cs typeface="Arial"/>
              </a:defRPr>
            </a:lvl1pPr>
            <a:lvl2pPr algn="l">
              <a:defRPr sz="1020" b="1">
                <a:solidFill>
                  <a:srgbClr val="55504A"/>
                </a:solidFill>
                <a:latin typeface="Arial"/>
                <a:ea typeface="Arial"/>
                <a:cs typeface="Arial"/>
              </a:defRPr>
            </a:lvl2pPr>
            <a:lvl3pPr algn="l">
              <a:defRPr sz="1020" b="1">
                <a:solidFill>
                  <a:srgbClr val="55504A"/>
                </a:solidFill>
                <a:latin typeface="Arial"/>
                <a:ea typeface="Arial"/>
                <a:cs typeface="Arial"/>
              </a:defRPr>
            </a:lvl3pPr>
            <a:lvl4pPr algn="l">
              <a:defRPr sz="1020" b="1">
                <a:solidFill>
                  <a:srgbClr val="55504A"/>
                </a:solidFill>
                <a:latin typeface="Arial"/>
                <a:ea typeface="Arial"/>
                <a:cs typeface="Arial"/>
              </a:defRPr>
            </a:lvl4pPr>
            <a:lvl5pPr algn="l">
              <a:defRPr sz="1020" b="1">
                <a:solidFill>
                  <a:srgbClr val="55504A"/>
                </a:solidFill>
                <a:latin typeface="Arial"/>
                <a:ea typeface="Arial"/>
                <a:cs typeface="Arial"/>
              </a:defRPr>
            </a:lvl5pPr>
            <a:lvl6pPr algn="l">
              <a:defRPr sz="1020" b="1">
                <a:solidFill>
                  <a:srgbClr val="55504A"/>
                </a:solidFill>
                <a:latin typeface="Arial"/>
                <a:ea typeface="Arial"/>
                <a:cs typeface="Arial"/>
              </a:defRPr>
            </a:lvl6pPr>
            <a:lvl7pPr algn="l">
              <a:defRPr sz="1020" b="1">
                <a:solidFill>
                  <a:srgbClr val="55504A"/>
                </a:solidFill>
                <a:latin typeface="Arial"/>
                <a:ea typeface="Arial"/>
                <a:cs typeface="Arial"/>
              </a:defRPr>
            </a:lvl7pPr>
            <a:lvl8pPr algn="l">
              <a:defRPr sz="1020" b="1">
                <a:solidFill>
                  <a:srgbClr val="55504A"/>
                </a:solidFill>
                <a:latin typeface="Arial"/>
                <a:ea typeface="Arial"/>
                <a:cs typeface="Arial"/>
              </a:defRPr>
            </a:lvl8pPr>
            <a:lvl9pPr algn="l">
              <a:defRPr sz="1020" b="1">
                <a:solidFill>
                  <a:srgbClr val="55504A"/>
                </a:solidFill>
                <a:latin typeface="Arial"/>
                <a:ea typeface="Arial"/>
                <a:cs typeface="Arial"/>
              </a:defRPr>
            </a:lvl9pPr>
          </a:lstStyle>
          <a:p xmlns:a="http://schemas.openxmlformats.org/drawingml/2006/main">
            <a:pPr algn="l">
              <a:defRPr sz="1020" b="1">
                <a:solidFill>
                  <a:srgbClr val="55504A"/>
                </a:solidFill>
                <a:latin typeface="Arial"/>
                <a:ea typeface="Arial"/>
                <a:cs typeface="Arial"/>
              </a:defRPr>
            </a:pPr>
            <a:r>
              <a:rPr sz="1020" b="1">
                <a:solidFill>
                  <a:srgbClr val="55504A"/>
                </a:solidFill>
                <a:latin typeface="Arial"/>
                <a:ea typeface="Arial"/>
                <a:cs typeface="Arial"/>
              </a:rPr>
              <a:t>Final Project Group 2 · IEOR 4723 · Fall 2026</a:t>
            </a:r>
          </a:p>
        </p:txBody>
      </p:sp>
      <p:sp>
        <p:nvSpPr>
          <p:cNvPr id="3" name="">
            <a:extLst xmlns:a="http://schemas.openxmlformats.org/drawingml/2006/main">
              <a:ext uri="{FF2B5EF4-FFF2-40B4-BE49-F238E27FC236}">
                <a16:creationId xmlns:a16="http://schemas.microsoft.com/office/drawing/2014/main" id="{36BB7806-21AE-43D6-A79D-B3A79B0B4E9A}"/>
              </a:ext>
            </a:extLst>
          </p:cNvPr>
          <p:cNvSpPr>
            <a:spLocks xmlns:a="http://schemas.openxmlformats.org/drawingml/2006/main" noGrp="1"/>
          </p:cNvSpPr>
          <p:nvPr/>
        </p:nvSpPr>
        <p:spPr>
          <a:xfrm xmlns:a="http://schemas.openxmlformats.org/drawingml/2006/main">
            <a:off x="609585" y="10896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C9DE895-FFE1-469A-841E-32DBE80056FD}"/>
              </a:ext>
            </a:extLst>
          </p:cNvPr>
          <p:cNvSpPr>
            <a:spLocks xmlns:a="http://schemas.openxmlformats.org/drawingml/2006/main" noGrp="1"/>
          </p:cNvSpPr>
          <p:nvPr/>
        </p:nvSpPr>
        <p:spPr>
          <a:xfrm xmlns:a="http://schemas.openxmlformats.org/drawingml/2006/main">
            <a:off x="609585" y="2087880"/>
            <a:ext cx="10972526" cy="1127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99462"/>
          </a:bodyPr>
          <a:lstStyle xmlns:a="http://schemas.openxmlformats.org/drawingml/2006/main">
            <a:defPPr algn="l">
              <a:defRPr sz="7440" b="0">
                <a:solidFill>
                  <a:srgbClr val="151312"/>
                </a:solidFill>
                <a:latin typeface="Georgia"/>
                <a:ea typeface="Georgia"/>
                <a:cs typeface="Georgia"/>
              </a:defRPr>
            </a:defPPr>
            <a:lvl1pPr algn="l">
              <a:defRPr sz="7440" b="0">
                <a:solidFill>
                  <a:srgbClr val="151312"/>
                </a:solidFill>
                <a:latin typeface="Georgia"/>
                <a:ea typeface="Georgia"/>
                <a:cs typeface="Georgia"/>
              </a:defRPr>
            </a:lvl1pPr>
            <a:lvl2pPr algn="l">
              <a:defRPr sz="7440" b="0">
                <a:solidFill>
                  <a:srgbClr val="151312"/>
                </a:solidFill>
                <a:latin typeface="Georgia"/>
                <a:ea typeface="Georgia"/>
                <a:cs typeface="Georgia"/>
              </a:defRPr>
            </a:lvl2pPr>
            <a:lvl3pPr algn="l">
              <a:defRPr sz="7440" b="0">
                <a:solidFill>
                  <a:srgbClr val="151312"/>
                </a:solidFill>
                <a:latin typeface="Georgia"/>
                <a:ea typeface="Georgia"/>
                <a:cs typeface="Georgia"/>
              </a:defRPr>
            </a:lvl3pPr>
            <a:lvl4pPr algn="l">
              <a:defRPr sz="7440" b="0">
                <a:solidFill>
                  <a:srgbClr val="151312"/>
                </a:solidFill>
                <a:latin typeface="Georgia"/>
                <a:ea typeface="Georgia"/>
                <a:cs typeface="Georgia"/>
              </a:defRPr>
            </a:lvl4pPr>
            <a:lvl5pPr algn="l">
              <a:defRPr sz="7440" b="0">
                <a:solidFill>
                  <a:srgbClr val="151312"/>
                </a:solidFill>
                <a:latin typeface="Georgia"/>
                <a:ea typeface="Georgia"/>
                <a:cs typeface="Georgia"/>
              </a:defRPr>
            </a:lvl5pPr>
            <a:lvl6pPr algn="l">
              <a:defRPr sz="7440" b="0">
                <a:solidFill>
                  <a:srgbClr val="151312"/>
                </a:solidFill>
                <a:latin typeface="Georgia"/>
                <a:ea typeface="Georgia"/>
                <a:cs typeface="Georgia"/>
              </a:defRPr>
            </a:lvl6pPr>
            <a:lvl7pPr algn="l">
              <a:defRPr sz="7440" b="0">
                <a:solidFill>
                  <a:srgbClr val="151312"/>
                </a:solidFill>
                <a:latin typeface="Georgia"/>
                <a:ea typeface="Georgia"/>
                <a:cs typeface="Georgia"/>
              </a:defRPr>
            </a:lvl7pPr>
            <a:lvl8pPr algn="l">
              <a:defRPr sz="7440" b="0">
                <a:solidFill>
                  <a:srgbClr val="151312"/>
                </a:solidFill>
                <a:latin typeface="Georgia"/>
                <a:ea typeface="Georgia"/>
                <a:cs typeface="Georgia"/>
              </a:defRPr>
            </a:lvl8pPr>
            <a:lvl9pPr algn="l">
              <a:defRPr sz="7440" b="0">
                <a:solidFill>
                  <a:srgbClr val="151312"/>
                </a:solidFill>
                <a:latin typeface="Georgia"/>
                <a:ea typeface="Georgia"/>
                <a:cs typeface="Georgia"/>
              </a:defRPr>
            </a:lvl9pPr>
          </a:lstStyle>
          <a:p xmlns:a="http://schemas.openxmlformats.org/drawingml/2006/main">
            <a:pPr algn="l">
              <a:defRPr sz="7440" b="0">
                <a:solidFill>
                  <a:srgbClr val="151312"/>
                </a:solidFill>
                <a:latin typeface="Georgia"/>
                <a:ea typeface="Georgia"/>
                <a:cs typeface="Georgia"/>
              </a:defRPr>
            </a:pPr>
            <a:r>
              <a:rPr sz="7440" b="0">
                <a:solidFill>
                  <a:srgbClr val="151312"/>
                </a:solidFill>
                <a:latin typeface="Georgia"/>
                <a:ea typeface="Georgia"/>
                <a:cs typeface="Georgia"/>
              </a:rPr>
              <a:t>FOMC Tone Lab</a:t>
            </a:r>
          </a:p>
        </p:txBody>
      </p:sp>
      <p:sp>
        <p:nvSpPr>
          <p:cNvPr id="5" name="">
            <a:extLst xmlns:a="http://schemas.openxmlformats.org/drawingml/2006/main">
              <a:ext uri="{FF2B5EF4-FFF2-40B4-BE49-F238E27FC236}">
                <a16:creationId xmlns:a16="http://schemas.microsoft.com/office/drawing/2014/main" id="{3151D61F-8457-4349-8CCC-23294E7B3ED8}"/>
              </a:ext>
            </a:extLst>
          </p:cNvPr>
          <p:cNvSpPr>
            <a:spLocks xmlns:a="http://schemas.openxmlformats.org/drawingml/2006/main" noGrp="1"/>
          </p:cNvSpPr>
          <p:nvPr/>
        </p:nvSpPr>
        <p:spPr>
          <a:xfrm xmlns:a="http://schemas.openxmlformats.org/drawingml/2006/main">
            <a:off x="609585" y="3383280"/>
            <a:ext cx="10515337"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920" b="0">
                <a:solidFill>
                  <a:srgbClr val="45413C"/>
                </a:solidFill>
                <a:latin typeface="Arial"/>
                <a:ea typeface="Arial"/>
                <a:cs typeface="Arial"/>
              </a:defRPr>
            </a:defPPr>
            <a:lvl1pPr algn="l">
              <a:defRPr sz="1920" b="0">
                <a:solidFill>
                  <a:srgbClr val="45413C"/>
                </a:solidFill>
                <a:latin typeface="Arial"/>
                <a:ea typeface="Arial"/>
                <a:cs typeface="Arial"/>
              </a:defRPr>
            </a:lvl1pPr>
            <a:lvl2pPr algn="l">
              <a:defRPr sz="1920" b="0">
                <a:solidFill>
                  <a:srgbClr val="45413C"/>
                </a:solidFill>
                <a:latin typeface="Arial"/>
                <a:ea typeface="Arial"/>
                <a:cs typeface="Arial"/>
              </a:defRPr>
            </a:lvl2pPr>
            <a:lvl3pPr algn="l">
              <a:defRPr sz="1920" b="0">
                <a:solidFill>
                  <a:srgbClr val="45413C"/>
                </a:solidFill>
                <a:latin typeface="Arial"/>
                <a:ea typeface="Arial"/>
                <a:cs typeface="Arial"/>
              </a:defRPr>
            </a:lvl3pPr>
            <a:lvl4pPr algn="l">
              <a:defRPr sz="1920" b="0">
                <a:solidFill>
                  <a:srgbClr val="45413C"/>
                </a:solidFill>
                <a:latin typeface="Arial"/>
                <a:ea typeface="Arial"/>
                <a:cs typeface="Arial"/>
              </a:defRPr>
            </a:lvl4pPr>
            <a:lvl5pPr algn="l">
              <a:defRPr sz="1920" b="0">
                <a:solidFill>
                  <a:srgbClr val="45413C"/>
                </a:solidFill>
                <a:latin typeface="Arial"/>
                <a:ea typeface="Arial"/>
                <a:cs typeface="Arial"/>
              </a:defRPr>
            </a:lvl5pPr>
            <a:lvl6pPr algn="l">
              <a:defRPr sz="1920" b="0">
                <a:solidFill>
                  <a:srgbClr val="45413C"/>
                </a:solidFill>
                <a:latin typeface="Arial"/>
                <a:ea typeface="Arial"/>
                <a:cs typeface="Arial"/>
              </a:defRPr>
            </a:lvl6pPr>
            <a:lvl7pPr algn="l">
              <a:defRPr sz="1920" b="0">
                <a:solidFill>
                  <a:srgbClr val="45413C"/>
                </a:solidFill>
                <a:latin typeface="Arial"/>
                <a:ea typeface="Arial"/>
                <a:cs typeface="Arial"/>
              </a:defRPr>
            </a:lvl7pPr>
            <a:lvl8pPr algn="l">
              <a:defRPr sz="1920" b="0">
                <a:solidFill>
                  <a:srgbClr val="45413C"/>
                </a:solidFill>
                <a:latin typeface="Arial"/>
                <a:ea typeface="Arial"/>
                <a:cs typeface="Arial"/>
              </a:defRPr>
            </a:lvl8pPr>
            <a:lvl9pPr algn="l">
              <a:defRPr sz="1920" b="0">
                <a:solidFill>
                  <a:srgbClr val="45413C"/>
                </a:solidFill>
                <a:latin typeface="Arial"/>
                <a:ea typeface="Arial"/>
                <a:cs typeface="Arial"/>
              </a:defRPr>
            </a:lvl9pPr>
          </a:lstStyle>
          <a:p xmlns:a="http://schemas.openxmlformats.org/drawingml/2006/main">
            <a:pPr algn="l">
              <a:defRPr sz="1920" b="0">
                <a:solidFill>
                  <a:srgbClr val="45413C"/>
                </a:solidFill>
                <a:latin typeface="Arial"/>
                <a:ea typeface="Arial"/>
                <a:cs typeface="Arial"/>
              </a:defRPr>
            </a:pPr>
            <a:r>
              <a:rPr sz="1920" b="0">
                <a:solidFill>
                  <a:srgbClr val="45413C"/>
                </a:solidFill>
                <a:latin typeface="Arial"/>
                <a:ea typeface="Arial"/>
                <a:cs typeface="Arial"/>
              </a:rPr>
              <a:t>Measuring Fed Communication and Testing Duration Signals</a:t>
            </a:r>
          </a:p>
        </p:txBody>
      </p:sp>
      <p:sp>
        <p:nvSpPr>
          <p:cNvPr id="6" name="">
            <a:extLst xmlns:a="http://schemas.openxmlformats.org/drawingml/2006/main">
              <a:ext uri="{FF2B5EF4-FFF2-40B4-BE49-F238E27FC236}">
                <a16:creationId xmlns:a16="http://schemas.microsoft.com/office/drawing/2014/main" id="{E44A5452-E002-4A93-8153-F10F242F2281}"/>
              </a:ext>
            </a:extLst>
          </p:cNvPr>
          <p:cNvSpPr>
            <a:spLocks xmlns:a="http://schemas.openxmlformats.org/drawingml/2006/main" noGrp="1"/>
          </p:cNvSpPr>
          <p:nvPr/>
        </p:nvSpPr>
        <p:spPr>
          <a:xfrm xmlns:a="http://schemas.openxmlformats.org/drawingml/2006/main">
            <a:off x="609585" y="4343400"/>
            <a:ext cx="2560256" cy="1524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582974F-3F1A-4715-9736-5A7CA5942128}"/>
              </a:ext>
            </a:extLst>
          </p:cNvPr>
          <p:cNvSpPr>
            <a:spLocks xmlns:a="http://schemas.openxmlformats.org/drawingml/2006/main" noGrp="1"/>
          </p:cNvSpPr>
          <p:nvPr/>
        </p:nvSpPr>
        <p:spPr>
          <a:xfrm xmlns:a="http://schemas.openxmlformats.org/drawingml/2006/main">
            <a:off x="609585" y="4495800"/>
            <a:ext cx="2560256"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C8401F"/>
                </a:solidFill>
                <a:latin typeface="Arial"/>
                <a:ea typeface="Arial"/>
                <a:cs typeface="Arial"/>
              </a:defRPr>
            </a:defPPr>
            <a:lvl1pPr algn="l">
              <a:defRPr sz="960" b="1">
                <a:solidFill>
                  <a:srgbClr val="C8401F"/>
                </a:solidFill>
                <a:latin typeface="Arial"/>
                <a:ea typeface="Arial"/>
                <a:cs typeface="Arial"/>
              </a:defRPr>
            </a:lvl1pPr>
            <a:lvl2pPr algn="l">
              <a:defRPr sz="960" b="1">
                <a:solidFill>
                  <a:srgbClr val="C8401F"/>
                </a:solidFill>
                <a:latin typeface="Arial"/>
                <a:ea typeface="Arial"/>
                <a:cs typeface="Arial"/>
              </a:defRPr>
            </a:lvl2pPr>
            <a:lvl3pPr algn="l">
              <a:defRPr sz="960" b="1">
                <a:solidFill>
                  <a:srgbClr val="C8401F"/>
                </a:solidFill>
                <a:latin typeface="Arial"/>
                <a:ea typeface="Arial"/>
                <a:cs typeface="Arial"/>
              </a:defRPr>
            </a:lvl3pPr>
            <a:lvl4pPr algn="l">
              <a:defRPr sz="960" b="1">
                <a:solidFill>
                  <a:srgbClr val="C8401F"/>
                </a:solidFill>
                <a:latin typeface="Arial"/>
                <a:ea typeface="Arial"/>
                <a:cs typeface="Arial"/>
              </a:defRPr>
            </a:lvl4pPr>
            <a:lvl5pPr algn="l">
              <a:defRPr sz="960" b="1">
                <a:solidFill>
                  <a:srgbClr val="C8401F"/>
                </a:solidFill>
                <a:latin typeface="Arial"/>
                <a:ea typeface="Arial"/>
                <a:cs typeface="Arial"/>
              </a:defRPr>
            </a:lvl5pPr>
            <a:lvl6pPr algn="l">
              <a:defRPr sz="960" b="1">
                <a:solidFill>
                  <a:srgbClr val="C8401F"/>
                </a:solidFill>
                <a:latin typeface="Arial"/>
                <a:ea typeface="Arial"/>
                <a:cs typeface="Arial"/>
              </a:defRPr>
            </a:lvl6pPr>
            <a:lvl7pPr algn="l">
              <a:defRPr sz="960" b="1">
                <a:solidFill>
                  <a:srgbClr val="C8401F"/>
                </a:solidFill>
                <a:latin typeface="Arial"/>
                <a:ea typeface="Arial"/>
                <a:cs typeface="Arial"/>
              </a:defRPr>
            </a:lvl7pPr>
            <a:lvl8pPr algn="l">
              <a:defRPr sz="960" b="1">
                <a:solidFill>
                  <a:srgbClr val="C8401F"/>
                </a:solidFill>
                <a:latin typeface="Arial"/>
                <a:ea typeface="Arial"/>
                <a:cs typeface="Arial"/>
              </a:defRPr>
            </a:lvl8pPr>
            <a:lvl9pPr algn="l">
              <a:defRPr sz="960" b="1">
                <a:solidFill>
                  <a:srgbClr val="C8401F"/>
                </a:solidFill>
                <a:latin typeface="Arial"/>
                <a:ea typeface="Arial"/>
                <a:cs typeface="Arial"/>
              </a:defRPr>
            </a:lvl9pPr>
          </a:lstStyle>
          <a:p xmlns:a="http://schemas.openxmlformats.org/drawingml/2006/main">
            <a:pPr algn="l">
              <a:defRPr sz="960" b="1">
                <a:solidFill>
                  <a:srgbClr val="C8401F"/>
                </a:solidFill>
                <a:latin typeface="Arial"/>
                <a:ea typeface="Arial"/>
                <a:cs typeface="Arial"/>
              </a:defRPr>
            </a:pPr>
            <a:r>
              <a:rPr sz="960" b="1">
                <a:solidFill>
                  <a:srgbClr val="C8401F"/>
                </a:solidFill>
                <a:latin typeface="Arial"/>
                <a:ea typeface="Arial"/>
                <a:cs typeface="Arial"/>
              </a:rPr>
              <a:t>01 / READ</a:t>
            </a:r>
          </a:p>
        </p:txBody>
      </p:sp>
      <p:sp>
        <p:nvSpPr>
          <p:cNvPr id="8" name="">
            <a:extLst xmlns:a="http://schemas.openxmlformats.org/drawingml/2006/main">
              <a:ext uri="{FF2B5EF4-FFF2-40B4-BE49-F238E27FC236}">
                <a16:creationId xmlns:a16="http://schemas.microsoft.com/office/drawing/2014/main" id="{DBA87DAC-6197-4ED9-9072-F1855D095F5D}"/>
              </a:ext>
            </a:extLst>
          </p:cNvPr>
          <p:cNvSpPr>
            <a:spLocks xmlns:a="http://schemas.openxmlformats.org/drawingml/2006/main" noGrp="1"/>
          </p:cNvSpPr>
          <p:nvPr/>
        </p:nvSpPr>
        <p:spPr>
          <a:xfrm xmlns:a="http://schemas.openxmlformats.org/drawingml/2006/main">
            <a:off x="609585" y="4792980"/>
            <a:ext cx="2560256"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800" b="0">
                <a:solidFill>
                  <a:srgbClr val="151312"/>
                </a:solidFill>
                <a:latin typeface="Georgia"/>
                <a:ea typeface="Georgia"/>
                <a:cs typeface="Georgia"/>
              </a:defRPr>
            </a:defPPr>
            <a:lvl1pPr algn="l">
              <a:defRPr sz="1800" b="0">
                <a:solidFill>
                  <a:srgbClr val="151312"/>
                </a:solidFill>
                <a:latin typeface="Georgia"/>
                <a:ea typeface="Georgia"/>
                <a:cs typeface="Georgia"/>
              </a:defRPr>
            </a:lvl1pPr>
            <a:lvl2pPr algn="l">
              <a:defRPr sz="1800" b="0">
                <a:solidFill>
                  <a:srgbClr val="151312"/>
                </a:solidFill>
                <a:latin typeface="Georgia"/>
                <a:ea typeface="Georgia"/>
                <a:cs typeface="Georgia"/>
              </a:defRPr>
            </a:lvl2pPr>
            <a:lvl3pPr algn="l">
              <a:defRPr sz="1800" b="0">
                <a:solidFill>
                  <a:srgbClr val="151312"/>
                </a:solidFill>
                <a:latin typeface="Georgia"/>
                <a:ea typeface="Georgia"/>
                <a:cs typeface="Georgia"/>
              </a:defRPr>
            </a:lvl3pPr>
            <a:lvl4pPr algn="l">
              <a:defRPr sz="1800" b="0">
                <a:solidFill>
                  <a:srgbClr val="151312"/>
                </a:solidFill>
                <a:latin typeface="Georgia"/>
                <a:ea typeface="Georgia"/>
                <a:cs typeface="Georgia"/>
              </a:defRPr>
            </a:lvl4pPr>
            <a:lvl5pPr algn="l">
              <a:defRPr sz="1800" b="0">
                <a:solidFill>
                  <a:srgbClr val="151312"/>
                </a:solidFill>
                <a:latin typeface="Georgia"/>
                <a:ea typeface="Georgia"/>
                <a:cs typeface="Georgia"/>
              </a:defRPr>
            </a:lvl5pPr>
            <a:lvl6pPr algn="l">
              <a:defRPr sz="1800" b="0">
                <a:solidFill>
                  <a:srgbClr val="151312"/>
                </a:solidFill>
                <a:latin typeface="Georgia"/>
                <a:ea typeface="Georgia"/>
                <a:cs typeface="Georgia"/>
              </a:defRPr>
            </a:lvl6pPr>
            <a:lvl7pPr algn="l">
              <a:defRPr sz="1800" b="0">
                <a:solidFill>
                  <a:srgbClr val="151312"/>
                </a:solidFill>
                <a:latin typeface="Georgia"/>
                <a:ea typeface="Georgia"/>
                <a:cs typeface="Georgia"/>
              </a:defRPr>
            </a:lvl7pPr>
            <a:lvl8pPr algn="l">
              <a:defRPr sz="1800" b="0">
                <a:solidFill>
                  <a:srgbClr val="151312"/>
                </a:solidFill>
                <a:latin typeface="Georgia"/>
                <a:ea typeface="Georgia"/>
                <a:cs typeface="Georgia"/>
              </a:defRPr>
            </a:lvl8pPr>
            <a:lvl9pPr algn="l">
              <a:defRPr sz="1800" b="0">
                <a:solidFill>
                  <a:srgbClr val="151312"/>
                </a:solidFill>
                <a:latin typeface="Georgia"/>
                <a:ea typeface="Georgia"/>
                <a:cs typeface="Georgia"/>
              </a:defRPr>
            </a:lvl9pPr>
          </a:lstStyle>
          <a:p xmlns:a="http://schemas.openxmlformats.org/drawingml/2006/main">
            <a:pPr algn="l">
              <a:defRPr sz="1800" b="0">
                <a:solidFill>
                  <a:srgbClr val="151312"/>
                </a:solidFill>
                <a:latin typeface="Georgia"/>
                <a:ea typeface="Georgia"/>
                <a:cs typeface="Georgia"/>
              </a:defRPr>
            </a:pPr>
            <a:r>
              <a:rPr sz="1800" b="0">
                <a:solidFill>
                  <a:srgbClr val="151312"/>
                </a:solidFill>
                <a:latin typeface="Georgia"/>
                <a:ea typeface="Georgia"/>
                <a:cs typeface="Georgia"/>
              </a:rPr>
              <a:t>Fed language</a:t>
            </a:r>
          </a:p>
        </p:txBody>
      </p:sp>
      <p:sp>
        <p:nvSpPr>
          <p:cNvPr id="9" name="">
            <a:extLst xmlns:a="http://schemas.openxmlformats.org/drawingml/2006/main">
              <a:ext uri="{FF2B5EF4-FFF2-40B4-BE49-F238E27FC236}">
                <a16:creationId xmlns:a16="http://schemas.microsoft.com/office/drawing/2014/main" id="{3C7A3993-B358-4C0B-8753-833B033AD184}"/>
              </a:ext>
            </a:extLst>
          </p:cNvPr>
          <p:cNvSpPr>
            <a:spLocks xmlns:a="http://schemas.openxmlformats.org/drawingml/2006/main" noGrp="1"/>
          </p:cNvSpPr>
          <p:nvPr/>
        </p:nvSpPr>
        <p:spPr>
          <a:xfrm xmlns:a="http://schemas.openxmlformats.org/drawingml/2006/main">
            <a:off x="3413675" y="4343400"/>
            <a:ext cx="2560256" cy="1524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F45DB80-530D-4B2E-90DE-45B425B03A5E}"/>
              </a:ext>
            </a:extLst>
          </p:cNvPr>
          <p:cNvSpPr>
            <a:spLocks xmlns:a="http://schemas.openxmlformats.org/drawingml/2006/main" noGrp="1"/>
          </p:cNvSpPr>
          <p:nvPr/>
        </p:nvSpPr>
        <p:spPr>
          <a:xfrm xmlns:a="http://schemas.openxmlformats.org/drawingml/2006/main">
            <a:off x="3413675" y="4495800"/>
            <a:ext cx="2560256"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C8401F"/>
                </a:solidFill>
                <a:latin typeface="Arial"/>
                <a:ea typeface="Arial"/>
                <a:cs typeface="Arial"/>
              </a:defRPr>
            </a:defPPr>
            <a:lvl1pPr algn="l">
              <a:defRPr sz="960" b="1">
                <a:solidFill>
                  <a:srgbClr val="C8401F"/>
                </a:solidFill>
                <a:latin typeface="Arial"/>
                <a:ea typeface="Arial"/>
                <a:cs typeface="Arial"/>
              </a:defRPr>
            </a:lvl1pPr>
            <a:lvl2pPr algn="l">
              <a:defRPr sz="960" b="1">
                <a:solidFill>
                  <a:srgbClr val="C8401F"/>
                </a:solidFill>
                <a:latin typeface="Arial"/>
                <a:ea typeface="Arial"/>
                <a:cs typeface="Arial"/>
              </a:defRPr>
            </a:lvl2pPr>
            <a:lvl3pPr algn="l">
              <a:defRPr sz="960" b="1">
                <a:solidFill>
                  <a:srgbClr val="C8401F"/>
                </a:solidFill>
                <a:latin typeface="Arial"/>
                <a:ea typeface="Arial"/>
                <a:cs typeface="Arial"/>
              </a:defRPr>
            </a:lvl3pPr>
            <a:lvl4pPr algn="l">
              <a:defRPr sz="960" b="1">
                <a:solidFill>
                  <a:srgbClr val="C8401F"/>
                </a:solidFill>
                <a:latin typeface="Arial"/>
                <a:ea typeface="Arial"/>
                <a:cs typeface="Arial"/>
              </a:defRPr>
            </a:lvl4pPr>
            <a:lvl5pPr algn="l">
              <a:defRPr sz="960" b="1">
                <a:solidFill>
                  <a:srgbClr val="C8401F"/>
                </a:solidFill>
                <a:latin typeface="Arial"/>
                <a:ea typeface="Arial"/>
                <a:cs typeface="Arial"/>
              </a:defRPr>
            </a:lvl5pPr>
            <a:lvl6pPr algn="l">
              <a:defRPr sz="960" b="1">
                <a:solidFill>
                  <a:srgbClr val="C8401F"/>
                </a:solidFill>
                <a:latin typeface="Arial"/>
                <a:ea typeface="Arial"/>
                <a:cs typeface="Arial"/>
              </a:defRPr>
            </a:lvl6pPr>
            <a:lvl7pPr algn="l">
              <a:defRPr sz="960" b="1">
                <a:solidFill>
                  <a:srgbClr val="C8401F"/>
                </a:solidFill>
                <a:latin typeface="Arial"/>
                <a:ea typeface="Arial"/>
                <a:cs typeface="Arial"/>
              </a:defRPr>
            </a:lvl7pPr>
            <a:lvl8pPr algn="l">
              <a:defRPr sz="960" b="1">
                <a:solidFill>
                  <a:srgbClr val="C8401F"/>
                </a:solidFill>
                <a:latin typeface="Arial"/>
                <a:ea typeface="Arial"/>
                <a:cs typeface="Arial"/>
              </a:defRPr>
            </a:lvl8pPr>
            <a:lvl9pPr algn="l">
              <a:defRPr sz="960" b="1">
                <a:solidFill>
                  <a:srgbClr val="C8401F"/>
                </a:solidFill>
                <a:latin typeface="Arial"/>
                <a:ea typeface="Arial"/>
                <a:cs typeface="Arial"/>
              </a:defRPr>
            </a:lvl9pPr>
          </a:lstStyle>
          <a:p xmlns:a="http://schemas.openxmlformats.org/drawingml/2006/main">
            <a:pPr algn="l">
              <a:defRPr sz="960" b="1">
                <a:solidFill>
                  <a:srgbClr val="C8401F"/>
                </a:solidFill>
                <a:latin typeface="Arial"/>
                <a:ea typeface="Arial"/>
                <a:cs typeface="Arial"/>
              </a:defRPr>
            </a:pPr>
            <a:r>
              <a:rPr sz="960" b="1">
                <a:solidFill>
                  <a:srgbClr val="C8401F"/>
                </a:solidFill>
                <a:latin typeface="Arial"/>
                <a:ea typeface="Arial"/>
                <a:cs typeface="Arial"/>
              </a:rPr>
              <a:t>02 / MEASURE</a:t>
            </a:r>
          </a:p>
        </p:txBody>
      </p:sp>
      <p:sp>
        <p:nvSpPr>
          <p:cNvPr id="11" name="">
            <a:extLst xmlns:a="http://schemas.openxmlformats.org/drawingml/2006/main">
              <a:ext uri="{FF2B5EF4-FFF2-40B4-BE49-F238E27FC236}">
                <a16:creationId xmlns:a16="http://schemas.microsoft.com/office/drawing/2014/main" id="{A5C41A84-335E-4DE3-9490-DB0F2D6B04A5}"/>
              </a:ext>
            </a:extLst>
          </p:cNvPr>
          <p:cNvSpPr>
            <a:spLocks xmlns:a="http://schemas.openxmlformats.org/drawingml/2006/main" noGrp="1"/>
          </p:cNvSpPr>
          <p:nvPr/>
        </p:nvSpPr>
        <p:spPr>
          <a:xfrm xmlns:a="http://schemas.openxmlformats.org/drawingml/2006/main">
            <a:off x="3413675" y="4792980"/>
            <a:ext cx="2560256"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800" b="0">
                <a:solidFill>
                  <a:srgbClr val="151312"/>
                </a:solidFill>
                <a:latin typeface="Georgia"/>
                <a:ea typeface="Georgia"/>
                <a:cs typeface="Georgia"/>
              </a:defRPr>
            </a:defPPr>
            <a:lvl1pPr algn="l">
              <a:defRPr sz="1800" b="0">
                <a:solidFill>
                  <a:srgbClr val="151312"/>
                </a:solidFill>
                <a:latin typeface="Georgia"/>
                <a:ea typeface="Georgia"/>
                <a:cs typeface="Georgia"/>
              </a:defRPr>
            </a:lvl1pPr>
            <a:lvl2pPr algn="l">
              <a:defRPr sz="1800" b="0">
                <a:solidFill>
                  <a:srgbClr val="151312"/>
                </a:solidFill>
                <a:latin typeface="Georgia"/>
                <a:ea typeface="Georgia"/>
                <a:cs typeface="Georgia"/>
              </a:defRPr>
            </a:lvl2pPr>
            <a:lvl3pPr algn="l">
              <a:defRPr sz="1800" b="0">
                <a:solidFill>
                  <a:srgbClr val="151312"/>
                </a:solidFill>
                <a:latin typeface="Georgia"/>
                <a:ea typeface="Georgia"/>
                <a:cs typeface="Georgia"/>
              </a:defRPr>
            </a:lvl3pPr>
            <a:lvl4pPr algn="l">
              <a:defRPr sz="1800" b="0">
                <a:solidFill>
                  <a:srgbClr val="151312"/>
                </a:solidFill>
                <a:latin typeface="Georgia"/>
                <a:ea typeface="Georgia"/>
                <a:cs typeface="Georgia"/>
              </a:defRPr>
            </a:lvl4pPr>
            <a:lvl5pPr algn="l">
              <a:defRPr sz="1800" b="0">
                <a:solidFill>
                  <a:srgbClr val="151312"/>
                </a:solidFill>
                <a:latin typeface="Georgia"/>
                <a:ea typeface="Georgia"/>
                <a:cs typeface="Georgia"/>
              </a:defRPr>
            </a:lvl5pPr>
            <a:lvl6pPr algn="l">
              <a:defRPr sz="1800" b="0">
                <a:solidFill>
                  <a:srgbClr val="151312"/>
                </a:solidFill>
                <a:latin typeface="Georgia"/>
                <a:ea typeface="Georgia"/>
                <a:cs typeface="Georgia"/>
              </a:defRPr>
            </a:lvl6pPr>
            <a:lvl7pPr algn="l">
              <a:defRPr sz="1800" b="0">
                <a:solidFill>
                  <a:srgbClr val="151312"/>
                </a:solidFill>
                <a:latin typeface="Georgia"/>
                <a:ea typeface="Georgia"/>
                <a:cs typeface="Georgia"/>
              </a:defRPr>
            </a:lvl7pPr>
            <a:lvl8pPr algn="l">
              <a:defRPr sz="1800" b="0">
                <a:solidFill>
                  <a:srgbClr val="151312"/>
                </a:solidFill>
                <a:latin typeface="Georgia"/>
                <a:ea typeface="Georgia"/>
                <a:cs typeface="Georgia"/>
              </a:defRPr>
            </a:lvl8pPr>
            <a:lvl9pPr algn="l">
              <a:defRPr sz="1800" b="0">
                <a:solidFill>
                  <a:srgbClr val="151312"/>
                </a:solidFill>
                <a:latin typeface="Georgia"/>
                <a:ea typeface="Georgia"/>
                <a:cs typeface="Georgia"/>
              </a:defRPr>
            </a:lvl9pPr>
          </a:lstStyle>
          <a:p xmlns:a="http://schemas.openxmlformats.org/drawingml/2006/main">
            <a:pPr algn="l">
              <a:defRPr sz="1800" b="0">
                <a:solidFill>
                  <a:srgbClr val="151312"/>
                </a:solidFill>
                <a:latin typeface="Georgia"/>
                <a:ea typeface="Georgia"/>
                <a:cs typeface="Georgia"/>
              </a:defRPr>
            </a:pPr>
            <a:r>
              <a:rPr sz="1800" b="0">
                <a:solidFill>
                  <a:srgbClr val="151312"/>
                </a:solidFill>
                <a:latin typeface="Georgia"/>
                <a:ea typeface="Georgia"/>
                <a:cs typeface="Georgia"/>
              </a:rPr>
              <a:t>Policy tone</a:t>
            </a:r>
          </a:p>
        </p:txBody>
      </p:sp>
      <p:sp>
        <p:nvSpPr>
          <p:cNvPr id="12" name="">
            <a:extLst xmlns:a="http://schemas.openxmlformats.org/drawingml/2006/main">
              <a:ext uri="{FF2B5EF4-FFF2-40B4-BE49-F238E27FC236}">
                <a16:creationId xmlns:a16="http://schemas.microsoft.com/office/drawing/2014/main" id="{8A71694F-22C9-4834-B0A9-8D24D85809A1}"/>
              </a:ext>
            </a:extLst>
          </p:cNvPr>
          <p:cNvSpPr>
            <a:spLocks xmlns:a="http://schemas.openxmlformats.org/drawingml/2006/main" noGrp="1"/>
          </p:cNvSpPr>
          <p:nvPr/>
        </p:nvSpPr>
        <p:spPr>
          <a:xfrm xmlns:a="http://schemas.openxmlformats.org/drawingml/2006/main">
            <a:off x="6217764" y="4343400"/>
            <a:ext cx="2560256" cy="1524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34D7938-CA6B-4866-A96F-130434E38875}"/>
              </a:ext>
            </a:extLst>
          </p:cNvPr>
          <p:cNvSpPr>
            <a:spLocks xmlns:a="http://schemas.openxmlformats.org/drawingml/2006/main" noGrp="1"/>
          </p:cNvSpPr>
          <p:nvPr/>
        </p:nvSpPr>
        <p:spPr>
          <a:xfrm xmlns:a="http://schemas.openxmlformats.org/drawingml/2006/main">
            <a:off x="6217764" y="4495800"/>
            <a:ext cx="2560256"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C8401F"/>
                </a:solidFill>
                <a:latin typeface="Arial"/>
                <a:ea typeface="Arial"/>
                <a:cs typeface="Arial"/>
              </a:defRPr>
            </a:defPPr>
            <a:lvl1pPr algn="l">
              <a:defRPr sz="960" b="1">
                <a:solidFill>
                  <a:srgbClr val="C8401F"/>
                </a:solidFill>
                <a:latin typeface="Arial"/>
                <a:ea typeface="Arial"/>
                <a:cs typeface="Arial"/>
              </a:defRPr>
            </a:lvl1pPr>
            <a:lvl2pPr algn="l">
              <a:defRPr sz="960" b="1">
                <a:solidFill>
                  <a:srgbClr val="C8401F"/>
                </a:solidFill>
                <a:latin typeface="Arial"/>
                <a:ea typeface="Arial"/>
                <a:cs typeface="Arial"/>
              </a:defRPr>
            </a:lvl2pPr>
            <a:lvl3pPr algn="l">
              <a:defRPr sz="960" b="1">
                <a:solidFill>
                  <a:srgbClr val="C8401F"/>
                </a:solidFill>
                <a:latin typeface="Arial"/>
                <a:ea typeface="Arial"/>
                <a:cs typeface="Arial"/>
              </a:defRPr>
            </a:lvl3pPr>
            <a:lvl4pPr algn="l">
              <a:defRPr sz="960" b="1">
                <a:solidFill>
                  <a:srgbClr val="C8401F"/>
                </a:solidFill>
                <a:latin typeface="Arial"/>
                <a:ea typeface="Arial"/>
                <a:cs typeface="Arial"/>
              </a:defRPr>
            </a:lvl4pPr>
            <a:lvl5pPr algn="l">
              <a:defRPr sz="960" b="1">
                <a:solidFill>
                  <a:srgbClr val="C8401F"/>
                </a:solidFill>
                <a:latin typeface="Arial"/>
                <a:ea typeface="Arial"/>
                <a:cs typeface="Arial"/>
              </a:defRPr>
            </a:lvl5pPr>
            <a:lvl6pPr algn="l">
              <a:defRPr sz="960" b="1">
                <a:solidFill>
                  <a:srgbClr val="C8401F"/>
                </a:solidFill>
                <a:latin typeface="Arial"/>
                <a:ea typeface="Arial"/>
                <a:cs typeface="Arial"/>
              </a:defRPr>
            </a:lvl6pPr>
            <a:lvl7pPr algn="l">
              <a:defRPr sz="960" b="1">
                <a:solidFill>
                  <a:srgbClr val="C8401F"/>
                </a:solidFill>
                <a:latin typeface="Arial"/>
                <a:ea typeface="Arial"/>
                <a:cs typeface="Arial"/>
              </a:defRPr>
            </a:lvl7pPr>
            <a:lvl8pPr algn="l">
              <a:defRPr sz="960" b="1">
                <a:solidFill>
                  <a:srgbClr val="C8401F"/>
                </a:solidFill>
                <a:latin typeface="Arial"/>
                <a:ea typeface="Arial"/>
                <a:cs typeface="Arial"/>
              </a:defRPr>
            </a:lvl8pPr>
            <a:lvl9pPr algn="l">
              <a:defRPr sz="960" b="1">
                <a:solidFill>
                  <a:srgbClr val="C8401F"/>
                </a:solidFill>
                <a:latin typeface="Arial"/>
                <a:ea typeface="Arial"/>
                <a:cs typeface="Arial"/>
              </a:defRPr>
            </a:lvl9pPr>
          </a:lstStyle>
          <a:p xmlns:a="http://schemas.openxmlformats.org/drawingml/2006/main">
            <a:pPr algn="l">
              <a:defRPr sz="960" b="1">
                <a:solidFill>
                  <a:srgbClr val="C8401F"/>
                </a:solidFill>
                <a:latin typeface="Arial"/>
                <a:ea typeface="Arial"/>
                <a:cs typeface="Arial"/>
              </a:defRPr>
            </a:pPr>
            <a:r>
              <a:rPr sz="960" b="1">
                <a:solidFill>
                  <a:srgbClr val="C8401F"/>
                </a:solidFill>
                <a:latin typeface="Arial"/>
                <a:ea typeface="Arial"/>
                <a:cs typeface="Arial"/>
              </a:rPr>
              <a:t>03 / TEST</a:t>
            </a:r>
          </a:p>
        </p:txBody>
      </p:sp>
      <p:sp>
        <p:nvSpPr>
          <p:cNvPr id="14" name="">
            <a:extLst xmlns:a="http://schemas.openxmlformats.org/drawingml/2006/main">
              <a:ext uri="{FF2B5EF4-FFF2-40B4-BE49-F238E27FC236}">
                <a16:creationId xmlns:a16="http://schemas.microsoft.com/office/drawing/2014/main" id="{7C484D26-8C92-4CDF-8C66-8F44FFF95801}"/>
              </a:ext>
            </a:extLst>
          </p:cNvPr>
          <p:cNvSpPr>
            <a:spLocks xmlns:a="http://schemas.openxmlformats.org/drawingml/2006/main" noGrp="1"/>
          </p:cNvSpPr>
          <p:nvPr/>
        </p:nvSpPr>
        <p:spPr>
          <a:xfrm xmlns:a="http://schemas.openxmlformats.org/drawingml/2006/main">
            <a:off x="6217764" y="4792980"/>
            <a:ext cx="2560256"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800" b="0">
                <a:solidFill>
                  <a:srgbClr val="151312"/>
                </a:solidFill>
                <a:latin typeface="Georgia"/>
                <a:ea typeface="Georgia"/>
                <a:cs typeface="Georgia"/>
              </a:defRPr>
            </a:defPPr>
            <a:lvl1pPr algn="l">
              <a:defRPr sz="1800" b="0">
                <a:solidFill>
                  <a:srgbClr val="151312"/>
                </a:solidFill>
                <a:latin typeface="Georgia"/>
                <a:ea typeface="Georgia"/>
                <a:cs typeface="Georgia"/>
              </a:defRPr>
            </a:lvl1pPr>
            <a:lvl2pPr algn="l">
              <a:defRPr sz="1800" b="0">
                <a:solidFill>
                  <a:srgbClr val="151312"/>
                </a:solidFill>
                <a:latin typeface="Georgia"/>
                <a:ea typeface="Georgia"/>
                <a:cs typeface="Georgia"/>
              </a:defRPr>
            </a:lvl2pPr>
            <a:lvl3pPr algn="l">
              <a:defRPr sz="1800" b="0">
                <a:solidFill>
                  <a:srgbClr val="151312"/>
                </a:solidFill>
                <a:latin typeface="Georgia"/>
                <a:ea typeface="Georgia"/>
                <a:cs typeface="Georgia"/>
              </a:defRPr>
            </a:lvl3pPr>
            <a:lvl4pPr algn="l">
              <a:defRPr sz="1800" b="0">
                <a:solidFill>
                  <a:srgbClr val="151312"/>
                </a:solidFill>
                <a:latin typeface="Georgia"/>
                <a:ea typeface="Georgia"/>
                <a:cs typeface="Georgia"/>
              </a:defRPr>
            </a:lvl4pPr>
            <a:lvl5pPr algn="l">
              <a:defRPr sz="1800" b="0">
                <a:solidFill>
                  <a:srgbClr val="151312"/>
                </a:solidFill>
                <a:latin typeface="Georgia"/>
                <a:ea typeface="Georgia"/>
                <a:cs typeface="Georgia"/>
              </a:defRPr>
            </a:lvl5pPr>
            <a:lvl6pPr algn="l">
              <a:defRPr sz="1800" b="0">
                <a:solidFill>
                  <a:srgbClr val="151312"/>
                </a:solidFill>
                <a:latin typeface="Georgia"/>
                <a:ea typeface="Georgia"/>
                <a:cs typeface="Georgia"/>
              </a:defRPr>
            </a:lvl6pPr>
            <a:lvl7pPr algn="l">
              <a:defRPr sz="1800" b="0">
                <a:solidFill>
                  <a:srgbClr val="151312"/>
                </a:solidFill>
                <a:latin typeface="Georgia"/>
                <a:ea typeface="Georgia"/>
                <a:cs typeface="Georgia"/>
              </a:defRPr>
            </a:lvl7pPr>
            <a:lvl8pPr algn="l">
              <a:defRPr sz="1800" b="0">
                <a:solidFill>
                  <a:srgbClr val="151312"/>
                </a:solidFill>
                <a:latin typeface="Georgia"/>
                <a:ea typeface="Georgia"/>
                <a:cs typeface="Georgia"/>
              </a:defRPr>
            </a:lvl8pPr>
            <a:lvl9pPr algn="l">
              <a:defRPr sz="1800" b="0">
                <a:solidFill>
                  <a:srgbClr val="151312"/>
                </a:solidFill>
                <a:latin typeface="Georgia"/>
                <a:ea typeface="Georgia"/>
                <a:cs typeface="Georgia"/>
              </a:defRPr>
            </a:lvl9pPr>
          </a:lstStyle>
          <a:p xmlns:a="http://schemas.openxmlformats.org/drawingml/2006/main">
            <a:pPr algn="l">
              <a:defRPr sz="1800" b="0">
                <a:solidFill>
                  <a:srgbClr val="151312"/>
                </a:solidFill>
                <a:latin typeface="Georgia"/>
                <a:ea typeface="Georgia"/>
                <a:cs typeface="Georgia"/>
              </a:defRPr>
            </a:pPr>
            <a:r>
              <a:rPr sz="1800" b="0">
                <a:solidFill>
                  <a:srgbClr val="151312"/>
                </a:solidFill>
                <a:latin typeface="Georgia"/>
                <a:ea typeface="Georgia"/>
                <a:cs typeface="Georgia"/>
              </a:rPr>
              <a:t>Treasury yields</a:t>
            </a:r>
          </a:p>
        </p:txBody>
      </p:sp>
      <p:sp>
        <p:nvSpPr>
          <p:cNvPr id="15" name="">
            <a:extLst xmlns:a="http://schemas.openxmlformats.org/drawingml/2006/main">
              <a:ext uri="{FF2B5EF4-FFF2-40B4-BE49-F238E27FC236}">
                <a16:creationId xmlns:a16="http://schemas.microsoft.com/office/drawing/2014/main" id="{D04F21C4-C174-4282-A208-D2D17A8D6C44}"/>
              </a:ext>
            </a:extLst>
          </p:cNvPr>
          <p:cNvSpPr>
            <a:spLocks xmlns:a="http://schemas.openxmlformats.org/drawingml/2006/main" noGrp="1"/>
          </p:cNvSpPr>
          <p:nvPr/>
        </p:nvSpPr>
        <p:spPr>
          <a:xfrm xmlns:a="http://schemas.openxmlformats.org/drawingml/2006/main">
            <a:off x="9021854" y="4343400"/>
            <a:ext cx="2560256" cy="1524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156A1AA-B1C1-4D7C-BF59-1C9826F0808C}"/>
              </a:ext>
            </a:extLst>
          </p:cNvPr>
          <p:cNvSpPr>
            <a:spLocks xmlns:a="http://schemas.openxmlformats.org/drawingml/2006/main" noGrp="1"/>
          </p:cNvSpPr>
          <p:nvPr/>
        </p:nvSpPr>
        <p:spPr>
          <a:xfrm xmlns:a="http://schemas.openxmlformats.org/drawingml/2006/main">
            <a:off x="9021854" y="4495800"/>
            <a:ext cx="2560256"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C8401F"/>
                </a:solidFill>
                <a:latin typeface="Arial"/>
                <a:ea typeface="Arial"/>
                <a:cs typeface="Arial"/>
              </a:defRPr>
            </a:defPPr>
            <a:lvl1pPr algn="l">
              <a:defRPr sz="960" b="1">
                <a:solidFill>
                  <a:srgbClr val="C8401F"/>
                </a:solidFill>
                <a:latin typeface="Arial"/>
                <a:ea typeface="Arial"/>
                <a:cs typeface="Arial"/>
              </a:defRPr>
            </a:lvl1pPr>
            <a:lvl2pPr algn="l">
              <a:defRPr sz="960" b="1">
                <a:solidFill>
                  <a:srgbClr val="C8401F"/>
                </a:solidFill>
                <a:latin typeface="Arial"/>
                <a:ea typeface="Arial"/>
                <a:cs typeface="Arial"/>
              </a:defRPr>
            </a:lvl2pPr>
            <a:lvl3pPr algn="l">
              <a:defRPr sz="960" b="1">
                <a:solidFill>
                  <a:srgbClr val="C8401F"/>
                </a:solidFill>
                <a:latin typeface="Arial"/>
                <a:ea typeface="Arial"/>
                <a:cs typeface="Arial"/>
              </a:defRPr>
            </a:lvl3pPr>
            <a:lvl4pPr algn="l">
              <a:defRPr sz="960" b="1">
                <a:solidFill>
                  <a:srgbClr val="C8401F"/>
                </a:solidFill>
                <a:latin typeface="Arial"/>
                <a:ea typeface="Arial"/>
                <a:cs typeface="Arial"/>
              </a:defRPr>
            </a:lvl4pPr>
            <a:lvl5pPr algn="l">
              <a:defRPr sz="960" b="1">
                <a:solidFill>
                  <a:srgbClr val="C8401F"/>
                </a:solidFill>
                <a:latin typeface="Arial"/>
                <a:ea typeface="Arial"/>
                <a:cs typeface="Arial"/>
              </a:defRPr>
            </a:lvl5pPr>
            <a:lvl6pPr algn="l">
              <a:defRPr sz="960" b="1">
                <a:solidFill>
                  <a:srgbClr val="C8401F"/>
                </a:solidFill>
                <a:latin typeface="Arial"/>
                <a:ea typeface="Arial"/>
                <a:cs typeface="Arial"/>
              </a:defRPr>
            </a:lvl6pPr>
            <a:lvl7pPr algn="l">
              <a:defRPr sz="960" b="1">
                <a:solidFill>
                  <a:srgbClr val="C8401F"/>
                </a:solidFill>
                <a:latin typeface="Arial"/>
                <a:ea typeface="Arial"/>
                <a:cs typeface="Arial"/>
              </a:defRPr>
            </a:lvl7pPr>
            <a:lvl8pPr algn="l">
              <a:defRPr sz="960" b="1">
                <a:solidFill>
                  <a:srgbClr val="C8401F"/>
                </a:solidFill>
                <a:latin typeface="Arial"/>
                <a:ea typeface="Arial"/>
                <a:cs typeface="Arial"/>
              </a:defRPr>
            </a:lvl8pPr>
            <a:lvl9pPr algn="l">
              <a:defRPr sz="960" b="1">
                <a:solidFill>
                  <a:srgbClr val="C8401F"/>
                </a:solidFill>
                <a:latin typeface="Arial"/>
                <a:ea typeface="Arial"/>
                <a:cs typeface="Arial"/>
              </a:defRPr>
            </a:lvl9pPr>
          </a:lstStyle>
          <a:p xmlns:a="http://schemas.openxmlformats.org/drawingml/2006/main">
            <a:pPr algn="l">
              <a:defRPr sz="960" b="1">
                <a:solidFill>
                  <a:srgbClr val="C8401F"/>
                </a:solidFill>
                <a:latin typeface="Arial"/>
                <a:ea typeface="Arial"/>
                <a:cs typeface="Arial"/>
              </a:defRPr>
            </a:pPr>
            <a:r>
              <a:rPr sz="960" b="1">
                <a:solidFill>
                  <a:srgbClr val="C8401F"/>
                </a:solidFill>
                <a:latin typeface="Arial"/>
                <a:ea typeface="Arial"/>
                <a:cs typeface="Arial"/>
              </a:rPr>
              <a:t>04 / SIZE</a:t>
            </a:r>
          </a:p>
        </p:txBody>
      </p:sp>
      <p:sp>
        <p:nvSpPr>
          <p:cNvPr id="17" name="">
            <a:extLst xmlns:a="http://schemas.openxmlformats.org/drawingml/2006/main">
              <a:ext uri="{FF2B5EF4-FFF2-40B4-BE49-F238E27FC236}">
                <a16:creationId xmlns:a16="http://schemas.microsoft.com/office/drawing/2014/main" id="{E8B1537B-0096-4DB3-8DF5-9F9D55FF3C84}"/>
              </a:ext>
            </a:extLst>
          </p:cNvPr>
          <p:cNvSpPr>
            <a:spLocks xmlns:a="http://schemas.openxmlformats.org/drawingml/2006/main" noGrp="1"/>
          </p:cNvSpPr>
          <p:nvPr/>
        </p:nvSpPr>
        <p:spPr>
          <a:xfrm xmlns:a="http://schemas.openxmlformats.org/drawingml/2006/main">
            <a:off x="9021854" y="4792980"/>
            <a:ext cx="2560256"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800" b="0">
                <a:solidFill>
                  <a:srgbClr val="151312"/>
                </a:solidFill>
                <a:latin typeface="Georgia"/>
                <a:ea typeface="Georgia"/>
                <a:cs typeface="Georgia"/>
              </a:defRPr>
            </a:defPPr>
            <a:lvl1pPr algn="l">
              <a:defRPr sz="1800" b="0">
                <a:solidFill>
                  <a:srgbClr val="151312"/>
                </a:solidFill>
                <a:latin typeface="Georgia"/>
                <a:ea typeface="Georgia"/>
                <a:cs typeface="Georgia"/>
              </a:defRPr>
            </a:lvl1pPr>
            <a:lvl2pPr algn="l">
              <a:defRPr sz="1800" b="0">
                <a:solidFill>
                  <a:srgbClr val="151312"/>
                </a:solidFill>
                <a:latin typeface="Georgia"/>
                <a:ea typeface="Georgia"/>
                <a:cs typeface="Georgia"/>
              </a:defRPr>
            </a:lvl2pPr>
            <a:lvl3pPr algn="l">
              <a:defRPr sz="1800" b="0">
                <a:solidFill>
                  <a:srgbClr val="151312"/>
                </a:solidFill>
                <a:latin typeface="Georgia"/>
                <a:ea typeface="Georgia"/>
                <a:cs typeface="Georgia"/>
              </a:defRPr>
            </a:lvl3pPr>
            <a:lvl4pPr algn="l">
              <a:defRPr sz="1800" b="0">
                <a:solidFill>
                  <a:srgbClr val="151312"/>
                </a:solidFill>
                <a:latin typeface="Georgia"/>
                <a:ea typeface="Georgia"/>
                <a:cs typeface="Georgia"/>
              </a:defRPr>
            </a:lvl4pPr>
            <a:lvl5pPr algn="l">
              <a:defRPr sz="1800" b="0">
                <a:solidFill>
                  <a:srgbClr val="151312"/>
                </a:solidFill>
                <a:latin typeface="Georgia"/>
                <a:ea typeface="Georgia"/>
                <a:cs typeface="Georgia"/>
              </a:defRPr>
            </a:lvl5pPr>
            <a:lvl6pPr algn="l">
              <a:defRPr sz="1800" b="0">
                <a:solidFill>
                  <a:srgbClr val="151312"/>
                </a:solidFill>
                <a:latin typeface="Georgia"/>
                <a:ea typeface="Georgia"/>
                <a:cs typeface="Georgia"/>
              </a:defRPr>
            </a:lvl6pPr>
            <a:lvl7pPr algn="l">
              <a:defRPr sz="1800" b="0">
                <a:solidFill>
                  <a:srgbClr val="151312"/>
                </a:solidFill>
                <a:latin typeface="Georgia"/>
                <a:ea typeface="Georgia"/>
                <a:cs typeface="Georgia"/>
              </a:defRPr>
            </a:lvl7pPr>
            <a:lvl8pPr algn="l">
              <a:defRPr sz="1800" b="0">
                <a:solidFill>
                  <a:srgbClr val="151312"/>
                </a:solidFill>
                <a:latin typeface="Georgia"/>
                <a:ea typeface="Georgia"/>
                <a:cs typeface="Georgia"/>
              </a:defRPr>
            </a:lvl8pPr>
            <a:lvl9pPr algn="l">
              <a:defRPr sz="1800" b="0">
                <a:solidFill>
                  <a:srgbClr val="151312"/>
                </a:solidFill>
                <a:latin typeface="Georgia"/>
                <a:ea typeface="Georgia"/>
                <a:cs typeface="Georgia"/>
              </a:defRPr>
            </a:lvl9pPr>
          </a:lstStyle>
          <a:p xmlns:a="http://schemas.openxmlformats.org/drawingml/2006/main">
            <a:pPr algn="l">
              <a:defRPr sz="1800" b="0">
                <a:solidFill>
                  <a:srgbClr val="151312"/>
                </a:solidFill>
                <a:latin typeface="Georgia"/>
                <a:ea typeface="Georgia"/>
                <a:cs typeface="Georgia"/>
              </a:defRPr>
            </a:pPr>
            <a:r>
              <a:rPr sz="1800" b="0">
                <a:solidFill>
                  <a:srgbClr val="151312"/>
                </a:solidFill>
                <a:latin typeface="Georgia"/>
                <a:ea typeface="Georgia"/>
                <a:cs typeface="Georgia"/>
              </a:rPr>
              <a:t>Portfolio duration</a:t>
            </a:r>
          </a:p>
        </p:txBody>
      </p:sp>
      <p:sp>
        <p:nvSpPr>
          <p:cNvPr id="18" name="">
            <a:extLst xmlns:a="http://schemas.openxmlformats.org/drawingml/2006/main">
              <a:ext uri="{FF2B5EF4-FFF2-40B4-BE49-F238E27FC236}">
                <a16:creationId xmlns:a16="http://schemas.microsoft.com/office/drawing/2014/main" id="{57295FDE-473B-4EE4-8475-BD9946C6EC64}"/>
              </a:ext>
            </a:extLst>
          </p:cNvPr>
          <p:cNvSpPr>
            <a:spLocks xmlns:a="http://schemas.openxmlformats.org/drawingml/2006/main" noGrp="1"/>
          </p:cNvSpPr>
          <p:nvPr/>
        </p:nvSpPr>
        <p:spPr>
          <a:xfrm xmlns:a="http://schemas.openxmlformats.org/drawingml/2006/main">
            <a:off x="609585" y="5334000"/>
            <a:ext cx="5333867"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LIVE DEMO</a:t>
            </a:r>
          </a:p>
        </p:txBody>
      </p:sp>
      <p:sp>
        <p:nvSpPr>
          <p:cNvPr id="19" name="">
            <a:extLst xmlns:a="http://schemas.openxmlformats.org/drawingml/2006/main">
              <a:ext uri="{FF2B5EF4-FFF2-40B4-BE49-F238E27FC236}">
                <a16:creationId xmlns:a16="http://schemas.microsoft.com/office/drawing/2014/main" id="{8B04A4EE-18E5-4554-828A-C1BD379169EA}"/>
              </a:ext>
            </a:extLst>
          </p:cNvPr>
          <p:cNvSpPr>
            <a:spLocks xmlns:a="http://schemas.openxmlformats.org/drawingml/2006/main" noGrp="1"/>
          </p:cNvSpPr>
          <p:nvPr/>
        </p:nvSpPr>
        <p:spPr>
          <a:xfrm xmlns:a="http://schemas.openxmlformats.org/drawingml/2006/main">
            <a:off x="609585" y="5547360"/>
            <a:ext cx="5333867"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560" b="0">
                <a:solidFill>
                  <a:srgbClr val="151312"/>
                </a:solidFill>
                <a:latin typeface="Arial"/>
                <a:ea typeface="Arial"/>
                <a:cs typeface="Arial"/>
              </a:defRPr>
            </a:defPPr>
            <a:lvl1pPr algn="l">
              <a:defRPr sz="1560" b="0">
                <a:solidFill>
                  <a:srgbClr val="151312"/>
                </a:solidFill>
                <a:latin typeface="Arial"/>
                <a:ea typeface="Arial"/>
                <a:cs typeface="Arial"/>
              </a:defRPr>
            </a:lvl1pPr>
            <a:lvl2pPr algn="l">
              <a:defRPr sz="1560" b="0">
                <a:solidFill>
                  <a:srgbClr val="151312"/>
                </a:solidFill>
                <a:latin typeface="Arial"/>
                <a:ea typeface="Arial"/>
                <a:cs typeface="Arial"/>
              </a:defRPr>
            </a:lvl2pPr>
            <a:lvl3pPr algn="l">
              <a:defRPr sz="1560" b="0">
                <a:solidFill>
                  <a:srgbClr val="151312"/>
                </a:solidFill>
                <a:latin typeface="Arial"/>
                <a:ea typeface="Arial"/>
                <a:cs typeface="Arial"/>
              </a:defRPr>
            </a:lvl3pPr>
            <a:lvl4pPr algn="l">
              <a:defRPr sz="1560" b="0">
                <a:solidFill>
                  <a:srgbClr val="151312"/>
                </a:solidFill>
                <a:latin typeface="Arial"/>
                <a:ea typeface="Arial"/>
                <a:cs typeface="Arial"/>
              </a:defRPr>
            </a:lvl4pPr>
            <a:lvl5pPr algn="l">
              <a:defRPr sz="1560" b="0">
                <a:solidFill>
                  <a:srgbClr val="151312"/>
                </a:solidFill>
                <a:latin typeface="Arial"/>
                <a:ea typeface="Arial"/>
                <a:cs typeface="Arial"/>
              </a:defRPr>
            </a:lvl5pPr>
            <a:lvl6pPr algn="l">
              <a:defRPr sz="1560" b="0">
                <a:solidFill>
                  <a:srgbClr val="151312"/>
                </a:solidFill>
                <a:latin typeface="Arial"/>
                <a:ea typeface="Arial"/>
                <a:cs typeface="Arial"/>
              </a:defRPr>
            </a:lvl6pPr>
            <a:lvl7pPr algn="l">
              <a:defRPr sz="1560" b="0">
                <a:solidFill>
                  <a:srgbClr val="151312"/>
                </a:solidFill>
                <a:latin typeface="Arial"/>
                <a:ea typeface="Arial"/>
                <a:cs typeface="Arial"/>
              </a:defRPr>
            </a:lvl7pPr>
            <a:lvl8pPr algn="l">
              <a:defRPr sz="1560" b="0">
                <a:solidFill>
                  <a:srgbClr val="151312"/>
                </a:solidFill>
                <a:latin typeface="Arial"/>
                <a:ea typeface="Arial"/>
                <a:cs typeface="Arial"/>
              </a:defRPr>
            </a:lvl8pPr>
            <a:lvl9pPr algn="l">
              <a:defRPr sz="1560" b="0">
                <a:solidFill>
                  <a:srgbClr val="151312"/>
                </a:solidFill>
                <a:latin typeface="Arial"/>
                <a:ea typeface="Arial"/>
                <a:cs typeface="Arial"/>
              </a:defRPr>
            </a:lvl9pPr>
          </a:lstStyle>
          <a:p xmlns:a="http://schemas.openxmlformats.org/drawingml/2006/main">
            <a:pPr algn="l">
              <a:defRPr sz="1560" b="0">
                <a:solidFill>
                  <a:srgbClr val="151312"/>
                </a:solidFill>
                <a:latin typeface="Arial"/>
                <a:ea typeface="Arial"/>
                <a:cs typeface="Arial"/>
              </a:defRPr>
            </a:pPr>
            <a:r>
              <a:rPr sz="1560" b="0">
                <a:solidFill>
                  <a:srgbClr val="151312"/>
                </a:solidFill>
                <a:latin typeface="Arial"/>
                <a:ea typeface="Arial"/>
                <a:cs typeface="Arial"/>
              </a:rPr>
              <a:t>fedtone.web.app</a:t>
            </a:r>
          </a:p>
        </p:txBody>
      </p:sp>
      <p:sp>
        <p:nvSpPr>
          <p:cNvPr id="20" name="">
            <a:extLst xmlns:a="http://schemas.openxmlformats.org/drawingml/2006/main">
              <a:ext uri="{FF2B5EF4-FFF2-40B4-BE49-F238E27FC236}">
                <a16:creationId xmlns:a16="http://schemas.microsoft.com/office/drawing/2014/main" id="{A98A63DB-1D8D-4885-B969-D6445685FFF1}"/>
              </a:ext>
            </a:extLst>
          </p:cNvPr>
          <p:cNvSpPr>
            <a:spLocks xmlns:a="http://schemas.openxmlformats.org/drawingml/2006/main" noGrp="1"/>
          </p:cNvSpPr>
          <p:nvPr/>
        </p:nvSpPr>
        <p:spPr>
          <a:xfrm xmlns:a="http://schemas.openxmlformats.org/drawingml/2006/main">
            <a:off x="6217764" y="5334000"/>
            <a:ext cx="5333867"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CODE</a:t>
            </a:r>
          </a:p>
        </p:txBody>
      </p:sp>
      <p:sp>
        <p:nvSpPr>
          <p:cNvPr id="21" name="">
            <a:extLst xmlns:a="http://schemas.openxmlformats.org/drawingml/2006/main">
              <a:ext uri="{FF2B5EF4-FFF2-40B4-BE49-F238E27FC236}">
                <a16:creationId xmlns:a16="http://schemas.microsoft.com/office/drawing/2014/main" id="{4A74D688-8B28-479D-B5B1-60E788DD72E7}"/>
              </a:ext>
            </a:extLst>
          </p:cNvPr>
          <p:cNvSpPr>
            <a:spLocks xmlns:a="http://schemas.openxmlformats.org/drawingml/2006/main" noGrp="1"/>
          </p:cNvSpPr>
          <p:nvPr/>
        </p:nvSpPr>
        <p:spPr>
          <a:xfrm xmlns:a="http://schemas.openxmlformats.org/drawingml/2006/main">
            <a:off x="6217764" y="5547360"/>
            <a:ext cx="5333867"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560" b="0">
                <a:solidFill>
                  <a:srgbClr val="151312"/>
                </a:solidFill>
                <a:latin typeface="Arial"/>
                <a:ea typeface="Arial"/>
                <a:cs typeface="Arial"/>
              </a:defRPr>
            </a:defPPr>
            <a:lvl1pPr algn="l">
              <a:defRPr sz="1560" b="0">
                <a:solidFill>
                  <a:srgbClr val="151312"/>
                </a:solidFill>
                <a:latin typeface="Arial"/>
                <a:ea typeface="Arial"/>
                <a:cs typeface="Arial"/>
              </a:defRPr>
            </a:lvl1pPr>
            <a:lvl2pPr algn="l">
              <a:defRPr sz="1560" b="0">
                <a:solidFill>
                  <a:srgbClr val="151312"/>
                </a:solidFill>
                <a:latin typeface="Arial"/>
                <a:ea typeface="Arial"/>
                <a:cs typeface="Arial"/>
              </a:defRPr>
            </a:lvl2pPr>
            <a:lvl3pPr algn="l">
              <a:defRPr sz="1560" b="0">
                <a:solidFill>
                  <a:srgbClr val="151312"/>
                </a:solidFill>
                <a:latin typeface="Arial"/>
                <a:ea typeface="Arial"/>
                <a:cs typeface="Arial"/>
              </a:defRPr>
            </a:lvl3pPr>
            <a:lvl4pPr algn="l">
              <a:defRPr sz="1560" b="0">
                <a:solidFill>
                  <a:srgbClr val="151312"/>
                </a:solidFill>
                <a:latin typeface="Arial"/>
                <a:ea typeface="Arial"/>
                <a:cs typeface="Arial"/>
              </a:defRPr>
            </a:lvl4pPr>
            <a:lvl5pPr algn="l">
              <a:defRPr sz="1560" b="0">
                <a:solidFill>
                  <a:srgbClr val="151312"/>
                </a:solidFill>
                <a:latin typeface="Arial"/>
                <a:ea typeface="Arial"/>
                <a:cs typeface="Arial"/>
              </a:defRPr>
            </a:lvl5pPr>
            <a:lvl6pPr algn="l">
              <a:defRPr sz="1560" b="0">
                <a:solidFill>
                  <a:srgbClr val="151312"/>
                </a:solidFill>
                <a:latin typeface="Arial"/>
                <a:ea typeface="Arial"/>
                <a:cs typeface="Arial"/>
              </a:defRPr>
            </a:lvl6pPr>
            <a:lvl7pPr algn="l">
              <a:defRPr sz="1560" b="0">
                <a:solidFill>
                  <a:srgbClr val="151312"/>
                </a:solidFill>
                <a:latin typeface="Arial"/>
                <a:ea typeface="Arial"/>
                <a:cs typeface="Arial"/>
              </a:defRPr>
            </a:lvl7pPr>
            <a:lvl8pPr algn="l">
              <a:defRPr sz="1560" b="0">
                <a:solidFill>
                  <a:srgbClr val="151312"/>
                </a:solidFill>
                <a:latin typeface="Arial"/>
                <a:ea typeface="Arial"/>
                <a:cs typeface="Arial"/>
              </a:defRPr>
            </a:lvl8pPr>
            <a:lvl9pPr algn="l">
              <a:defRPr sz="1560" b="0">
                <a:solidFill>
                  <a:srgbClr val="151312"/>
                </a:solidFill>
                <a:latin typeface="Arial"/>
                <a:ea typeface="Arial"/>
                <a:cs typeface="Arial"/>
              </a:defRPr>
            </a:lvl9pPr>
          </a:lstStyle>
          <a:p xmlns:a="http://schemas.openxmlformats.org/drawingml/2006/main">
            <a:pPr algn="l">
              <a:defRPr sz="1560" b="0">
                <a:solidFill>
                  <a:srgbClr val="151312"/>
                </a:solidFill>
                <a:latin typeface="Arial"/>
                <a:ea typeface="Arial"/>
                <a:cs typeface="Arial"/>
              </a:defRPr>
            </a:pPr>
            <a:r>
              <a:rPr sz="1560" b="0">
                <a:solidFill>
                  <a:srgbClr val="151312"/>
                </a:solidFill>
                <a:latin typeface="Arial"/>
                <a:ea typeface="Arial"/>
                <a:cs typeface="Arial"/>
              </a:rPr>
              <a:t>github.com/flukier1016/fomc-tone-lab</a:t>
            </a:r>
          </a:p>
        </p:txBody>
      </p:sp>
      <p:sp>
        <p:nvSpPr>
          <p:cNvPr id="22" name="">
            <a:extLst xmlns:a="http://schemas.openxmlformats.org/drawingml/2006/main">
              <a:ext uri="{FF2B5EF4-FFF2-40B4-BE49-F238E27FC236}">
                <a16:creationId xmlns:a16="http://schemas.microsoft.com/office/drawing/2014/main" id="{12405400-DA70-4873-99A1-2C5896434609}"/>
              </a:ext>
            </a:extLst>
          </p:cNvPr>
          <p:cNvSpPr>
            <a:spLocks xmlns:a="http://schemas.openxmlformats.org/drawingml/2006/main" noGrp="1"/>
          </p:cNvSpPr>
          <p:nvPr/>
        </p:nvSpPr>
        <p:spPr>
          <a:xfrm xmlns:a="http://schemas.openxmlformats.org/drawingml/2006/main">
            <a:off x="609585" y="595884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3E8FB5B-9F20-4827-A2FB-A09A6C44141E}"/>
              </a:ext>
            </a:extLst>
          </p:cNvPr>
          <p:cNvSpPr>
            <a:spLocks xmlns:a="http://schemas.openxmlformats.org/drawingml/2006/main" noGrp="1"/>
          </p:cNvSpPr>
          <p:nvPr/>
        </p:nvSpPr>
        <p:spPr>
          <a:xfrm xmlns:a="http://schemas.openxmlformats.org/drawingml/2006/main">
            <a:off x="609585" y="6134100"/>
            <a:ext cx="2514537"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151312"/>
                </a:solidFill>
                <a:latin typeface="Arial"/>
                <a:ea typeface="Arial"/>
                <a:cs typeface="Arial"/>
              </a:defRPr>
            </a:defPPr>
            <a:lvl1pPr algn="l">
              <a:defRPr sz="1320" b="0">
                <a:solidFill>
                  <a:srgbClr val="151312"/>
                </a:solidFill>
                <a:latin typeface="Arial"/>
                <a:ea typeface="Arial"/>
                <a:cs typeface="Arial"/>
              </a:defRPr>
            </a:lvl1pPr>
            <a:lvl2pPr algn="l">
              <a:defRPr sz="1320" b="0">
                <a:solidFill>
                  <a:srgbClr val="151312"/>
                </a:solidFill>
                <a:latin typeface="Arial"/>
                <a:ea typeface="Arial"/>
                <a:cs typeface="Arial"/>
              </a:defRPr>
            </a:lvl2pPr>
            <a:lvl3pPr algn="l">
              <a:defRPr sz="1320" b="0">
                <a:solidFill>
                  <a:srgbClr val="151312"/>
                </a:solidFill>
                <a:latin typeface="Arial"/>
                <a:ea typeface="Arial"/>
                <a:cs typeface="Arial"/>
              </a:defRPr>
            </a:lvl3pPr>
            <a:lvl4pPr algn="l">
              <a:defRPr sz="1320" b="0">
                <a:solidFill>
                  <a:srgbClr val="151312"/>
                </a:solidFill>
                <a:latin typeface="Arial"/>
                <a:ea typeface="Arial"/>
                <a:cs typeface="Arial"/>
              </a:defRPr>
            </a:lvl4pPr>
            <a:lvl5pPr algn="l">
              <a:defRPr sz="1320" b="0">
                <a:solidFill>
                  <a:srgbClr val="151312"/>
                </a:solidFill>
                <a:latin typeface="Arial"/>
                <a:ea typeface="Arial"/>
                <a:cs typeface="Arial"/>
              </a:defRPr>
            </a:lvl5pPr>
            <a:lvl6pPr algn="l">
              <a:defRPr sz="1320" b="0">
                <a:solidFill>
                  <a:srgbClr val="151312"/>
                </a:solidFill>
                <a:latin typeface="Arial"/>
                <a:ea typeface="Arial"/>
                <a:cs typeface="Arial"/>
              </a:defRPr>
            </a:lvl6pPr>
            <a:lvl7pPr algn="l">
              <a:defRPr sz="1320" b="0">
                <a:solidFill>
                  <a:srgbClr val="151312"/>
                </a:solidFill>
                <a:latin typeface="Arial"/>
                <a:ea typeface="Arial"/>
                <a:cs typeface="Arial"/>
              </a:defRPr>
            </a:lvl7pPr>
            <a:lvl8pPr algn="l">
              <a:defRPr sz="1320" b="0">
                <a:solidFill>
                  <a:srgbClr val="151312"/>
                </a:solidFill>
                <a:latin typeface="Arial"/>
                <a:ea typeface="Arial"/>
                <a:cs typeface="Arial"/>
              </a:defRPr>
            </a:lvl8pPr>
            <a:lvl9pPr algn="l">
              <a:defRPr sz="1320" b="0">
                <a:solidFill>
                  <a:srgbClr val="151312"/>
                </a:solidFill>
                <a:latin typeface="Arial"/>
                <a:ea typeface="Arial"/>
                <a:cs typeface="Arial"/>
              </a:defRPr>
            </a:lvl9pPr>
          </a:lstStyle>
          <a:p xmlns:a="http://schemas.openxmlformats.org/drawingml/2006/main">
            <a:pPr algn="l">
              <a:defRPr sz="1320" b="0">
                <a:solidFill>
                  <a:srgbClr val="151312"/>
                </a:solidFill>
                <a:latin typeface="Arial"/>
                <a:ea typeface="Arial"/>
                <a:cs typeface="Arial"/>
              </a:defRPr>
            </a:pPr>
            <a:r>
              <a:rPr sz="1320" b="0">
                <a:solidFill>
                  <a:srgbClr val="151312"/>
                </a:solidFill>
                <a:latin typeface="Arial"/>
                <a:ea typeface="Arial"/>
                <a:cs typeface="Arial"/>
              </a:rPr>
              <a:t>Genie Zhang</a:t>
            </a:r>
          </a:p>
        </p:txBody>
      </p:sp>
      <p:sp>
        <p:nvSpPr>
          <p:cNvPr id="24" name="">
            <a:extLst xmlns:a="http://schemas.openxmlformats.org/drawingml/2006/main">
              <a:ext uri="{FF2B5EF4-FFF2-40B4-BE49-F238E27FC236}">
                <a16:creationId xmlns:a16="http://schemas.microsoft.com/office/drawing/2014/main" id="{A03B2AFE-63D9-4390-BE09-E8D7A42CCD47}"/>
              </a:ext>
            </a:extLst>
          </p:cNvPr>
          <p:cNvSpPr>
            <a:spLocks xmlns:a="http://schemas.openxmlformats.org/drawingml/2006/main" noGrp="1"/>
          </p:cNvSpPr>
          <p:nvPr/>
        </p:nvSpPr>
        <p:spPr>
          <a:xfrm xmlns:a="http://schemas.openxmlformats.org/drawingml/2006/main">
            <a:off x="3352716" y="6134100"/>
            <a:ext cx="2514537"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151312"/>
                </a:solidFill>
                <a:latin typeface="Arial"/>
                <a:ea typeface="Arial"/>
                <a:cs typeface="Arial"/>
              </a:defRPr>
            </a:defPPr>
            <a:lvl1pPr algn="l">
              <a:defRPr sz="1320" b="0">
                <a:solidFill>
                  <a:srgbClr val="151312"/>
                </a:solidFill>
                <a:latin typeface="Arial"/>
                <a:ea typeface="Arial"/>
                <a:cs typeface="Arial"/>
              </a:defRPr>
            </a:lvl1pPr>
            <a:lvl2pPr algn="l">
              <a:defRPr sz="1320" b="0">
                <a:solidFill>
                  <a:srgbClr val="151312"/>
                </a:solidFill>
                <a:latin typeface="Arial"/>
                <a:ea typeface="Arial"/>
                <a:cs typeface="Arial"/>
              </a:defRPr>
            </a:lvl2pPr>
            <a:lvl3pPr algn="l">
              <a:defRPr sz="1320" b="0">
                <a:solidFill>
                  <a:srgbClr val="151312"/>
                </a:solidFill>
                <a:latin typeface="Arial"/>
                <a:ea typeface="Arial"/>
                <a:cs typeface="Arial"/>
              </a:defRPr>
            </a:lvl3pPr>
            <a:lvl4pPr algn="l">
              <a:defRPr sz="1320" b="0">
                <a:solidFill>
                  <a:srgbClr val="151312"/>
                </a:solidFill>
                <a:latin typeface="Arial"/>
                <a:ea typeface="Arial"/>
                <a:cs typeface="Arial"/>
              </a:defRPr>
            </a:lvl4pPr>
            <a:lvl5pPr algn="l">
              <a:defRPr sz="1320" b="0">
                <a:solidFill>
                  <a:srgbClr val="151312"/>
                </a:solidFill>
                <a:latin typeface="Arial"/>
                <a:ea typeface="Arial"/>
                <a:cs typeface="Arial"/>
              </a:defRPr>
            </a:lvl5pPr>
            <a:lvl6pPr algn="l">
              <a:defRPr sz="1320" b="0">
                <a:solidFill>
                  <a:srgbClr val="151312"/>
                </a:solidFill>
                <a:latin typeface="Arial"/>
                <a:ea typeface="Arial"/>
                <a:cs typeface="Arial"/>
              </a:defRPr>
            </a:lvl6pPr>
            <a:lvl7pPr algn="l">
              <a:defRPr sz="1320" b="0">
                <a:solidFill>
                  <a:srgbClr val="151312"/>
                </a:solidFill>
                <a:latin typeface="Arial"/>
                <a:ea typeface="Arial"/>
                <a:cs typeface="Arial"/>
              </a:defRPr>
            </a:lvl7pPr>
            <a:lvl8pPr algn="l">
              <a:defRPr sz="1320" b="0">
                <a:solidFill>
                  <a:srgbClr val="151312"/>
                </a:solidFill>
                <a:latin typeface="Arial"/>
                <a:ea typeface="Arial"/>
                <a:cs typeface="Arial"/>
              </a:defRPr>
            </a:lvl8pPr>
            <a:lvl9pPr algn="l">
              <a:defRPr sz="1320" b="0">
                <a:solidFill>
                  <a:srgbClr val="151312"/>
                </a:solidFill>
                <a:latin typeface="Arial"/>
                <a:ea typeface="Arial"/>
                <a:cs typeface="Arial"/>
              </a:defRPr>
            </a:lvl9pPr>
          </a:lstStyle>
          <a:p xmlns:a="http://schemas.openxmlformats.org/drawingml/2006/main">
            <a:pPr algn="l">
              <a:defRPr sz="1320" b="0">
                <a:solidFill>
                  <a:srgbClr val="151312"/>
                </a:solidFill>
                <a:latin typeface="Arial"/>
                <a:ea typeface="Arial"/>
                <a:cs typeface="Arial"/>
              </a:defRPr>
            </a:pPr>
            <a:r>
              <a:rPr sz="1320" b="0">
                <a:solidFill>
                  <a:srgbClr val="151312"/>
                </a:solidFill>
                <a:latin typeface="Arial"/>
                <a:ea typeface="Arial"/>
                <a:cs typeface="Arial"/>
              </a:rPr>
              <a:t>Hong-syuan Lin</a:t>
            </a:r>
          </a:p>
        </p:txBody>
      </p:sp>
      <p:sp>
        <p:nvSpPr>
          <p:cNvPr id="25" name="">
            <a:extLst xmlns:a="http://schemas.openxmlformats.org/drawingml/2006/main">
              <a:ext uri="{FF2B5EF4-FFF2-40B4-BE49-F238E27FC236}">
                <a16:creationId xmlns:a16="http://schemas.microsoft.com/office/drawing/2014/main" id="{B6339CD8-BB05-40F2-8BB1-695511662B25}"/>
              </a:ext>
            </a:extLst>
          </p:cNvPr>
          <p:cNvSpPr>
            <a:spLocks xmlns:a="http://schemas.openxmlformats.org/drawingml/2006/main" noGrp="1"/>
          </p:cNvSpPr>
          <p:nvPr/>
        </p:nvSpPr>
        <p:spPr>
          <a:xfrm xmlns:a="http://schemas.openxmlformats.org/drawingml/2006/main">
            <a:off x="6095848" y="6134100"/>
            <a:ext cx="2514537"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151312"/>
                </a:solidFill>
                <a:latin typeface="Arial"/>
                <a:ea typeface="Arial"/>
                <a:cs typeface="Arial"/>
              </a:defRPr>
            </a:defPPr>
            <a:lvl1pPr algn="l">
              <a:defRPr sz="1320" b="0">
                <a:solidFill>
                  <a:srgbClr val="151312"/>
                </a:solidFill>
                <a:latin typeface="Arial"/>
                <a:ea typeface="Arial"/>
                <a:cs typeface="Arial"/>
              </a:defRPr>
            </a:lvl1pPr>
            <a:lvl2pPr algn="l">
              <a:defRPr sz="1320" b="0">
                <a:solidFill>
                  <a:srgbClr val="151312"/>
                </a:solidFill>
                <a:latin typeface="Arial"/>
                <a:ea typeface="Arial"/>
                <a:cs typeface="Arial"/>
              </a:defRPr>
            </a:lvl2pPr>
            <a:lvl3pPr algn="l">
              <a:defRPr sz="1320" b="0">
                <a:solidFill>
                  <a:srgbClr val="151312"/>
                </a:solidFill>
                <a:latin typeface="Arial"/>
                <a:ea typeface="Arial"/>
                <a:cs typeface="Arial"/>
              </a:defRPr>
            </a:lvl3pPr>
            <a:lvl4pPr algn="l">
              <a:defRPr sz="1320" b="0">
                <a:solidFill>
                  <a:srgbClr val="151312"/>
                </a:solidFill>
                <a:latin typeface="Arial"/>
                <a:ea typeface="Arial"/>
                <a:cs typeface="Arial"/>
              </a:defRPr>
            </a:lvl4pPr>
            <a:lvl5pPr algn="l">
              <a:defRPr sz="1320" b="0">
                <a:solidFill>
                  <a:srgbClr val="151312"/>
                </a:solidFill>
                <a:latin typeface="Arial"/>
                <a:ea typeface="Arial"/>
                <a:cs typeface="Arial"/>
              </a:defRPr>
            </a:lvl5pPr>
            <a:lvl6pPr algn="l">
              <a:defRPr sz="1320" b="0">
                <a:solidFill>
                  <a:srgbClr val="151312"/>
                </a:solidFill>
                <a:latin typeface="Arial"/>
                <a:ea typeface="Arial"/>
                <a:cs typeface="Arial"/>
              </a:defRPr>
            </a:lvl6pPr>
            <a:lvl7pPr algn="l">
              <a:defRPr sz="1320" b="0">
                <a:solidFill>
                  <a:srgbClr val="151312"/>
                </a:solidFill>
                <a:latin typeface="Arial"/>
                <a:ea typeface="Arial"/>
                <a:cs typeface="Arial"/>
              </a:defRPr>
            </a:lvl7pPr>
            <a:lvl8pPr algn="l">
              <a:defRPr sz="1320" b="0">
                <a:solidFill>
                  <a:srgbClr val="151312"/>
                </a:solidFill>
                <a:latin typeface="Arial"/>
                <a:ea typeface="Arial"/>
                <a:cs typeface="Arial"/>
              </a:defRPr>
            </a:lvl8pPr>
            <a:lvl9pPr algn="l">
              <a:defRPr sz="1320" b="0">
                <a:solidFill>
                  <a:srgbClr val="151312"/>
                </a:solidFill>
                <a:latin typeface="Arial"/>
                <a:ea typeface="Arial"/>
                <a:cs typeface="Arial"/>
              </a:defRPr>
            </a:lvl9pPr>
          </a:lstStyle>
          <a:p xmlns:a="http://schemas.openxmlformats.org/drawingml/2006/main">
            <a:pPr algn="l">
              <a:defRPr sz="1320" b="0">
                <a:solidFill>
                  <a:srgbClr val="151312"/>
                </a:solidFill>
                <a:latin typeface="Arial"/>
                <a:ea typeface="Arial"/>
                <a:cs typeface="Arial"/>
              </a:defRPr>
            </a:pPr>
            <a:r>
              <a:rPr sz="1320" b="0">
                <a:solidFill>
                  <a:srgbClr val="151312"/>
                </a:solidFill>
                <a:latin typeface="Arial"/>
                <a:ea typeface="Arial"/>
                <a:cs typeface="Arial"/>
              </a:rPr>
              <a:t>Myron Pang</a:t>
            </a:r>
          </a:p>
        </p:txBody>
      </p:sp>
      <p:sp>
        <p:nvSpPr>
          <p:cNvPr id="26" name="">
            <a:extLst xmlns:a="http://schemas.openxmlformats.org/drawingml/2006/main">
              <a:ext uri="{FF2B5EF4-FFF2-40B4-BE49-F238E27FC236}">
                <a16:creationId xmlns:a16="http://schemas.microsoft.com/office/drawing/2014/main" id="{6F608791-20EE-4D19-AA86-E53C0E9BC5DB}"/>
              </a:ext>
            </a:extLst>
          </p:cNvPr>
          <p:cNvSpPr>
            <a:spLocks xmlns:a="http://schemas.openxmlformats.org/drawingml/2006/main" noGrp="1"/>
          </p:cNvSpPr>
          <p:nvPr/>
        </p:nvSpPr>
        <p:spPr>
          <a:xfrm xmlns:a="http://schemas.openxmlformats.org/drawingml/2006/main">
            <a:off x="8838979" y="6134100"/>
            <a:ext cx="2514537"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151312"/>
                </a:solidFill>
                <a:latin typeface="Arial"/>
                <a:ea typeface="Arial"/>
                <a:cs typeface="Arial"/>
              </a:defRPr>
            </a:defPPr>
            <a:lvl1pPr algn="l">
              <a:defRPr sz="1320" b="0">
                <a:solidFill>
                  <a:srgbClr val="151312"/>
                </a:solidFill>
                <a:latin typeface="Arial"/>
                <a:ea typeface="Arial"/>
                <a:cs typeface="Arial"/>
              </a:defRPr>
            </a:lvl1pPr>
            <a:lvl2pPr algn="l">
              <a:defRPr sz="1320" b="0">
                <a:solidFill>
                  <a:srgbClr val="151312"/>
                </a:solidFill>
                <a:latin typeface="Arial"/>
                <a:ea typeface="Arial"/>
                <a:cs typeface="Arial"/>
              </a:defRPr>
            </a:lvl2pPr>
            <a:lvl3pPr algn="l">
              <a:defRPr sz="1320" b="0">
                <a:solidFill>
                  <a:srgbClr val="151312"/>
                </a:solidFill>
                <a:latin typeface="Arial"/>
                <a:ea typeface="Arial"/>
                <a:cs typeface="Arial"/>
              </a:defRPr>
            </a:lvl3pPr>
            <a:lvl4pPr algn="l">
              <a:defRPr sz="1320" b="0">
                <a:solidFill>
                  <a:srgbClr val="151312"/>
                </a:solidFill>
                <a:latin typeface="Arial"/>
                <a:ea typeface="Arial"/>
                <a:cs typeface="Arial"/>
              </a:defRPr>
            </a:lvl4pPr>
            <a:lvl5pPr algn="l">
              <a:defRPr sz="1320" b="0">
                <a:solidFill>
                  <a:srgbClr val="151312"/>
                </a:solidFill>
                <a:latin typeface="Arial"/>
                <a:ea typeface="Arial"/>
                <a:cs typeface="Arial"/>
              </a:defRPr>
            </a:lvl5pPr>
            <a:lvl6pPr algn="l">
              <a:defRPr sz="1320" b="0">
                <a:solidFill>
                  <a:srgbClr val="151312"/>
                </a:solidFill>
                <a:latin typeface="Arial"/>
                <a:ea typeface="Arial"/>
                <a:cs typeface="Arial"/>
              </a:defRPr>
            </a:lvl6pPr>
            <a:lvl7pPr algn="l">
              <a:defRPr sz="1320" b="0">
                <a:solidFill>
                  <a:srgbClr val="151312"/>
                </a:solidFill>
                <a:latin typeface="Arial"/>
                <a:ea typeface="Arial"/>
                <a:cs typeface="Arial"/>
              </a:defRPr>
            </a:lvl7pPr>
            <a:lvl8pPr algn="l">
              <a:defRPr sz="1320" b="0">
                <a:solidFill>
                  <a:srgbClr val="151312"/>
                </a:solidFill>
                <a:latin typeface="Arial"/>
                <a:ea typeface="Arial"/>
                <a:cs typeface="Arial"/>
              </a:defRPr>
            </a:lvl8pPr>
            <a:lvl9pPr algn="l">
              <a:defRPr sz="1320" b="0">
                <a:solidFill>
                  <a:srgbClr val="151312"/>
                </a:solidFill>
                <a:latin typeface="Arial"/>
                <a:ea typeface="Arial"/>
                <a:cs typeface="Arial"/>
              </a:defRPr>
            </a:lvl9pPr>
          </a:lstStyle>
          <a:p xmlns:a="http://schemas.openxmlformats.org/drawingml/2006/main">
            <a:pPr algn="l">
              <a:defRPr sz="1320" b="0">
                <a:solidFill>
                  <a:srgbClr val="151312"/>
                </a:solidFill>
                <a:latin typeface="Arial"/>
                <a:ea typeface="Arial"/>
                <a:cs typeface="Arial"/>
              </a:defRPr>
            </a:pPr>
            <a:r>
              <a:rPr sz="1320" b="0">
                <a:solidFill>
                  <a:srgbClr val="151312"/>
                </a:solidFill>
                <a:latin typeface="Arial"/>
                <a:ea typeface="Arial"/>
                <a:cs typeface="Arial"/>
              </a:rPr>
              <a:t>Weijun Situ</a:t>
            </a:r>
          </a:p>
        </p:txBody>
      </p:sp>
    </p:spTree>
    <p:extLst>
      <p:ext uri="{BB962C8B-B14F-4D97-AF65-F5344CB8AC3E}">
        <p14:creationId xmlns:p14="http://schemas.microsoft.com/office/powerpoint/2010/main" val="2112979786"/>
      </p:ext>
    </p:extLst>
  </p:cSld>
</p:sld>
</file>

<file path=ppt/slides/slide2.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91EB5A4E-BFD7-4577-9E94-CFB285FF830C}"/>
              </a:ext>
            </a:extLst>
          </p:cNvPr>
          <p:cNvSpPr>
            <a:spLocks xmlns:a="http://schemas.openxmlformats.org/drawingml/2006/main" noGrp="1"/>
          </p:cNvSpPr>
          <p:nvPr/>
        </p:nvSpPr>
        <p:spPr>
          <a:xfrm xmlns:a="http://schemas.openxmlformats.org/drawingml/2006/main">
            <a:off x="609585" y="274320"/>
            <a:ext cx="9296167"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ROADMAP</a:t>
            </a:r>
          </a:p>
        </p:txBody>
      </p:sp>
      <p:sp>
        <p:nvSpPr>
          <p:cNvPr id="2" name="">
            <a:extLst xmlns:a="http://schemas.openxmlformats.org/drawingml/2006/main">
              <a:ext uri="{FF2B5EF4-FFF2-40B4-BE49-F238E27FC236}">
                <a16:creationId xmlns:a16="http://schemas.microsoft.com/office/drawing/2014/main" id="{522AA018-3EA5-4819-9CFD-70E7FDECECC7}"/>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2 / 46</a:t>
            </a:r>
          </a:p>
        </p:txBody>
      </p:sp>
      <p:sp>
        <p:nvSpPr>
          <p:cNvPr id="3" name="">
            <a:extLst xmlns:a="http://schemas.openxmlformats.org/drawingml/2006/main">
              <a:ext uri="{FF2B5EF4-FFF2-40B4-BE49-F238E27FC236}">
                <a16:creationId xmlns:a16="http://schemas.microsoft.com/office/drawing/2014/main" id="{E11C951B-7761-40C2-82FC-B6A8270A2DCC}"/>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A12CF28-3239-4052-B7F0-C90852D82A7E}"/>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Contents</a:t>
            </a:r>
          </a:p>
        </p:txBody>
      </p:sp>
      <p:sp>
        <p:nvSpPr>
          <p:cNvPr id="5" name="">
            <a:extLst xmlns:a="http://schemas.openxmlformats.org/drawingml/2006/main">
              <a:ext uri="{FF2B5EF4-FFF2-40B4-BE49-F238E27FC236}">
                <a16:creationId xmlns:a16="http://schemas.microsoft.com/office/drawing/2014/main" id="{7323B623-C035-4D22-AD4F-3BB49E6B2B9F}"/>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Five sections, from the question to the conclusions</a:t>
            </a:r>
          </a:p>
        </p:txBody>
      </p:sp>
      <p:sp>
        <p:nvSpPr>
          <p:cNvPr id="6" name="">
            <a:extLst xmlns:a="http://schemas.openxmlformats.org/drawingml/2006/main">
              <a:ext uri="{FF2B5EF4-FFF2-40B4-BE49-F238E27FC236}">
                <a16:creationId xmlns:a16="http://schemas.microsoft.com/office/drawing/2014/main" id="{4417F973-D03F-43F8-BB7E-5665F569B79B}"/>
              </a:ext>
            </a:extLst>
          </p:cNvPr>
          <p:cNvSpPr>
            <a:spLocks xmlns:a="http://schemas.openxmlformats.org/drawingml/2006/main" noGrp="1"/>
          </p:cNvSpPr>
          <p:nvPr/>
        </p:nvSpPr>
        <p:spPr>
          <a:xfrm xmlns:a="http://schemas.openxmlformats.org/drawingml/2006/main">
            <a:off x="609585" y="1920240"/>
            <a:ext cx="10972526" cy="1524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77C4C6E-D865-4445-A63F-CC4A559372EF}"/>
              </a:ext>
            </a:extLst>
          </p:cNvPr>
          <p:cNvSpPr>
            <a:spLocks xmlns:a="http://schemas.openxmlformats.org/drawingml/2006/main" noGrp="1"/>
          </p:cNvSpPr>
          <p:nvPr/>
        </p:nvSpPr>
        <p:spPr>
          <a:xfrm xmlns:a="http://schemas.openxmlformats.org/drawingml/2006/main">
            <a:off x="609585" y="1920240"/>
            <a:ext cx="609585"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2040" b="1">
                <a:solidFill>
                  <a:srgbClr val="C8401F"/>
                </a:solidFill>
                <a:latin typeface="Arial"/>
                <a:ea typeface="Arial"/>
                <a:cs typeface="Arial"/>
              </a:defRPr>
            </a:defPPr>
            <a:lvl1pPr algn="l">
              <a:defRPr sz="2040" b="1">
                <a:solidFill>
                  <a:srgbClr val="C8401F"/>
                </a:solidFill>
                <a:latin typeface="Arial"/>
                <a:ea typeface="Arial"/>
                <a:cs typeface="Arial"/>
              </a:defRPr>
            </a:lvl1pPr>
            <a:lvl2pPr algn="l">
              <a:defRPr sz="2040" b="1">
                <a:solidFill>
                  <a:srgbClr val="C8401F"/>
                </a:solidFill>
                <a:latin typeface="Arial"/>
                <a:ea typeface="Arial"/>
                <a:cs typeface="Arial"/>
              </a:defRPr>
            </a:lvl2pPr>
            <a:lvl3pPr algn="l">
              <a:defRPr sz="2040" b="1">
                <a:solidFill>
                  <a:srgbClr val="C8401F"/>
                </a:solidFill>
                <a:latin typeface="Arial"/>
                <a:ea typeface="Arial"/>
                <a:cs typeface="Arial"/>
              </a:defRPr>
            </a:lvl3pPr>
            <a:lvl4pPr algn="l">
              <a:defRPr sz="2040" b="1">
                <a:solidFill>
                  <a:srgbClr val="C8401F"/>
                </a:solidFill>
                <a:latin typeface="Arial"/>
                <a:ea typeface="Arial"/>
                <a:cs typeface="Arial"/>
              </a:defRPr>
            </a:lvl4pPr>
            <a:lvl5pPr algn="l">
              <a:defRPr sz="2040" b="1">
                <a:solidFill>
                  <a:srgbClr val="C8401F"/>
                </a:solidFill>
                <a:latin typeface="Arial"/>
                <a:ea typeface="Arial"/>
                <a:cs typeface="Arial"/>
              </a:defRPr>
            </a:lvl5pPr>
            <a:lvl6pPr algn="l">
              <a:defRPr sz="2040" b="1">
                <a:solidFill>
                  <a:srgbClr val="C8401F"/>
                </a:solidFill>
                <a:latin typeface="Arial"/>
                <a:ea typeface="Arial"/>
                <a:cs typeface="Arial"/>
              </a:defRPr>
            </a:lvl6pPr>
            <a:lvl7pPr algn="l">
              <a:defRPr sz="2040" b="1">
                <a:solidFill>
                  <a:srgbClr val="C8401F"/>
                </a:solidFill>
                <a:latin typeface="Arial"/>
                <a:ea typeface="Arial"/>
                <a:cs typeface="Arial"/>
              </a:defRPr>
            </a:lvl7pPr>
            <a:lvl8pPr algn="l">
              <a:defRPr sz="2040" b="1">
                <a:solidFill>
                  <a:srgbClr val="C8401F"/>
                </a:solidFill>
                <a:latin typeface="Arial"/>
                <a:ea typeface="Arial"/>
                <a:cs typeface="Arial"/>
              </a:defRPr>
            </a:lvl8pPr>
            <a:lvl9pPr algn="l">
              <a:defRPr sz="2040" b="1">
                <a:solidFill>
                  <a:srgbClr val="C8401F"/>
                </a:solidFill>
                <a:latin typeface="Arial"/>
                <a:ea typeface="Arial"/>
                <a:cs typeface="Arial"/>
              </a:defRPr>
            </a:lvl9pPr>
          </a:lstStyle>
          <a:p xmlns:a="http://schemas.openxmlformats.org/drawingml/2006/main">
            <a:pPr algn="l">
              <a:defRPr sz="2040" b="1">
                <a:solidFill>
                  <a:srgbClr val="C8401F"/>
                </a:solidFill>
                <a:latin typeface="Arial"/>
                <a:ea typeface="Arial"/>
                <a:cs typeface="Arial"/>
              </a:defRPr>
            </a:pPr>
            <a:r>
              <a:rPr sz="2040" b="1">
                <a:solidFill>
                  <a:srgbClr val="C8401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C912E340-3273-440B-B151-7BC4E141B2EC}"/>
              </a:ext>
            </a:extLst>
          </p:cNvPr>
          <p:cNvSpPr>
            <a:spLocks xmlns:a="http://schemas.openxmlformats.org/drawingml/2006/main" noGrp="1"/>
          </p:cNvSpPr>
          <p:nvPr/>
        </p:nvSpPr>
        <p:spPr>
          <a:xfrm xmlns:a="http://schemas.openxmlformats.org/drawingml/2006/main">
            <a:off x="1371566" y="1920240"/>
            <a:ext cx="3962301"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2040" b="0">
                <a:solidFill>
                  <a:srgbClr val="151312"/>
                </a:solidFill>
                <a:latin typeface="Georgia"/>
                <a:ea typeface="Georgia"/>
                <a:cs typeface="Georgia"/>
              </a:defRPr>
            </a:defPPr>
            <a:lvl1pPr algn="l">
              <a:defRPr sz="2040" b="0">
                <a:solidFill>
                  <a:srgbClr val="151312"/>
                </a:solidFill>
                <a:latin typeface="Georgia"/>
                <a:ea typeface="Georgia"/>
                <a:cs typeface="Georgia"/>
              </a:defRPr>
            </a:lvl1pPr>
            <a:lvl2pPr algn="l">
              <a:defRPr sz="2040" b="0">
                <a:solidFill>
                  <a:srgbClr val="151312"/>
                </a:solidFill>
                <a:latin typeface="Georgia"/>
                <a:ea typeface="Georgia"/>
                <a:cs typeface="Georgia"/>
              </a:defRPr>
            </a:lvl2pPr>
            <a:lvl3pPr algn="l">
              <a:defRPr sz="2040" b="0">
                <a:solidFill>
                  <a:srgbClr val="151312"/>
                </a:solidFill>
                <a:latin typeface="Georgia"/>
                <a:ea typeface="Georgia"/>
                <a:cs typeface="Georgia"/>
              </a:defRPr>
            </a:lvl3pPr>
            <a:lvl4pPr algn="l">
              <a:defRPr sz="2040" b="0">
                <a:solidFill>
                  <a:srgbClr val="151312"/>
                </a:solidFill>
                <a:latin typeface="Georgia"/>
                <a:ea typeface="Georgia"/>
                <a:cs typeface="Georgia"/>
              </a:defRPr>
            </a:lvl4pPr>
            <a:lvl5pPr algn="l">
              <a:defRPr sz="2040" b="0">
                <a:solidFill>
                  <a:srgbClr val="151312"/>
                </a:solidFill>
                <a:latin typeface="Georgia"/>
                <a:ea typeface="Georgia"/>
                <a:cs typeface="Georgia"/>
              </a:defRPr>
            </a:lvl5pPr>
            <a:lvl6pPr algn="l">
              <a:defRPr sz="2040" b="0">
                <a:solidFill>
                  <a:srgbClr val="151312"/>
                </a:solidFill>
                <a:latin typeface="Georgia"/>
                <a:ea typeface="Georgia"/>
                <a:cs typeface="Georgia"/>
              </a:defRPr>
            </a:lvl6pPr>
            <a:lvl7pPr algn="l">
              <a:defRPr sz="2040" b="0">
                <a:solidFill>
                  <a:srgbClr val="151312"/>
                </a:solidFill>
                <a:latin typeface="Georgia"/>
                <a:ea typeface="Georgia"/>
                <a:cs typeface="Georgia"/>
              </a:defRPr>
            </a:lvl7pPr>
            <a:lvl8pPr algn="l">
              <a:defRPr sz="2040" b="0">
                <a:solidFill>
                  <a:srgbClr val="151312"/>
                </a:solidFill>
                <a:latin typeface="Georgia"/>
                <a:ea typeface="Georgia"/>
                <a:cs typeface="Georgia"/>
              </a:defRPr>
            </a:lvl8pPr>
            <a:lvl9pPr algn="l">
              <a:defRPr sz="2040" b="0">
                <a:solidFill>
                  <a:srgbClr val="151312"/>
                </a:solidFill>
                <a:latin typeface="Georgia"/>
                <a:ea typeface="Georgia"/>
                <a:cs typeface="Georgia"/>
              </a:defRPr>
            </a:lvl9pPr>
          </a:lstStyle>
          <a:p xmlns:a="http://schemas.openxmlformats.org/drawingml/2006/main">
            <a:pPr algn="l">
              <a:defRPr sz="2040" b="0">
                <a:solidFill>
                  <a:srgbClr val="151312"/>
                </a:solidFill>
                <a:latin typeface="Georgia"/>
                <a:ea typeface="Georgia"/>
                <a:cs typeface="Georgia"/>
              </a:defRPr>
            </a:pPr>
            <a:r>
              <a:rPr sz="2040" b="0">
                <a:solidFill>
                  <a:srgbClr val="151312"/>
                </a:solidFill>
                <a:latin typeface="Georgia"/>
                <a:ea typeface="Georgia"/>
                <a:cs typeface="Georgia"/>
              </a:rPr>
              <a:t>Question and data</a:t>
            </a:r>
          </a:p>
        </p:txBody>
      </p:sp>
      <p:sp>
        <p:nvSpPr>
          <p:cNvPr id="9" name="">
            <a:extLst xmlns:a="http://schemas.openxmlformats.org/drawingml/2006/main">
              <a:ext uri="{FF2B5EF4-FFF2-40B4-BE49-F238E27FC236}">
                <a16:creationId xmlns:a16="http://schemas.microsoft.com/office/drawing/2014/main" id="{7D557D51-0C58-49BF-8EFA-2EBDC23D3784}"/>
              </a:ext>
            </a:extLst>
          </p:cNvPr>
          <p:cNvSpPr>
            <a:spLocks xmlns:a="http://schemas.openxmlformats.org/drawingml/2006/main" noGrp="1"/>
          </p:cNvSpPr>
          <p:nvPr/>
        </p:nvSpPr>
        <p:spPr>
          <a:xfrm xmlns:a="http://schemas.openxmlformats.org/drawingml/2006/main">
            <a:off x="5486263" y="1920240"/>
            <a:ext cx="4724282"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The task, course lessons, the data and release times</a:t>
            </a:r>
          </a:p>
        </p:txBody>
      </p:sp>
      <p:sp>
        <p:nvSpPr>
          <p:cNvPr id="10" name="">
            <a:extLst xmlns:a="http://schemas.openxmlformats.org/drawingml/2006/main">
              <a:ext uri="{FF2B5EF4-FFF2-40B4-BE49-F238E27FC236}">
                <a16:creationId xmlns:a16="http://schemas.microsoft.com/office/drawing/2014/main" id="{7453D7EC-23D3-4660-B59A-7D775EAD5ED8}"/>
              </a:ext>
            </a:extLst>
          </p:cNvPr>
          <p:cNvSpPr>
            <a:spLocks xmlns:a="http://schemas.openxmlformats.org/drawingml/2006/main" noGrp="1"/>
          </p:cNvSpPr>
          <p:nvPr/>
        </p:nvSpPr>
        <p:spPr>
          <a:xfrm xmlns:a="http://schemas.openxmlformats.org/drawingml/2006/main">
            <a:off x="10286743" y="1920240"/>
            <a:ext cx="1295368"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1440" b="0">
                <a:solidFill>
                  <a:srgbClr val="55504A"/>
                </a:solidFill>
                <a:latin typeface="Arial"/>
                <a:ea typeface="Arial"/>
                <a:cs typeface="Arial"/>
              </a:defRPr>
            </a:defPPr>
            <a:lvl1pPr algn="r">
              <a:defRPr sz="1440" b="0">
                <a:solidFill>
                  <a:srgbClr val="55504A"/>
                </a:solidFill>
                <a:latin typeface="Arial"/>
                <a:ea typeface="Arial"/>
                <a:cs typeface="Arial"/>
              </a:defRPr>
            </a:lvl1pPr>
            <a:lvl2pPr algn="r">
              <a:defRPr sz="1440" b="0">
                <a:solidFill>
                  <a:srgbClr val="55504A"/>
                </a:solidFill>
                <a:latin typeface="Arial"/>
                <a:ea typeface="Arial"/>
                <a:cs typeface="Arial"/>
              </a:defRPr>
            </a:lvl2pPr>
            <a:lvl3pPr algn="r">
              <a:defRPr sz="1440" b="0">
                <a:solidFill>
                  <a:srgbClr val="55504A"/>
                </a:solidFill>
                <a:latin typeface="Arial"/>
                <a:ea typeface="Arial"/>
                <a:cs typeface="Arial"/>
              </a:defRPr>
            </a:lvl3pPr>
            <a:lvl4pPr algn="r">
              <a:defRPr sz="1440" b="0">
                <a:solidFill>
                  <a:srgbClr val="55504A"/>
                </a:solidFill>
                <a:latin typeface="Arial"/>
                <a:ea typeface="Arial"/>
                <a:cs typeface="Arial"/>
              </a:defRPr>
            </a:lvl4pPr>
            <a:lvl5pPr algn="r">
              <a:defRPr sz="1440" b="0">
                <a:solidFill>
                  <a:srgbClr val="55504A"/>
                </a:solidFill>
                <a:latin typeface="Arial"/>
                <a:ea typeface="Arial"/>
                <a:cs typeface="Arial"/>
              </a:defRPr>
            </a:lvl5pPr>
            <a:lvl6pPr algn="r">
              <a:defRPr sz="1440" b="0">
                <a:solidFill>
                  <a:srgbClr val="55504A"/>
                </a:solidFill>
                <a:latin typeface="Arial"/>
                <a:ea typeface="Arial"/>
                <a:cs typeface="Arial"/>
              </a:defRPr>
            </a:lvl6pPr>
            <a:lvl7pPr algn="r">
              <a:defRPr sz="1440" b="0">
                <a:solidFill>
                  <a:srgbClr val="55504A"/>
                </a:solidFill>
                <a:latin typeface="Arial"/>
                <a:ea typeface="Arial"/>
                <a:cs typeface="Arial"/>
              </a:defRPr>
            </a:lvl7pPr>
            <a:lvl8pPr algn="r">
              <a:defRPr sz="1440" b="0">
                <a:solidFill>
                  <a:srgbClr val="55504A"/>
                </a:solidFill>
                <a:latin typeface="Arial"/>
                <a:ea typeface="Arial"/>
                <a:cs typeface="Arial"/>
              </a:defRPr>
            </a:lvl8pPr>
            <a:lvl9pPr algn="r">
              <a:defRPr sz="1440" b="0">
                <a:solidFill>
                  <a:srgbClr val="55504A"/>
                </a:solidFill>
                <a:latin typeface="Arial"/>
                <a:ea typeface="Arial"/>
                <a:cs typeface="Arial"/>
              </a:defRPr>
            </a:lvl9pPr>
          </a:lstStyle>
          <a:p xmlns:a="http://schemas.openxmlformats.org/drawingml/2006/main">
            <a:pPr algn="r">
              <a:defRPr sz="1440" b="0">
                <a:solidFill>
                  <a:srgbClr val="55504A"/>
                </a:solidFill>
                <a:latin typeface="Arial"/>
                <a:ea typeface="Arial"/>
                <a:cs typeface="Arial"/>
              </a:defRPr>
            </a:pPr>
            <a:r>
              <a:rPr sz="1440" b="0">
                <a:solidFill>
                  <a:srgbClr val="55504A"/>
                </a:solidFill>
                <a:latin typeface="Arial"/>
                <a:ea typeface="Arial"/>
                <a:cs typeface="Arial"/>
              </a:rPr>
              <a:t>3–8</a:t>
            </a:r>
          </a:p>
        </p:txBody>
      </p:sp>
      <p:sp>
        <p:nvSpPr>
          <p:cNvPr id="11" name="">
            <a:extLst xmlns:a="http://schemas.openxmlformats.org/drawingml/2006/main">
              <a:ext uri="{FF2B5EF4-FFF2-40B4-BE49-F238E27FC236}">
                <a16:creationId xmlns:a16="http://schemas.microsoft.com/office/drawing/2014/main" id="{BB96158A-86EB-4A1E-88B8-EEF9F83BD544}"/>
              </a:ext>
            </a:extLst>
          </p:cNvPr>
          <p:cNvSpPr>
            <a:spLocks xmlns:a="http://schemas.openxmlformats.org/drawingml/2006/main" noGrp="1"/>
          </p:cNvSpPr>
          <p:nvPr/>
        </p:nvSpPr>
        <p:spPr>
          <a:xfrm xmlns:a="http://schemas.openxmlformats.org/drawingml/2006/main">
            <a:off x="609585" y="2770632"/>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19DCED7-6952-4747-8C1A-EFB4EE411BE9}"/>
              </a:ext>
            </a:extLst>
          </p:cNvPr>
          <p:cNvSpPr>
            <a:spLocks xmlns:a="http://schemas.openxmlformats.org/drawingml/2006/main" noGrp="1"/>
          </p:cNvSpPr>
          <p:nvPr/>
        </p:nvSpPr>
        <p:spPr>
          <a:xfrm xmlns:a="http://schemas.openxmlformats.org/drawingml/2006/main">
            <a:off x="609585" y="2770632"/>
            <a:ext cx="609585"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2040" b="1">
                <a:solidFill>
                  <a:srgbClr val="C8401F"/>
                </a:solidFill>
                <a:latin typeface="Arial"/>
                <a:ea typeface="Arial"/>
                <a:cs typeface="Arial"/>
              </a:defRPr>
            </a:defPPr>
            <a:lvl1pPr algn="l">
              <a:defRPr sz="2040" b="1">
                <a:solidFill>
                  <a:srgbClr val="C8401F"/>
                </a:solidFill>
                <a:latin typeface="Arial"/>
                <a:ea typeface="Arial"/>
                <a:cs typeface="Arial"/>
              </a:defRPr>
            </a:lvl1pPr>
            <a:lvl2pPr algn="l">
              <a:defRPr sz="2040" b="1">
                <a:solidFill>
                  <a:srgbClr val="C8401F"/>
                </a:solidFill>
                <a:latin typeface="Arial"/>
                <a:ea typeface="Arial"/>
                <a:cs typeface="Arial"/>
              </a:defRPr>
            </a:lvl2pPr>
            <a:lvl3pPr algn="l">
              <a:defRPr sz="2040" b="1">
                <a:solidFill>
                  <a:srgbClr val="C8401F"/>
                </a:solidFill>
                <a:latin typeface="Arial"/>
                <a:ea typeface="Arial"/>
                <a:cs typeface="Arial"/>
              </a:defRPr>
            </a:lvl3pPr>
            <a:lvl4pPr algn="l">
              <a:defRPr sz="2040" b="1">
                <a:solidFill>
                  <a:srgbClr val="C8401F"/>
                </a:solidFill>
                <a:latin typeface="Arial"/>
                <a:ea typeface="Arial"/>
                <a:cs typeface="Arial"/>
              </a:defRPr>
            </a:lvl4pPr>
            <a:lvl5pPr algn="l">
              <a:defRPr sz="2040" b="1">
                <a:solidFill>
                  <a:srgbClr val="C8401F"/>
                </a:solidFill>
                <a:latin typeface="Arial"/>
                <a:ea typeface="Arial"/>
                <a:cs typeface="Arial"/>
              </a:defRPr>
            </a:lvl5pPr>
            <a:lvl6pPr algn="l">
              <a:defRPr sz="2040" b="1">
                <a:solidFill>
                  <a:srgbClr val="C8401F"/>
                </a:solidFill>
                <a:latin typeface="Arial"/>
                <a:ea typeface="Arial"/>
                <a:cs typeface="Arial"/>
              </a:defRPr>
            </a:lvl6pPr>
            <a:lvl7pPr algn="l">
              <a:defRPr sz="2040" b="1">
                <a:solidFill>
                  <a:srgbClr val="C8401F"/>
                </a:solidFill>
                <a:latin typeface="Arial"/>
                <a:ea typeface="Arial"/>
                <a:cs typeface="Arial"/>
              </a:defRPr>
            </a:lvl7pPr>
            <a:lvl8pPr algn="l">
              <a:defRPr sz="2040" b="1">
                <a:solidFill>
                  <a:srgbClr val="C8401F"/>
                </a:solidFill>
                <a:latin typeface="Arial"/>
                <a:ea typeface="Arial"/>
                <a:cs typeface="Arial"/>
              </a:defRPr>
            </a:lvl8pPr>
            <a:lvl9pPr algn="l">
              <a:defRPr sz="2040" b="1">
                <a:solidFill>
                  <a:srgbClr val="C8401F"/>
                </a:solidFill>
                <a:latin typeface="Arial"/>
                <a:ea typeface="Arial"/>
                <a:cs typeface="Arial"/>
              </a:defRPr>
            </a:lvl9pPr>
          </a:lstStyle>
          <a:p xmlns:a="http://schemas.openxmlformats.org/drawingml/2006/main">
            <a:pPr algn="l">
              <a:defRPr sz="2040" b="1">
                <a:solidFill>
                  <a:srgbClr val="C8401F"/>
                </a:solidFill>
                <a:latin typeface="Arial"/>
                <a:ea typeface="Arial"/>
                <a:cs typeface="Arial"/>
              </a:defRPr>
            </a:pPr>
            <a:r>
              <a:rPr sz="2040" b="1">
                <a:solidFill>
                  <a:srgbClr val="C8401F"/>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D21F5C67-38BE-4D4F-846A-081166986E42}"/>
              </a:ext>
            </a:extLst>
          </p:cNvPr>
          <p:cNvSpPr>
            <a:spLocks xmlns:a="http://schemas.openxmlformats.org/drawingml/2006/main" noGrp="1"/>
          </p:cNvSpPr>
          <p:nvPr/>
        </p:nvSpPr>
        <p:spPr>
          <a:xfrm xmlns:a="http://schemas.openxmlformats.org/drawingml/2006/main">
            <a:off x="1371566" y="2770632"/>
            <a:ext cx="3962301"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2040" b="0">
                <a:solidFill>
                  <a:srgbClr val="151312"/>
                </a:solidFill>
                <a:latin typeface="Georgia"/>
                <a:ea typeface="Georgia"/>
                <a:cs typeface="Georgia"/>
              </a:defRPr>
            </a:defPPr>
            <a:lvl1pPr algn="l">
              <a:defRPr sz="2040" b="0">
                <a:solidFill>
                  <a:srgbClr val="151312"/>
                </a:solidFill>
                <a:latin typeface="Georgia"/>
                <a:ea typeface="Georgia"/>
                <a:cs typeface="Georgia"/>
              </a:defRPr>
            </a:lvl1pPr>
            <a:lvl2pPr algn="l">
              <a:defRPr sz="2040" b="0">
                <a:solidFill>
                  <a:srgbClr val="151312"/>
                </a:solidFill>
                <a:latin typeface="Georgia"/>
                <a:ea typeface="Georgia"/>
                <a:cs typeface="Georgia"/>
              </a:defRPr>
            </a:lvl2pPr>
            <a:lvl3pPr algn="l">
              <a:defRPr sz="2040" b="0">
                <a:solidFill>
                  <a:srgbClr val="151312"/>
                </a:solidFill>
                <a:latin typeface="Georgia"/>
                <a:ea typeface="Georgia"/>
                <a:cs typeface="Georgia"/>
              </a:defRPr>
            </a:lvl3pPr>
            <a:lvl4pPr algn="l">
              <a:defRPr sz="2040" b="0">
                <a:solidFill>
                  <a:srgbClr val="151312"/>
                </a:solidFill>
                <a:latin typeface="Georgia"/>
                <a:ea typeface="Georgia"/>
                <a:cs typeface="Georgia"/>
              </a:defRPr>
            </a:lvl4pPr>
            <a:lvl5pPr algn="l">
              <a:defRPr sz="2040" b="0">
                <a:solidFill>
                  <a:srgbClr val="151312"/>
                </a:solidFill>
                <a:latin typeface="Georgia"/>
                <a:ea typeface="Georgia"/>
                <a:cs typeface="Georgia"/>
              </a:defRPr>
            </a:lvl5pPr>
            <a:lvl6pPr algn="l">
              <a:defRPr sz="2040" b="0">
                <a:solidFill>
                  <a:srgbClr val="151312"/>
                </a:solidFill>
                <a:latin typeface="Georgia"/>
                <a:ea typeface="Georgia"/>
                <a:cs typeface="Georgia"/>
              </a:defRPr>
            </a:lvl6pPr>
            <a:lvl7pPr algn="l">
              <a:defRPr sz="2040" b="0">
                <a:solidFill>
                  <a:srgbClr val="151312"/>
                </a:solidFill>
                <a:latin typeface="Georgia"/>
                <a:ea typeface="Georgia"/>
                <a:cs typeface="Georgia"/>
              </a:defRPr>
            </a:lvl7pPr>
            <a:lvl8pPr algn="l">
              <a:defRPr sz="2040" b="0">
                <a:solidFill>
                  <a:srgbClr val="151312"/>
                </a:solidFill>
                <a:latin typeface="Georgia"/>
                <a:ea typeface="Georgia"/>
                <a:cs typeface="Georgia"/>
              </a:defRPr>
            </a:lvl8pPr>
            <a:lvl9pPr algn="l">
              <a:defRPr sz="2040" b="0">
                <a:solidFill>
                  <a:srgbClr val="151312"/>
                </a:solidFill>
                <a:latin typeface="Georgia"/>
                <a:ea typeface="Georgia"/>
                <a:cs typeface="Georgia"/>
              </a:defRPr>
            </a:lvl9pPr>
          </a:lstStyle>
          <a:p xmlns:a="http://schemas.openxmlformats.org/drawingml/2006/main">
            <a:pPr algn="l">
              <a:defRPr sz="2040" b="0">
                <a:solidFill>
                  <a:srgbClr val="151312"/>
                </a:solidFill>
                <a:latin typeface="Georgia"/>
                <a:ea typeface="Georgia"/>
                <a:cs typeface="Georgia"/>
              </a:defRPr>
            </a:pPr>
            <a:r>
              <a:rPr sz="2040" b="0">
                <a:solidFill>
                  <a:srgbClr val="151312"/>
                </a:solidFill>
                <a:latin typeface="Georgia"/>
                <a:ea typeface="Georgia"/>
                <a:cs typeface="Georgia"/>
              </a:rPr>
              <a:t>Readers and validation</a:t>
            </a:r>
          </a:p>
        </p:txBody>
      </p:sp>
      <p:sp>
        <p:nvSpPr>
          <p:cNvPr id="14" name="">
            <a:extLst xmlns:a="http://schemas.openxmlformats.org/drawingml/2006/main">
              <a:ext uri="{FF2B5EF4-FFF2-40B4-BE49-F238E27FC236}">
                <a16:creationId xmlns:a16="http://schemas.microsoft.com/office/drawing/2014/main" id="{F4BAA6C4-530D-42AC-9DD0-E640F6D88AAC}"/>
              </a:ext>
            </a:extLst>
          </p:cNvPr>
          <p:cNvSpPr>
            <a:spLocks xmlns:a="http://schemas.openxmlformats.org/drawingml/2006/main" noGrp="1"/>
          </p:cNvSpPr>
          <p:nvPr/>
        </p:nvSpPr>
        <p:spPr>
          <a:xfrm xmlns:a="http://schemas.openxmlformats.org/drawingml/2006/main">
            <a:off x="5486263" y="2770632"/>
            <a:ext cx="4724282"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How each reader scores tone and how accurate it is</a:t>
            </a:r>
          </a:p>
        </p:txBody>
      </p:sp>
      <p:sp>
        <p:nvSpPr>
          <p:cNvPr id="15" name="">
            <a:extLst xmlns:a="http://schemas.openxmlformats.org/drawingml/2006/main">
              <a:ext uri="{FF2B5EF4-FFF2-40B4-BE49-F238E27FC236}">
                <a16:creationId xmlns:a16="http://schemas.microsoft.com/office/drawing/2014/main" id="{27CB2ABB-98D3-4F27-9D39-041BC146B5B7}"/>
              </a:ext>
            </a:extLst>
          </p:cNvPr>
          <p:cNvSpPr>
            <a:spLocks xmlns:a="http://schemas.openxmlformats.org/drawingml/2006/main" noGrp="1"/>
          </p:cNvSpPr>
          <p:nvPr/>
        </p:nvSpPr>
        <p:spPr>
          <a:xfrm xmlns:a="http://schemas.openxmlformats.org/drawingml/2006/main">
            <a:off x="10286743" y="2770632"/>
            <a:ext cx="1295368"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1440" b="0">
                <a:solidFill>
                  <a:srgbClr val="55504A"/>
                </a:solidFill>
                <a:latin typeface="Arial"/>
                <a:ea typeface="Arial"/>
                <a:cs typeface="Arial"/>
              </a:defRPr>
            </a:defPPr>
            <a:lvl1pPr algn="r">
              <a:defRPr sz="1440" b="0">
                <a:solidFill>
                  <a:srgbClr val="55504A"/>
                </a:solidFill>
                <a:latin typeface="Arial"/>
                <a:ea typeface="Arial"/>
                <a:cs typeface="Arial"/>
              </a:defRPr>
            </a:lvl1pPr>
            <a:lvl2pPr algn="r">
              <a:defRPr sz="1440" b="0">
                <a:solidFill>
                  <a:srgbClr val="55504A"/>
                </a:solidFill>
                <a:latin typeface="Arial"/>
                <a:ea typeface="Arial"/>
                <a:cs typeface="Arial"/>
              </a:defRPr>
            </a:lvl2pPr>
            <a:lvl3pPr algn="r">
              <a:defRPr sz="1440" b="0">
                <a:solidFill>
                  <a:srgbClr val="55504A"/>
                </a:solidFill>
                <a:latin typeface="Arial"/>
                <a:ea typeface="Arial"/>
                <a:cs typeface="Arial"/>
              </a:defRPr>
            </a:lvl3pPr>
            <a:lvl4pPr algn="r">
              <a:defRPr sz="1440" b="0">
                <a:solidFill>
                  <a:srgbClr val="55504A"/>
                </a:solidFill>
                <a:latin typeface="Arial"/>
                <a:ea typeface="Arial"/>
                <a:cs typeface="Arial"/>
              </a:defRPr>
            </a:lvl4pPr>
            <a:lvl5pPr algn="r">
              <a:defRPr sz="1440" b="0">
                <a:solidFill>
                  <a:srgbClr val="55504A"/>
                </a:solidFill>
                <a:latin typeface="Arial"/>
                <a:ea typeface="Arial"/>
                <a:cs typeface="Arial"/>
              </a:defRPr>
            </a:lvl5pPr>
            <a:lvl6pPr algn="r">
              <a:defRPr sz="1440" b="0">
                <a:solidFill>
                  <a:srgbClr val="55504A"/>
                </a:solidFill>
                <a:latin typeface="Arial"/>
                <a:ea typeface="Arial"/>
                <a:cs typeface="Arial"/>
              </a:defRPr>
            </a:lvl6pPr>
            <a:lvl7pPr algn="r">
              <a:defRPr sz="1440" b="0">
                <a:solidFill>
                  <a:srgbClr val="55504A"/>
                </a:solidFill>
                <a:latin typeface="Arial"/>
                <a:ea typeface="Arial"/>
                <a:cs typeface="Arial"/>
              </a:defRPr>
            </a:lvl7pPr>
            <a:lvl8pPr algn="r">
              <a:defRPr sz="1440" b="0">
                <a:solidFill>
                  <a:srgbClr val="55504A"/>
                </a:solidFill>
                <a:latin typeface="Arial"/>
                <a:ea typeface="Arial"/>
                <a:cs typeface="Arial"/>
              </a:defRPr>
            </a:lvl8pPr>
            <a:lvl9pPr algn="r">
              <a:defRPr sz="1440" b="0">
                <a:solidFill>
                  <a:srgbClr val="55504A"/>
                </a:solidFill>
                <a:latin typeface="Arial"/>
                <a:ea typeface="Arial"/>
                <a:cs typeface="Arial"/>
              </a:defRPr>
            </a:lvl9pPr>
          </a:lstStyle>
          <a:p xmlns:a="http://schemas.openxmlformats.org/drawingml/2006/main">
            <a:pPr algn="r">
              <a:defRPr sz="1440" b="0">
                <a:solidFill>
                  <a:srgbClr val="55504A"/>
                </a:solidFill>
                <a:latin typeface="Arial"/>
                <a:ea typeface="Arial"/>
                <a:cs typeface="Arial"/>
              </a:defRPr>
            </a:pPr>
            <a:r>
              <a:rPr sz="1440" b="0">
                <a:solidFill>
                  <a:srgbClr val="55504A"/>
                </a:solidFill>
                <a:latin typeface="Arial"/>
                <a:ea typeface="Arial"/>
                <a:cs typeface="Arial"/>
              </a:rPr>
              <a:t>9–21</a:t>
            </a:r>
          </a:p>
        </p:txBody>
      </p:sp>
      <p:sp>
        <p:nvSpPr>
          <p:cNvPr id="16" name="">
            <a:extLst xmlns:a="http://schemas.openxmlformats.org/drawingml/2006/main">
              <a:ext uri="{FF2B5EF4-FFF2-40B4-BE49-F238E27FC236}">
                <a16:creationId xmlns:a16="http://schemas.microsoft.com/office/drawing/2014/main" id="{724DE851-8CBB-42F9-A6F9-134D1B4A4928}"/>
              </a:ext>
            </a:extLst>
          </p:cNvPr>
          <p:cNvSpPr>
            <a:spLocks xmlns:a="http://schemas.openxmlformats.org/drawingml/2006/main" noGrp="1"/>
          </p:cNvSpPr>
          <p:nvPr/>
        </p:nvSpPr>
        <p:spPr>
          <a:xfrm xmlns:a="http://schemas.openxmlformats.org/drawingml/2006/main">
            <a:off x="609585" y="3621024"/>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A668D61-E829-4AD0-929C-A6E14B6D35B5}"/>
              </a:ext>
            </a:extLst>
          </p:cNvPr>
          <p:cNvSpPr>
            <a:spLocks xmlns:a="http://schemas.openxmlformats.org/drawingml/2006/main" noGrp="1"/>
          </p:cNvSpPr>
          <p:nvPr/>
        </p:nvSpPr>
        <p:spPr>
          <a:xfrm xmlns:a="http://schemas.openxmlformats.org/drawingml/2006/main">
            <a:off x="609585" y="3621024"/>
            <a:ext cx="609585"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2040" b="1">
                <a:solidFill>
                  <a:srgbClr val="C8401F"/>
                </a:solidFill>
                <a:latin typeface="Arial"/>
                <a:ea typeface="Arial"/>
                <a:cs typeface="Arial"/>
              </a:defRPr>
            </a:defPPr>
            <a:lvl1pPr algn="l">
              <a:defRPr sz="2040" b="1">
                <a:solidFill>
                  <a:srgbClr val="C8401F"/>
                </a:solidFill>
                <a:latin typeface="Arial"/>
                <a:ea typeface="Arial"/>
                <a:cs typeface="Arial"/>
              </a:defRPr>
            </a:lvl1pPr>
            <a:lvl2pPr algn="l">
              <a:defRPr sz="2040" b="1">
                <a:solidFill>
                  <a:srgbClr val="C8401F"/>
                </a:solidFill>
                <a:latin typeface="Arial"/>
                <a:ea typeface="Arial"/>
                <a:cs typeface="Arial"/>
              </a:defRPr>
            </a:lvl2pPr>
            <a:lvl3pPr algn="l">
              <a:defRPr sz="2040" b="1">
                <a:solidFill>
                  <a:srgbClr val="C8401F"/>
                </a:solidFill>
                <a:latin typeface="Arial"/>
                <a:ea typeface="Arial"/>
                <a:cs typeface="Arial"/>
              </a:defRPr>
            </a:lvl3pPr>
            <a:lvl4pPr algn="l">
              <a:defRPr sz="2040" b="1">
                <a:solidFill>
                  <a:srgbClr val="C8401F"/>
                </a:solidFill>
                <a:latin typeface="Arial"/>
                <a:ea typeface="Arial"/>
                <a:cs typeface="Arial"/>
              </a:defRPr>
            </a:lvl4pPr>
            <a:lvl5pPr algn="l">
              <a:defRPr sz="2040" b="1">
                <a:solidFill>
                  <a:srgbClr val="C8401F"/>
                </a:solidFill>
                <a:latin typeface="Arial"/>
                <a:ea typeface="Arial"/>
                <a:cs typeface="Arial"/>
              </a:defRPr>
            </a:lvl5pPr>
            <a:lvl6pPr algn="l">
              <a:defRPr sz="2040" b="1">
                <a:solidFill>
                  <a:srgbClr val="C8401F"/>
                </a:solidFill>
                <a:latin typeface="Arial"/>
                <a:ea typeface="Arial"/>
                <a:cs typeface="Arial"/>
              </a:defRPr>
            </a:lvl6pPr>
            <a:lvl7pPr algn="l">
              <a:defRPr sz="2040" b="1">
                <a:solidFill>
                  <a:srgbClr val="C8401F"/>
                </a:solidFill>
                <a:latin typeface="Arial"/>
                <a:ea typeface="Arial"/>
                <a:cs typeface="Arial"/>
              </a:defRPr>
            </a:lvl7pPr>
            <a:lvl8pPr algn="l">
              <a:defRPr sz="2040" b="1">
                <a:solidFill>
                  <a:srgbClr val="C8401F"/>
                </a:solidFill>
                <a:latin typeface="Arial"/>
                <a:ea typeface="Arial"/>
                <a:cs typeface="Arial"/>
              </a:defRPr>
            </a:lvl8pPr>
            <a:lvl9pPr algn="l">
              <a:defRPr sz="2040" b="1">
                <a:solidFill>
                  <a:srgbClr val="C8401F"/>
                </a:solidFill>
                <a:latin typeface="Arial"/>
                <a:ea typeface="Arial"/>
                <a:cs typeface="Arial"/>
              </a:defRPr>
            </a:lvl9pPr>
          </a:lstStyle>
          <a:p xmlns:a="http://schemas.openxmlformats.org/drawingml/2006/main">
            <a:pPr algn="l">
              <a:defRPr sz="2040" b="1">
                <a:solidFill>
                  <a:srgbClr val="C8401F"/>
                </a:solidFill>
                <a:latin typeface="Arial"/>
                <a:ea typeface="Arial"/>
                <a:cs typeface="Arial"/>
              </a:defRPr>
            </a:pPr>
            <a:r>
              <a:rPr sz="2040" b="1">
                <a:solidFill>
                  <a:srgbClr val="C8401F"/>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64B1313A-913E-4AA3-9DA4-8DAF78633B3F}"/>
              </a:ext>
            </a:extLst>
          </p:cNvPr>
          <p:cNvSpPr>
            <a:spLocks xmlns:a="http://schemas.openxmlformats.org/drawingml/2006/main" noGrp="1"/>
          </p:cNvSpPr>
          <p:nvPr/>
        </p:nvSpPr>
        <p:spPr>
          <a:xfrm xmlns:a="http://schemas.openxmlformats.org/drawingml/2006/main">
            <a:off x="1371566" y="3621024"/>
            <a:ext cx="3962301"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2040" b="0">
                <a:solidFill>
                  <a:srgbClr val="151312"/>
                </a:solidFill>
                <a:latin typeface="Georgia"/>
                <a:ea typeface="Georgia"/>
                <a:cs typeface="Georgia"/>
              </a:defRPr>
            </a:defPPr>
            <a:lvl1pPr algn="l">
              <a:defRPr sz="2040" b="0">
                <a:solidFill>
                  <a:srgbClr val="151312"/>
                </a:solidFill>
                <a:latin typeface="Georgia"/>
                <a:ea typeface="Georgia"/>
                <a:cs typeface="Georgia"/>
              </a:defRPr>
            </a:lvl1pPr>
            <a:lvl2pPr algn="l">
              <a:defRPr sz="2040" b="0">
                <a:solidFill>
                  <a:srgbClr val="151312"/>
                </a:solidFill>
                <a:latin typeface="Georgia"/>
                <a:ea typeface="Georgia"/>
                <a:cs typeface="Georgia"/>
              </a:defRPr>
            </a:lvl2pPr>
            <a:lvl3pPr algn="l">
              <a:defRPr sz="2040" b="0">
                <a:solidFill>
                  <a:srgbClr val="151312"/>
                </a:solidFill>
                <a:latin typeface="Georgia"/>
                <a:ea typeface="Georgia"/>
                <a:cs typeface="Georgia"/>
              </a:defRPr>
            </a:lvl3pPr>
            <a:lvl4pPr algn="l">
              <a:defRPr sz="2040" b="0">
                <a:solidFill>
                  <a:srgbClr val="151312"/>
                </a:solidFill>
                <a:latin typeface="Georgia"/>
                <a:ea typeface="Georgia"/>
                <a:cs typeface="Georgia"/>
              </a:defRPr>
            </a:lvl4pPr>
            <a:lvl5pPr algn="l">
              <a:defRPr sz="2040" b="0">
                <a:solidFill>
                  <a:srgbClr val="151312"/>
                </a:solidFill>
                <a:latin typeface="Georgia"/>
                <a:ea typeface="Georgia"/>
                <a:cs typeface="Georgia"/>
              </a:defRPr>
            </a:lvl5pPr>
            <a:lvl6pPr algn="l">
              <a:defRPr sz="2040" b="0">
                <a:solidFill>
                  <a:srgbClr val="151312"/>
                </a:solidFill>
                <a:latin typeface="Georgia"/>
                <a:ea typeface="Georgia"/>
                <a:cs typeface="Georgia"/>
              </a:defRPr>
            </a:lvl6pPr>
            <a:lvl7pPr algn="l">
              <a:defRPr sz="2040" b="0">
                <a:solidFill>
                  <a:srgbClr val="151312"/>
                </a:solidFill>
                <a:latin typeface="Georgia"/>
                <a:ea typeface="Georgia"/>
                <a:cs typeface="Georgia"/>
              </a:defRPr>
            </a:lvl7pPr>
            <a:lvl8pPr algn="l">
              <a:defRPr sz="2040" b="0">
                <a:solidFill>
                  <a:srgbClr val="151312"/>
                </a:solidFill>
                <a:latin typeface="Georgia"/>
                <a:ea typeface="Georgia"/>
                <a:cs typeface="Georgia"/>
              </a:defRPr>
            </a:lvl8pPr>
            <a:lvl9pPr algn="l">
              <a:defRPr sz="2040" b="0">
                <a:solidFill>
                  <a:srgbClr val="151312"/>
                </a:solidFill>
                <a:latin typeface="Georgia"/>
                <a:ea typeface="Georgia"/>
                <a:cs typeface="Georgia"/>
              </a:defRPr>
            </a:lvl9pPr>
          </a:lstStyle>
          <a:p xmlns:a="http://schemas.openxmlformats.org/drawingml/2006/main">
            <a:pPr algn="l">
              <a:defRPr sz="2040" b="0">
                <a:solidFill>
                  <a:srgbClr val="151312"/>
                </a:solidFill>
                <a:latin typeface="Georgia"/>
                <a:ea typeface="Georgia"/>
                <a:cs typeface="Georgia"/>
              </a:defRPr>
            </a:pPr>
            <a:r>
              <a:rPr sz="2040" b="0">
                <a:solidFill>
                  <a:srgbClr val="151312"/>
                </a:solidFill>
                <a:latin typeface="Georgia"/>
                <a:ea typeface="Georgia"/>
                <a:cs typeface="Georgia"/>
              </a:rPr>
              <a:t>Index, yields and duration</a:t>
            </a:r>
          </a:p>
        </p:txBody>
      </p:sp>
      <p:sp>
        <p:nvSpPr>
          <p:cNvPr id="19" name="">
            <a:extLst xmlns:a="http://schemas.openxmlformats.org/drawingml/2006/main">
              <a:ext uri="{FF2B5EF4-FFF2-40B4-BE49-F238E27FC236}">
                <a16:creationId xmlns:a16="http://schemas.microsoft.com/office/drawing/2014/main" id="{2355E3E1-E3A1-4E24-A7C1-E673D5C4B637}"/>
              </a:ext>
            </a:extLst>
          </p:cNvPr>
          <p:cNvSpPr>
            <a:spLocks xmlns:a="http://schemas.openxmlformats.org/drawingml/2006/main" noGrp="1"/>
          </p:cNvSpPr>
          <p:nvPr/>
        </p:nvSpPr>
        <p:spPr>
          <a:xfrm xmlns:a="http://schemas.openxmlformats.org/drawingml/2006/main">
            <a:off x="5486263" y="3621024"/>
            <a:ext cx="4724282"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Tone over time, Treasury reactions and the duration trade</a:t>
            </a:r>
          </a:p>
        </p:txBody>
      </p:sp>
      <p:sp>
        <p:nvSpPr>
          <p:cNvPr id="20" name="">
            <a:extLst xmlns:a="http://schemas.openxmlformats.org/drawingml/2006/main">
              <a:ext uri="{FF2B5EF4-FFF2-40B4-BE49-F238E27FC236}">
                <a16:creationId xmlns:a16="http://schemas.microsoft.com/office/drawing/2014/main" id="{DE8570B4-9AC7-4667-9FEB-E657B93D3CD1}"/>
              </a:ext>
            </a:extLst>
          </p:cNvPr>
          <p:cNvSpPr>
            <a:spLocks xmlns:a="http://schemas.openxmlformats.org/drawingml/2006/main" noGrp="1"/>
          </p:cNvSpPr>
          <p:nvPr/>
        </p:nvSpPr>
        <p:spPr>
          <a:xfrm xmlns:a="http://schemas.openxmlformats.org/drawingml/2006/main">
            <a:off x="10286743" y="3621024"/>
            <a:ext cx="1295368"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1440" b="0">
                <a:solidFill>
                  <a:srgbClr val="55504A"/>
                </a:solidFill>
                <a:latin typeface="Arial"/>
                <a:ea typeface="Arial"/>
                <a:cs typeface="Arial"/>
              </a:defRPr>
            </a:defPPr>
            <a:lvl1pPr algn="r">
              <a:defRPr sz="1440" b="0">
                <a:solidFill>
                  <a:srgbClr val="55504A"/>
                </a:solidFill>
                <a:latin typeface="Arial"/>
                <a:ea typeface="Arial"/>
                <a:cs typeface="Arial"/>
              </a:defRPr>
            </a:lvl1pPr>
            <a:lvl2pPr algn="r">
              <a:defRPr sz="1440" b="0">
                <a:solidFill>
                  <a:srgbClr val="55504A"/>
                </a:solidFill>
                <a:latin typeface="Arial"/>
                <a:ea typeface="Arial"/>
                <a:cs typeface="Arial"/>
              </a:defRPr>
            </a:lvl2pPr>
            <a:lvl3pPr algn="r">
              <a:defRPr sz="1440" b="0">
                <a:solidFill>
                  <a:srgbClr val="55504A"/>
                </a:solidFill>
                <a:latin typeface="Arial"/>
                <a:ea typeface="Arial"/>
                <a:cs typeface="Arial"/>
              </a:defRPr>
            </a:lvl3pPr>
            <a:lvl4pPr algn="r">
              <a:defRPr sz="1440" b="0">
                <a:solidFill>
                  <a:srgbClr val="55504A"/>
                </a:solidFill>
                <a:latin typeface="Arial"/>
                <a:ea typeface="Arial"/>
                <a:cs typeface="Arial"/>
              </a:defRPr>
            </a:lvl4pPr>
            <a:lvl5pPr algn="r">
              <a:defRPr sz="1440" b="0">
                <a:solidFill>
                  <a:srgbClr val="55504A"/>
                </a:solidFill>
                <a:latin typeface="Arial"/>
                <a:ea typeface="Arial"/>
                <a:cs typeface="Arial"/>
              </a:defRPr>
            </a:lvl5pPr>
            <a:lvl6pPr algn="r">
              <a:defRPr sz="1440" b="0">
                <a:solidFill>
                  <a:srgbClr val="55504A"/>
                </a:solidFill>
                <a:latin typeface="Arial"/>
                <a:ea typeface="Arial"/>
                <a:cs typeface="Arial"/>
              </a:defRPr>
            </a:lvl6pPr>
            <a:lvl7pPr algn="r">
              <a:defRPr sz="1440" b="0">
                <a:solidFill>
                  <a:srgbClr val="55504A"/>
                </a:solidFill>
                <a:latin typeface="Arial"/>
                <a:ea typeface="Arial"/>
                <a:cs typeface="Arial"/>
              </a:defRPr>
            </a:lvl7pPr>
            <a:lvl8pPr algn="r">
              <a:defRPr sz="1440" b="0">
                <a:solidFill>
                  <a:srgbClr val="55504A"/>
                </a:solidFill>
                <a:latin typeface="Arial"/>
                <a:ea typeface="Arial"/>
                <a:cs typeface="Arial"/>
              </a:defRPr>
            </a:lvl8pPr>
            <a:lvl9pPr algn="r">
              <a:defRPr sz="1440" b="0">
                <a:solidFill>
                  <a:srgbClr val="55504A"/>
                </a:solidFill>
                <a:latin typeface="Arial"/>
                <a:ea typeface="Arial"/>
                <a:cs typeface="Arial"/>
              </a:defRPr>
            </a:lvl9pPr>
          </a:lstStyle>
          <a:p xmlns:a="http://schemas.openxmlformats.org/drawingml/2006/main">
            <a:pPr algn="r">
              <a:defRPr sz="1440" b="0">
                <a:solidFill>
                  <a:srgbClr val="55504A"/>
                </a:solidFill>
                <a:latin typeface="Arial"/>
                <a:ea typeface="Arial"/>
                <a:cs typeface="Arial"/>
              </a:defRPr>
            </a:pPr>
            <a:r>
              <a:rPr sz="1440" b="0">
                <a:solidFill>
                  <a:srgbClr val="55504A"/>
                </a:solidFill>
                <a:latin typeface="Arial"/>
                <a:ea typeface="Arial"/>
                <a:cs typeface="Arial"/>
              </a:rPr>
              <a:t>22–31</a:t>
            </a:r>
          </a:p>
        </p:txBody>
      </p:sp>
      <p:sp>
        <p:nvSpPr>
          <p:cNvPr id="21" name="">
            <a:extLst xmlns:a="http://schemas.openxmlformats.org/drawingml/2006/main">
              <a:ext uri="{FF2B5EF4-FFF2-40B4-BE49-F238E27FC236}">
                <a16:creationId xmlns:a16="http://schemas.microsoft.com/office/drawing/2014/main" id="{E55D1B3E-1FC0-483E-8F90-D0535E254543}"/>
              </a:ext>
            </a:extLst>
          </p:cNvPr>
          <p:cNvSpPr>
            <a:spLocks xmlns:a="http://schemas.openxmlformats.org/drawingml/2006/main" noGrp="1"/>
          </p:cNvSpPr>
          <p:nvPr/>
        </p:nvSpPr>
        <p:spPr>
          <a:xfrm xmlns:a="http://schemas.openxmlformats.org/drawingml/2006/main">
            <a:off x="609585" y="4471416"/>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2D4E0CC-0EC6-4B64-A614-60BDAEB2A793}"/>
              </a:ext>
            </a:extLst>
          </p:cNvPr>
          <p:cNvSpPr>
            <a:spLocks xmlns:a="http://schemas.openxmlformats.org/drawingml/2006/main" noGrp="1"/>
          </p:cNvSpPr>
          <p:nvPr/>
        </p:nvSpPr>
        <p:spPr>
          <a:xfrm xmlns:a="http://schemas.openxmlformats.org/drawingml/2006/main">
            <a:off x="609585" y="4471416"/>
            <a:ext cx="609585"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2040" b="1">
                <a:solidFill>
                  <a:srgbClr val="C8401F"/>
                </a:solidFill>
                <a:latin typeface="Arial"/>
                <a:ea typeface="Arial"/>
                <a:cs typeface="Arial"/>
              </a:defRPr>
            </a:defPPr>
            <a:lvl1pPr algn="l">
              <a:defRPr sz="2040" b="1">
                <a:solidFill>
                  <a:srgbClr val="C8401F"/>
                </a:solidFill>
                <a:latin typeface="Arial"/>
                <a:ea typeface="Arial"/>
                <a:cs typeface="Arial"/>
              </a:defRPr>
            </a:lvl1pPr>
            <a:lvl2pPr algn="l">
              <a:defRPr sz="2040" b="1">
                <a:solidFill>
                  <a:srgbClr val="C8401F"/>
                </a:solidFill>
                <a:latin typeface="Arial"/>
                <a:ea typeface="Arial"/>
                <a:cs typeface="Arial"/>
              </a:defRPr>
            </a:lvl2pPr>
            <a:lvl3pPr algn="l">
              <a:defRPr sz="2040" b="1">
                <a:solidFill>
                  <a:srgbClr val="C8401F"/>
                </a:solidFill>
                <a:latin typeface="Arial"/>
                <a:ea typeface="Arial"/>
                <a:cs typeface="Arial"/>
              </a:defRPr>
            </a:lvl3pPr>
            <a:lvl4pPr algn="l">
              <a:defRPr sz="2040" b="1">
                <a:solidFill>
                  <a:srgbClr val="C8401F"/>
                </a:solidFill>
                <a:latin typeface="Arial"/>
                <a:ea typeface="Arial"/>
                <a:cs typeface="Arial"/>
              </a:defRPr>
            </a:lvl4pPr>
            <a:lvl5pPr algn="l">
              <a:defRPr sz="2040" b="1">
                <a:solidFill>
                  <a:srgbClr val="C8401F"/>
                </a:solidFill>
                <a:latin typeface="Arial"/>
                <a:ea typeface="Arial"/>
                <a:cs typeface="Arial"/>
              </a:defRPr>
            </a:lvl5pPr>
            <a:lvl6pPr algn="l">
              <a:defRPr sz="2040" b="1">
                <a:solidFill>
                  <a:srgbClr val="C8401F"/>
                </a:solidFill>
                <a:latin typeface="Arial"/>
                <a:ea typeface="Arial"/>
                <a:cs typeface="Arial"/>
              </a:defRPr>
            </a:lvl6pPr>
            <a:lvl7pPr algn="l">
              <a:defRPr sz="2040" b="1">
                <a:solidFill>
                  <a:srgbClr val="C8401F"/>
                </a:solidFill>
                <a:latin typeface="Arial"/>
                <a:ea typeface="Arial"/>
                <a:cs typeface="Arial"/>
              </a:defRPr>
            </a:lvl7pPr>
            <a:lvl8pPr algn="l">
              <a:defRPr sz="2040" b="1">
                <a:solidFill>
                  <a:srgbClr val="C8401F"/>
                </a:solidFill>
                <a:latin typeface="Arial"/>
                <a:ea typeface="Arial"/>
                <a:cs typeface="Arial"/>
              </a:defRPr>
            </a:lvl8pPr>
            <a:lvl9pPr algn="l">
              <a:defRPr sz="2040" b="1">
                <a:solidFill>
                  <a:srgbClr val="C8401F"/>
                </a:solidFill>
                <a:latin typeface="Arial"/>
                <a:ea typeface="Arial"/>
                <a:cs typeface="Arial"/>
              </a:defRPr>
            </a:lvl9pPr>
          </a:lstStyle>
          <a:p xmlns:a="http://schemas.openxmlformats.org/drawingml/2006/main">
            <a:pPr algn="l">
              <a:defRPr sz="2040" b="1">
                <a:solidFill>
                  <a:srgbClr val="C8401F"/>
                </a:solidFill>
                <a:latin typeface="Arial"/>
                <a:ea typeface="Arial"/>
                <a:cs typeface="Arial"/>
              </a:defRPr>
            </a:pPr>
            <a:r>
              <a:rPr sz="2040" b="1">
                <a:solidFill>
                  <a:srgbClr val="C8401F"/>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A8C417E2-C79E-492F-8E12-7234FEA76A3E}"/>
              </a:ext>
            </a:extLst>
          </p:cNvPr>
          <p:cNvSpPr>
            <a:spLocks xmlns:a="http://schemas.openxmlformats.org/drawingml/2006/main" noGrp="1"/>
          </p:cNvSpPr>
          <p:nvPr/>
        </p:nvSpPr>
        <p:spPr>
          <a:xfrm xmlns:a="http://schemas.openxmlformats.org/drawingml/2006/main">
            <a:off x="1371566" y="4471416"/>
            <a:ext cx="3962301"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2040" b="0">
                <a:solidFill>
                  <a:srgbClr val="151312"/>
                </a:solidFill>
                <a:latin typeface="Georgia"/>
                <a:ea typeface="Georgia"/>
                <a:cs typeface="Georgia"/>
              </a:defRPr>
            </a:defPPr>
            <a:lvl1pPr algn="l">
              <a:defRPr sz="2040" b="0">
                <a:solidFill>
                  <a:srgbClr val="151312"/>
                </a:solidFill>
                <a:latin typeface="Georgia"/>
                <a:ea typeface="Georgia"/>
                <a:cs typeface="Georgia"/>
              </a:defRPr>
            </a:lvl1pPr>
            <a:lvl2pPr algn="l">
              <a:defRPr sz="2040" b="0">
                <a:solidFill>
                  <a:srgbClr val="151312"/>
                </a:solidFill>
                <a:latin typeface="Georgia"/>
                <a:ea typeface="Georgia"/>
                <a:cs typeface="Georgia"/>
              </a:defRPr>
            </a:lvl2pPr>
            <a:lvl3pPr algn="l">
              <a:defRPr sz="2040" b="0">
                <a:solidFill>
                  <a:srgbClr val="151312"/>
                </a:solidFill>
                <a:latin typeface="Georgia"/>
                <a:ea typeface="Georgia"/>
                <a:cs typeface="Georgia"/>
              </a:defRPr>
            </a:lvl3pPr>
            <a:lvl4pPr algn="l">
              <a:defRPr sz="2040" b="0">
                <a:solidFill>
                  <a:srgbClr val="151312"/>
                </a:solidFill>
                <a:latin typeface="Georgia"/>
                <a:ea typeface="Georgia"/>
                <a:cs typeface="Georgia"/>
              </a:defRPr>
            </a:lvl4pPr>
            <a:lvl5pPr algn="l">
              <a:defRPr sz="2040" b="0">
                <a:solidFill>
                  <a:srgbClr val="151312"/>
                </a:solidFill>
                <a:latin typeface="Georgia"/>
                <a:ea typeface="Georgia"/>
                <a:cs typeface="Georgia"/>
              </a:defRPr>
            </a:lvl5pPr>
            <a:lvl6pPr algn="l">
              <a:defRPr sz="2040" b="0">
                <a:solidFill>
                  <a:srgbClr val="151312"/>
                </a:solidFill>
                <a:latin typeface="Georgia"/>
                <a:ea typeface="Georgia"/>
                <a:cs typeface="Georgia"/>
              </a:defRPr>
            </a:lvl6pPr>
            <a:lvl7pPr algn="l">
              <a:defRPr sz="2040" b="0">
                <a:solidFill>
                  <a:srgbClr val="151312"/>
                </a:solidFill>
                <a:latin typeface="Georgia"/>
                <a:ea typeface="Georgia"/>
                <a:cs typeface="Georgia"/>
              </a:defRPr>
            </a:lvl7pPr>
            <a:lvl8pPr algn="l">
              <a:defRPr sz="2040" b="0">
                <a:solidFill>
                  <a:srgbClr val="151312"/>
                </a:solidFill>
                <a:latin typeface="Georgia"/>
                <a:ea typeface="Georgia"/>
                <a:cs typeface="Georgia"/>
              </a:defRPr>
            </a:lvl8pPr>
            <a:lvl9pPr algn="l">
              <a:defRPr sz="2040" b="0">
                <a:solidFill>
                  <a:srgbClr val="151312"/>
                </a:solidFill>
                <a:latin typeface="Georgia"/>
                <a:ea typeface="Georgia"/>
                <a:cs typeface="Georgia"/>
              </a:defRPr>
            </a:lvl9pPr>
          </a:lstStyle>
          <a:p xmlns:a="http://schemas.openxmlformats.org/drawingml/2006/main">
            <a:pPr algn="l">
              <a:defRPr sz="2040" b="0">
                <a:solidFill>
                  <a:srgbClr val="151312"/>
                </a:solidFill>
                <a:latin typeface="Georgia"/>
                <a:ea typeface="Georgia"/>
                <a:cs typeface="Georgia"/>
              </a:defRPr>
            </a:pPr>
            <a:r>
              <a:rPr sz="2040" b="0">
                <a:solidFill>
                  <a:srgbClr val="151312"/>
                </a:solidFill>
                <a:latin typeface="Georgia"/>
                <a:ea typeface="Georgia"/>
                <a:cs typeface="Georgia"/>
              </a:rPr>
              <a:t>Forward checks and system</a:t>
            </a:r>
          </a:p>
        </p:txBody>
      </p:sp>
      <p:sp>
        <p:nvSpPr>
          <p:cNvPr id="24" name="">
            <a:extLst xmlns:a="http://schemas.openxmlformats.org/drawingml/2006/main">
              <a:ext uri="{FF2B5EF4-FFF2-40B4-BE49-F238E27FC236}">
                <a16:creationId xmlns:a16="http://schemas.microsoft.com/office/drawing/2014/main" id="{E4182DCE-8389-4D98-9587-4E4F9FB3BC6E}"/>
              </a:ext>
            </a:extLst>
          </p:cNvPr>
          <p:cNvSpPr>
            <a:spLocks xmlns:a="http://schemas.openxmlformats.org/drawingml/2006/main" noGrp="1"/>
          </p:cNvSpPr>
          <p:nvPr/>
        </p:nvSpPr>
        <p:spPr>
          <a:xfrm xmlns:a="http://schemas.openxmlformats.org/drawingml/2006/main">
            <a:off x="5486263" y="4471416"/>
            <a:ext cx="4724282"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Tests on new data, the system and the dashboard</a:t>
            </a:r>
          </a:p>
        </p:txBody>
      </p:sp>
      <p:sp>
        <p:nvSpPr>
          <p:cNvPr id="25" name="">
            <a:extLst xmlns:a="http://schemas.openxmlformats.org/drawingml/2006/main">
              <a:ext uri="{FF2B5EF4-FFF2-40B4-BE49-F238E27FC236}">
                <a16:creationId xmlns:a16="http://schemas.microsoft.com/office/drawing/2014/main" id="{B387E037-A3DC-4126-87E1-C1EC53059DC6}"/>
              </a:ext>
            </a:extLst>
          </p:cNvPr>
          <p:cNvSpPr>
            <a:spLocks xmlns:a="http://schemas.openxmlformats.org/drawingml/2006/main" noGrp="1"/>
          </p:cNvSpPr>
          <p:nvPr/>
        </p:nvSpPr>
        <p:spPr>
          <a:xfrm xmlns:a="http://schemas.openxmlformats.org/drawingml/2006/main">
            <a:off x="10286743" y="4471416"/>
            <a:ext cx="1295368"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1440" b="0">
                <a:solidFill>
                  <a:srgbClr val="55504A"/>
                </a:solidFill>
                <a:latin typeface="Arial"/>
                <a:ea typeface="Arial"/>
                <a:cs typeface="Arial"/>
              </a:defRPr>
            </a:defPPr>
            <a:lvl1pPr algn="r">
              <a:defRPr sz="1440" b="0">
                <a:solidFill>
                  <a:srgbClr val="55504A"/>
                </a:solidFill>
                <a:latin typeface="Arial"/>
                <a:ea typeface="Arial"/>
                <a:cs typeface="Arial"/>
              </a:defRPr>
            </a:lvl1pPr>
            <a:lvl2pPr algn="r">
              <a:defRPr sz="1440" b="0">
                <a:solidFill>
                  <a:srgbClr val="55504A"/>
                </a:solidFill>
                <a:latin typeface="Arial"/>
                <a:ea typeface="Arial"/>
                <a:cs typeface="Arial"/>
              </a:defRPr>
            </a:lvl2pPr>
            <a:lvl3pPr algn="r">
              <a:defRPr sz="1440" b="0">
                <a:solidFill>
                  <a:srgbClr val="55504A"/>
                </a:solidFill>
                <a:latin typeface="Arial"/>
                <a:ea typeface="Arial"/>
                <a:cs typeface="Arial"/>
              </a:defRPr>
            </a:lvl3pPr>
            <a:lvl4pPr algn="r">
              <a:defRPr sz="1440" b="0">
                <a:solidFill>
                  <a:srgbClr val="55504A"/>
                </a:solidFill>
                <a:latin typeface="Arial"/>
                <a:ea typeface="Arial"/>
                <a:cs typeface="Arial"/>
              </a:defRPr>
            </a:lvl4pPr>
            <a:lvl5pPr algn="r">
              <a:defRPr sz="1440" b="0">
                <a:solidFill>
                  <a:srgbClr val="55504A"/>
                </a:solidFill>
                <a:latin typeface="Arial"/>
                <a:ea typeface="Arial"/>
                <a:cs typeface="Arial"/>
              </a:defRPr>
            </a:lvl5pPr>
            <a:lvl6pPr algn="r">
              <a:defRPr sz="1440" b="0">
                <a:solidFill>
                  <a:srgbClr val="55504A"/>
                </a:solidFill>
                <a:latin typeface="Arial"/>
                <a:ea typeface="Arial"/>
                <a:cs typeface="Arial"/>
              </a:defRPr>
            </a:lvl6pPr>
            <a:lvl7pPr algn="r">
              <a:defRPr sz="1440" b="0">
                <a:solidFill>
                  <a:srgbClr val="55504A"/>
                </a:solidFill>
                <a:latin typeface="Arial"/>
                <a:ea typeface="Arial"/>
                <a:cs typeface="Arial"/>
              </a:defRPr>
            </a:lvl7pPr>
            <a:lvl8pPr algn="r">
              <a:defRPr sz="1440" b="0">
                <a:solidFill>
                  <a:srgbClr val="55504A"/>
                </a:solidFill>
                <a:latin typeface="Arial"/>
                <a:ea typeface="Arial"/>
                <a:cs typeface="Arial"/>
              </a:defRPr>
            </a:lvl8pPr>
            <a:lvl9pPr algn="r">
              <a:defRPr sz="1440" b="0">
                <a:solidFill>
                  <a:srgbClr val="55504A"/>
                </a:solidFill>
                <a:latin typeface="Arial"/>
                <a:ea typeface="Arial"/>
                <a:cs typeface="Arial"/>
              </a:defRPr>
            </a:lvl9pPr>
          </a:lstStyle>
          <a:p xmlns:a="http://schemas.openxmlformats.org/drawingml/2006/main">
            <a:pPr algn="r">
              <a:defRPr sz="1440" b="0">
                <a:solidFill>
                  <a:srgbClr val="55504A"/>
                </a:solidFill>
                <a:latin typeface="Arial"/>
                <a:ea typeface="Arial"/>
                <a:cs typeface="Arial"/>
              </a:defRPr>
            </a:pPr>
            <a:r>
              <a:rPr sz="1440" b="0">
                <a:solidFill>
                  <a:srgbClr val="55504A"/>
                </a:solidFill>
                <a:latin typeface="Arial"/>
                <a:ea typeface="Arial"/>
                <a:cs typeface="Arial"/>
              </a:rPr>
              <a:t>32–41</a:t>
            </a:r>
          </a:p>
        </p:txBody>
      </p:sp>
      <p:sp>
        <p:nvSpPr>
          <p:cNvPr id="26" name="">
            <a:extLst xmlns:a="http://schemas.openxmlformats.org/drawingml/2006/main">
              <a:ext uri="{FF2B5EF4-FFF2-40B4-BE49-F238E27FC236}">
                <a16:creationId xmlns:a16="http://schemas.microsoft.com/office/drawing/2014/main" id="{2D4DB318-2F28-4959-9755-2A19A0070691}"/>
              </a:ext>
            </a:extLst>
          </p:cNvPr>
          <p:cNvSpPr>
            <a:spLocks xmlns:a="http://schemas.openxmlformats.org/drawingml/2006/main" noGrp="1"/>
          </p:cNvSpPr>
          <p:nvPr/>
        </p:nvSpPr>
        <p:spPr>
          <a:xfrm xmlns:a="http://schemas.openxmlformats.org/drawingml/2006/main">
            <a:off x="609585" y="5321808"/>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8DE6C79-43E9-45F3-813E-3B4CA4C9B4F5}"/>
              </a:ext>
            </a:extLst>
          </p:cNvPr>
          <p:cNvSpPr>
            <a:spLocks xmlns:a="http://schemas.openxmlformats.org/drawingml/2006/main" noGrp="1"/>
          </p:cNvSpPr>
          <p:nvPr/>
        </p:nvSpPr>
        <p:spPr>
          <a:xfrm xmlns:a="http://schemas.openxmlformats.org/drawingml/2006/main">
            <a:off x="609585" y="5321808"/>
            <a:ext cx="609585"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2040" b="1">
                <a:solidFill>
                  <a:srgbClr val="C8401F"/>
                </a:solidFill>
                <a:latin typeface="Arial"/>
                <a:ea typeface="Arial"/>
                <a:cs typeface="Arial"/>
              </a:defRPr>
            </a:defPPr>
            <a:lvl1pPr algn="l">
              <a:defRPr sz="2040" b="1">
                <a:solidFill>
                  <a:srgbClr val="C8401F"/>
                </a:solidFill>
                <a:latin typeface="Arial"/>
                <a:ea typeface="Arial"/>
                <a:cs typeface="Arial"/>
              </a:defRPr>
            </a:lvl1pPr>
            <a:lvl2pPr algn="l">
              <a:defRPr sz="2040" b="1">
                <a:solidFill>
                  <a:srgbClr val="C8401F"/>
                </a:solidFill>
                <a:latin typeface="Arial"/>
                <a:ea typeface="Arial"/>
                <a:cs typeface="Arial"/>
              </a:defRPr>
            </a:lvl2pPr>
            <a:lvl3pPr algn="l">
              <a:defRPr sz="2040" b="1">
                <a:solidFill>
                  <a:srgbClr val="C8401F"/>
                </a:solidFill>
                <a:latin typeface="Arial"/>
                <a:ea typeface="Arial"/>
                <a:cs typeface="Arial"/>
              </a:defRPr>
            </a:lvl3pPr>
            <a:lvl4pPr algn="l">
              <a:defRPr sz="2040" b="1">
                <a:solidFill>
                  <a:srgbClr val="C8401F"/>
                </a:solidFill>
                <a:latin typeface="Arial"/>
                <a:ea typeface="Arial"/>
                <a:cs typeface="Arial"/>
              </a:defRPr>
            </a:lvl4pPr>
            <a:lvl5pPr algn="l">
              <a:defRPr sz="2040" b="1">
                <a:solidFill>
                  <a:srgbClr val="C8401F"/>
                </a:solidFill>
                <a:latin typeface="Arial"/>
                <a:ea typeface="Arial"/>
                <a:cs typeface="Arial"/>
              </a:defRPr>
            </a:lvl5pPr>
            <a:lvl6pPr algn="l">
              <a:defRPr sz="2040" b="1">
                <a:solidFill>
                  <a:srgbClr val="C8401F"/>
                </a:solidFill>
                <a:latin typeface="Arial"/>
                <a:ea typeface="Arial"/>
                <a:cs typeface="Arial"/>
              </a:defRPr>
            </a:lvl6pPr>
            <a:lvl7pPr algn="l">
              <a:defRPr sz="2040" b="1">
                <a:solidFill>
                  <a:srgbClr val="C8401F"/>
                </a:solidFill>
                <a:latin typeface="Arial"/>
                <a:ea typeface="Arial"/>
                <a:cs typeface="Arial"/>
              </a:defRPr>
            </a:lvl7pPr>
            <a:lvl8pPr algn="l">
              <a:defRPr sz="2040" b="1">
                <a:solidFill>
                  <a:srgbClr val="C8401F"/>
                </a:solidFill>
                <a:latin typeface="Arial"/>
                <a:ea typeface="Arial"/>
                <a:cs typeface="Arial"/>
              </a:defRPr>
            </a:lvl8pPr>
            <a:lvl9pPr algn="l">
              <a:defRPr sz="2040" b="1">
                <a:solidFill>
                  <a:srgbClr val="C8401F"/>
                </a:solidFill>
                <a:latin typeface="Arial"/>
                <a:ea typeface="Arial"/>
                <a:cs typeface="Arial"/>
              </a:defRPr>
            </a:lvl9pPr>
          </a:lstStyle>
          <a:p xmlns:a="http://schemas.openxmlformats.org/drawingml/2006/main">
            <a:pPr algn="l">
              <a:defRPr sz="2040" b="1">
                <a:solidFill>
                  <a:srgbClr val="C8401F"/>
                </a:solidFill>
                <a:latin typeface="Arial"/>
                <a:ea typeface="Arial"/>
                <a:cs typeface="Arial"/>
              </a:defRPr>
            </a:pPr>
            <a:r>
              <a:rPr sz="2040" b="1">
                <a:solidFill>
                  <a:srgbClr val="C8401F"/>
                </a:solidFill>
                <a:latin typeface="Arial"/>
                <a:ea typeface="Arial"/>
                <a:cs typeface="Arial"/>
              </a:rPr>
              <a:t>05</a:t>
            </a:r>
          </a:p>
        </p:txBody>
      </p:sp>
      <p:sp>
        <p:nvSpPr>
          <p:cNvPr id="28" name="">
            <a:extLst xmlns:a="http://schemas.openxmlformats.org/drawingml/2006/main">
              <a:ext uri="{FF2B5EF4-FFF2-40B4-BE49-F238E27FC236}">
                <a16:creationId xmlns:a16="http://schemas.microsoft.com/office/drawing/2014/main" id="{AB7FC8A7-D0A7-4B2E-974A-9E23F96845A9}"/>
              </a:ext>
            </a:extLst>
          </p:cNvPr>
          <p:cNvSpPr>
            <a:spLocks xmlns:a="http://schemas.openxmlformats.org/drawingml/2006/main" noGrp="1"/>
          </p:cNvSpPr>
          <p:nvPr/>
        </p:nvSpPr>
        <p:spPr>
          <a:xfrm xmlns:a="http://schemas.openxmlformats.org/drawingml/2006/main">
            <a:off x="1371566" y="5321808"/>
            <a:ext cx="3962301"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2040" b="0">
                <a:solidFill>
                  <a:srgbClr val="151312"/>
                </a:solidFill>
                <a:latin typeface="Georgia"/>
                <a:ea typeface="Georgia"/>
                <a:cs typeface="Georgia"/>
              </a:defRPr>
            </a:defPPr>
            <a:lvl1pPr algn="l">
              <a:defRPr sz="2040" b="0">
                <a:solidFill>
                  <a:srgbClr val="151312"/>
                </a:solidFill>
                <a:latin typeface="Georgia"/>
                <a:ea typeface="Georgia"/>
                <a:cs typeface="Georgia"/>
              </a:defRPr>
            </a:lvl1pPr>
            <a:lvl2pPr algn="l">
              <a:defRPr sz="2040" b="0">
                <a:solidFill>
                  <a:srgbClr val="151312"/>
                </a:solidFill>
                <a:latin typeface="Georgia"/>
                <a:ea typeface="Georgia"/>
                <a:cs typeface="Georgia"/>
              </a:defRPr>
            </a:lvl2pPr>
            <a:lvl3pPr algn="l">
              <a:defRPr sz="2040" b="0">
                <a:solidFill>
                  <a:srgbClr val="151312"/>
                </a:solidFill>
                <a:latin typeface="Georgia"/>
                <a:ea typeface="Georgia"/>
                <a:cs typeface="Georgia"/>
              </a:defRPr>
            </a:lvl3pPr>
            <a:lvl4pPr algn="l">
              <a:defRPr sz="2040" b="0">
                <a:solidFill>
                  <a:srgbClr val="151312"/>
                </a:solidFill>
                <a:latin typeface="Georgia"/>
                <a:ea typeface="Georgia"/>
                <a:cs typeface="Georgia"/>
              </a:defRPr>
            </a:lvl4pPr>
            <a:lvl5pPr algn="l">
              <a:defRPr sz="2040" b="0">
                <a:solidFill>
                  <a:srgbClr val="151312"/>
                </a:solidFill>
                <a:latin typeface="Georgia"/>
                <a:ea typeface="Georgia"/>
                <a:cs typeface="Georgia"/>
              </a:defRPr>
            </a:lvl5pPr>
            <a:lvl6pPr algn="l">
              <a:defRPr sz="2040" b="0">
                <a:solidFill>
                  <a:srgbClr val="151312"/>
                </a:solidFill>
                <a:latin typeface="Georgia"/>
                <a:ea typeface="Georgia"/>
                <a:cs typeface="Georgia"/>
              </a:defRPr>
            </a:lvl6pPr>
            <a:lvl7pPr algn="l">
              <a:defRPr sz="2040" b="0">
                <a:solidFill>
                  <a:srgbClr val="151312"/>
                </a:solidFill>
                <a:latin typeface="Georgia"/>
                <a:ea typeface="Georgia"/>
                <a:cs typeface="Georgia"/>
              </a:defRPr>
            </a:lvl7pPr>
            <a:lvl8pPr algn="l">
              <a:defRPr sz="2040" b="0">
                <a:solidFill>
                  <a:srgbClr val="151312"/>
                </a:solidFill>
                <a:latin typeface="Georgia"/>
                <a:ea typeface="Georgia"/>
                <a:cs typeface="Georgia"/>
              </a:defRPr>
            </a:lvl8pPr>
            <a:lvl9pPr algn="l">
              <a:defRPr sz="2040" b="0">
                <a:solidFill>
                  <a:srgbClr val="151312"/>
                </a:solidFill>
                <a:latin typeface="Georgia"/>
                <a:ea typeface="Georgia"/>
                <a:cs typeface="Georgia"/>
              </a:defRPr>
            </a:lvl9pPr>
          </a:lstStyle>
          <a:p xmlns:a="http://schemas.openxmlformats.org/drawingml/2006/main">
            <a:pPr algn="l">
              <a:defRPr sz="2040" b="0">
                <a:solidFill>
                  <a:srgbClr val="151312"/>
                </a:solidFill>
                <a:latin typeface="Georgia"/>
                <a:ea typeface="Georgia"/>
                <a:cs typeface="Georgia"/>
              </a:defRPr>
            </a:pPr>
            <a:r>
              <a:rPr sz="2040" b="0">
                <a:solidFill>
                  <a:srgbClr val="151312"/>
                </a:solidFill>
                <a:latin typeface="Georgia"/>
                <a:ea typeface="Georgia"/>
                <a:cs typeface="Georgia"/>
              </a:rPr>
              <a:t>Conclusions and limits</a:t>
            </a:r>
          </a:p>
        </p:txBody>
      </p:sp>
      <p:sp>
        <p:nvSpPr>
          <p:cNvPr id="29" name="">
            <a:extLst xmlns:a="http://schemas.openxmlformats.org/drawingml/2006/main">
              <a:ext uri="{FF2B5EF4-FFF2-40B4-BE49-F238E27FC236}">
                <a16:creationId xmlns:a16="http://schemas.microsoft.com/office/drawing/2014/main" id="{4BB8FD3D-B977-42E4-B37D-211479CBDE1A}"/>
              </a:ext>
            </a:extLst>
          </p:cNvPr>
          <p:cNvSpPr>
            <a:spLocks xmlns:a="http://schemas.openxmlformats.org/drawingml/2006/main" noGrp="1"/>
          </p:cNvSpPr>
          <p:nvPr/>
        </p:nvSpPr>
        <p:spPr>
          <a:xfrm xmlns:a="http://schemas.openxmlformats.org/drawingml/2006/main">
            <a:off x="5486263" y="5321808"/>
            <a:ext cx="4724282"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What we found and what remains open</a:t>
            </a:r>
          </a:p>
        </p:txBody>
      </p:sp>
      <p:sp>
        <p:nvSpPr>
          <p:cNvPr id="30" name="">
            <a:extLst xmlns:a="http://schemas.openxmlformats.org/drawingml/2006/main">
              <a:ext uri="{FF2B5EF4-FFF2-40B4-BE49-F238E27FC236}">
                <a16:creationId xmlns:a16="http://schemas.microsoft.com/office/drawing/2014/main" id="{2AEA79FD-8F75-4EE4-AA52-3CAFC58F87B8}"/>
              </a:ext>
            </a:extLst>
          </p:cNvPr>
          <p:cNvSpPr>
            <a:spLocks xmlns:a="http://schemas.openxmlformats.org/drawingml/2006/main" noGrp="1"/>
          </p:cNvSpPr>
          <p:nvPr/>
        </p:nvSpPr>
        <p:spPr>
          <a:xfrm xmlns:a="http://schemas.openxmlformats.org/drawingml/2006/main">
            <a:off x="10286743" y="5321808"/>
            <a:ext cx="1295368"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1440" b="0">
                <a:solidFill>
                  <a:srgbClr val="55504A"/>
                </a:solidFill>
                <a:latin typeface="Arial"/>
                <a:ea typeface="Arial"/>
                <a:cs typeface="Arial"/>
              </a:defRPr>
            </a:defPPr>
            <a:lvl1pPr algn="r">
              <a:defRPr sz="1440" b="0">
                <a:solidFill>
                  <a:srgbClr val="55504A"/>
                </a:solidFill>
                <a:latin typeface="Arial"/>
                <a:ea typeface="Arial"/>
                <a:cs typeface="Arial"/>
              </a:defRPr>
            </a:lvl1pPr>
            <a:lvl2pPr algn="r">
              <a:defRPr sz="1440" b="0">
                <a:solidFill>
                  <a:srgbClr val="55504A"/>
                </a:solidFill>
                <a:latin typeface="Arial"/>
                <a:ea typeface="Arial"/>
                <a:cs typeface="Arial"/>
              </a:defRPr>
            </a:lvl2pPr>
            <a:lvl3pPr algn="r">
              <a:defRPr sz="1440" b="0">
                <a:solidFill>
                  <a:srgbClr val="55504A"/>
                </a:solidFill>
                <a:latin typeface="Arial"/>
                <a:ea typeface="Arial"/>
                <a:cs typeface="Arial"/>
              </a:defRPr>
            </a:lvl3pPr>
            <a:lvl4pPr algn="r">
              <a:defRPr sz="1440" b="0">
                <a:solidFill>
                  <a:srgbClr val="55504A"/>
                </a:solidFill>
                <a:latin typeface="Arial"/>
                <a:ea typeface="Arial"/>
                <a:cs typeface="Arial"/>
              </a:defRPr>
            </a:lvl4pPr>
            <a:lvl5pPr algn="r">
              <a:defRPr sz="1440" b="0">
                <a:solidFill>
                  <a:srgbClr val="55504A"/>
                </a:solidFill>
                <a:latin typeface="Arial"/>
                <a:ea typeface="Arial"/>
                <a:cs typeface="Arial"/>
              </a:defRPr>
            </a:lvl5pPr>
            <a:lvl6pPr algn="r">
              <a:defRPr sz="1440" b="0">
                <a:solidFill>
                  <a:srgbClr val="55504A"/>
                </a:solidFill>
                <a:latin typeface="Arial"/>
                <a:ea typeface="Arial"/>
                <a:cs typeface="Arial"/>
              </a:defRPr>
            </a:lvl6pPr>
            <a:lvl7pPr algn="r">
              <a:defRPr sz="1440" b="0">
                <a:solidFill>
                  <a:srgbClr val="55504A"/>
                </a:solidFill>
                <a:latin typeface="Arial"/>
                <a:ea typeface="Arial"/>
                <a:cs typeface="Arial"/>
              </a:defRPr>
            </a:lvl7pPr>
            <a:lvl8pPr algn="r">
              <a:defRPr sz="1440" b="0">
                <a:solidFill>
                  <a:srgbClr val="55504A"/>
                </a:solidFill>
                <a:latin typeface="Arial"/>
                <a:ea typeface="Arial"/>
                <a:cs typeface="Arial"/>
              </a:defRPr>
            </a:lvl8pPr>
            <a:lvl9pPr algn="r">
              <a:defRPr sz="1440" b="0">
                <a:solidFill>
                  <a:srgbClr val="55504A"/>
                </a:solidFill>
                <a:latin typeface="Arial"/>
                <a:ea typeface="Arial"/>
                <a:cs typeface="Arial"/>
              </a:defRPr>
            </a:lvl9pPr>
          </a:lstStyle>
          <a:p xmlns:a="http://schemas.openxmlformats.org/drawingml/2006/main">
            <a:pPr algn="r">
              <a:defRPr sz="1440" b="0">
                <a:solidFill>
                  <a:srgbClr val="55504A"/>
                </a:solidFill>
                <a:latin typeface="Arial"/>
                <a:ea typeface="Arial"/>
                <a:cs typeface="Arial"/>
              </a:defRPr>
            </a:pPr>
            <a:r>
              <a:rPr sz="1440" b="0">
                <a:solidFill>
                  <a:srgbClr val="55504A"/>
                </a:solidFill>
                <a:latin typeface="Arial"/>
                <a:ea typeface="Arial"/>
                <a:cs typeface="Arial"/>
              </a:rPr>
              <a:t>42–46</a:t>
            </a:r>
          </a:p>
        </p:txBody>
      </p:sp>
      <p:sp>
        <p:nvSpPr>
          <p:cNvPr id="31" name="">
            <a:extLst xmlns:a="http://schemas.openxmlformats.org/drawingml/2006/main">
              <a:ext uri="{FF2B5EF4-FFF2-40B4-BE49-F238E27FC236}">
                <a16:creationId xmlns:a16="http://schemas.microsoft.com/office/drawing/2014/main" id="{6D75252D-01DE-4366-904A-D8324B1FFA6F}"/>
              </a:ext>
            </a:extLst>
          </p:cNvPr>
          <p:cNvSpPr>
            <a:spLocks xmlns:a="http://schemas.openxmlformats.org/drawingml/2006/main" noGrp="1"/>
          </p:cNvSpPr>
          <p:nvPr/>
        </p:nvSpPr>
        <p:spPr>
          <a:xfrm xmlns:a="http://schemas.openxmlformats.org/drawingml/2006/main">
            <a:off x="609585" y="61722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Tree>
    <p:extLst>
      <p:ext uri="{BB962C8B-B14F-4D97-AF65-F5344CB8AC3E}">
        <p14:creationId xmlns:p14="http://schemas.microsoft.com/office/powerpoint/2010/main" val="1301729191"/>
      </p:ext>
    </p:extLst>
  </p:cSld>
</p:sld>
</file>

<file path=ppt/slides/slide3.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ADA4D19-5F4F-44F2-8EC8-873F0C2600DF}"/>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A749D312-2AE6-4B1F-9CC1-BA46A5568EC6}"/>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QUESTION AND DATA</a:t>
            </a:r>
          </a:p>
        </p:txBody>
      </p:sp>
      <p:sp>
        <p:nvSpPr>
          <p:cNvPr id="3" name="">
            <a:extLst xmlns:a="http://schemas.openxmlformats.org/drawingml/2006/main">
              <a:ext uri="{FF2B5EF4-FFF2-40B4-BE49-F238E27FC236}">
                <a16:creationId xmlns:a16="http://schemas.microsoft.com/office/drawing/2014/main" id="{30A8B5EB-C4E4-4B1F-BC67-61539DF4FF9A}"/>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3 / 46</a:t>
            </a:r>
          </a:p>
        </p:txBody>
      </p:sp>
      <p:sp>
        <p:nvSpPr>
          <p:cNvPr id="4" name="">
            <a:extLst xmlns:a="http://schemas.openxmlformats.org/drawingml/2006/main">
              <a:ext uri="{FF2B5EF4-FFF2-40B4-BE49-F238E27FC236}">
                <a16:creationId xmlns:a16="http://schemas.microsoft.com/office/drawing/2014/main" id="{46954B41-A4D0-498E-9BC8-7FC6DE42A234}"/>
              </a:ext>
            </a:extLst>
          </p:cNvPr>
          <p:cNvSpPr>
            <a:spLocks xmlns:a="http://schemas.openxmlformats.org/drawingml/2006/main" noGrp="1"/>
          </p:cNvSpPr>
          <p:nvPr/>
        </p:nvSpPr>
        <p:spPr>
          <a:xfrm xmlns:a="http://schemas.openxmlformats.org/drawingml/2006/main">
            <a:off x="609585" y="556260"/>
            <a:ext cx="10972526" cy="2286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267B9E2-F6DC-480D-80F3-12896437E0DF}"/>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The Fed moves Treasuries with words</a:t>
            </a:r>
          </a:p>
        </p:txBody>
      </p:sp>
      <p:sp>
        <p:nvSpPr>
          <p:cNvPr id="6" name="">
            <a:extLst xmlns:a="http://schemas.openxmlformats.org/drawingml/2006/main">
              <a:ext uri="{FF2B5EF4-FFF2-40B4-BE49-F238E27FC236}">
                <a16:creationId xmlns:a16="http://schemas.microsoft.com/office/drawing/2014/main" id="{E57E6873-BCC6-4916-997C-E1D5F53FCF25}"/>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So its tone might tell a bond portfolio how much duration to hold</a:t>
            </a:r>
          </a:p>
        </p:txBody>
      </p:sp>
      <p:sp>
        <p:nvSpPr>
          <p:cNvPr id="7" name="">
            <a:extLst xmlns:a="http://schemas.openxmlformats.org/drawingml/2006/main">
              <a:ext uri="{FF2B5EF4-FFF2-40B4-BE49-F238E27FC236}">
                <a16:creationId xmlns:a16="http://schemas.microsoft.com/office/drawing/2014/main" id="{D019C7DD-5AD9-4069-88D9-493816A47305}"/>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728D40F-8D8A-4E32-A3F3-A873B17667E5}"/>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FOMC statements of 21 Sep 2022 (+0.90) and 15 Mar 2020 (−0.95), scored by Claude; IEF and SHY durations from the backtest.</a:t>
            </a:r>
          </a:p>
        </p:txBody>
      </p:sp>
      <p:sp>
        <p:nvSpPr>
          <p:cNvPr id="9" name="">
            <a:extLst xmlns:a="http://schemas.openxmlformats.org/drawingml/2006/main">
              <a:ext uri="{FF2B5EF4-FFF2-40B4-BE49-F238E27FC236}">
                <a16:creationId xmlns:a16="http://schemas.microsoft.com/office/drawing/2014/main" id="{9FCE547F-8A02-4171-B40C-F93E73949F29}"/>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0C5DB9B-88C1-4B6D-99AC-E8A6F7DE0E00}"/>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5D9C1D5-E5D0-442D-9BB1-8BB047E83DEB}"/>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8EA2594-246E-430E-B8AE-B5EF1F51B7BF}"/>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970FD2E-D361-4CAB-AB12-7FF9C99C89D4}"/>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8C1EAE54-B43D-4ECD-BB57-30649A447048}"/>
              </a:ext>
            </a:extLst>
          </p:cNvPr>
          <p:cNvPicPr>
            <a:picLocks xmlns:a="http://schemas.openxmlformats.org/drawingml/2006/main" noChangeAspect="1"/>
          </p:cNvPicPr>
          <p:nvPr/>
        </p:nvPicPr>
        <p:blipFill>
          <a:blip xmlns:r="http://schemas.openxmlformats.org/officeDocument/2006/relationships" xmlns:a="http://schemas.openxmlformats.org/drawingml/2006/main" r:embed="R4485170dfb5b49ff"/>
          <a:stretch xmlns:a="http://schemas.openxmlformats.org/drawingml/2006/main"/>
        </p:blipFill>
        <p:spPr>
          <a:xfrm xmlns:a="http://schemas.openxmlformats.org/drawingml/2006/main">
            <a:off x="609585" y="1920293"/>
            <a:ext cx="10972526" cy="4251854"/>
          </a:xfrm>
          <a:prstGeom xmlns:a="http://schemas.openxmlformats.org/drawingml/2006/main" prst="rect">
            <a:avLst/>
          </a:prstGeom>
        </p:spPr>
      </p:pic>
    </p:spTree>
    <p:extLst>
      <p:ext uri="{BB962C8B-B14F-4D97-AF65-F5344CB8AC3E}">
        <p14:creationId xmlns:p14="http://schemas.microsoft.com/office/powerpoint/2010/main" val="705006644"/>
      </p:ext>
    </p:extLst>
  </p:cSld>
</p:sld>
</file>

<file path=ppt/slides/slide4.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5FAC9ED1-1198-4671-9C59-A93B2F472E62}"/>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2C925F28-854F-43C1-9BDE-91D0136677F9}"/>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QUESTION AND DATA</a:t>
            </a:r>
          </a:p>
        </p:txBody>
      </p:sp>
      <p:sp>
        <p:nvSpPr>
          <p:cNvPr id="3" name="">
            <a:extLst xmlns:a="http://schemas.openxmlformats.org/drawingml/2006/main">
              <a:ext uri="{FF2B5EF4-FFF2-40B4-BE49-F238E27FC236}">
                <a16:creationId xmlns:a16="http://schemas.microsoft.com/office/drawing/2014/main" id="{9EDBE4B2-4EE8-499C-9C8C-6B6F27755618}"/>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4 / 46</a:t>
            </a:r>
          </a:p>
        </p:txBody>
      </p:sp>
      <p:sp>
        <p:nvSpPr>
          <p:cNvPr id="4" name="">
            <a:extLst xmlns:a="http://schemas.openxmlformats.org/drawingml/2006/main">
              <a:ext uri="{FF2B5EF4-FFF2-40B4-BE49-F238E27FC236}">
                <a16:creationId xmlns:a16="http://schemas.microsoft.com/office/drawing/2014/main" id="{D0DB0FCA-5EB1-43A0-9ADC-E166CE217889}"/>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24CBFC7-EA32-4735-B5E7-D0E4D4D56D20}"/>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What the brief asks, and what we built</a:t>
            </a:r>
          </a:p>
        </p:txBody>
      </p:sp>
      <p:sp>
        <p:nvSpPr>
          <p:cNvPr id="6" name="">
            <a:extLst xmlns:a="http://schemas.openxmlformats.org/drawingml/2006/main">
              <a:ext uri="{FF2B5EF4-FFF2-40B4-BE49-F238E27FC236}">
                <a16:creationId xmlns:a16="http://schemas.microsoft.com/office/drawing/2014/main" id="{C3BBDA0D-C520-45CB-BBEB-4F678E681EA9}"/>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Topic 4: a central bank communication index and duration positioning</a:t>
            </a:r>
          </a:p>
        </p:txBody>
      </p:sp>
      <p:sp>
        <p:nvSpPr>
          <p:cNvPr id="7" name="">
            <a:extLst xmlns:a="http://schemas.openxmlformats.org/drawingml/2006/main">
              <a:ext uri="{FF2B5EF4-FFF2-40B4-BE49-F238E27FC236}">
                <a16:creationId xmlns:a16="http://schemas.microsoft.com/office/drawing/2014/main" id="{E46BE778-C08E-42A7-94C2-84BD4A529AA8}"/>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43EF086-E0E7-4564-BD2E-696029EE6B94}"/>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IEOR 4723 final project brief, Topic 4.</a:t>
            </a:r>
          </a:p>
        </p:txBody>
      </p:sp>
      <p:sp>
        <p:nvSpPr>
          <p:cNvPr id="9" name="">
            <a:extLst xmlns:a="http://schemas.openxmlformats.org/drawingml/2006/main">
              <a:ext uri="{FF2B5EF4-FFF2-40B4-BE49-F238E27FC236}">
                <a16:creationId xmlns:a16="http://schemas.microsoft.com/office/drawing/2014/main" id="{E682DA31-88B8-44BC-8872-80C2C2D0BD1D}"/>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8D8DD21-B287-405E-93E2-B7138817A249}"/>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4923C0E-A451-4B42-8E09-C537A56C245B}"/>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93A4FC6-0FE4-4719-9EEF-E007E8D5DC2B}"/>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34A3195-3C31-4FBA-BFF1-B81ED1619EB5}"/>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29FDD4B-8DFB-46B9-863A-77B48B52B89F}"/>
              </a:ext>
            </a:extLst>
          </p:cNvPr>
          <p:cNvSpPr>
            <a:spLocks xmlns:a="http://schemas.openxmlformats.org/drawingml/2006/main" noGrp="1"/>
          </p:cNvSpPr>
          <p:nvPr/>
        </p:nvSpPr>
        <p:spPr>
          <a:xfrm xmlns:a="http://schemas.openxmlformats.org/drawingml/2006/main">
            <a:off x="1097253" y="1920240"/>
            <a:ext cx="464808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00" b="1">
                <a:solidFill>
                  <a:srgbClr val="55504A"/>
                </a:solidFill>
                <a:latin typeface="Arial"/>
                <a:ea typeface="Arial"/>
                <a:cs typeface="Arial"/>
              </a:defRPr>
            </a:defPPr>
            <a:lvl1pPr algn="l">
              <a:defRPr sz="900" b="1">
                <a:solidFill>
                  <a:srgbClr val="55504A"/>
                </a:solidFill>
                <a:latin typeface="Arial"/>
                <a:ea typeface="Arial"/>
                <a:cs typeface="Arial"/>
              </a:defRPr>
            </a:lvl1pPr>
            <a:lvl2pPr algn="l">
              <a:defRPr sz="900" b="1">
                <a:solidFill>
                  <a:srgbClr val="55504A"/>
                </a:solidFill>
                <a:latin typeface="Arial"/>
                <a:ea typeface="Arial"/>
                <a:cs typeface="Arial"/>
              </a:defRPr>
            </a:lvl2pPr>
            <a:lvl3pPr algn="l">
              <a:defRPr sz="900" b="1">
                <a:solidFill>
                  <a:srgbClr val="55504A"/>
                </a:solidFill>
                <a:latin typeface="Arial"/>
                <a:ea typeface="Arial"/>
                <a:cs typeface="Arial"/>
              </a:defRPr>
            </a:lvl3pPr>
            <a:lvl4pPr algn="l">
              <a:defRPr sz="900" b="1">
                <a:solidFill>
                  <a:srgbClr val="55504A"/>
                </a:solidFill>
                <a:latin typeface="Arial"/>
                <a:ea typeface="Arial"/>
                <a:cs typeface="Arial"/>
              </a:defRPr>
            </a:lvl4pPr>
            <a:lvl5pPr algn="l">
              <a:defRPr sz="900" b="1">
                <a:solidFill>
                  <a:srgbClr val="55504A"/>
                </a:solidFill>
                <a:latin typeface="Arial"/>
                <a:ea typeface="Arial"/>
                <a:cs typeface="Arial"/>
              </a:defRPr>
            </a:lvl5pPr>
            <a:lvl6pPr algn="l">
              <a:defRPr sz="900" b="1">
                <a:solidFill>
                  <a:srgbClr val="55504A"/>
                </a:solidFill>
                <a:latin typeface="Arial"/>
                <a:ea typeface="Arial"/>
                <a:cs typeface="Arial"/>
              </a:defRPr>
            </a:lvl6pPr>
            <a:lvl7pPr algn="l">
              <a:defRPr sz="900" b="1">
                <a:solidFill>
                  <a:srgbClr val="55504A"/>
                </a:solidFill>
                <a:latin typeface="Arial"/>
                <a:ea typeface="Arial"/>
                <a:cs typeface="Arial"/>
              </a:defRPr>
            </a:lvl7pPr>
            <a:lvl8pPr algn="l">
              <a:defRPr sz="900" b="1">
                <a:solidFill>
                  <a:srgbClr val="55504A"/>
                </a:solidFill>
                <a:latin typeface="Arial"/>
                <a:ea typeface="Arial"/>
                <a:cs typeface="Arial"/>
              </a:defRPr>
            </a:lvl8pPr>
            <a:lvl9pPr algn="l">
              <a:defRPr sz="900" b="1">
                <a:solidFill>
                  <a:srgbClr val="55504A"/>
                </a:solidFill>
                <a:latin typeface="Arial"/>
                <a:ea typeface="Arial"/>
                <a:cs typeface="Arial"/>
              </a:defRPr>
            </a:lvl9pPr>
          </a:lstStyle>
          <a:p xmlns:a="http://schemas.openxmlformats.org/drawingml/2006/main">
            <a:pPr algn="l">
              <a:defRPr sz="900" b="1">
                <a:solidFill>
                  <a:srgbClr val="55504A"/>
                </a:solidFill>
                <a:latin typeface="Arial"/>
                <a:ea typeface="Arial"/>
                <a:cs typeface="Arial"/>
              </a:defRPr>
            </a:pPr>
            <a:r>
              <a:rPr sz="900" b="1">
                <a:solidFill>
                  <a:srgbClr val="55504A"/>
                </a:solidFill>
                <a:latin typeface="Arial"/>
                <a:ea typeface="Arial"/>
                <a:cs typeface="Arial"/>
              </a:rPr>
              <a:t>THE BRIEF ASKS FOR</a:t>
            </a:r>
          </a:p>
        </p:txBody>
      </p:sp>
      <p:sp>
        <p:nvSpPr>
          <p:cNvPr id="15" name="">
            <a:extLst xmlns:a="http://schemas.openxmlformats.org/drawingml/2006/main">
              <a:ext uri="{FF2B5EF4-FFF2-40B4-BE49-F238E27FC236}">
                <a16:creationId xmlns:a16="http://schemas.microsoft.com/office/drawing/2014/main" id="{71FD3633-0209-4F11-8911-34C1F0EAFAF7}"/>
              </a:ext>
            </a:extLst>
          </p:cNvPr>
          <p:cNvSpPr>
            <a:spLocks xmlns:a="http://schemas.openxmlformats.org/drawingml/2006/main" noGrp="1"/>
          </p:cNvSpPr>
          <p:nvPr/>
        </p:nvSpPr>
        <p:spPr>
          <a:xfrm xmlns:a="http://schemas.openxmlformats.org/drawingml/2006/main">
            <a:off x="6400640" y="1920240"/>
            <a:ext cx="518147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00" b="1">
                <a:solidFill>
                  <a:srgbClr val="55504A"/>
                </a:solidFill>
                <a:latin typeface="Arial"/>
                <a:ea typeface="Arial"/>
                <a:cs typeface="Arial"/>
              </a:defRPr>
            </a:defPPr>
            <a:lvl1pPr algn="l">
              <a:defRPr sz="900" b="1">
                <a:solidFill>
                  <a:srgbClr val="55504A"/>
                </a:solidFill>
                <a:latin typeface="Arial"/>
                <a:ea typeface="Arial"/>
                <a:cs typeface="Arial"/>
              </a:defRPr>
            </a:lvl1pPr>
            <a:lvl2pPr algn="l">
              <a:defRPr sz="900" b="1">
                <a:solidFill>
                  <a:srgbClr val="55504A"/>
                </a:solidFill>
                <a:latin typeface="Arial"/>
                <a:ea typeface="Arial"/>
                <a:cs typeface="Arial"/>
              </a:defRPr>
            </a:lvl2pPr>
            <a:lvl3pPr algn="l">
              <a:defRPr sz="900" b="1">
                <a:solidFill>
                  <a:srgbClr val="55504A"/>
                </a:solidFill>
                <a:latin typeface="Arial"/>
                <a:ea typeface="Arial"/>
                <a:cs typeface="Arial"/>
              </a:defRPr>
            </a:lvl3pPr>
            <a:lvl4pPr algn="l">
              <a:defRPr sz="900" b="1">
                <a:solidFill>
                  <a:srgbClr val="55504A"/>
                </a:solidFill>
                <a:latin typeface="Arial"/>
                <a:ea typeface="Arial"/>
                <a:cs typeface="Arial"/>
              </a:defRPr>
            </a:lvl4pPr>
            <a:lvl5pPr algn="l">
              <a:defRPr sz="900" b="1">
                <a:solidFill>
                  <a:srgbClr val="55504A"/>
                </a:solidFill>
                <a:latin typeface="Arial"/>
                <a:ea typeface="Arial"/>
                <a:cs typeface="Arial"/>
              </a:defRPr>
            </a:lvl5pPr>
            <a:lvl6pPr algn="l">
              <a:defRPr sz="900" b="1">
                <a:solidFill>
                  <a:srgbClr val="55504A"/>
                </a:solidFill>
                <a:latin typeface="Arial"/>
                <a:ea typeface="Arial"/>
                <a:cs typeface="Arial"/>
              </a:defRPr>
            </a:lvl6pPr>
            <a:lvl7pPr algn="l">
              <a:defRPr sz="900" b="1">
                <a:solidFill>
                  <a:srgbClr val="55504A"/>
                </a:solidFill>
                <a:latin typeface="Arial"/>
                <a:ea typeface="Arial"/>
                <a:cs typeface="Arial"/>
              </a:defRPr>
            </a:lvl7pPr>
            <a:lvl8pPr algn="l">
              <a:defRPr sz="900" b="1">
                <a:solidFill>
                  <a:srgbClr val="55504A"/>
                </a:solidFill>
                <a:latin typeface="Arial"/>
                <a:ea typeface="Arial"/>
                <a:cs typeface="Arial"/>
              </a:defRPr>
            </a:lvl8pPr>
            <a:lvl9pPr algn="l">
              <a:defRPr sz="900" b="1">
                <a:solidFill>
                  <a:srgbClr val="55504A"/>
                </a:solidFill>
                <a:latin typeface="Arial"/>
                <a:ea typeface="Arial"/>
                <a:cs typeface="Arial"/>
              </a:defRPr>
            </a:lvl9pPr>
          </a:lstStyle>
          <a:p xmlns:a="http://schemas.openxmlformats.org/drawingml/2006/main">
            <a:pPr algn="l">
              <a:defRPr sz="900" b="1">
                <a:solidFill>
                  <a:srgbClr val="55504A"/>
                </a:solidFill>
                <a:latin typeface="Arial"/>
                <a:ea typeface="Arial"/>
                <a:cs typeface="Arial"/>
              </a:defRPr>
            </a:pPr>
            <a:r>
              <a:rPr sz="900" b="1">
                <a:solidFill>
                  <a:srgbClr val="55504A"/>
                </a:solidFill>
                <a:latin typeface="Arial"/>
                <a:ea typeface="Arial"/>
                <a:cs typeface="Arial"/>
              </a:rPr>
              <a:t>WHAT WE BUILT</a:t>
            </a:r>
          </a:p>
        </p:txBody>
      </p:sp>
      <p:sp>
        <p:nvSpPr>
          <p:cNvPr id="16" name="">
            <a:extLst xmlns:a="http://schemas.openxmlformats.org/drawingml/2006/main">
              <a:ext uri="{FF2B5EF4-FFF2-40B4-BE49-F238E27FC236}">
                <a16:creationId xmlns:a16="http://schemas.microsoft.com/office/drawing/2014/main" id="{CD735225-9C0D-4F5E-BE7C-FA0A47DD3CCD}"/>
              </a:ext>
            </a:extLst>
          </p:cNvPr>
          <p:cNvSpPr>
            <a:spLocks xmlns:a="http://schemas.openxmlformats.org/drawingml/2006/main" noGrp="1"/>
          </p:cNvSpPr>
          <p:nvPr/>
        </p:nvSpPr>
        <p:spPr>
          <a:xfrm xmlns:a="http://schemas.openxmlformats.org/drawingml/2006/main">
            <a:off x="609585" y="233934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E696C92-172D-4248-A97A-6EC1C1564656}"/>
              </a:ext>
            </a:extLst>
          </p:cNvPr>
          <p:cNvSpPr>
            <a:spLocks xmlns:a="http://schemas.openxmlformats.org/drawingml/2006/main" noGrp="1"/>
          </p:cNvSpPr>
          <p:nvPr/>
        </p:nvSpPr>
        <p:spPr>
          <a:xfrm xmlns:a="http://schemas.openxmlformats.org/drawingml/2006/main">
            <a:off x="609585" y="2446020"/>
            <a:ext cx="320032" cy="583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1">
                <a:solidFill>
                  <a:srgbClr val="C8401F"/>
                </a:solidFill>
                <a:latin typeface="Arial"/>
                <a:ea typeface="Arial"/>
                <a:cs typeface="Arial"/>
              </a:defRPr>
            </a:defPPr>
            <a:lvl1pPr algn="l">
              <a:defRPr sz="1260" b="1">
                <a:solidFill>
                  <a:srgbClr val="C8401F"/>
                </a:solidFill>
                <a:latin typeface="Arial"/>
                <a:ea typeface="Arial"/>
                <a:cs typeface="Arial"/>
              </a:defRPr>
            </a:lvl1pPr>
            <a:lvl2pPr algn="l">
              <a:defRPr sz="1260" b="1">
                <a:solidFill>
                  <a:srgbClr val="C8401F"/>
                </a:solidFill>
                <a:latin typeface="Arial"/>
                <a:ea typeface="Arial"/>
                <a:cs typeface="Arial"/>
              </a:defRPr>
            </a:lvl2pPr>
            <a:lvl3pPr algn="l">
              <a:defRPr sz="1260" b="1">
                <a:solidFill>
                  <a:srgbClr val="C8401F"/>
                </a:solidFill>
                <a:latin typeface="Arial"/>
                <a:ea typeface="Arial"/>
                <a:cs typeface="Arial"/>
              </a:defRPr>
            </a:lvl3pPr>
            <a:lvl4pPr algn="l">
              <a:defRPr sz="1260" b="1">
                <a:solidFill>
                  <a:srgbClr val="C8401F"/>
                </a:solidFill>
                <a:latin typeface="Arial"/>
                <a:ea typeface="Arial"/>
                <a:cs typeface="Arial"/>
              </a:defRPr>
            </a:lvl4pPr>
            <a:lvl5pPr algn="l">
              <a:defRPr sz="1260" b="1">
                <a:solidFill>
                  <a:srgbClr val="C8401F"/>
                </a:solidFill>
                <a:latin typeface="Arial"/>
                <a:ea typeface="Arial"/>
                <a:cs typeface="Arial"/>
              </a:defRPr>
            </a:lvl5pPr>
            <a:lvl6pPr algn="l">
              <a:defRPr sz="1260" b="1">
                <a:solidFill>
                  <a:srgbClr val="C8401F"/>
                </a:solidFill>
                <a:latin typeface="Arial"/>
                <a:ea typeface="Arial"/>
                <a:cs typeface="Arial"/>
              </a:defRPr>
            </a:lvl6pPr>
            <a:lvl7pPr algn="l">
              <a:defRPr sz="1260" b="1">
                <a:solidFill>
                  <a:srgbClr val="C8401F"/>
                </a:solidFill>
                <a:latin typeface="Arial"/>
                <a:ea typeface="Arial"/>
                <a:cs typeface="Arial"/>
              </a:defRPr>
            </a:lvl7pPr>
            <a:lvl8pPr algn="l">
              <a:defRPr sz="1260" b="1">
                <a:solidFill>
                  <a:srgbClr val="C8401F"/>
                </a:solidFill>
                <a:latin typeface="Arial"/>
                <a:ea typeface="Arial"/>
                <a:cs typeface="Arial"/>
              </a:defRPr>
            </a:lvl8pPr>
            <a:lvl9pPr algn="l">
              <a:defRPr sz="1260" b="1">
                <a:solidFill>
                  <a:srgbClr val="C8401F"/>
                </a:solidFill>
                <a:latin typeface="Arial"/>
                <a:ea typeface="Arial"/>
                <a:cs typeface="Arial"/>
              </a:defRPr>
            </a:lvl9pPr>
          </a:lstStyle>
          <a:p xmlns:a="http://schemas.openxmlformats.org/drawingml/2006/main">
            <a:pPr algn="l">
              <a:defRPr sz="1260" b="1">
                <a:solidFill>
                  <a:srgbClr val="C8401F"/>
                </a:solidFill>
                <a:latin typeface="Arial"/>
                <a:ea typeface="Arial"/>
                <a:cs typeface="Arial"/>
              </a:defRPr>
            </a:pPr>
            <a:r>
              <a:rPr sz="1260" b="1">
                <a:solidFill>
                  <a:srgbClr val="C8401F"/>
                </a:solidFill>
                <a:latin typeface="Arial"/>
                <a:ea typeface="Arial"/>
                <a:cs typeface="Arial"/>
              </a:rPr>
              <a:t>01</a:t>
            </a:r>
          </a:p>
        </p:txBody>
      </p:sp>
      <p:sp>
        <p:nvSpPr>
          <p:cNvPr id="18" name="">
            <a:extLst xmlns:a="http://schemas.openxmlformats.org/drawingml/2006/main">
              <a:ext uri="{FF2B5EF4-FFF2-40B4-BE49-F238E27FC236}">
                <a16:creationId xmlns:a16="http://schemas.microsoft.com/office/drawing/2014/main" id="{CFC8DE19-38F7-4CD9-B840-7B71CAC4D926}"/>
              </a:ext>
            </a:extLst>
          </p:cNvPr>
          <p:cNvSpPr>
            <a:spLocks xmlns:a="http://schemas.openxmlformats.org/drawingml/2006/main" noGrp="1"/>
          </p:cNvSpPr>
          <p:nvPr/>
        </p:nvSpPr>
        <p:spPr>
          <a:xfrm xmlns:a="http://schemas.openxmlformats.org/drawingml/2006/main">
            <a:off x="1097253" y="2446020"/>
            <a:ext cx="4587125" cy="583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151312"/>
                </a:solidFill>
                <a:latin typeface="Arial"/>
                <a:ea typeface="Arial"/>
                <a:cs typeface="Arial"/>
              </a:defRPr>
            </a:defPPr>
            <a:lvl1pPr algn="l">
              <a:defRPr sz="1320" b="0">
                <a:solidFill>
                  <a:srgbClr val="151312"/>
                </a:solidFill>
                <a:latin typeface="Arial"/>
                <a:ea typeface="Arial"/>
                <a:cs typeface="Arial"/>
              </a:defRPr>
            </a:lvl1pPr>
            <a:lvl2pPr algn="l">
              <a:defRPr sz="1320" b="0">
                <a:solidFill>
                  <a:srgbClr val="151312"/>
                </a:solidFill>
                <a:latin typeface="Arial"/>
                <a:ea typeface="Arial"/>
                <a:cs typeface="Arial"/>
              </a:defRPr>
            </a:lvl2pPr>
            <a:lvl3pPr algn="l">
              <a:defRPr sz="1320" b="0">
                <a:solidFill>
                  <a:srgbClr val="151312"/>
                </a:solidFill>
                <a:latin typeface="Arial"/>
                <a:ea typeface="Arial"/>
                <a:cs typeface="Arial"/>
              </a:defRPr>
            </a:lvl3pPr>
            <a:lvl4pPr algn="l">
              <a:defRPr sz="1320" b="0">
                <a:solidFill>
                  <a:srgbClr val="151312"/>
                </a:solidFill>
                <a:latin typeface="Arial"/>
                <a:ea typeface="Arial"/>
                <a:cs typeface="Arial"/>
              </a:defRPr>
            </a:lvl4pPr>
            <a:lvl5pPr algn="l">
              <a:defRPr sz="1320" b="0">
                <a:solidFill>
                  <a:srgbClr val="151312"/>
                </a:solidFill>
                <a:latin typeface="Arial"/>
                <a:ea typeface="Arial"/>
                <a:cs typeface="Arial"/>
              </a:defRPr>
            </a:lvl5pPr>
            <a:lvl6pPr algn="l">
              <a:defRPr sz="1320" b="0">
                <a:solidFill>
                  <a:srgbClr val="151312"/>
                </a:solidFill>
                <a:latin typeface="Arial"/>
                <a:ea typeface="Arial"/>
                <a:cs typeface="Arial"/>
              </a:defRPr>
            </a:lvl6pPr>
            <a:lvl7pPr algn="l">
              <a:defRPr sz="1320" b="0">
                <a:solidFill>
                  <a:srgbClr val="151312"/>
                </a:solidFill>
                <a:latin typeface="Arial"/>
                <a:ea typeface="Arial"/>
                <a:cs typeface="Arial"/>
              </a:defRPr>
            </a:lvl7pPr>
            <a:lvl8pPr algn="l">
              <a:defRPr sz="1320" b="0">
                <a:solidFill>
                  <a:srgbClr val="151312"/>
                </a:solidFill>
                <a:latin typeface="Arial"/>
                <a:ea typeface="Arial"/>
                <a:cs typeface="Arial"/>
              </a:defRPr>
            </a:lvl8pPr>
            <a:lvl9pPr algn="l">
              <a:defRPr sz="1320" b="0">
                <a:solidFill>
                  <a:srgbClr val="151312"/>
                </a:solidFill>
                <a:latin typeface="Arial"/>
                <a:ea typeface="Arial"/>
                <a:cs typeface="Arial"/>
              </a:defRPr>
            </a:lvl9pPr>
          </a:lstStyle>
          <a:p xmlns:a="http://schemas.openxmlformats.org/drawingml/2006/main">
            <a:pPr algn="l">
              <a:defRPr sz="1320" b="0">
                <a:solidFill>
                  <a:srgbClr val="151312"/>
                </a:solidFill>
                <a:latin typeface="Arial"/>
                <a:ea typeface="Arial"/>
                <a:cs typeface="Arial"/>
              </a:defRPr>
            </a:pPr>
            <a:r>
              <a:rPr sz="1320" b="0">
                <a:solidFill>
                  <a:srgbClr val="151312"/>
                </a:solidFill>
                <a:latin typeface="Arial"/>
                <a:ea typeface="Arial"/>
                <a:cs typeface="Arial"/>
              </a:rPr>
              <a:t>A hawkish-dovish index from statements, minutes, press-conference transcripts and governor speeches</a:t>
            </a:r>
          </a:p>
        </p:txBody>
      </p:sp>
      <p:sp>
        <p:nvSpPr>
          <p:cNvPr id="19" name="">
            <a:extLst xmlns:a="http://schemas.openxmlformats.org/drawingml/2006/main">
              <a:ext uri="{FF2B5EF4-FFF2-40B4-BE49-F238E27FC236}">
                <a16:creationId xmlns:a16="http://schemas.microsoft.com/office/drawing/2014/main" id="{ACCF5FA7-7B0D-41BC-BAA6-D379849C448C}"/>
              </a:ext>
            </a:extLst>
          </p:cNvPr>
          <p:cNvSpPr>
            <a:spLocks xmlns:a="http://schemas.openxmlformats.org/drawingml/2006/main" noGrp="1"/>
          </p:cNvSpPr>
          <p:nvPr/>
        </p:nvSpPr>
        <p:spPr>
          <a:xfrm xmlns:a="http://schemas.openxmlformats.org/drawingml/2006/main">
            <a:off x="6400640" y="2446020"/>
            <a:ext cx="5181470" cy="583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1,509 documents from the Fed’s website since 2009, each stamped with its release minute</a:t>
            </a:r>
          </a:p>
        </p:txBody>
      </p:sp>
      <p:sp>
        <p:nvSpPr>
          <p:cNvPr id="20" name="">
            <a:extLst xmlns:a="http://schemas.openxmlformats.org/drawingml/2006/main">
              <a:ext uri="{FF2B5EF4-FFF2-40B4-BE49-F238E27FC236}">
                <a16:creationId xmlns:a16="http://schemas.microsoft.com/office/drawing/2014/main" id="{1DE995A1-B82A-4250-94E4-B58C0D68311C}"/>
              </a:ext>
            </a:extLst>
          </p:cNvPr>
          <p:cNvSpPr>
            <a:spLocks xmlns:a="http://schemas.openxmlformats.org/drawingml/2006/main" noGrp="1"/>
          </p:cNvSpPr>
          <p:nvPr/>
        </p:nvSpPr>
        <p:spPr>
          <a:xfrm xmlns:a="http://schemas.openxmlformats.org/drawingml/2006/main">
            <a:off x="609585" y="3105912"/>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22C88B8-DA35-48E3-B40D-6CFB8697CA83}"/>
              </a:ext>
            </a:extLst>
          </p:cNvPr>
          <p:cNvSpPr>
            <a:spLocks xmlns:a="http://schemas.openxmlformats.org/drawingml/2006/main" noGrp="1"/>
          </p:cNvSpPr>
          <p:nvPr/>
        </p:nvSpPr>
        <p:spPr>
          <a:xfrm xmlns:a="http://schemas.openxmlformats.org/drawingml/2006/main">
            <a:off x="609585" y="3212592"/>
            <a:ext cx="320032" cy="583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1">
                <a:solidFill>
                  <a:srgbClr val="C8401F"/>
                </a:solidFill>
                <a:latin typeface="Arial"/>
                <a:ea typeface="Arial"/>
                <a:cs typeface="Arial"/>
              </a:defRPr>
            </a:defPPr>
            <a:lvl1pPr algn="l">
              <a:defRPr sz="1260" b="1">
                <a:solidFill>
                  <a:srgbClr val="C8401F"/>
                </a:solidFill>
                <a:latin typeface="Arial"/>
                <a:ea typeface="Arial"/>
                <a:cs typeface="Arial"/>
              </a:defRPr>
            </a:lvl1pPr>
            <a:lvl2pPr algn="l">
              <a:defRPr sz="1260" b="1">
                <a:solidFill>
                  <a:srgbClr val="C8401F"/>
                </a:solidFill>
                <a:latin typeface="Arial"/>
                <a:ea typeface="Arial"/>
                <a:cs typeface="Arial"/>
              </a:defRPr>
            </a:lvl2pPr>
            <a:lvl3pPr algn="l">
              <a:defRPr sz="1260" b="1">
                <a:solidFill>
                  <a:srgbClr val="C8401F"/>
                </a:solidFill>
                <a:latin typeface="Arial"/>
                <a:ea typeface="Arial"/>
                <a:cs typeface="Arial"/>
              </a:defRPr>
            </a:lvl3pPr>
            <a:lvl4pPr algn="l">
              <a:defRPr sz="1260" b="1">
                <a:solidFill>
                  <a:srgbClr val="C8401F"/>
                </a:solidFill>
                <a:latin typeface="Arial"/>
                <a:ea typeface="Arial"/>
                <a:cs typeface="Arial"/>
              </a:defRPr>
            </a:lvl4pPr>
            <a:lvl5pPr algn="l">
              <a:defRPr sz="1260" b="1">
                <a:solidFill>
                  <a:srgbClr val="C8401F"/>
                </a:solidFill>
                <a:latin typeface="Arial"/>
                <a:ea typeface="Arial"/>
                <a:cs typeface="Arial"/>
              </a:defRPr>
            </a:lvl5pPr>
            <a:lvl6pPr algn="l">
              <a:defRPr sz="1260" b="1">
                <a:solidFill>
                  <a:srgbClr val="C8401F"/>
                </a:solidFill>
                <a:latin typeface="Arial"/>
                <a:ea typeface="Arial"/>
                <a:cs typeface="Arial"/>
              </a:defRPr>
            </a:lvl6pPr>
            <a:lvl7pPr algn="l">
              <a:defRPr sz="1260" b="1">
                <a:solidFill>
                  <a:srgbClr val="C8401F"/>
                </a:solidFill>
                <a:latin typeface="Arial"/>
                <a:ea typeface="Arial"/>
                <a:cs typeface="Arial"/>
              </a:defRPr>
            </a:lvl7pPr>
            <a:lvl8pPr algn="l">
              <a:defRPr sz="1260" b="1">
                <a:solidFill>
                  <a:srgbClr val="C8401F"/>
                </a:solidFill>
                <a:latin typeface="Arial"/>
                <a:ea typeface="Arial"/>
                <a:cs typeface="Arial"/>
              </a:defRPr>
            </a:lvl8pPr>
            <a:lvl9pPr algn="l">
              <a:defRPr sz="1260" b="1">
                <a:solidFill>
                  <a:srgbClr val="C8401F"/>
                </a:solidFill>
                <a:latin typeface="Arial"/>
                <a:ea typeface="Arial"/>
                <a:cs typeface="Arial"/>
              </a:defRPr>
            </a:lvl9pPr>
          </a:lstStyle>
          <a:p xmlns:a="http://schemas.openxmlformats.org/drawingml/2006/main">
            <a:pPr algn="l">
              <a:defRPr sz="1260" b="1">
                <a:solidFill>
                  <a:srgbClr val="C8401F"/>
                </a:solidFill>
                <a:latin typeface="Arial"/>
                <a:ea typeface="Arial"/>
                <a:cs typeface="Arial"/>
              </a:defRPr>
            </a:pPr>
            <a:r>
              <a:rPr sz="1260" b="1">
                <a:solidFill>
                  <a:srgbClr val="C8401F"/>
                </a:solidFill>
                <a:latin typeface="Arial"/>
                <a:ea typeface="Arial"/>
                <a:cs typeface="Arial"/>
              </a:rPr>
              <a:t>02</a:t>
            </a:r>
          </a:p>
        </p:txBody>
      </p:sp>
      <p:sp>
        <p:nvSpPr>
          <p:cNvPr id="22" name="">
            <a:extLst xmlns:a="http://schemas.openxmlformats.org/drawingml/2006/main">
              <a:ext uri="{FF2B5EF4-FFF2-40B4-BE49-F238E27FC236}">
                <a16:creationId xmlns:a16="http://schemas.microsoft.com/office/drawing/2014/main" id="{4B4F46B5-1791-4125-B57E-19CB474B29A2}"/>
              </a:ext>
            </a:extLst>
          </p:cNvPr>
          <p:cNvSpPr>
            <a:spLocks xmlns:a="http://schemas.openxmlformats.org/drawingml/2006/main" noGrp="1"/>
          </p:cNvSpPr>
          <p:nvPr/>
        </p:nvSpPr>
        <p:spPr>
          <a:xfrm xmlns:a="http://schemas.openxmlformats.org/drawingml/2006/main">
            <a:off x="1097253" y="3212592"/>
            <a:ext cx="4587125" cy="583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151312"/>
                </a:solidFill>
                <a:latin typeface="Arial"/>
                <a:ea typeface="Arial"/>
                <a:cs typeface="Arial"/>
              </a:defRPr>
            </a:defPPr>
            <a:lvl1pPr algn="l">
              <a:defRPr sz="1320" b="0">
                <a:solidFill>
                  <a:srgbClr val="151312"/>
                </a:solidFill>
                <a:latin typeface="Arial"/>
                <a:ea typeface="Arial"/>
                <a:cs typeface="Arial"/>
              </a:defRPr>
            </a:lvl1pPr>
            <a:lvl2pPr algn="l">
              <a:defRPr sz="1320" b="0">
                <a:solidFill>
                  <a:srgbClr val="151312"/>
                </a:solidFill>
                <a:latin typeface="Arial"/>
                <a:ea typeface="Arial"/>
                <a:cs typeface="Arial"/>
              </a:defRPr>
            </a:lvl2pPr>
            <a:lvl3pPr algn="l">
              <a:defRPr sz="1320" b="0">
                <a:solidFill>
                  <a:srgbClr val="151312"/>
                </a:solidFill>
                <a:latin typeface="Arial"/>
                <a:ea typeface="Arial"/>
                <a:cs typeface="Arial"/>
              </a:defRPr>
            </a:lvl3pPr>
            <a:lvl4pPr algn="l">
              <a:defRPr sz="1320" b="0">
                <a:solidFill>
                  <a:srgbClr val="151312"/>
                </a:solidFill>
                <a:latin typeface="Arial"/>
                <a:ea typeface="Arial"/>
                <a:cs typeface="Arial"/>
              </a:defRPr>
            </a:lvl4pPr>
            <a:lvl5pPr algn="l">
              <a:defRPr sz="1320" b="0">
                <a:solidFill>
                  <a:srgbClr val="151312"/>
                </a:solidFill>
                <a:latin typeface="Arial"/>
                <a:ea typeface="Arial"/>
                <a:cs typeface="Arial"/>
              </a:defRPr>
            </a:lvl5pPr>
            <a:lvl6pPr algn="l">
              <a:defRPr sz="1320" b="0">
                <a:solidFill>
                  <a:srgbClr val="151312"/>
                </a:solidFill>
                <a:latin typeface="Arial"/>
                <a:ea typeface="Arial"/>
                <a:cs typeface="Arial"/>
              </a:defRPr>
            </a:lvl6pPr>
            <a:lvl7pPr algn="l">
              <a:defRPr sz="1320" b="0">
                <a:solidFill>
                  <a:srgbClr val="151312"/>
                </a:solidFill>
                <a:latin typeface="Arial"/>
                <a:ea typeface="Arial"/>
                <a:cs typeface="Arial"/>
              </a:defRPr>
            </a:lvl7pPr>
            <a:lvl8pPr algn="l">
              <a:defRPr sz="1320" b="0">
                <a:solidFill>
                  <a:srgbClr val="151312"/>
                </a:solidFill>
                <a:latin typeface="Arial"/>
                <a:ea typeface="Arial"/>
                <a:cs typeface="Arial"/>
              </a:defRPr>
            </a:lvl8pPr>
            <a:lvl9pPr algn="l">
              <a:defRPr sz="1320" b="0">
                <a:solidFill>
                  <a:srgbClr val="151312"/>
                </a:solidFill>
                <a:latin typeface="Arial"/>
                <a:ea typeface="Arial"/>
                <a:cs typeface="Arial"/>
              </a:defRPr>
            </a:lvl9pPr>
          </a:lstStyle>
          <a:p xmlns:a="http://schemas.openxmlformats.org/drawingml/2006/main">
            <a:pPr algn="l">
              <a:defRPr sz="1320" b="0">
                <a:solidFill>
                  <a:srgbClr val="151312"/>
                </a:solidFill>
                <a:latin typeface="Arial"/>
                <a:ea typeface="Arial"/>
                <a:cs typeface="Arial"/>
              </a:defRPr>
            </a:pPr>
            <a:r>
              <a:rPr sz="1320" b="0">
                <a:solidFill>
                  <a:srgbClr val="151312"/>
                </a:solidFill>
                <a:latin typeface="Arial"/>
                <a:ea typeface="Arial"/>
                <a:cs typeface="Arial"/>
              </a:rPr>
              <a:t>Claude scores each document on a defined rubric with evidence spans</a:t>
            </a:r>
          </a:p>
        </p:txBody>
      </p:sp>
      <p:sp>
        <p:nvSpPr>
          <p:cNvPr id="23" name="">
            <a:extLst xmlns:a="http://schemas.openxmlformats.org/drawingml/2006/main">
              <a:ext uri="{FF2B5EF4-FFF2-40B4-BE49-F238E27FC236}">
                <a16:creationId xmlns:a16="http://schemas.microsoft.com/office/drawing/2014/main" id="{E110734A-6B8E-453A-9DAB-2961F165C90A}"/>
              </a:ext>
            </a:extLst>
          </p:cNvPr>
          <p:cNvSpPr>
            <a:spLocks xmlns:a="http://schemas.openxmlformats.org/drawingml/2006/main" noGrp="1"/>
          </p:cNvSpPr>
          <p:nvPr/>
        </p:nvSpPr>
        <p:spPr>
          <a:xfrm xmlns:a="http://schemas.openxmlformats.org/drawingml/2006/main">
            <a:off x="6400640" y="3212592"/>
            <a:ext cx="5181470" cy="583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Rubric v1: six policy dimensions and a stance from −1 to +1; mean document evidence-match share 99.96%</a:t>
            </a:r>
          </a:p>
        </p:txBody>
      </p:sp>
      <p:sp>
        <p:nvSpPr>
          <p:cNvPr id="24" name="">
            <a:extLst xmlns:a="http://schemas.openxmlformats.org/drawingml/2006/main">
              <a:ext uri="{FF2B5EF4-FFF2-40B4-BE49-F238E27FC236}">
                <a16:creationId xmlns:a16="http://schemas.microsoft.com/office/drawing/2014/main" id="{E7550899-EF72-4862-959F-1AAF49F5ED60}"/>
              </a:ext>
            </a:extLst>
          </p:cNvPr>
          <p:cNvSpPr>
            <a:spLocks xmlns:a="http://schemas.openxmlformats.org/drawingml/2006/main" noGrp="1"/>
          </p:cNvSpPr>
          <p:nvPr/>
        </p:nvSpPr>
        <p:spPr>
          <a:xfrm xmlns:a="http://schemas.openxmlformats.org/drawingml/2006/main">
            <a:off x="609585" y="3872484"/>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3836318-2766-4D1B-97FA-8C0B41CDC9DC}"/>
              </a:ext>
            </a:extLst>
          </p:cNvPr>
          <p:cNvSpPr>
            <a:spLocks xmlns:a="http://schemas.openxmlformats.org/drawingml/2006/main" noGrp="1"/>
          </p:cNvSpPr>
          <p:nvPr/>
        </p:nvSpPr>
        <p:spPr>
          <a:xfrm xmlns:a="http://schemas.openxmlformats.org/drawingml/2006/main">
            <a:off x="609585" y="3979164"/>
            <a:ext cx="320032" cy="583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1">
                <a:solidFill>
                  <a:srgbClr val="C8401F"/>
                </a:solidFill>
                <a:latin typeface="Arial"/>
                <a:ea typeface="Arial"/>
                <a:cs typeface="Arial"/>
              </a:defRPr>
            </a:defPPr>
            <a:lvl1pPr algn="l">
              <a:defRPr sz="1260" b="1">
                <a:solidFill>
                  <a:srgbClr val="C8401F"/>
                </a:solidFill>
                <a:latin typeface="Arial"/>
                <a:ea typeface="Arial"/>
                <a:cs typeface="Arial"/>
              </a:defRPr>
            </a:lvl1pPr>
            <a:lvl2pPr algn="l">
              <a:defRPr sz="1260" b="1">
                <a:solidFill>
                  <a:srgbClr val="C8401F"/>
                </a:solidFill>
                <a:latin typeface="Arial"/>
                <a:ea typeface="Arial"/>
                <a:cs typeface="Arial"/>
              </a:defRPr>
            </a:lvl2pPr>
            <a:lvl3pPr algn="l">
              <a:defRPr sz="1260" b="1">
                <a:solidFill>
                  <a:srgbClr val="C8401F"/>
                </a:solidFill>
                <a:latin typeface="Arial"/>
                <a:ea typeface="Arial"/>
                <a:cs typeface="Arial"/>
              </a:defRPr>
            </a:lvl3pPr>
            <a:lvl4pPr algn="l">
              <a:defRPr sz="1260" b="1">
                <a:solidFill>
                  <a:srgbClr val="C8401F"/>
                </a:solidFill>
                <a:latin typeface="Arial"/>
                <a:ea typeface="Arial"/>
                <a:cs typeface="Arial"/>
              </a:defRPr>
            </a:lvl4pPr>
            <a:lvl5pPr algn="l">
              <a:defRPr sz="1260" b="1">
                <a:solidFill>
                  <a:srgbClr val="C8401F"/>
                </a:solidFill>
                <a:latin typeface="Arial"/>
                <a:ea typeface="Arial"/>
                <a:cs typeface="Arial"/>
              </a:defRPr>
            </a:lvl5pPr>
            <a:lvl6pPr algn="l">
              <a:defRPr sz="1260" b="1">
                <a:solidFill>
                  <a:srgbClr val="C8401F"/>
                </a:solidFill>
                <a:latin typeface="Arial"/>
                <a:ea typeface="Arial"/>
                <a:cs typeface="Arial"/>
              </a:defRPr>
            </a:lvl6pPr>
            <a:lvl7pPr algn="l">
              <a:defRPr sz="1260" b="1">
                <a:solidFill>
                  <a:srgbClr val="C8401F"/>
                </a:solidFill>
                <a:latin typeface="Arial"/>
                <a:ea typeface="Arial"/>
                <a:cs typeface="Arial"/>
              </a:defRPr>
            </a:lvl7pPr>
            <a:lvl8pPr algn="l">
              <a:defRPr sz="1260" b="1">
                <a:solidFill>
                  <a:srgbClr val="C8401F"/>
                </a:solidFill>
                <a:latin typeface="Arial"/>
                <a:ea typeface="Arial"/>
                <a:cs typeface="Arial"/>
              </a:defRPr>
            </a:lvl8pPr>
            <a:lvl9pPr algn="l">
              <a:defRPr sz="1260" b="1">
                <a:solidFill>
                  <a:srgbClr val="C8401F"/>
                </a:solidFill>
                <a:latin typeface="Arial"/>
                <a:ea typeface="Arial"/>
                <a:cs typeface="Arial"/>
              </a:defRPr>
            </a:lvl9pPr>
          </a:lstStyle>
          <a:p xmlns:a="http://schemas.openxmlformats.org/drawingml/2006/main">
            <a:pPr algn="l">
              <a:defRPr sz="1260" b="1">
                <a:solidFill>
                  <a:srgbClr val="C8401F"/>
                </a:solidFill>
                <a:latin typeface="Arial"/>
                <a:ea typeface="Arial"/>
                <a:cs typeface="Arial"/>
              </a:defRPr>
            </a:pPr>
            <a:r>
              <a:rPr sz="1260" b="1">
                <a:solidFill>
                  <a:srgbClr val="C8401F"/>
                </a:solidFill>
                <a:latin typeface="Arial"/>
                <a:ea typeface="Arial"/>
                <a:cs typeface="Arial"/>
              </a:rPr>
              <a:t>03</a:t>
            </a:r>
          </a:p>
        </p:txBody>
      </p:sp>
      <p:sp>
        <p:nvSpPr>
          <p:cNvPr id="26" name="">
            <a:extLst xmlns:a="http://schemas.openxmlformats.org/drawingml/2006/main">
              <a:ext uri="{FF2B5EF4-FFF2-40B4-BE49-F238E27FC236}">
                <a16:creationId xmlns:a16="http://schemas.microsoft.com/office/drawing/2014/main" id="{801D4E3E-5DD3-42C7-8CD6-3DAA61382DA3}"/>
              </a:ext>
            </a:extLst>
          </p:cNvPr>
          <p:cNvSpPr>
            <a:spLocks xmlns:a="http://schemas.openxmlformats.org/drawingml/2006/main" noGrp="1"/>
          </p:cNvSpPr>
          <p:nvPr/>
        </p:nvSpPr>
        <p:spPr>
          <a:xfrm xmlns:a="http://schemas.openxmlformats.org/drawingml/2006/main">
            <a:off x="1097253" y="3979164"/>
            <a:ext cx="4587125" cy="583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151312"/>
                </a:solidFill>
                <a:latin typeface="Arial"/>
                <a:ea typeface="Arial"/>
                <a:cs typeface="Arial"/>
              </a:defRPr>
            </a:defPPr>
            <a:lvl1pPr algn="l">
              <a:defRPr sz="1320" b="0">
                <a:solidFill>
                  <a:srgbClr val="151312"/>
                </a:solidFill>
                <a:latin typeface="Arial"/>
                <a:ea typeface="Arial"/>
                <a:cs typeface="Arial"/>
              </a:defRPr>
            </a:lvl1pPr>
            <a:lvl2pPr algn="l">
              <a:defRPr sz="1320" b="0">
                <a:solidFill>
                  <a:srgbClr val="151312"/>
                </a:solidFill>
                <a:latin typeface="Arial"/>
                <a:ea typeface="Arial"/>
                <a:cs typeface="Arial"/>
              </a:defRPr>
            </a:lvl2pPr>
            <a:lvl3pPr algn="l">
              <a:defRPr sz="1320" b="0">
                <a:solidFill>
                  <a:srgbClr val="151312"/>
                </a:solidFill>
                <a:latin typeface="Arial"/>
                <a:ea typeface="Arial"/>
                <a:cs typeface="Arial"/>
              </a:defRPr>
            </a:lvl3pPr>
            <a:lvl4pPr algn="l">
              <a:defRPr sz="1320" b="0">
                <a:solidFill>
                  <a:srgbClr val="151312"/>
                </a:solidFill>
                <a:latin typeface="Arial"/>
                <a:ea typeface="Arial"/>
                <a:cs typeface="Arial"/>
              </a:defRPr>
            </a:lvl4pPr>
            <a:lvl5pPr algn="l">
              <a:defRPr sz="1320" b="0">
                <a:solidFill>
                  <a:srgbClr val="151312"/>
                </a:solidFill>
                <a:latin typeface="Arial"/>
                <a:ea typeface="Arial"/>
                <a:cs typeface="Arial"/>
              </a:defRPr>
            </a:lvl5pPr>
            <a:lvl6pPr algn="l">
              <a:defRPr sz="1320" b="0">
                <a:solidFill>
                  <a:srgbClr val="151312"/>
                </a:solidFill>
                <a:latin typeface="Arial"/>
                <a:ea typeface="Arial"/>
                <a:cs typeface="Arial"/>
              </a:defRPr>
            </a:lvl6pPr>
            <a:lvl7pPr algn="l">
              <a:defRPr sz="1320" b="0">
                <a:solidFill>
                  <a:srgbClr val="151312"/>
                </a:solidFill>
                <a:latin typeface="Arial"/>
                <a:ea typeface="Arial"/>
                <a:cs typeface="Arial"/>
              </a:defRPr>
            </a:lvl7pPr>
            <a:lvl8pPr algn="l">
              <a:defRPr sz="1320" b="0">
                <a:solidFill>
                  <a:srgbClr val="151312"/>
                </a:solidFill>
                <a:latin typeface="Arial"/>
                <a:ea typeface="Arial"/>
                <a:cs typeface="Arial"/>
              </a:defRPr>
            </a:lvl8pPr>
            <a:lvl9pPr algn="l">
              <a:defRPr sz="1320" b="0">
                <a:solidFill>
                  <a:srgbClr val="151312"/>
                </a:solidFill>
                <a:latin typeface="Arial"/>
                <a:ea typeface="Arial"/>
                <a:cs typeface="Arial"/>
              </a:defRPr>
            </a:lvl9pPr>
          </a:lstStyle>
          <a:p xmlns:a="http://schemas.openxmlformats.org/drawingml/2006/main">
            <a:pPr algn="l">
              <a:defRPr sz="1320" b="0">
                <a:solidFill>
                  <a:srgbClr val="151312"/>
                </a:solidFill>
                <a:latin typeface="Arial"/>
                <a:ea typeface="Arial"/>
                <a:cs typeface="Arial"/>
              </a:defRPr>
            </a:pPr>
            <a:r>
              <a:rPr sz="1320" b="0">
                <a:solidFill>
                  <a:srgbClr val="151312"/>
                </a:solidFill>
                <a:latin typeface="Arial"/>
                <a:ea typeface="Arial"/>
                <a:cs typeface="Arial"/>
              </a:rPr>
              <a:t>Compared with simpler baselines: dictionary methods and sentence-level embeddings</a:t>
            </a:r>
          </a:p>
        </p:txBody>
      </p:sp>
      <p:sp>
        <p:nvSpPr>
          <p:cNvPr id="27" name="">
            <a:extLst xmlns:a="http://schemas.openxmlformats.org/drawingml/2006/main">
              <a:ext uri="{FF2B5EF4-FFF2-40B4-BE49-F238E27FC236}">
                <a16:creationId xmlns:a16="http://schemas.microsoft.com/office/drawing/2014/main" id="{5D9A51EA-F2E7-4BC0-B04A-FEB42F4A1912}"/>
              </a:ext>
            </a:extLst>
          </p:cNvPr>
          <p:cNvSpPr>
            <a:spLocks xmlns:a="http://schemas.openxmlformats.org/drawingml/2006/main" noGrp="1"/>
          </p:cNvSpPr>
          <p:nvPr/>
        </p:nvSpPr>
        <p:spPr>
          <a:xfrm xmlns:a="http://schemas.openxmlformats.org/drawingml/2006/main">
            <a:off x="6400640" y="3979164"/>
            <a:ext cx="5181470" cy="583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Dictionary, TF-IDF classifier and MiniLM sentence embeddings, judged on the same human labels</a:t>
            </a:r>
          </a:p>
        </p:txBody>
      </p:sp>
      <p:sp>
        <p:nvSpPr>
          <p:cNvPr id="28" name="">
            <a:extLst xmlns:a="http://schemas.openxmlformats.org/drawingml/2006/main">
              <a:ext uri="{FF2B5EF4-FFF2-40B4-BE49-F238E27FC236}">
                <a16:creationId xmlns:a16="http://schemas.microsoft.com/office/drawing/2014/main" id="{BA740EDC-EED6-4402-9B86-D80755A9BDB1}"/>
              </a:ext>
            </a:extLst>
          </p:cNvPr>
          <p:cNvSpPr>
            <a:spLocks xmlns:a="http://schemas.openxmlformats.org/drawingml/2006/main" noGrp="1"/>
          </p:cNvSpPr>
          <p:nvPr/>
        </p:nvSpPr>
        <p:spPr>
          <a:xfrm xmlns:a="http://schemas.openxmlformats.org/drawingml/2006/main">
            <a:off x="609585" y="4639056"/>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0FA9DBF-8A5B-49B8-92EE-BBC61C397D78}"/>
              </a:ext>
            </a:extLst>
          </p:cNvPr>
          <p:cNvSpPr>
            <a:spLocks xmlns:a="http://schemas.openxmlformats.org/drawingml/2006/main" noGrp="1"/>
          </p:cNvSpPr>
          <p:nvPr/>
        </p:nvSpPr>
        <p:spPr>
          <a:xfrm xmlns:a="http://schemas.openxmlformats.org/drawingml/2006/main">
            <a:off x="609585" y="4745736"/>
            <a:ext cx="320032" cy="583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1">
                <a:solidFill>
                  <a:srgbClr val="C8401F"/>
                </a:solidFill>
                <a:latin typeface="Arial"/>
                <a:ea typeface="Arial"/>
                <a:cs typeface="Arial"/>
              </a:defRPr>
            </a:defPPr>
            <a:lvl1pPr algn="l">
              <a:defRPr sz="1260" b="1">
                <a:solidFill>
                  <a:srgbClr val="C8401F"/>
                </a:solidFill>
                <a:latin typeface="Arial"/>
                <a:ea typeface="Arial"/>
                <a:cs typeface="Arial"/>
              </a:defRPr>
            </a:lvl1pPr>
            <a:lvl2pPr algn="l">
              <a:defRPr sz="1260" b="1">
                <a:solidFill>
                  <a:srgbClr val="C8401F"/>
                </a:solidFill>
                <a:latin typeface="Arial"/>
                <a:ea typeface="Arial"/>
                <a:cs typeface="Arial"/>
              </a:defRPr>
            </a:lvl2pPr>
            <a:lvl3pPr algn="l">
              <a:defRPr sz="1260" b="1">
                <a:solidFill>
                  <a:srgbClr val="C8401F"/>
                </a:solidFill>
                <a:latin typeface="Arial"/>
                <a:ea typeface="Arial"/>
                <a:cs typeface="Arial"/>
              </a:defRPr>
            </a:lvl3pPr>
            <a:lvl4pPr algn="l">
              <a:defRPr sz="1260" b="1">
                <a:solidFill>
                  <a:srgbClr val="C8401F"/>
                </a:solidFill>
                <a:latin typeface="Arial"/>
                <a:ea typeface="Arial"/>
                <a:cs typeface="Arial"/>
              </a:defRPr>
            </a:lvl4pPr>
            <a:lvl5pPr algn="l">
              <a:defRPr sz="1260" b="1">
                <a:solidFill>
                  <a:srgbClr val="C8401F"/>
                </a:solidFill>
                <a:latin typeface="Arial"/>
                <a:ea typeface="Arial"/>
                <a:cs typeface="Arial"/>
              </a:defRPr>
            </a:lvl5pPr>
            <a:lvl6pPr algn="l">
              <a:defRPr sz="1260" b="1">
                <a:solidFill>
                  <a:srgbClr val="C8401F"/>
                </a:solidFill>
                <a:latin typeface="Arial"/>
                <a:ea typeface="Arial"/>
                <a:cs typeface="Arial"/>
              </a:defRPr>
            </a:lvl6pPr>
            <a:lvl7pPr algn="l">
              <a:defRPr sz="1260" b="1">
                <a:solidFill>
                  <a:srgbClr val="C8401F"/>
                </a:solidFill>
                <a:latin typeface="Arial"/>
                <a:ea typeface="Arial"/>
                <a:cs typeface="Arial"/>
              </a:defRPr>
            </a:lvl7pPr>
            <a:lvl8pPr algn="l">
              <a:defRPr sz="1260" b="1">
                <a:solidFill>
                  <a:srgbClr val="C8401F"/>
                </a:solidFill>
                <a:latin typeface="Arial"/>
                <a:ea typeface="Arial"/>
                <a:cs typeface="Arial"/>
              </a:defRPr>
            </a:lvl8pPr>
            <a:lvl9pPr algn="l">
              <a:defRPr sz="1260" b="1">
                <a:solidFill>
                  <a:srgbClr val="C8401F"/>
                </a:solidFill>
                <a:latin typeface="Arial"/>
                <a:ea typeface="Arial"/>
                <a:cs typeface="Arial"/>
              </a:defRPr>
            </a:lvl9pPr>
          </a:lstStyle>
          <a:p xmlns:a="http://schemas.openxmlformats.org/drawingml/2006/main">
            <a:pPr algn="l">
              <a:defRPr sz="1260" b="1">
                <a:solidFill>
                  <a:srgbClr val="C8401F"/>
                </a:solidFill>
                <a:latin typeface="Arial"/>
                <a:ea typeface="Arial"/>
                <a:cs typeface="Arial"/>
              </a:defRPr>
            </a:pPr>
            <a:r>
              <a:rPr sz="1260" b="1">
                <a:solidFill>
                  <a:srgbClr val="C8401F"/>
                </a:solidFill>
                <a:latin typeface="Arial"/>
                <a:ea typeface="Arial"/>
                <a:cs typeface="Arial"/>
              </a:rPr>
              <a:t>04</a:t>
            </a:r>
          </a:p>
        </p:txBody>
      </p:sp>
      <p:sp>
        <p:nvSpPr>
          <p:cNvPr id="30" name="">
            <a:extLst xmlns:a="http://schemas.openxmlformats.org/drawingml/2006/main">
              <a:ext uri="{FF2B5EF4-FFF2-40B4-BE49-F238E27FC236}">
                <a16:creationId xmlns:a16="http://schemas.microsoft.com/office/drawing/2014/main" id="{BAA6CD0D-9078-42AC-B8E8-B04C97D319E8}"/>
              </a:ext>
            </a:extLst>
          </p:cNvPr>
          <p:cNvSpPr>
            <a:spLocks xmlns:a="http://schemas.openxmlformats.org/drawingml/2006/main" noGrp="1"/>
          </p:cNvSpPr>
          <p:nvPr/>
        </p:nvSpPr>
        <p:spPr>
          <a:xfrm xmlns:a="http://schemas.openxmlformats.org/drawingml/2006/main">
            <a:off x="1097253" y="4745736"/>
            <a:ext cx="4587125" cy="583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151312"/>
                </a:solidFill>
                <a:latin typeface="Arial"/>
                <a:ea typeface="Arial"/>
                <a:cs typeface="Arial"/>
              </a:defRPr>
            </a:defPPr>
            <a:lvl1pPr algn="l">
              <a:defRPr sz="1320" b="0">
                <a:solidFill>
                  <a:srgbClr val="151312"/>
                </a:solidFill>
                <a:latin typeface="Arial"/>
                <a:ea typeface="Arial"/>
                <a:cs typeface="Arial"/>
              </a:defRPr>
            </a:lvl1pPr>
            <a:lvl2pPr algn="l">
              <a:defRPr sz="1320" b="0">
                <a:solidFill>
                  <a:srgbClr val="151312"/>
                </a:solidFill>
                <a:latin typeface="Arial"/>
                <a:ea typeface="Arial"/>
                <a:cs typeface="Arial"/>
              </a:defRPr>
            </a:lvl2pPr>
            <a:lvl3pPr algn="l">
              <a:defRPr sz="1320" b="0">
                <a:solidFill>
                  <a:srgbClr val="151312"/>
                </a:solidFill>
                <a:latin typeface="Arial"/>
                <a:ea typeface="Arial"/>
                <a:cs typeface="Arial"/>
              </a:defRPr>
            </a:lvl3pPr>
            <a:lvl4pPr algn="l">
              <a:defRPr sz="1320" b="0">
                <a:solidFill>
                  <a:srgbClr val="151312"/>
                </a:solidFill>
                <a:latin typeface="Arial"/>
                <a:ea typeface="Arial"/>
                <a:cs typeface="Arial"/>
              </a:defRPr>
            </a:lvl4pPr>
            <a:lvl5pPr algn="l">
              <a:defRPr sz="1320" b="0">
                <a:solidFill>
                  <a:srgbClr val="151312"/>
                </a:solidFill>
                <a:latin typeface="Arial"/>
                <a:ea typeface="Arial"/>
                <a:cs typeface="Arial"/>
              </a:defRPr>
            </a:lvl5pPr>
            <a:lvl6pPr algn="l">
              <a:defRPr sz="1320" b="0">
                <a:solidFill>
                  <a:srgbClr val="151312"/>
                </a:solidFill>
                <a:latin typeface="Arial"/>
                <a:ea typeface="Arial"/>
                <a:cs typeface="Arial"/>
              </a:defRPr>
            </a:lvl6pPr>
            <a:lvl7pPr algn="l">
              <a:defRPr sz="1320" b="0">
                <a:solidFill>
                  <a:srgbClr val="151312"/>
                </a:solidFill>
                <a:latin typeface="Arial"/>
                <a:ea typeface="Arial"/>
                <a:cs typeface="Arial"/>
              </a:defRPr>
            </a:lvl7pPr>
            <a:lvl8pPr algn="l">
              <a:defRPr sz="1320" b="0">
                <a:solidFill>
                  <a:srgbClr val="151312"/>
                </a:solidFill>
                <a:latin typeface="Arial"/>
                <a:ea typeface="Arial"/>
                <a:cs typeface="Arial"/>
              </a:defRPr>
            </a:lvl8pPr>
            <a:lvl9pPr algn="l">
              <a:defRPr sz="1320" b="0">
                <a:solidFill>
                  <a:srgbClr val="151312"/>
                </a:solidFill>
                <a:latin typeface="Arial"/>
                <a:ea typeface="Arial"/>
                <a:cs typeface="Arial"/>
              </a:defRPr>
            </a:lvl9pPr>
          </a:lstStyle>
          <a:p xmlns:a="http://schemas.openxmlformats.org/drawingml/2006/main">
            <a:pPr algn="l">
              <a:defRPr sz="1320" b="0">
                <a:solidFill>
                  <a:srgbClr val="151312"/>
                </a:solidFill>
                <a:latin typeface="Arial"/>
                <a:ea typeface="Arial"/>
                <a:cs typeface="Arial"/>
              </a:defRPr>
            </a:pPr>
            <a:r>
              <a:rPr sz="1320" b="0">
                <a:solidFill>
                  <a:srgbClr val="151312"/>
                </a:solidFill>
                <a:latin typeface="Arial"/>
                <a:ea typeface="Arial"/>
                <a:cs typeface="Arial"/>
              </a:rPr>
              <a:t>Tested against subsequent Treasury yield changes from FRED across the curve</a:t>
            </a:r>
          </a:p>
        </p:txBody>
      </p:sp>
      <p:sp>
        <p:nvSpPr>
          <p:cNvPr id="31" name="">
            <a:extLst xmlns:a="http://schemas.openxmlformats.org/drawingml/2006/main">
              <a:ext uri="{FF2B5EF4-FFF2-40B4-BE49-F238E27FC236}">
                <a16:creationId xmlns:a16="http://schemas.microsoft.com/office/drawing/2014/main" id="{BACBA4C5-79BE-4B41-8CB3-F155B1A0A31B}"/>
              </a:ext>
            </a:extLst>
          </p:cNvPr>
          <p:cNvSpPr>
            <a:spLocks xmlns:a="http://schemas.openxmlformats.org/drawingml/2006/main" noGrp="1"/>
          </p:cNvSpPr>
          <p:nvPr/>
        </p:nvSpPr>
        <p:spPr>
          <a:xfrm xmlns:a="http://schemas.openxmlformats.org/drawingml/2006/main">
            <a:off x="6400640" y="4745736"/>
            <a:ext cx="5181470" cy="583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6717"/>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3-month to 30-year yields and the 2s10s slope over each release window; FRED first, the Treasury par curve it republishes as fallback (used this run)</a:t>
            </a:r>
          </a:p>
        </p:txBody>
      </p:sp>
      <p:sp>
        <p:nvSpPr>
          <p:cNvPr id="32" name="">
            <a:extLst xmlns:a="http://schemas.openxmlformats.org/drawingml/2006/main">
              <a:ext uri="{FF2B5EF4-FFF2-40B4-BE49-F238E27FC236}">
                <a16:creationId xmlns:a16="http://schemas.microsoft.com/office/drawing/2014/main" id="{585E40FB-95AB-4DCB-84C3-B7069B9905AF}"/>
              </a:ext>
            </a:extLst>
          </p:cNvPr>
          <p:cNvSpPr>
            <a:spLocks xmlns:a="http://schemas.openxmlformats.org/drawingml/2006/main" noGrp="1"/>
          </p:cNvSpPr>
          <p:nvPr/>
        </p:nvSpPr>
        <p:spPr>
          <a:xfrm xmlns:a="http://schemas.openxmlformats.org/drawingml/2006/main">
            <a:off x="609585" y="5405628"/>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9CFE224-3629-426F-B078-6316D5A37681}"/>
              </a:ext>
            </a:extLst>
          </p:cNvPr>
          <p:cNvSpPr>
            <a:spLocks xmlns:a="http://schemas.openxmlformats.org/drawingml/2006/main" noGrp="1"/>
          </p:cNvSpPr>
          <p:nvPr/>
        </p:nvSpPr>
        <p:spPr>
          <a:xfrm xmlns:a="http://schemas.openxmlformats.org/drawingml/2006/main">
            <a:off x="609585" y="5512308"/>
            <a:ext cx="320032" cy="583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1">
                <a:solidFill>
                  <a:srgbClr val="C8401F"/>
                </a:solidFill>
                <a:latin typeface="Arial"/>
                <a:ea typeface="Arial"/>
                <a:cs typeface="Arial"/>
              </a:defRPr>
            </a:defPPr>
            <a:lvl1pPr algn="l">
              <a:defRPr sz="1260" b="1">
                <a:solidFill>
                  <a:srgbClr val="C8401F"/>
                </a:solidFill>
                <a:latin typeface="Arial"/>
                <a:ea typeface="Arial"/>
                <a:cs typeface="Arial"/>
              </a:defRPr>
            </a:lvl1pPr>
            <a:lvl2pPr algn="l">
              <a:defRPr sz="1260" b="1">
                <a:solidFill>
                  <a:srgbClr val="C8401F"/>
                </a:solidFill>
                <a:latin typeface="Arial"/>
                <a:ea typeface="Arial"/>
                <a:cs typeface="Arial"/>
              </a:defRPr>
            </a:lvl2pPr>
            <a:lvl3pPr algn="l">
              <a:defRPr sz="1260" b="1">
                <a:solidFill>
                  <a:srgbClr val="C8401F"/>
                </a:solidFill>
                <a:latin typeface="Arial"/>
                <a:ea typeface="Arial"/>
                <a:cs typeface="Arial"/>
              </a:defRPr>
            </a:lvl3pPr>
            <a:lvl4pPr algn="l">
              <a:defRPr sz="1260" b="1">
                <a:solidFill>
                  <a:srgbClr val="C8401F"/>
                </a:solidFill>
                <a:latin typeface="Arial"/>
                <a:ea typeface="Arial"/>
                <a:cs typeface="Arial"/>
              </a:defRPr>
            </a:lvl4pPr>
            <a:lvl5pPr algn="l">
              <a:defRPr sz="1260" b="1">
                <a:solidFill>
                  <a:srgbClr val="C8401F"/>
                </a:solidFill>
                <a:latin typeface="Arial"/>
                <a:ea typeface="Arial"/>
                <a:cs typeface="Arial"/>
              </a:defRPr>
            </a:lvl5pPr>
            <a:lvl6pPr algn="l">
              <a:defRPr sz="1260" b="1">
                <a:solidFill>
                  <a:srgbClr val="C8401F"/>
                </a:solidFill>
                <a:latin typeface="Arial"/>
                <a:ea typeface="Arial"/>
                <a:cs typeface="Arial"/>
              </a:defRPr>
            </a:lvl6pPr>
            <a:lvl7pPr algn="l">
              <a:defRPr sz="1260" b="1">
                <a:solidFill>
                  <a:srgbClr val="C8401F"/>
                </a:solidFill>
                <a:latin typeface="Arial"/>
                <a:ea typeface="Arial"/>
                <a:cs typeface="Arial"/>
              </a:defRPr>
            </a:lvl7pPr>
            <a:lvl8pPr algn="l">
              <a:defRPr sz="1260" b="1">
                <a:solidFill>
                  <a:srgbClr val="C8401F"/>
                </a:solidFill>
                <a:latin typeface="Arial"/>
                <a:ea typeface="Arial"/>
                <a:cs typeface="Arial"/>
              </a:defRPr>
            </a:lvl8pPr>
            <a:lvl9pPr algn="l">
              <a:defRPr sz="1260" b="1">
                <a:solidFill>
                  <a:srgbClr val="C8401F"/>
                </a:solidFill>
                <a:latin typeface="Arial"/>
                <a:ea typeface="Arial"/>
                <a:cs typeface="Arial"/>
              </a:defRPr>
            </a:lvl9pPr>
          </a:lstStyle>
          <a:p xmlns:a="http://schemas.openxmlformats.org/drawingml/2006/main">
            <a:pPr algn="l">
              <a:defRPr sz="1260" b="1">
                <a:solidFill>
                  <a:srgbClr val="C8401F"/>
                </a:solidFill>
                <a:latin typeface="Arial"/>
                <a:ea typeface="Arial"/>
                <a:cs typeface="Arial"/>
              </a:defRPr>
            </a:pPr>
            <a:r>
              <a:rPr sz="1260" b="1">
                <a:solidFill>
                  <a:srgbClr val="C8401F"/>
                </a:solidFill>
                <a:latin typeface="Arial"/>
                <a:ea typeface="Arial"/>
                <a:cs typeface="Arial"/>
              </a:rPr>
              <a:t>05</a:t>
            </a:r>
          </a:p>
        </p:txBody>
      </p:sp>
      <p:sp>
        <p:nvSpPr>
          <p:cNvPr id="34" name="">
            <a:extLst xmlns:a="http://schemas.openxmlformats.org/drawingml/2006/main">
              <a:ext uri="{FF2B5EF4-FFF2-40B4-BE49-F238E27FC236}">
                <a16:creationId xmlns:a16="http://schemas.microsoft.com/office/drawing/2014/main" id="{F206BBDA-8FD8-4687-8FBC-96EF2029B279}"/>
              </a:ext>
            </a:extLst>
          </p:cNvPr>
          <p:cNvSpPr>
            <a:spLocks xmlns:a="http://schemas.openxmlformats.org/drawingml/2006/main" noGrp="1"/>
          </p:cNvSpPr>
          <p:nvPr/>
        </p:nvSpPr>
        <p:spPr>
          <a:xfrm xmlns:a="http://schemas.openxmlformats.org/drawingml/2006/main">
            <a:off x="1097253" y="5512308"/>
            <a:ext cx="4587125" cy="583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151312"/>
                </a:solidFill>
                <a:latin typeface="Arial"/>
                <a:ea typeface="Arial"/>
                <a:cs typeface="Arial"/>
              </a:defRPr>
            </a:defPPr>
            <a:lvl1pPr algn="l">
              <a:defRPr sz="1320" b="0">
                <a:solidFill>
                  <a:srgbClr val="151312"/>
                </a:solidFill>
                <a:latin typeface="Arial"/>
                <a:ea typeface="Arial"/>
                <a:cs typeface="Arial"/>
              </a:defRPr>
            </a:lvl1pPr>
            <a:lvl2pPr algn="l">
              <a:defRPr sz="1320" b="0">
                <a:solidFill>
                  <a:srgbClr val="151312"/>
                </a:solidFill>
                <a:latin typeface="Arial"/>
                <a:ea typeface="Arial"/>
                <a:cs typeface="Arial"/>
              </a:defRPr>
            </a:lvl2pPr>
            <a:lvl3pPr algn="l">
              <a:defRPr sz="1320" b="0">
                <a:solidFill>
                  <a:srgbClr val="151312"/>
                </a:solidFill>
                <a:latin typeface="Arial"/>
                <a:ea typeface="Arial"/>
                <a:cs typeface="Arial"/>
              </a:defRPr>
            </a:lvl3pPr>
            <a:lvl4pPr algn="l">
              <a:defRPr sz="1320" b="0">
                <a:solidFill>
                  <a:srgbClr val="151312"/>
                </a:solidFill>
                <a:latin typeface="Arial"/>
                <a:ea typeface="Arial"/>
                <a:cs typeface="Arial"/>
              </a:defRPr>
            </a:lvl4pPr>
            <a:lvl5pPr algn="l">
              <a:defRPr sz="1320" b="0">
                <a:solidFill>
                  <a:srgbClr val="151312"/>
                </a:solidFill>
                <a:latin typeface="Arial"/>
                <a:ea typeface="Arial"/>
                <a:cs typeface="Arial"/>
              </a:defRPr>
            </a:lvl5pPr>
            <a:lvl6pPr algn="l">
              <a:defRPr sz="1320" b="0">
                <a:solidFill>
                  <a:srgbClr val="151312"/>
                </a:solidFill>
                <a:latin typeface="Arial"/>
                <a:ea typeface="Arial"/>
                <a:cs typeface="Arial"/>
              </a:defRPr>
            </a:lvl6pPr>
            <a:lvl7pPr algn="l">
              <a:defRPr sz="1320" b="0">
                <a:solidFill>
                  <a:srgbClr val="151312"/>
                </a:solidFill>
                <a:latin typeface="Arial"/>
                <a:ea typeface="Arial"/>
                <a:cs typeface="Arial"/>
              </a:defRPr>
            </a:lvl7pPr>
            <a:lvl8pPr algn="l">
              <a:defRPr sz="1320" b="0">
                <a:solidFill>
                  <a:srgbClr val="151312"/>
                </a:solidFill>
                <a:latin typeface="Arial"/>
                <a:ea typeface="Arial"/>
                <a:cs typeface="Arial"/>
              </a:defRPr>
            </a:lvl8pPr>
            <a:lvl9pPr algn="l">
              <a:defRPr sz="1320" b="0">
                <a:solidFill>
                  <a:srgbClr val="151312"/>
                </a:solidFill>
                <a:latin typeface="Arial"/>
                <a:ea typeface="Arial"/>
                <a:cs typeface="Arial"/>
              </a:defRPr>
            </a:lvl9pPr>
          </a:lstStyle>
          <a:p xmlns:a="http://schemas.openxmlformats.org/drawingml/2006/main">
            <a:pPr algn="l">
              <a:defRPr sz="1320" b="0">
                <a:solidFill>
                  <a:srgbClr val="151312"/>
                </a:solidFill>
                <a:latin typeface="Arial"/>
                <a:ea typeface="Arial"/>
                <a:cs typeface="Arial"/>
              </a:defRPr>
            </a:pPr>
            <a:r>
              <a:rPr sz="1320" b="0">
                <a:solidFill>
                  <a:srgbClr val="151312"/>
                </a:solidFill>
                <a:latin typeface="Arial"/>
                <a:ea typeface="Arial"/>
                <a:cs typeface="Arial"/>
              </a:rPr>
              <a:t>A duration tilt in a Treasury or aggregate-bond portfolio, respecting that statements are priced within minutes</a:t>
            </a:r>
          </a:p>
        </p:txBody>
      </p:sp>
      <p:sp>
        <p:nvSpPr>
          <p:cNvPr id="35" name="">
            <a:extLst xmlns:a="http://schemas.openxmlformats.org/drawingml/2006/main">
              <a:ext uri="{FF2B5EF4-FFF2-40B4-BE49-F238E27FC236}">
                <a16:creationId xmlns:a16="http://schemas.microsoft.com/office/drawing/2014/main" id="{2BCCB1AB-76A1-4793-9B05-0CF113E5F79F}"/>
              </a:ext>
            </a:extLst>
          </p:cNvPr>
          <p:cNvSpPr>
            <a:spLocks xmlns:a="http://schemas.openxmlformats.org/drawingml/2006/main" noGrp="1"/>
          </p:cNvSpPr>
          <p:nvPr/>
        </p:nvSpPr>
        <p:spPr>
          <a:xfrm xmlns:a="http://schemas.openxmlformats.org/drawingml/2006/main">
            <a:off x="6400640" y="5512308"/>
            <a:ext cx="5181470" cy="583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IEF against SHY, applied to AGG and IEI; entry the day after release; minutes, speeches and statement-to-statement shifts</a:t>
            </a:r>
          </a:p>
        </p:txBody>
      </p:sp>
    </p:spTree>
    <p:extLst>
      <p:ext uri="{BB962C8B-B14F-4D97-AF65-F5344CB8AC3E}">
        <p14:creationId xmlns:p14="http://schemas.microsoft.com/office/powerpoint/2010/main" val="1735842816"/>
      </p:ext>
    </p:extLst>
  </p:cSld>
</p:sld>
</file>

<file path=ppt/slides/slide5.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CF12492-6326-4E9E-96C8-6D3D7F606177}"/>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FBC1F095-0A20-4166-99A2-337AD3EF7ABE}"/>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QUESTION AND DATA</a:t>
            </a:r>
          </a:p>
        </p:txBody>
      </p:sp>
      <p:sp>
        <p:nvSpPr>
          <p:cNvPr id="3" name="">
            <a:extLst xmlns:a="http://schemas.openxmlformats.org/drawingml/2006/main">
              <a:ext uri="{FF2B5EF4-FFF2-40B4-BE49-F238E27FC236}">
                <a16:creationId xmlns:a16="http://schemas.microsoft.com/office/drawing/2014/main" id="{16242F6D-E1AD-4A2E-ABD2-3E52F78D4C7F}"/>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5 / 46</a:t>
            </a:r>
          </a:p>
        </p:txBody>
      </p:sp>
      <p:sp>
        <p:nvSpPr>
          <p:cNvPr id="4" name="">
            <a:extLst xmlns:a="http://schemas.openxmlformats.org/drawingml/2006/main">
              <a:ext uri="{FF2B5EF4-FFF2-40B4-BE49-F238E27FC236}">
                <a16:creationId xmlns:a16="http://schemas.microsoft.com/office/drawing/2014/main" id="{062C1DF5-5A9D-469F-B860-F867AE0C67FB}"/>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8BBA98C-3817-4213-820E-D6FA22EC2EF5}"/>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What we learned in the course, and how we used it</a:t>
            </a:r>
          </a:p>
        </p:txBody>
      </p:sp>
      <p:sp>
        <p:nvSpPr>
          <p:cNvPr id="6" name="">
            <a:extLst xmlns:a="http://schemas.openxmlformats.org/drawingml/2006/main">
              <a:ext uri="{FF2B5EF4-FFF2-40B4-BE49-F238E27FC236}">
                <a16:creationId xmlns:a16="http://schemas.microsoft.com/office/drawing/2014/main" id="{E6C7C410-FB1A-4B04-80EF-24121F191708}"/>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Six lessons from the lectures, each put to work in this project</a:t>
            </a:r>
          </a:p>
        </p:txBody>
      </p:sp>
      <p:sp>
        <p:nvSpPr>
          <p:cNvPr id="7" name="">
            <a:extLst xmlns:a="http://schemas.openxmlformats.org/drawingml/2006/main">
              <a:ext uri="{FF2B5EF4-FFF2-40B4-BE49-F238E27FC236}">
                <a16:creationId xmlns:a16="http://schemas.microsoft.com/office/drawing/2014/main" id="{3A46D165-3B70-4474-81D8-CB4F28AD91D9}"/>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B15BEB6-D39E-419D-89F5-8C351DF01DD2}"/>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IEOR 4723 Sessions 1 to 4 and the Topic 4 brief; page references in docs/COURSE_ALIGNMENT.md.</a:t>
            </a:r>
          </a:p>
        </p:txBody>
      </p:sp>
      <p:sp>
        <p:nvSpPr>
          <p:cNvPr id="9" name="">
            <a:extLst xmlns:a="http://schemas.openxmlformats.org/drawingml/2006/main">
              <a:ext uri="{FF2B5EF4-FFF2-40B4-BE49-F238E27FC236}">
                <a16:creationId xmlns:a16="http://schemas.microsoft.com/office/drawing/2014/main" id="{BE25B63E-7069-496C-A3E5-8A3D3E34F909}"/>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8E60DC8-9906-46BD-AC40-C9D60C839C16}"/>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E9724C1-0342-4AB0-9949-1F4A65895678}"/>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6088340-DF5E-49AE-B777-415DAB885117}"/>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2B3FED4-15EB-425C-ABA6-54170F45FF7A}"/>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graphicFrame>
        <p:nvGraphicFramePr>
          <p:cNvPr id="14" name="">
            <a:extLst xmlns:a="http://schemas.openxmlformats.org/drawingml/2006/main">
              <a:ext uri="{FF2B5EF4-FFF2-40B4-BE49-F238E27FC236}">
                <a16:creationId xmlns:a16="http://schemas.microsoft.com/office/drawing/2014/main" id="{32C987E8-01A4-47F4-91EC-BD71A5141442}"/>
              </a:ext>
            </a:extLst>
          </p:cNvPr>
          <p:cNvGraphicFramePr/>
          <p:nvPr/>
        </p:nvGraphicFramePr>
        <p:xfrm>
          <a:off xmlns:a="http://schemas.openxmlformats.org/drawingml/2006/main" x="609585" y="1920240"/>
          <a:ext xmlns:a="http://schemas.openxmlformats.org/drawingml/2006/main" cx="10972526" cy="4251960"/>
        </p:xfrm>
        <a:graphic xmlns:a="http://schemas.openxmlformats.org/drawingml/2006/main">
          <a:graphicData uri="http://schemas.openxmlformats.org/drawingml/2006/table">
            <a:tbl>
              <a:tblPr/>
              <a:tblGrid>
                <a:gridCol w="4571886"/>
                <a:gridCol w="6400640"/>
              </a:tblGrid>
              <a:tr h="472440">
                <a:tc>
                  <a:txBody>
                    <a:bodyPr/>
                    <a:lstStyle/>
                    <a:p>
                      <a:pPr algn="l"/>
                      <a:r>
                        <a:rPr sz="1080" b="1">
                          <a:solidFill>
                            <a:srgbClr val="151312"/>
                          </a:solidFill>
                          <a:latin typeface="Arial"/>
                          <a:ea typeface="Arial"/>
                          <a:cs typeface="Arial"/>
                        </a:rPr>
                        <a:t>What we learned</a:t>
                      </a:r>
                    </a:p>
                  </a:txBody>
                  <a:tcPr marL="91440" marR="91440" marT="45720" marB="45720" anchor="ctr">
                    <a:lnL w="0">
                      <a:noFill/>
                    </a:lnL>
                    <a:lnR w="0">
                      <a:noFill/>
                    </a:lnR>
                    <a:lnT w="0">
                      <a:noFill/>
                    </a:lnT>
                    <a:lnB w="0">
                      <a:noFill/>
                    </a:lnB>
                    <a:solidFill>
                      <a:srgbClr val="F3F0E9"/>
                    </a:solidFill>
                  </a:tcPr>
                </a:tc>
                <a:tc>
                  <a:txBody>
                    <a:bodyPr/>
                    <a:lstStyle/>
                    <a:p>
                      <a:pPr algn="l"/>
                      <a:r>
                        <a:rPr sz="1080" b="1">
                          <a:solidFill>
                            <a:srgbClr val="151312"/>
                          </a:solidFill>
                          <a:latin typeface="Arial"/>
                          <a:ea typeface="Arial"/>
                          <a:cs typeface="Arial"/>
                        </a:rPr>
                        <a:t>How we applied it</a:t>
                      </a:r>
                    </a:p>
                  </a:txBody>
                  <a:tcPr marL="91440" marR="91440" marT="45720" marB="45720" anchor="ctr">
                    <a:lnR w="0">
                      <a:noFill/>
                    </a:lnR>
                    <a:lnT w="0">
                      <a:noFill/>
                    </a:lnT>
                    <a:lnB w="0">
                      <a:noFill/>
                    </a:lnB>
                    <a:solidFill>
                      <a:srgbClr val="F3F0E9"/>
                    </a:solidFill>
                  </a:tcPr>
                </a:tc>
              </a:tr>
              <a:tr h="629920">
                <a:tc>
                  <a:txBody>
                    <a:bodyPr/>
                    <a:lstStyle/>
                    <a:p>
                      <a:pPr algn="l"/>
                      <a:r>
                        <a:rPr sz="1440" b="1">
                          <a:solidFill>
                            <a:srgbClr val="45413C"/>
                          </a:solidFill>
                          <a:latin typeface="Arial"/>
                          <a:ea typeface="Arial"/>
                          <a:cs typeface="Arial"/>
                        </a:rPr>
                        <a:t>A prompt has a ceiling; training on labeled data can go further</a:t>
                      </a:r>
                    </a:p>
                  </a:txBody>
                  <a:tcPr marL="91440" marR="91440" marT="45720" marB="45720" anchor="ctr">
                    <a:lnL w="0">
                      <a:noFill/>
                    </a:lnL>
                    <a:lnR w="0">
                      <a:noFill/>
                    </a:lnR>
                    <a:lnB w="0">
                      <a:noFill/>
                    </a:lnB>
                    <a:solidFill>
                      <a:srgbClr val="FFFEFB"/>
                    </a:solidFill>
                  </a:tcPr>
                </a:tc>
                <a:tc>
                  <a:txBody>
                    <a:bodyPr/>
                    <a:lstStyle/>
                    <a:p>
                      <a:pPr algn="l"/>
                      <a:r>
                        <a:rPr sz="1440" b="0">
                          <a:solidFill>
                            <a:srgbClr val="45413C"/>
                          </a:solidFill>
                          <a:latin typeface="Arial"/>
                          <a:ea typeface="Arial"/>
                          <a:cs typeface="Arial"/>
                        </a:rPr>
                        <a:t>Fine-tuned RoBERTa on the expert labels as a reference reader, and report that it beats Claude</a:t>
                      </a:r>
                    </a:p>
                  </a:txBody>
                  <a:tcPr marL="91440" marR="91440" marT="45720" marB="45720" anchor="ctr">
                    <a:lnR w="0">
                      <a:noFill/>
                    </a:lnR>
                    <a:lnB w="0">
                      <a:noFill/>
                    </a:lnB>
                    <a:solidFill>
                      <a:srgbClr val="FFFEFB"/>
                    </a:solidFill>
                  </a:tcPr>
                </a:tc>
              </a:tr>
              <a:tr h="629920">
                <a:tc>
                  <a:txBody>
                    <a:bodyPr/>
                    <a:lstStyle/>
                    <a:p>
                      <a:pPr algn="l"/>
                      <a:r>
                        <a:rPr sz="1440" b="1">
                          <a:solidFill>
                            <a:srgbClr val="45413C"/>
                          </a:solidFill>
                          <a:latin typeface="Arial"/>
                          <a:ea typeface="Arial"/>
                          <a:cs typeface="Arial"/>
                        </a:rPr>
                        <a:t>Treat the prompt as a specification: version it and check the output</a:t>
                      </a:r>
                    </a:p>
                  </a:txBody>
                  <a:tcPr marL="91440" marR="91440" marT="45720" marB="45720" anchor="ctr">
                    <a:lnL w="0">
                      <a:noFill/>
                    </a:lnL>
                    <a:lnR w="0">
                      <a:noFill/>
                    </a:lnR>
                    <a:lnB w="0">
                      <a:noFill/>
                    </a:lnB>
                    <a:solidFill>
                      <a:srgbClr val="FFFEFB"/>
                    </a:solidFill>
                  </a:tcPr>
                </a:tc>
                <a:tc>
                  <a:txBody>
                    <a:bodyPr/>
                    <a:lstStyle/>
                    <a:p>
                      <a:pPr algn="l"/>
                      <a:r>
                        <a:rPr sz="1440" b="0">
                          <a:solidFill>
                            <a:srgbClr val="45413C"/>
                          </a:solidFill>
                          <a:latin typeface="Arial"/>
                          <a:ea typeface="Arial"/>
                          <a:cs typeface="Arial"/>
                        </a:rPr>
                        <a:t>One rubric enforced as a JSON schema; every quote is checked against the Fed's text</a:t>
                      </a:r>
                    </a:p>
                  </a:txBody>
                  <a:tcPr marL="91440" marR="91440" marT="45720" marB="45720" anchor="ctr">
                    <a:lnR w="0">
                      <a:noFill/>
                    </a:lnR>
                    <a:lnB w="0">
                      <a:noFill/>
                    </a:lnB>
                    <a:solidFill>
                      <a:srgbClr val="FFFEFB"/>
                    </a:solidFill>
                  </a:tcPr>
                </a:tc>
              </a:tr>
              <a:tr h="629920">
                <a:tc>
                  <a:txBody>
                    <a:bodyPr/>
                    <a:lstStyle/>
                    <a:p>
                      <a:pPr algn="l"/>
                      <a:r>
                        <a:rPr sz="1440" b="1">
                          <a:solidFill>
                            <a:srgbClr val="45413C"/>
                          </a:solidFill>
                          <a:latin typeface="Arial"/>
                          <a:ea typeface="Arial"/>
                          <a:cs typeface="Arial"/>
                        </a:rPr>
                        <a:t>A model may remember history; test for it before trusting a score</a:t>
                      </a:r>
                    </a:p>
                  </a:txBody>
                  <a:tcPr marL="91440" marR="91440" marT="45720" marB="45720" anchor="ctr">
                    <a:lnL w="0">
                      <a:noFill/>
                    </a:lnL>
                    <a:lnR w="0">
                      <a:noFill/>
                    </a:lnR>
                    <a:lnB w="0">
                      <a:noFill/>
                    </a:lnB>
                    <a:solidFill>
                      <a:srgbClr val="FFFEFB"/>
                    </a:solidFill>
                  </a:tcPr>
                </a:tc>
                <a:tc>
                  <a:txBody>
                    <a:bodyPr/>
                    <a:lstStyle/>
                    <a:p>
                      <a:pPr algn="l"/>
                      <a:r>
                        <a:rPr sz="1440" b="0">
                          <a:solidFill>
                            <a:srgbClr val="45413C"/>
                          </a:solidFill>
                          <a:latin typeface="Arial"/>
                          <a:ea typeface="Arial"/>
                          <a:cs typeface="Arial"/>
                        </a:rPr>
                        <a:t>Masked dates and names, asked Claude to date statements, re-scored to check stability</a:t>
                      </a:r>
                    </a:p>
                  </a:txBody>
                  <a:tcPr marL="91440" marR="91440" marT="45720" marB="45720" anchor="ctr">
                    <a:lnR w="0">
                      <a:noFill/>
                    </a:lnR>
                    <a:lnB w="0">
                      <a:noFill/>
                    </a:lnB>
                    <a:solidFill>
                      <a:srgbClr val="FFFEFB"/>
                    </a:solidFill>
                  </a:tcPr>
                </a:tc>
              </a:tr>
              <a:tr h="629920">
                <a:tc>
                  <a:txBody>
                    <a:bodyPr/>
                    <a:lstStyle/>
                    <a:p>
                      <a:pPr algn="l"/>
                      <a:r>
                        <a:rPr sz="1440" b="1">
                          <a:solidFill>
                            <a:srgbClr val="45413C"/>
                          </a:solidFill>
                          <a:latin typeface="Arial"/>
                          <a:ea typeface="Arial"/>
                          <a:cs typeface="Arial"/>
                        </a:rPr>
                        <a:t>Use only what was public at the time</a:t>
                      </a:r>
                    </a:p>
                  </a:txBody>
                  <a:tcPr marL="91440" marR="91440" marT="45720" marB="45720" anchor="ctr">
                    <a:lnL w="0">
                      <a:noFill/>
                    </a:lnL>
                    <a:lnR w="0">
                      <a:noFill/>
                    </a:lnR>
                    <a:lnB w="0">
                      <a:noFill/>
                    </a:lnB>
                    <a:solidFill>
                      <a:srgbClr val="FFFEFB"/>
                    </a:solidFill>
                  </a:tcPr>
                </a:tc>
                <a:tc>
                  <a:txBody>
                    <a:bodyPr/>
                    <a:lstStyle/>
                    <a:p>
                      <a:pPr algn="l"/>
                      <a:r>
                        <a:rPr sz="1440" b="0">
                          <a:solidFill>
                            <a:srgbClr val="45413C"/>
                          </a:solidFill>
                          <a:latin typeface="Arial"/>
                          <a:ea typeface="Arial"/>
                          <a:cs typeface="Arial"/>
                        </a:rPr>
                        <a:t>Timestamped every release; trades enter at the first close after publication</a:t>
                      </a:r>
                    </a:p>
                  </a:txBody>
                  <a:tcPr marL="91440" marR="91440" marT="45720" marB="45720" anchor="ctr">
                    <a:lnR w="0">
                      <a:noFill/>
                    </a:lnR>
                    <a:lnB w="0">
                      <a:noFill/>
                    </a:lnB>
                    <a:solidFill>
                      <a:srgbClr val="FFFEFB"/>
                    </a:solidFill>
                  </a:tcPr>
                </a:tc>
              </a:tr>
              <a:tr h="629920">
                <a:tc>
                  <a:txBody>
                    <a:bodyPr/>
                    <a:lstStyle/>
                    <a:p>
                      <a:pPr algn="l"/>
                      <a:r>
                        <a:rPr sz="1440" b="1">
                          <a:solidFill>
                            <a:srgbClr val="45413C"/>
                          </a:solidFill>
                          <a:latin typeface="Arial"/>
                          <a:ea typeface="Arial"/>
                          <a:cs typeface="Arial"/>
                        </a:rPr>
                        <a:t>Count every variant you try, and charge for costs</a:t>
                      </a:r>
                    </a:p>
                  </a:txBody>
                  <a:tcPr marL="91440" marR="91440" marT="45720" marB="45720" anchor="ctr">
                    <a:lnL w="0">
                      <a:noFill/>
                    </a:lnL>
                    <a:lnR w="0">
                      <a:noFill/>
                    </a:lnR>
                    <a:lnB w="0">
                      <a:noFill/>
                    </a:lnB>
                    <a:solidFill>
                      <a:srgbClr val="FFFEFB"/>
                    </a:solidFill>
                  </a:tcPr>
                </a:tc>
                <a:tc>
                  <a:txBody>
                    <a:bodyPr/>
                    <a:lstStyle/>
                    <a:p>
                      <a:pPr algn="l"/>
                      <a:r>
                        <a:rPr sz="1440" b="0">
                          <a:solidFill>
                            <a:srgbClr val="45413C"/>
                          </a:solidFill>
                          <a:latin typeface="Arial"/>
                          <a:ea typeface="Arial"/>
                          <a:cs typeface="Arial"/>
                        </a:rPr>
                        <a:t>Reported 116 strategy variants with costs and placebos, including the negative result</a:t>
                      </a:r>
                    </a:p>
                  </a:txBody>
                  <a:tcPr marL="91440" marR="91440" marT="45720" marB="45720" anchor="ctr">
                    <a:lnR w="0">
                      <a:noFill/>
                    </a:lnR>
                    <a:lnB w="0">
                      <a:noFill/>
                    </a:lnB>
                    <a:solidFill>
                      <a:srgbClr val="FFFEFB"/>
                    </a:solidFill>
                  </a:tcPr>
                </a:tc>
              </a:tr>
              <a:tr h="629920">
                <a:tc>
                  <a:txBody>
                    <a:bodyPr/>
                    <a:lstStyle/>
                    <a:p>
                      <a:pPr algn="l"/>
                      <a:r>
                        <a:rPr sz="1440" b="1">
                          <a:solidFill>
                            <a:srgbClr val="45413C"/>
                          </a:solidFill>
                          <a:latin typeface="Arial"/>
                          <a:ea typeface="Arial"/>
                          <a:cs typeface="Arial"/>
                        </a:rPr>
                        <a:t>Ground answers in sources</a:t>
                      </a:r>
                    </a:p>
                  </a:txBody>
                  <a:tcPr marL="91440" marR="91440" marT="45720" marB="45720" anchor="ctr">
                    <a:lnL w="0">
                      <a:noFill/>
                    </a:lnL>
                    <a:lnR w="0">
                      <a:noFill/>
                    </a:lnR>
                    <a:lnB w="0">
                      <a:noFill/>
                    </a:lnB>
                    <a:solidFill>
                      <a:srgbClr val="FFFEFB"/>
                    </a:solidFill>
                  </a:tcPr>
                </a:tc>
                <a:tc>
                  <a:txBody>
                    <a:bodyPr/>
                    <a:lstStyle/>
                    <a:p>
                      <a:pPr algn="l"/>
                      <a:r>
                        <a:rPr sz="1440" b="0">
                          <a:solidFill>
                            <a:srgbClr val="45413C"/>
                          </a:solidFill>
                          <a:latin typeface="Arial"/>
                          <a:ea typeface="Arial"/>
                          <a:cs typeface="Arial"/>
                        </a:rPr>
                        <a:t>Every score links to the Fed's own words; the full archive is searchable</a:t>
                      </a:r>
                    </a:p>
                  </a:txBody>
                  <a:tcPr marL="91440" marR="91440" marT="45720" marB="45720" anchor="ctr">
                    <a:lnR w="0">
                      <a:noFill/>
                    </a:lnR>
                    <a:lnB w="0">
                      <a:noFill/>
                    </a:lnB>
                    <a:solidFill>
                      <a:srgbClr val="FFFEFB"/>
                    </a:solidFill>
                  </a:tcPr>
                </a:tc>
              </a:tr>
            </a:tbl>
          </a:graphicData>
        </a:graphic>
      </p:graphicFrame>
      <p:sp>
        <p:nvSpPr>
          <p:cNvPr id="15" name="">
            <a:extLst xmlns:a="http://schemas.openxmlformats.org/drawingml/2006/main">
              <a:ext uri="{FF2B5EF4-FFF2-40B4-BE49-F238E27FC236}">
                <a16:creationId xmlns:a16="http://schemas.microsoft.com/office/drawing/2014/main" id="{0FF15CD0-E4CE-4EA2-9E32-9CC18536541A}"/>
              </a:ext>
            </a:extLst>
          </p:cNvPr>
          <p:cNvSpPr>
            <a:spLocks xmlns:a="http://schemas.openxmlformats.org/drawingml/2006/main" noGrp="1"/>
          </p:cNvSpPr>
          <p:nvPr/>
        </p:nvSpPr>
        <p:spPr>
          <a:xfrm xmlns:a="http://schemas.openxmlformats.org/drawingml/2006/main">
            <a:off x="609585" y="2392680"/>
            <a:ext cx="10972526"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169C81D-6FF4-4DB6-9911-E998A3D2AC5D}"/>
              </a:ext>
            </a:extLst>
          </p:cNvPr>
          <p:cNvSpPr>
            <a:spLocks xmlns:a="http://schemas.openxmlformats.org/drawingml/2006/main" noGrp="1"/>
          </p:cNvSpPr>
          <p:nvPr/>
        </p:nvSpPr>
        <p:spPr>
          <a:xfrm xmlns:a="http://schemas.openxmlformats.org/drawingml/2006/main">
            <a:off x="609585" y="3022600"/>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8091E16-76B1-4A70-BF26-2E38AB33848D}"/>
              </a:ext>
            </a:extLst>
          </p:cNvPr>
          <p:cNvSpPr>
            <a:spLocks xmlns:a="http://schemas.openxmlformats.org/drawingml/2006/main" noGrp="1"/>
          </p:cNvSpPr>
          <p:nvPr/>
        </p:nvSpPr>
        <p:spPr>
          <a:xfrm xmlns:a="http://schemas.openxmlformats.org/drawingml/2006/main">
            <a:off x="609585" y="3652520"/>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0ECE7F3-D309-492E-BC69-125F49BD24A2}"/>
              </a:ext>
            </a:extLst>
          </p:cNvPr>
          <p:cNvSpPr>
            <a:spLocks xmlns:a="http://schemas.openxmlformats.org/drawingml/2006/main" noGrp="1"/>
          </p:cNvSpPr>
          <p:nvPr/>
        </p:nvSpPr>
        <p:spPr>
          <a:xfrm xmlns:a="http://schemas.openxmlformats.org/drawingml/2006/main">
            <a:off x="609585" y="4282440"/>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D560BB3-FEBD-441D-ACE2-C0934405882A}"/>
              </a:ext>
            </a:extLst>
          </p:cNvPr>
          <p:cNvSpPr>
            <a:spLocks xmlns:a="http://schemas.openxmlformats.org/drawingml/2006/main" noGrp="1"/>
          </p:cNvSpPr>
          <p:nvPr/>
        </p:nvSpPr>
        <p:spPr>
          <a:xfrm xmlns:a="http://schemas.openxmlformats.org/drawingml/2006/main">
            <a:off x="609585" y="4912360"/>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4A1A1DD-424D-4637-972A-6C22C1169DD1}"/>
              </a:ext>
            </a:extLst>
          </p:cNvPr>
          <p:cNvSpPr>
            <a:spLocks xmlns:a="http://schemas.openxmlformats.org/drawingml/2006/main" noGrp="1"/>
          </p:cNvSpPr>
          <p:nvPr/>
        </p:nvSpPr>
        <p:spPr>
          <a:xfrm xmlns:a="http://schemas.openxmlformats.org/drawingml/2006/main">
            <a:off x="609585" y="5542280"/>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209AB22-AEC7-4D9E-8904-3DDCF0C571A6}"/>
              </a:ext>
            </a:extLst>
          </p:cNvPr>
          <p:cNvSpPr>
            <a:spLocks xmlns:a="http://schemas.openxmlformats.org/drawingml/2006/main" noGrp="1"/>
          </p:cNvSpPr>
          <p:nvPr/>
        </p:nvSpPr>
        <p:spPr>
          <a:xfrm xmlns:a="http://schemas.openxmlformats.org/drawingml/2006/main">
            <a:off x="609585" y="6172200"/>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Tree>
    <p:extLst>
      <p:ext uri="{BB962C8B-B14F-4D97-AF65-F5344CB8AC3E}">
        <p14:creationId xmlns:p14="http://schemas.microsoft.com/office/powerpoint/2010/main" val="1046428901"/>
      </p:ext>
    </p:extLst>
  </p:cSld>
</p:sld>
</file>

<file path=ppt/slides/slide6.xml><?xml version="1.0" encoding="utf-8"?>
<p:sld xmlns:p="http://schemas.openxmlformats.org/presentationml/2006/main">
  <p:cSld>
    <p:bg>
      <p:bgPr>
        <a:solidFill xmlns:a="http://schemas.openxmlformats.org/drawingml/2006/main">
          <a:srgbClr val="F1ECE2"/>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5C52E616-CD85-48FD-A269-7452F4367F10}"/>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90B6A087-0120-4F8D-AAFD-B7203FF3EF07}"/>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QUESTION AND DATA</a:t>
            </a:r>
          </a:p>
        </p:txBody>
      </p:sp>
      <p:sp>
        <p:nvSpPr>
          <p:cNvPr id="3" name="">
            <a:extLst xmlns:a="http://schemas.openxmlformats.org/drawingml/2006/main">
              <a:ext uri="{FF2B5EF4-FFF2-40B4-BE49-F238E27FC236}">
                <a16:creationId xmlns:a16="http://schemas.microsoft.com/office/drawing/2014/main" id="{E3E71C01-3608-4957-AD70-05F706FFCE66}"/>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6 / 46</a:t>
            </a:r>
          </a:p>
        </p:txBody>
      </p:sp>
      <p:sp>
        <p:nvSpPr>
          <p:cNvPr id="4" name="">
            <a:extLst xmlns:a="http://schemas.openxmlformats.org/drawingml/2006/main">
              <a:ext uri="{FF2B5EF4-FFF2-40B4-BE49-F238E27FC236}">
                <a16:creationId xmlns:a16="http://schemas.microsoft.com/office/drawing/2014/main" id="{0A9F5F6D-964C-42C8-8041-85143DE429B5}"/>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99C535F-C984-43C9-90DB-BEAF89B95B04}"/>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Four hypotheses, four answers</a:t>
            </a:r>
          </a:p>
        </p:txBody>
      </p:sp>
      <p:sp>
        <p:nvSpPr>
          <p:cNvPr id="6" name="">
            <a:extLst xmlns:a="http://schemas.openxmlformats.org/drawingml/2006/main">
              <a:ext uri="{FF2B5EF4-FFF2-40B4-BE49-F238E27FC236}">
                <a16:creationId xmlns:a16="http://schemas.microsoft.com/office/drawing/2014/main" id="{A4FDAF36-436C-4F87-983F-2B8564F2B613}"/>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Public-label accuracy and release-window associations; no delayed trading edge detected</a:t>
            </a:r>
          </a:p>
        </p:txBody>
      </p:sp>
      <p:sp>
        <p:nvSpPr>
          <p:cNvPr id="7" name="">
            <a:extLst xmlns:a="http://schemas.openxmlformats.org/drawingml/2006/main">
              <a:ext uri="{FF2B5EF4-FFF2-40B4-BE49-F238E27FC236}">
                <a16:creationId xmlns:a16="http://schemas.microsoft.com/office/drawing/2014/main" id="{DFE2E004-5F42-49B7-A61F-EB6BAC5EA892}"/>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3150F17-664F-4D5D-9FD9-B636B71B3BED}"/>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Project results, frozen 21 October 2026; design and pre-registration in docs/DESIGN.md.</a:t>
            </a:r>
          </a:p>
        </p:txBody>
      </p:sp>
      <p:sp>
        <p:nvSpPr>
          <p:cNvPr id="9" name="">
            <a:extLst xmlns:a="http://schemas.openxmlformats.org/drawingml/2006/main">
              <a:ext uri="{FF2B5EF4-FFF2-40B4-BE49-F238E27FC236}">
                <a16:creationId xmlns:a16="http://schemas.microsoft.com/office/drawing/2014/main" id="{5A96F89A-79D0-4750-A1A4-375ED8BC98D5}"/>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7FCCC3D-BD64-4F81-9D3C-5102E1E660E7}"/>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B648C4F-76D0-456A-AE13-99FD71FEFD94}"/>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C49B02C-08DA-4E8D-BE58-79D904CC9D74}"/>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30AD7B1-E70B-4E7B-A28E-9C87E2086E97}"/>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038F73D-E9B8-435A-A3A1-1A50DF3BA7BB}"/>
              </a:ext>
            </a:extLst>
          </p:cNvPr>
          <p:cNvSpPr>
            <a:spLocks xmlns:a="http://schemas.openxmlformats.org/drawingml/2006/main" noGrp="1"/>
          </p:cNvSpPr>
          <p:nvPr/>
        </p:nvSpPr>
        <p:spPr>
          <a:xfrm xmlns:a="http://schemas.openxmlformats.org/drawingml/2006/main">
            <a:off x="609585" y="1920240"/>
            <a:ext cx="2583115" cy="3581400"/>
          </a:xfrm>
          <a:prstGeom xmlns:a="http://schemas.openxmlformats.org/drawingml/2006/main" prst="rect">
            <a:avLst/>
          </a:prstGeom>
          <a:solidFill xmlns:a="http://schemas.openxmlformats.org/drawingml/2006/main">
            <a:srgbClr val="FAF8F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BB7280F-DDCE-4B61-8159-922F53D6C241}"/>
              </a:ext>
            </a:extLst>
          </p:cNvPr>
          <p:cNvSpPr>
            <a:spLocks xmlns:a="http://schemas.openxmlformats.org/drawingml/2006/main" noGrp="1"/>
          </p:cNvSpPr>
          <p:nvPr/>
        </p:nvSpPr>
        <p:spPr>
          <a:xfrm xmlns:a="http://schemas.openxmlformats.org/drawingml/2006/main">
            <a:off x="609585" y="1920240"/>
            <a:ext cx="2583115" cy="3048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2C7D3D4-AE71-442A-97C1-59D6ACE4E8B8}"/>
              </a:ext>
            </a:extLst>
          </p:cNvPr>
          <p:cNvSpPr>
            <a:spLocks xmlns:a="http://schemas.openxmlformats.org/drawingml/2006/main" noGrp="1"/>
          </p:cNvSpPr>
          <p:nvPr/>
        </p:nvSpPr>
        <p:spPr>
          <a:xfrm xmlns:a="http://schemas.openxmlformats.org/drawingml/2006/main">
            <a:off x="807700" y="2118360"/>
            <a:ext cx="21868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H1 · MEASUREMENT</a:t>
            </a:r>
          </a:p>
        </p:txBody>
      </p:sp>
      <p:sp>
        <p:nvSpPr>
          <p:cNvPr id="17" name="">
            <a:extLst xmlns:a="http://schemas.openxmlformats.org/drawingml/2006/main">
              <a:ext uri="{FF2B5EF4-FFF2-40B4-BE49-F238E27FC236}">
                <a16:creationId xmlns:a16="http://schemas.microsoft.com/office/drawing/2014/main" id="{342B6818-0DBB-41BB-86FD-27318C5E1E2D}"/>
              </a:ext>
            </a:extLst>
          </p:cNvPr>
          <p:cNvSpPr>
            <a:spLocks xmlns:a="http://schemas.openxmlformats.org/drawingml/2006/main" noGrp="1"/>
          </p:cNvSpPr>
          <p:nvPr/>
        </p:nvSpPr>
        <p:spPr>
          <a:xfrm xmlns:a="http://schemas.openxmlformats.org/drawingml/2006/main">
            <a:off x="807700" y="2453640"/>
            <a:ext cx="218688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620" b="0">
                <a:solidFill>
                  <a:srgbClr val="151312"/>
                </a:solidFill>
                <a:latin typeface="Georgia"/>
                <a:ea typeface="Georgia"/>
                <a:cs typeface="Georgia"/>
              </a:defRPr>
            </a:defPPr>
            <a:lvl1pPr algn="l">
              <a:defRPr sz="1620" b="0">
                <a:solidFill>
                  <a:srgbClr val="151312"/>
                </a:solidFill>
                <a:latin typeface="Georgia"/>
                <a:ea typeface="Georgia"/>
                <a:cs typeface="Georgia"/>
              </a:defRPr>
            </a:lvl1pPr>
            <a:lvl2pPr algn="l">
              <a:defRPr sz="1620" b="0">
                <a:solidFill>
                  <a:srgbClr val="151312"/>
                </a:solidFill>
                <a:latin typeface="Georgia"/>
                <a:ea typeface="Georgia"/>
                <a:cs typeface="Georgia"/>
              </a:defRPr>
            </a:lvl2pPr>
            <a:lvl3pPr algn="l">
              <a:defRPr sz="1620" b="0">
                <a:solidFill>
                  <a:srgbClr val="151312"/>
                </a:solidFill>
                <a:latin typeface="Georgia"/>
                <a:ea typeface="Georgia"/>
                <a:cs typeface="Georgia"/>
              </a:defRPr>
            </a:lvl3pPr>
            <a:lvl4pPr algn="l">
              <a:defRPr sz="1620" b="0">
                <a:solidFill>
                  <a:srgbClr val="151312"/>
                </a:solidFill>
                <a:latin typeface="Georgia"/>
                <a:ea typeface="Georgia"/>
                <a:cs typeface="Georgia"/>
              </a:defRPr>
            </a:lvl4pPr>
            <a:lvl5pPr algn="l">
              <a:defRPr sz="1620" b="0">
                <a:solidFill>
                  <a:srgbClr val="151312"/>
                </a:solidFill>
                <a:latin typeface="Georgia"/>
                <a:ea typeface="Georgia"/>
                <a:cs typeface="Georgia"/>
              </a:defRPr>
            </a:lvl5pPr>
            <a:lvl6pPr algn="l">
              <a:defRPr sz="1620" b="0">
                <a:solidFill>
                  <a:srgbClr val="151312"/>
                </a:solidFill>
                <a:latin typeface="Georgia"/>
                <a:ea typeface="Georgia"/>
                <a:cs typeface="Georgia"/>
              </a:defRPr>
            </a:lvl6pPr>
            <a:lvl7pPr algn="l">
              <a:defRPr sz="1620" b="0">
                <a:solidFill>
                  <a:srgbClr val="151312"/>
                </a:solidFill>
                <a:latin typeface="Georgia"/>
                <a:ea typeface="Georgia"/>
                <a:cs typeface="Georgia"/>
              </a:defRPr>
            </a:lvl7pPr>
            <a:lvl8pPr algn="l">
              <a:defRPr sz="1620" b="0">
                <a:solidFill>
                  <a:srgbClr val="151312"/>
                </a:solidFill>
                <a:latin typeface="Georgia"/>
                <a:ea typeface="Georgia"/>
                <a:cs typeface="Georgia"/>
              </a:defRPr>
            </a:lvl8pPr>
            <a:lvl9pPr algn="l">
              <a:defRPr sz="1620" b="0">
                <a:solidFill>
                  <a:srgbClr val="151312"/>
                </a:solidFill>
                <a:latin typeface="Georgia"/>
                <a:ea typeface="Georgia"/>
                <a:cs typeface="Georgia"/>
              </a:defRPr>
            </a:lvl9pPr>
          </a:lstStyle>
          <a:p xmlns:a="http://schemas.openxmlformats.org/drawingml/2006/main">
            <a:pPr algn="l">
              <a:defRPr sz="1620" b="0">
                <a:solidFill>
                  <a:srgbClr val="151312"/>
                </a:solidFill>
                <a:latin typeface="Georgia"/>
                <a:ea typeface="Georgia"/>
                <a:cs typeface="Georgia"/>
              </a:defRPr>
            </a:pPr>
            <a:r>
              <a:rPr sz="1620" b="0">
                <a:solidFill>
                  <a:srgbClr val="151312"/>
                </a:solidFill>
                <a:latin typeface="Georgia"/>
                <a:ea typeface="Georgia"/>
                <a:cs typeface="Georgia"/>
              </a:rPr>
              <a:t>Claude matches public expert labels better than the baselines</a:t>
            </a:r>
          </a:p>
        </p:txBody>
      </p:sp>
      <p:sp>
        <p:nvSpPr>
          <p:cNvPr id="18" name="">
            <a:extLst xmlns:a="http://schemas.openxmlformats.org/drawingml/2006/main">
              <a:ext uri="{FF2B5EF4-FFF2-40B4-BE49-F238E27FC236}">
                <a16:creationId xmlns:a16="http://schemas.microsoft.com/office/drawing/2014/main" id="{041F5C7F-6129-43E5-B28F-6F9E1C11FDD4}"/>
              </a:ext>
            </a:extLst>
          </p:cNvPr>
          <p:cNvSpPr>
            <a:spLocks xmlns:a="http://schemas.openxmlformats.org/drawingml/2006/main" noGrp="1"/>
          </p:cNvSpPr>
          <p:nvPr/>
        </p:nvSpPr>
        <p:spPr>
          <a:xfrm xmlns:a="http://schemas.openxmlformats.org/drawingml/2006/main">
            <a:off x="807700" y="3749040"/>
            <a:ext cx="2186885" cy="548640"/>
          </a:xfrm>
          <a:prstGeom xmlns:a="http://schemas.openxmlformats.org/drawingml/2006/main" prst="rect">
            <a:avLst/>
          </a:prstGeom>
          <a:solidFill xmlns:a="http://schemas.openxmlformats.org/drawingml/2006/main">
            <a:srgbClr val="E1EDE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9E56EA8-A886-44FF-9365-E890C6B5EABD}"/>
              </a:ext>
            </a:extLst>
          </p:cNvPr>
          <p:cNvSpPr>
            <a:spLocks xmlns:a="http://schemas.openxmlformats.org/drawingml/2006/main" noGrp="1"/>
          </p:cNvSpPr>
          <p:nvPr/>
        </p:nvSpPr>
        <p:spPr>
          <a:xfrm xmlns:a="http://schemas.openxmlformats.org/drawingml/2006/main">
            <a:off x="914377" y="3749040"/>
            <a:ext cx="1973531"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1">
                <a:solidFill>
                  <a:srgbClr val="0D6332"/>
                </a:solidFill>
                <a:latin typeface="Arial"/>
                <a:ea typeface="Arial"/>
                <a:cs typeface="Arial"/>
              </a:defRPr>
            </a:defPPr>
            <a:lvl1pPr algn="l">
              <a:defRPr sz="1260" b="1">
                <a:solidFill>
                  <a:srgbClr val="0D6332"/>
                </a:solidFill>
                <a:latin typeface="Arial"/>
                <a:ea typeface="Arial"/>
                <a:cs typeface="Arial"/>
              </a:defRPr>
            </a:lvl1pPr>
            <a:lvl2pPr algn="l">
              <a:defRPr sz="1260" b="1">
                <a:solidFill>
                  <a:srgbClr val="0D6332"/>
                </a:solidFill>
                <a:latin typeface="Arial"/>
                <a:ea typeface="Arial"/>
                <a:cs typeface="Arial"/>
              </a:defRPr>
            </a:lvl2pPr>
            <a:lvl3pPr algn="l">
              <a:defRPr sz="1260" b="1">
                <a:solidFill>
                  <a:srgbClr val="0D6332"/>
                </a:solidFill>
                <a:latin typeface="Arial"/>
                <a:ea typeface="Arial"/>
                <a:cs typeface="Arial"/>
              </a:defRPr>
            </a:lvl3pPr>
            <a:lvl4pPr algn="l">
              <a:defRPr sz="1260" b="1">
                <a:solidFill>
                  <a:srgbClr val="0D6332"/>
                </a:solidFill>
                <a:latin typeface="Arial"/>
                <a:ea typeface="Arial"/>
                <a:cs typeface="Arial"/>
              </a:defRPr>
            </a:lvl4pPr>
            <a:lvl5pPr algn="l">
              <a:defRPr sz="1260" b="1">
                <a:solidFill>
                  <a:srgbClr val="0D6332"/>
                </a:solidFill>
                <a:latin typeface="Arial"/>
                <a:ea typeface="Arial"/>
                <a:cs typeface="Arial"/>
              </a:defRPr>
            </a:lvl5pPr>
            <a:lvl6pPr algn="l">
              <a:defRPr sz="1260" b="1">
                <a:solidFill>
                  <a:srgbClr val="0D6332"/>
                </a:solidFill>
                <a:latin typeface="Arial"/>
                <a:ea typeface="Arial"/>
                <a:cs typeface="Arial"/>
              </a:defRPr>
            </a:lvl6pPr>
            <a:lvl7pPr algn="l">
              <a:defRPr sz="1260" b="1">
                <a:solidFill>
                  <a:srgbClr val="0D6332"/>
                </a:solidFill>
                <a:latin typeface="Arial"/>
                <a:ea typeface="Arial"/>
                <a:cs typeface="Arial"/>
              </a:defRPr>
            </a:lvl7pPr>
            <a:lvl8pPr algn="l">
              <a:defRPr sz="1260" b="1">
                <a:solidFill>
                  <a:srgbClr val="0D6332"/>
                </a:solidFill>
                <a:latin typeface="Arial"/>
                <a:ea typeface="Arial"/>
                <a:cs typeface="Arial"/>
              </a:defRPr>
            </a:lvl8pPr>
            <a:lvl9pPr algn="l">
              <a:defRPr sz="1260" b="1">
                <a:solidFill>
                  <a:srgbClr val="0D6332"/>
                </a:solidFill>
                <a:latin typeface="Arial"/>
                <a:ea typeface="Arial"/>
                <a:cs typeface="Arial"/>
              </a:defRPr>
            </a:lvl9pPr>
          </a:lstStyle>
          <a:p xmlns:a="http://schemas.openxmlformats.org/drawingml/2006/main">
            <a:pPr algn="l">
              <a:defRPr sz="1260" b="1">
                <a:solidFill>
                  <a:srgbClr val="0D6332"/>
                </a:solidFill>
                <a:latin typeface="Arial"/>
                <a:ea typeface="Arial"/>
                <a:cs typeface="Arial"/>
              </a:defRPr>
            </a:pPr>
            <a:r>
              <a:rPr sz="1260" b="1">
                <a:solidFill>
                  <a:srgbClr val="0D6332"/>
                </a:solidFill>
                <a:latin typeface="Arial"/>
                <a:ea typeface="Arial"/>
                <a:cs typeface="Arial"/>
              </a:rPr>
              <a:t>Supported on public expert labels</a:t>
            </a:r>
          </a:p>
        </p:txBody>
      </p:sp>
      <p:sp>
        <p:nvSpPr>
          <p:cNvPr id="20" name="">
            <a:extLst xmlns:a="http://schemas.openxmlformats.org/drawingml/2006/main">
              <a:ext uri="{FF2B5EF4-FFF2-40B4-BE49-F238E27FC236}">
                <a16:creationId xmlns:a16="http://schemas.microsoft.com/office/drawing/2014/main" id="{F20BAE8C-FC1E-41A3-B9DB-0750C36B15B3}"/>
              </a:ext>
            </a:extLst>
          </p:cNvPr>
          <p:cNvSpPr>
            <a:spLocks xmlns:a="http://schemas.openxmlformats.org/drawingml/2006/main" noGrp="1"/>
          </p:cNvSpPr>
          <p:nvPr/>
        </p:nvSpPr>
        <p:spPr>
          <a:xfrm xmlns:a="http://schemas.openxmlformats.org/drawingml/2006/main">
            <a:off x="807700" y="4480560"/>
            <a:ext cx="2186885" cy="868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Macro-F1 0.66 against 0.58 (p = 0.004)</a:t>
            </a:r>
          </a:p>
        </p:txBody>
      </p:sp>
      <p:sp>
        <p:nvSpPr>
          <p:cNvPr id="21" name="">
            <a:extLst xmlns:a="http://schemas.openxmlformats.org/drawingml/2006/main">
              <a:ext uri="{FF2B5EF4-FFF2-40B4-BE49-F238E27FC236}">
                <a16:creationId xmlns:a16="http://schemas.microsoft.com/office/drawing/2014/main" id="{BD0EA8D9-9CE5-4D50-998E-490E9C89DA48}"/>
              </a:ext>
            </a:extLst>
          </p:cNvPr>
          <p:cNvSpPr>
            <a:spLocks xmlns:a="http://schemas.openxmlformats.org/drawingml/2006/main" noGrp="1"/>
          </p:cNvSpPr>
          <p:nvPr/>
        </p:nvSpPr>
        <p:spPr>
          <a:xfrm xmlns:a="http://schemas.openxmlformats.org/drawingml/2006/main">
            <a:off x="3406055" y="1920240"/>
            <a:ext cx="2583115" cy="3581400"/>
          </a:xfrm>
          <a:prstGeom xmlns:a="http://schemas.openxmlformats.org/drawingml/2006/main" prst="rect">
            <a:avLst/>
          </a:prstGeom>
          <a:solidFill xmlns:a="http://schemas.openxmlformats.org/drawingml/2006/main">
            <a:srgbClr val="FAF8F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EBD28AF-370E-4FCB-ACEC-BB78FFFCBC85}"/>
              </a:ext>
            </a:extLst>
          </p:cNvPr>
          <p:cNvSpPr>
            <a:spLocks xmlns:a="http://schemas.openxmlformats.org/drawingml/2006/main" noGrp="1"/>
          </p:cNvSpPr>
          <p:nvPr/>
        </p:nvSpPr>
        <p:spPr>
          <a:xfrm xmlns:a="http://schemas.openxmlformats.org/drawingml/2006/main">
            <a:off x="3406055" y="1920240"/>
            <a:ext cx="2583115" cy="3048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872C1B0-0D38-4E4E-A16A-C1A6CA5A2B98}"/>
              </a:ext>
            </a:extLst>
          </p:cNvPr>
          <p:cNvSpPr>
            <a:spLocks xmlns:a="http://schemas.openxmlformats.org/drawingml/2006/main" noGrp="1"/>
          </p:cNvSpPr>
          <p:nvPr/>
        </p:nvSpPr>
        <p:spPr>
          <a:xfrm xmlns:a="http://schemas.openxmlformats.org/drawingml/2006/main">
            <a:off x="3604170" y="2118360"/>
            <a:ext cx="21868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H2 · INFORMATION</a:t>
            </a:r>
          </a:p>
        </p:txBody>
      </p:sp>
      <p:sp>
        <p:nvSpPr>
          <p:cNvPr id="24" name="">
            <a:extLst xmlns:a="http://schemas.openxmlformats.org/drawingml/2006/main">
              <a:ext uri="{FF2B5EF4-FFF2-40B4-BE49-F238E27FC236}">
                <a16:creationId xmlns:a16="http://schemas.microsoft.com/office/drawing/2014/main" id="{6CA658BC-7C27-4D83-86BC-C964AE7F75E6}"/>
              </a:ext>
            </a:extLst>
          </p:cNvPr>
          <p:cNvSpPr>
            <a:spLocks xmlns:a="http://schemas.openxmlformats.org/drawingml/2006/main" noGrp="1"/>
          </p:cNvSpPr>
          <p:nvPr/>
        </p:nvSpPr>
        <p:spPr>
          <a:xfrm xmlns:a="http://schemas.openxmlformats.org/drawingml/2006/main">
            <a:off x="3604170" y="2453640"/>
            <a:ext cx="218688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620" b="0">
                <a:solidFill>
                  <a:srgbClr val="151312"/>
                </a:solidFill>
                <a:latin typeface="Georgia"/>
                <a:ea typeface="Georgia"/>
                <a:cs typeface="Georgia"/>
              </a:defRPr>
            </a:defPPr>
            <a:lvl1pPr algn="l">
              <a:defRPr sz="1620" b="0">
                <a:solidFill>
                  <a:srgbClr val="151312"/>
                </a:solidFill>
                <a:latin typeface="Georgia"/>
                <a:ea typeface="Georgia"/>
                <a:cs typeface="Georgia"/>
              </a:defRPr>
            </a:lvl1pPr>
            <a:lvl2pPr algn="l">
              <a:defRPr sz="1620" b="0">
                <a:solidFill>
                  <a:srgbClr val="151312"/>
                </a:solidFill>
                <a:latin typeface="Georgia"/>
                <a:ea typeface="Georgia"/>
                <a:cs typeface="Georgia"/>
              </a:defRPr>
            </a:lvl2pPr>
            <a:lvl3pPr algn="l">
              <a:defRPr sz="1620" b="0">
                <a:solidFill>
                  <a:srgbClr val="151312"/>
                </a:solidFill>
                <a:latin typeface="Georgia"/>
                <a:ea typeface="Georgia"/>
                <a:cs typeface="Georgia"/>
              </a:defRPr>
            </a:lvl3pPr>
            <a:lvl4pPr algn="l">
              <a:defRPr sz="1620" b="0">
                <a:solidFill>
                  <a:srgbClr val="151312"/>
                </a:solidFill>
                <a:latin typeface="Georgia"/>
                <a:ea typeface="Georgia"/>
                <a:cs typeface="Georgia"/>
              </a:defRPr>
            </a:lvl4pPr>
            <a:lvl5pPr algn="l">
              <a:defRPr sz="1620" b="0">
                <a:solidFill>
                  <a:srgbClr val="151312"/>
                </a:solidFill>
                <a:latin typeface="Georgia"/>
                <a:ea typeface="Georgia"/>
                <a:cs typeface="Georgia"/>
              </a:defRPr>
            </a:lvl5pPr>
            <a:lvl6pPr algn="l">
              <a:defRPr sz="1620" b="0">
                <a:solidFill>
                  <a:srgbClr val="151312"/>
                </a:solidFill>
                <a:latin typeface="Georgia"/>
                <a:ea typeface="Georgia"/>
                <a:cs typeface="Georgia"/>
              </a:defRPr>
            </a:lvl6pPr>
            <a:lvl7pPr algn="l">
              <a:defRPr sz="1620" b="0">
                <a:solidFill>
                  <a:srgbClr val="151312"/>
                </a:solidFill>
                <a:latin typeface="Georgia"/>
                <a:ea typeface="Georgia"/>
                <a:cs typeface="Georgia"/>
              </a:defRPr>
            </a:lvl7pPr>
            <a:lvl8pPr algn="l">
              <a:defRPr sz="1620" b="0">
                <a:solidFill>
                  <a:srgbClr val="151312"/>
                </a:solidFill>
                <a:latin typeface="Georgia"/>
                <a:ea typeface="Georgia"/>
                <a:cs typeface="Georgia"/>
              </a:defRPr>
            </a:lvl8pPr>
            <a:lvl9pPr algn="l">
              <a:defRPr sz="1620" b="0">
                <a:solidFill>
                  <a:srgbClr val="151312"/>
                </a:solidFill>
                <a:latin typeface="Georgia"/>
                <a:ea typeface="Georgia"/>
                <a:cs typeface="Georgia"/>
              </a:defRPr>
            </a:lvl9pPr>
          </a:lstStyle>
          <a:p xmlns:a="http://schemas.openxmlformats.org/drawingml/2006/main">
            <a:pPr algn="l">
              <a:defRPr sz="1620" b="0">
                <a:solidFill>
                  <a:srgbClr val="151312"/>
                </a:solidFill>
                <a:latin typeface="Georgia"/>
                <a:ea typeface="Georgia"/>
                <a:cs typeface="Georgia"/>
              </a:defRPr>
            </a:pPr>
            <a:r>
              <a:rPr sz="1620" b="0">
                <a:solidFill>
                  <a:srgbClr val="151312"/>
                </a:solidFill>
                <a:latin typeface="Georgia"/>
                <a:ea typeface="Georgia"/>
                <a:cs typeface="Georgia"/>
              </a:rPr>
              <a:t>Tone is associated with release-window Treasury moves</a:t>
            </a:r>
          </a:p>
        </p:txBody>
      </p:sp>
      <p:sp>
        <p:nvSpPr>
          <p:cNvPr id="25" name="">
            <a:extLst xmlns:a="http://schemas.openxmlformats.org/drawingml/2006/main">
              <a:ext uri="{FF2B5EF4-FFF2-40B4-BE49-F238E27FC236}">
                <a16:creationId xmlns:a16="http://schemas.microsoft.com/office/drawing/2014/main" id="{633FE383-8DB7-4480-9954-333F7E391911}"/>
              </a:ext>
            </a:extLst>
          </p:cNvPr>
          <p:cNvSpPr>
            <a:spLocks xmlns:a="http://schemas.openxmlformats.org/drawingml/2006/main" noGrp="1"/>
          </p:cNvSpPr>
          <p:nvPr/>
        </p:nvSpPr>
        <p:spPr>
          <a:xfrm xmlns:a="http://schemas.openxmlformats.org/drawingml/2006/main">
            <a:off x="3604170" y="3749040"/>
            <a:ext cx="2186885" cy="548640"/>
          </a:xfrm>
          <a:prstGeom xmlns:a="http://schemas.openxmlformats.org/drawingml/2006/main" prst="rect">
            <a:avLst/>
          </a:prstGeom>
          <a:solidFill xmlns:a="http://schemas.openxmlformats.org/drawingml/2006/main">
            <a:srgbClr val="E1ED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3C583D3-9CFE-4A7F-9B6D-EF6214610D2B}"/>
              </a:ext>
            </a:extLst>
          </p:cNvPr>
          <p:cNvSpPr>
            <a:spLocks xmlns:a="http://schemas.openxmlformats.org/drawingml/2006/main" noGrp="1"/>
          </p:cNvSpPr>
          <p:nvPr/>
        </p:nvSpPr>
        <p:spPr>
          <a:xfrm xmlns:a="http://schemas.openxmlformats.org/drawingml/2006/main">
            <a:off x="3710847" y="3749040"/>
            <a:ext cx="1973531"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1">
                <a:solidFill>
                  <a:srgbClr val="0D6332"/>
                </a:solidFill>
                <a:latin typeface="Arial"/>
                <a:ea typeface="Arial"/>
                <a:cs typeface="Arial"/>
              </a:defRPr>
            </a:defPPr>
            <a:lvl1pPr algn="l">
              <a:defRPr sz="1260" b="1">
                <a:solidFill>
                  <a:srgbClr val="0D6332"/>
                </a:solidFill>
                <a:latin typeface="Arial"/>
                <a:ea typeface="Arial"/>
                <a:cs typeface="Arial"/>
              </a:defRPr>
            </a:lvl1pPr>
            <a:lvl2pPr algn="l">
              <a:defRPr sz="1260" b="1">
                <a:solidFill>
                  <a:srgbClr val="0D6332"/>
                </a:solidFill>
                <a:latin typeface="Arial"/>
                <a:ea typeface="Arial"/>
                <a:cs typeface="Arial"/>
              </a:defRPr>
            </a:lvl2pPr>
            <a:lvl3pPr algn="l">
              <a:defRPr sz="1260" b="1">
                <a:solidFill>
                  <a:srgbClr val="0D6332"/>
                </a:solidFill>
                <a:latin typeface="Arial"/>
                <a:ea typeface="Arial"/>
                <a:cs typeface="Arial"/>
              </a:defRPr>
            </a:lvl3pPr>
            <a:lvl4pPr algn="l">
              <a:defRPr sz="1260" b="1">
                <a:solidFill>
                  <a:srgbClr val="0D6332"/>
                </a:solidFill>
                <a:latin typeface="Arial"/>
                <a:ea typeface="Arial"/>
                <a:cs typeface="Arial"/>
              </a:defRPr>
            </a:lvl4pPr>
            <a:lvl5pPr algn="l">
              <a:defRPr sz="1260" b="1">
                <a:solidFill>
                  <a:srgbClr val="0D6332"/>
                </a:solidFill>
                <a:latin typeface="Arial"/>
                <a:ea typeface="Arial"/>
                <a:cs typeface="Arial"/>
              </a:defRPr>
            </a:lvl5pPr>
            <a:lvl6pPr algn="l">
              <a:defRPr sz="1260" b="1">
                <a:solidFill>
                  <a:srgbClr val="0D6332"/>
                </a:solidFill>
                <a:latin typeface="Arial"/>
                <a:ea typeface="Arial"/>
                <a:cs typeface="Arial"/>
              </a:defRPr>
            </a:lvl6pPr>
            <a:lvl7pPr algn="l">
              <a:defRPr sz="1260" b="1">
                <a:solidFill>
                  <a:srgbClr val="0D6332"/>
                </a:solidFill>
                <a:latin typeface="Arial"/>
                <a:ea typeface="Arial"/>
                <a:cs typeface="Arial"/>
              </a:defRPr>
            </a:lvl7pPr>
            <a:lvl8pPr algn="l">
              <a:defRPr sz="1260" b="1">
                <a:solidFill>
                  <a:srgbClr val="0D6332"/>
                </a:solidFill>
                <a:latin typeface="Arial"/>
                <a:ea typeface="Arial"/>
                <a:cs typeface="Arial"/>
              </a:defRPr>
            </a:lvl8pPr>
            <a:lvl9pPr algn="l">
              <a:defRPr sz="1260" b="1">
                <a:solidFill>
                  <a:srgbClr val="0D6332"/>
                </a:solidFill>
                <a:latin typeface="Arial"/>
                <a:ea typeface="Arial"/>
                <a:cs typeface="Arial"/>
              </a:defRPr>
            </a:lvl9pPr>
          </a:lstStyle>
          <a:p xmlns:a="http://schemas.openxmlformats.org/drawingml/2006/main">
            <a:pPr algn="l">
              <a:defRPr sz="1260" b="1">
                <a:solidFill>
                  <a:srgbClr val="0D6332"/>
                </a:solidFill>
                <a:latin typeface="Arial"/>
                <a:ea typeface="Arial"/>
                <a:cs typeface="Arial"/>
              </a:defRPr>
            </a:pPr>
            <a:r>
              <a:rPr sz="1260" b="1">
                <a:solidFill>
                  <a:srgbClr val="0D6332"/>
                </a:solidFill>
                <a:latin typeface="Arial"/>
                <a:ea typeface="Arial"/>
                <a:cs typeface="Arial"/>
              </a:rPr>
              <a:t>Supported</a:t>
            </a:r>
          </a:p>
        </p:txBody>
      </p:sp>
      <p:sp>
        <p:nvSpPr>
          <p:cNvPr id="27" name="">
            <a:extLst xmlns:a="http://schemas.openxmlformats.org/drawingml/2006/main">
              <a:ext uri="{FF2B5EF4-FFF2-40B4-BE49-F238E27FC236}">
                <a16:creationId xmlns:a16="http://schemas.microsoft.com/office/drawing/2014/main" id="{CC9131D1-1359-48BC-8895-1F63DC836484}"/>
              </a:ext>
            </a:extLst>
          </p:cNvPr>
          <p:cNvSpPr>
            <a:spLocks xmlns:a="http://schemas.openxmlformats.org/drawingml/2006/main" noGrp="1"/>
          </p:cNvSpPr>
          <p:nvPr/>
        </p:nvSpPr>
        <p:spPr>
          <a:xfrm xmlns:a="http://schemas.openxmlformats.org/drawingml/2006/main">
            <a:off x="3604170" y="4480560"/>
            <a:ext cx="2186885" cy="868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26 of 198 tests survive false-discovery control</a:t>
            </a:r>
          </a:p>
        </p:txBody>
      </p:sp>
      <p:sp>
        <p:nvSpPr>
          <p:cNvPr id="28" name="">
            <a:extLst xmlns:a="http://schemas.openxmlformats.org/drawingml/2006/main">
              <a:ext uri="{FF2B5EF4-FFF2-40B4-BE49-F238E27FC236}">
                <a16:creationId xmlns:a16="http://schemas.microsoft.com/office/drawing/2014/main" id="{C610C7BA-6AA6-46A9-B70E-7B5B9D471DDC}"/>
              </a:ext>
            </a:extLst>
          </p:cNvPr>
          <p:cNvSpPr>
            <a:spLocks xmlns:a="http://schemas.openxmlformats.org/drawingml/2006/main" noGrp="1"/>
          </p:cNvSpPr>
          <p:nvPr/>
        </p:nvSpPr>
        <p:spPr>
          <a:xfrm xmlns:a="http://schemas.openxmlformats.org/drawingml/2006/main">
            <a:off x="6202525" y="1920240"/>
            <a:ext cx="2583115" cy="3581400"/>
          </a:xfrm>
          <a:prstGeom xmlns:a="http://schemas.openxmlformats.org/drawingml/2006/main" prst="rect">
            <a:avLst/>
          </a:prstGeom>
          <a:solidFill xmlns:a="http://schemas.openxmlformats.org/drawingml/2006/main">
            <a:srgbClr val="FAF8F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DF1726EC-7927-4617-976C-1BF8DADAEAA0}"/>
              </a:ext>
            </a:extLst>
          </p:cNvPr>
          <p:cNvSpPr>
            <a:spLocks xmlns:a="http://schemas.openxmlformats.org/drawingml/2006/main" noGrp="1"/>
          </p:cNvSpPr>
          <p:nvPr/>
        </p:nvSpPr>
        <p:spPr>
          <a:xfrm xmlns:a="http://schemas.openxmlformats.org/drawingml/2006/main">
            <a:off x="6202525" y="1920240"/>
            <a:ext cx="2583115" cy="3048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581E2518-2258-4A4A-9283-56FABE744FEA}"/>
              </a:ext>
            </a:extLst>
          </p:cNvPr>
          <p:cNvSpPr>
            <a:spLocks xmlns:a="http://schemas.openxmlformats.org/drawingml/2006/main" noGrp="1"/>
          </p:cNvSpPr>
          <p:nvPr/>
        </p:nvSpPr>
        <p:spPr>
          <a:xfrm xmlns:a="http://schemas.openxmlformats.org/drawingml/2006/main">
            <a:off x="6400640" y="2118360"/>
            <a:ext cx="21868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H3 · TRADABILITY</a:t>
            </a:r>
          </a:p>
        </p:txBody>
      </p:sp>
      <p:sp>
        <p:nvSpPr>
          <p:cNvPr id="31" name="">
            <a:extLst xmlns:a="http://schemas.openxmlformats.org/drawingml/2006/main">
              <a:ext uri="{FF2B5EF4-FFF2-40B4-BE49-F238E27FC236}">
                <a16:creationId xmlns:a16="http://schemas.microsoft.com/office/drawing/2014/main" id="{D6839465-AAF5-4F42-8C4C-BA8B91628F31}"/>
              </a:ext>
            </a:extLst>
          </p:cNvPr>
          <p:cNvSpPr>
            <a:spLocks xmlns:a="http://schemas.openxmlformats.org/drawingml/2006/main" noGrp="1"/>
          </p:cNvSpPr>
          <p:nvPr/>
        </p:nvSpPr>
        <p:spPr>
          <a:xfrm xmlns:a="http://schemas.openxmlformats.org/drawingml/2006/main">
            <a:off x="6400640" y="2453640"/>
            <a:ext cx="218688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620" b="0">
                <a:solidFill>
                  <a:srgbClr val="151312"/>
                </a:solidFill>
                <a:latin typeface="Georgia"/>
                <a:ea typeface="Georgia"/>
                <a:cs typeface="Georgia"/>
              </a:defRPr>
            </a:defPPr>
            <a:lvl1pPr algn="l">
              <a:defRPr sz="1620" b="0">
                <a:solidFill>
                  <a:srgbClr val="151312"/>
                </a:solidFill>
                <a:latin typeface="Georgia"/>
                <a:ea typeface="Georgia"/>
                <a:cs typeface="Georgia"/>
              </a:defRPr>
            </a:lvl1pPr>
            <a:lvl2pPr algn="l">
              <a:defRPr sz="1620" b="0">
                <a:solidFill>
                  <a:srgbClr val="151312"/>
                </a:solidFill>
                <a:latin typeface="Georgia"/>
                <a:ea typeface="Georgia"/>
                <a:cs typeface="Georgia"/>
              </a:defRPr>
            </a:lvl2pPr>
            <a:lvl3pPr algn="l">
              <a:defRPr sz="1620" b="0">
                <a:solidFill>
                  <a:srgbClr val="151312"/>
                </a:solidFill>
                <a:latin typeface="Georgia"/>
                <a:ea typeface="Georgia"/>
                <a:cs typeface="Georgia"/>
              </a:defRPr>
            </a:lvl3pPr>
            <a:lvl4pPr algn="l">
              <a:defRPr sz="1620" b="0">
                <a:solidFill>
                  <a:srgbClr val="151312"/>
                </a:solidFill>
                <a:latin typeface="Georgia"/>
                <a:ea typeface="Georgia"/>
                <a:cs typeface="Georgia"/>
              </a:defRPr>
            </a:lvl4pPr>
            <a:lvl5pPr algn="l">
              <a:defRPr sz="1620" b="0">
                <a:solidFill>
                  <a:srgbClr val="151312"/>
                </a:solidFill>
                <a:latin typeface="Georgia"/>
                <a:ea typeface="Georgia"/>
                <a:cs typeface="Georgia"/>
              </a:defRPr>
            </a:lvl5pPr>
            <a:lvl6pPr algn="l">
              <a:defRPr sz="1620" b="0">
                <a:solidFill>
                  <a:srgbClr val="151312"/>
                </a:solidFill>
                <a:latin typeface="Georgia"/>
                <a:ea typeface="Georgia"/>
                <a:cs typeface="Georgia"/>
              </a:defRPr>
            </a:lvl6pPr>
            <a:lvl7pPr algn="l">
              <a:defRPr sz="1620" b="0">
                <a:solidFill>
                  <a:srgbClr val="151312"/>
                </a:solidFill>
                <a:latin typeface="Georgia"/>
                <a:ea typeface="Georgia"/>
                <a:cs typeface="Georgia"/>
              </a:defRPr>
            </a:lvl7pPr>
            <a:lvl8pPr algn="l">
              <a:defRPr sz="1620" b="0">
                <a:solidFill>
                  <a:srgbClr val="151312"/>
                </a:solidFill>
                <a:latin typeface="Georgia"/>
                <a:ea typeface="Georgia"/>
                <a:cs typeface="Georgia"/>
              </a:defRPr>
            </a:lvl8pPr>
            <a:lvl9pPr algn="l">
              <a:defRPr sz="1620" b="0">
                <a:solidFill>
                  <a:srgbClr val="151312"/>
                </a:solidFill>
                <a:latin typeface="Georgia"/>
                <a:ea typeface="Georgia"/>
                <a:cs typeface="Georgia"/>
              </a:defRPr>
            </a:lvl9pPr>
          </a:lstStyle>
          <a:p xmlns:a="http://schemas.openxmlformats.org/drawingml/2006/main">
            <a:pPr algn="l">
              <a:defRPr sz="1620" b="0">
                <a:solidFill>
                  <a:srgbClr val="151312"/>
                </a:solidFill>
                <a:latin typeface="Georgia"/>
                <a:ea typeface="Georgia"/>
                <a:cs typeface="Georgia"/>
              </a:defRPr>
            </a:pPr>
            <a:r>
              <a:rPr sz="1620" b="0">
                <a:solidFill>
                  <a:srgbClr val="151312"/>
                </a:solidFill>
                <a:latin typeface="Georgia"/>
                <a:ea typeface="Georgia"/>
                <a:cs typeface="Georgia"/>
              </a:rPr>
              <a:t>A pre-registered next-day duration tilt beats chance</a:t>
            </a:r>
          </a:p>
        </p:txBody>
      </p:sp>
      <p:sp>
        <p:nvSpPr>
          <p:cNvPr id="32" name="">
            <a:extLst xmlns:a="http://schemas.openxmlformats.org/drawingml/2006/main">
              <a:ext uri="{FF2B5EF4-FFF2-40B4-BE49-F238E27FC236}">
                <a16:creationId xmlns:a16="http://schemas.microsoft.com/office/drawing/2014/main" id="{01A35928-BCAA-4381-9560-6AFE8102F46E}"/>
              </a:ext>
            </a:extLst>
          </p:cNvPr>
          <p:cNvSpPr>
            <a:spLocks xmlns:a="http://schemas.openxmlformats.org/drawingml/2006/main" noGrp="1"/>
          </p:cNvSpPr>
          <p:nvPr/>
        </p:nvSpPr>
        <p:spPr>
          <a:xfrm xmlns:a="http://schemas.openxmlformats.org/drawingml/2006/main">
            <a:off x="6400640" y="3749040"/>
            <a:ext cx="2186885" cy="548640"/>
          </a:xfrm>
          <a:prstGeom xmlns:a="http://schemas.openxmlformats.org/drawingml/2006/main" prst="rect">
            <a:avLst/>
          </a:prstGeom>
          <a:solidFill xmlns:a="http://schemas.openxmlformats.org/drawingml/2006/main">
            <a:srgbClr val="F5E0DA"/>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34068B1-CA37-417F-B0A2-2F9BAE533460}"/>
              </a:ext>
            </a:extLst>
          </p:cNvPr>
          <p:cNvSpPr>
            <a:spLocks xmlns:a="http://schemas.openxmlformats.org/drawingml/2006/main" noGrp="1"/>
          </p:cNvSpPr>
          <p:nvPr/>
        </p:nvSpPr>
        <p:spPr>
          <a:xfrm xmlns:a="http://schemas.openxmlformats.org/drawingml/2006/main">
            <a:off x="6507317" y="3749040"/>
            <a:ext cx="1973531"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1">
                <a:solidFill>
                  <a:srgbClr val="AE2513"/>
                </a:solidFill>
                <a:latin typeface="Arial"/>
                <a:ea typeface="Arial"/>
                <a:cs typeface="Arial"/>
              </a:defRPr>
            </a:defPPr>
            <a:lvl1pPr algn="l">
              <a:defRPr sz="1260" b="1">
                <a:solidFill>
                  <a:srgbClr val="AE2513"/>
                </a:solidFill>
                <a:latin typeface="Arial"/>
                <a:ea typeface="Arial"/>
                <a:cs typeface="Arial"/>
              </a:defRPr>
            </a:lvl1pPr>
            <a:lvl2pPr algn="l">
              <a:defRPr sz="1260" b="1">
                <a:solidFill>
                  <a:srgbClr val="AE2513"/>
                </a:solidFill>
                <a:latin typeface="Arial"/>
                <a:ea typeface="Arial"/>
                <a:cs typeface="Arial"/>
              </a:defRPr>
            </a:lvl2pPr>
            <a:lvl3pPr algn="l">
              <a:defRPr sz="1260" b="1">
                <a:solidFill>
                  <a:srgbClr val="AE2513"/>
                </a:solidFill>
                <a:latin typeface="Arial"/>
                <a:ea typeface="Arial"/>
                <a:cs typeface="Arial"/>
              </a:defRPr>
            </a:lvl3pPr>
            <a:lvl4pPr algn="l">
              <a:defRPr sz="1260" b="1">
                <a:solidFill>
                  <a:srgbClr val="AE2513"/>
                </a:solidFill>
                <a:latin typeface="Arial"/>
                <a:ea typeface="Arial"/>
                <a:cs typeface="Arial"/>
              </a:defRPr>
            </a:lvl4pPr>
            <a:lvl5pPr algn="l">
              <a:defRPr sz="1260" b="1">
                <a:solidFill>
                  <a:srgbClr val="AE2513"/>
                </a:solidFill>
                <a:latin typeface="Arial"/>
                <a:ea typeface="Arial"/>
                <a:cs typeface="Arial"/>
              </a:defRPr>
            </a:lvl5pPr>
            <a:lvl6pPr algn="l">
              <a:defRPr sz="1260" b="1">
                <a:solidFill>
                  <a:srgbClr val="AE2513"/>
                </a:solidFill>
                <a:latin typeface="Arial"/>
                <a:ea typeface="Arial"/>
                <a:cs typeface="Arial"/>
              </a:defRPr>
            </a:lvl6pPr>
            <a:lvl7pPr algn="l">
              <a:defRPr sz="1260" b="1">
                <a:solidFill>
                  <a:srgbClr val="AE2513"/>
                </a:solidFill>
                <a:latin typeface="Arial"/>
                <a:ea typeface="Arial"/>
                <a:cs typeface="Arial"/>
              </a:defRPr>
            </a:lvl7pPr>
            <a:lvl8pPr algn="l">
              <a:defRPr sz="1260" b="1">
                <a:solidFill>
                  <a:srgbClr val="AE2513"/>
                </a:solidFill>
                <a:latin typeface="Arial"/>
                <a:ea typeface="Arial"/>
                <a:cs typeface="Arial"/>
              </a:defRPr>
            </a:lvl8pPr>
            <a:lvl9pPr algn="l">
              <a:defRPr sz="1260" b="1">
                <a:solidFill>
                  <a:srgbClr val="AE2513"/>
                </a:solidFill>
                <a:latin typeface="Arial"/>
                <a:ea typeface="Arial"/>
                <a:cs typeface="Arial"/>
              </a:defRPr>
            </a:lvl9pPr>
          </a:lstStyle>
          <a:p xmlns:a="http://schemas.openxmlformats.org/drawingml/2006/main">
            <a:pPr algn="l">
              <a:defRPr sz="1260" b="1">
                <a:solidFill>
                  <a:srgbClr val="AE2513"/>
                </a:solidFill>
                <a:latin typeface="Arial"/>
                <a:ea typeface="Arial"/>
                <a:cs typeface="Arial"/>
              </a:defRPr>
            </a:pPr>
            <a:r>
              <a:rPr sz="1260" b="1">
                <a:solidFill>
                  <a:srgbClr val="AE2513"/>
                </a:solidFill>
                <a:latin typeface="Arial"/>
                <a:ea typeface="Arial"/>
                <a:cs typeface="Arial"/>
              </a:rPr>
              <a:t>Not supported</a:t>
            </a:r>
          </a:p>
        </p:txBody>
      </p:sp>
      <p:sp>
        <p:nvSpPr>
          <p:cNvPr id="34" name="">
            <a:extLst xmlns:a="http://schemas.openxmlformats.org/drawingml/2006/main">
              <a:ext uri="{FF2B5EF4-FFF2-40B4-BE49-F238E27FC236}">
                <a16:creationId xmlns:a16="http://schemas.microsoft.com/office/drawing/2014/main" id="{358CA115-7165-4015-BA60-CE07EFB4B9EE}"/>
              </a:ext>
            </a:extLst>
          </p:cNvPr>
          <p:cNvSpPr>
            <a:spLocks xmlns:a="http://schemas.openxmlformats.org/drawingml/2006/main" noGrp="1"/>
          </p:cNvSpPr>
          <p:nvPr/>
        </p:nvSpPr>
        <p:spPr>
          <a:xfrm xmlns:a="http://schemas.openxmlformats.org/drawingml/2006/main">
            <a:off x="6400640" y="4480560"/>
            <a:ext cx="2186885" cy="868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Sharpe −0.18, placebo p = 0.28</a:t>
            </a:r>
          </a:p>
        </p:txBody>
      </p:sp>
      <p:sp>
        <p:nvSpPr>
          <p:cNvPr id="35" name="">
            <a:extLst xmlns:a="http://schemas.openxmlformats.org/drawingml/2006/main">
              <a:ext uri="{FF2B5EF4-FFF2-40B4-BE49-F238E27FC236}">
                <a16:creationId xmlns:a16="http://schemas.microsoft.com/office/drawing/2014/main" id="{1CCEE53D-BA17-46B6-A164-5EBFCBDEFBD8}"/>
              </a:ext>
            </a:extLst>
          </p:cNvPr>
          <p:cNvSpPr>
            <a:spLocks xmlns:a="http://schemas.openxmlformats.org/drawingml/2006/main" noGrp="1"/>
          </p:cNvSpPr>
          <p:nvPr/>
        </p:nvSpPr>
        <p:spPr>
          <a:xfrm xmlns:a="http://schemas.openxmlformats.org/drawingml/2006/main">
            <a:off x="8998995" y="1920240"/>
            <a:ext cx="2583115" cy="3581400"/>
          </a:xfrm>
          <a:prstGeom xmlns:a="http://schemas.openxmlformats.org/drawingml/2006/main" prst="rect">
            <a:avLst/>
          </a:prstGeom>
          <a:solidFill xmlns:a="http://schemas.openxmlformats.org/drawingml/2006/main">
            <a:srgbClr val="FAF8F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F5AE1CDA-316D-4BFD-9579-FDB7BEFE4A32}"/>
              </a:ext>
            </a:extLst>
          </p:cNvPr>
          <p:cNvSpPr>
            <a:spLocks xmlns:a="http://schemas.openxmlformats.org/drawingml/2006/main" noGrp="1"/>
          </p:cNvSpPr>
          <p:nvPr/>
        </p:nvSpPr>
        <p:spPr>
          <a:xfrm xmlns:a="http://schemas.openxmlformats.org/drawingml/2006/main">
            <a:off x="8998995" y="1920240"/>
            <a:ext cx="2583115" cy="3048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5E50DC17-6835-4E89-AD27-C0F55D297CF6}"/>
              </a:ext>
            </a:extLst>
          </p:cNvPr>
          <p:cNvSpPr>
            <a:spLocks xmlns:a="http://schemas.openxmlformats.org/drawingml/2006/main" noGrp="1"/>
          </p:cNvSpPr>
          <p:nvPr/>
        </p:nvSpPr>
        <p:spPr>
          <a:xfrm xmlns:a="http://schemas.openxmlformats.org/drawingml/2006/main">
            <a:off x="9197110" y="2118360"/>
            <a:ext cx="21868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H4 · CONTAMINATION</a:t>
            </a:r>
          </a:p>
        </p:txBody>
      </p:sp>
      <p:sp>
        <p:nvSpPr>
          <p:cNvPr id="38" name="">
            <a:extLst xmlns:a="http://schemas.openxmlformats.org/drawingml/2006/main">
              <a:ext uri="{FF2B5EF4-FFF2-40B4-BE49-F238E27FC236}">
                <a16:creationId xmlns:a16="http://schemas.microsoft.com/office/drawing/2014/main" id="{1222B5F2-3E09-48D4-A37E-4A24A1057ADF}"/>
              </a:ext>
            </a:extLst>
          </p:cNvPr>
          <p:cNvSpPr>
            <a:spLocks xmlns:a="http://schemas.openxmlformats.org/drawingml/2006/main" noGrp="1"/>
          </p:cNvSpPr>
          <p:nvPr/>
        </p:nvSpPr>
        <p:spPr>
          <a:xfrm xmlns:a="http://schemas.openxmlformats.org/drawingml/2006/main">
            <a:off x="9197110" y="2453640"/>
            <a:ext cx="218688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620" b="0">
                <a:solidFill>
                  <a:srgbClr val="151312"/>
                </a:solidFill>
                <a:latin typeface="Georgia"/>
                <a:ea typeface="Georgia"/>
                <a:cs typeface="Georgia"/>
              </a:defRPr>
            </a:defPPr>
            <a:lvl1pPr algn="l">
              <a:defRPr sz="1620" b="0">
                <a:solidFill>
                  <a:srgbClr val="151312"/>
                </a:solidFill>
                <a:latin typeface="Georgia"/>
                <a:ea typeface="Georgia"/>
                <a:cs typeface="Georgia"/>
              </a:defRPr>
            </a:lvl1pPr>
            <a:lvl2pPr algn="l">
              <a:defRPr sz="1620" b="0">
                <a:solidFill>
                  <a:srgbClr val="151312"/>
                </a:solidFill>
                <a:latin typeface="Georgia"/>
                <a:ea typeface="Georgia"/>
                <a:cs typeface="Georgia"/>
              </a:defRPr>
            </a:lvl2pPr>
            <a:lvl3pPr algn="l">
              <a:defRPr sz="1620" b="0">
                <a:solidFill>
                  <a:srgbClr val="151312"/>
                </a:solidFill>
                <a:latin typeface="Georgia"/>
                <a:ea typeface="Georgia"/>
                <a:cs typeface="Georgia"/>
              </a:defRPr>
            </a:lvl3pPr>
            <a:lvl4pPr algn="l">
              <a:defRPr sz="1620" b="0">
                <a:solidFill>
                  <a:srgbClr val="151312"/>
                </a:solidFill>
                <a:latin typeface="Georgia"/>
                <a:ea typeface="Georgia"/>
                <a:cs typeface="Georgia"/>
              </a:defRPr>
            </a:lvl4pPr>
            <a:lvl5pPr algn="l">
              <a:defRPr sz="1620" b="0">
                <a:solidFill>
                  <a:srgbClr val="151312"/>
                </a:solidFill>
                <a:latin typeface="Georgia"/>
                <a:ea typeface="Georgia"/>
                <a:cs typeface="Georgia"/>
              </a:defRPr>
            </a:lvl5pPr>
            <a:lvl6pPr algn="l">
              <a:defRPr sz="1620" b="0">
                <a:solidFill>
                  <a:srgbClr val="151312"/>
                </a:solidFill>
                <a:latin typeface="Georgia"/>
                <a:ea typeface="Georgia"/>
                <a:cs typeface="Georgia"/>
              </a:defRPr>
            </a:lvl6pPr>
            <a:lvl7pPr algn="l">
              <a:defRPr sz="1620" b="0">
                <a:solidFill>
                  <a:srgbClr val="151312"/>
                </a:solidFill>
                <a:latin typeface="Georgia"/>
                <a:ea typeface="Georgia"/>
                <a:cs typeface="Georgia"/>
              </a:defRPr>
            </a:lvl7pPr>
            <a:lvl8pPr algn="l">
              <a:defRPr sz="1620" b="0">
                <a:solidFill>
                  <a:srgbClr val="151312"/>
                </a:solidFill>
                <a:latin typeface="Georgia"/>
                <a:ea typeface="Georgia"/>
                <a:cs typeface="Georgia"/>
              </a:defRPr>
            </a:lvl8pPr>
            <a:lvl9pPr algn="l">
              <a:defRPr sz="1620" b="0">
                <a:solidFill>
                  <a:srgbClr val="151312"/>
                </a:solidFill>
                <a:latin typeface="Georgia"/>
                <a:ea typeface="Georgia"/>
                <a:cs typeface="Georgia"/>
              </a:defRPr>
            </a:lvl9pPr>
          </a:lstStyle>
          <a:p xmlns:a="http://schemas.openxmlformats.org/drawingml/2006/main">
            <a:pPr algn="l">
              <a:defRPr sz="1620" b="0">
                <a:solidFill>
                  <a:srgbClr val="151312"/>
                </a:solidFill>
                <a:latin typeface="Georgia"/>
                <a:ea typeface="Georgia"/>
                <a:cs typeface="Georgia"/>
              </a:defRPr>
            </a:pPr>
            <a:r>
              <a:rPr sz="1620" b="0">
                <a:solidFill>
                  <a:srgbClr val="151312"/>
                </a:solidFill>
                <a:latin typeface="Georgia"/>
                <a:ea typeface="Georgia"/>
                <a:cs typeface="Georgia"/>
              </a:rPr>
              <a:t>Masked scores are stable; recognition risk remains</a:t>
            </a:r>
          </a:p>
        </p:txBody>
      </p:sp>
      <p:sp>
        <p:nvSpPr>
          <p:cNvPr id="39" name="">
            <a:extLst xmlns:a="http://schemas.openxmlformats.org/drawingml/2006/main">
              <a:ext uri="{FF2B5EF4-FFF2-40B4-BE49-F238E27FC236}">
                <a16:creationId xmlns:a16="http://schemas.microsoft.com/office/drawing/2014/main" id="{0A24FDB3-E9D8-4EA2-B919-C6B857E2B879}"/>
              </a:ext>
            </a:extLst>
          </p:cNvPr>
          <p:cNvSpPr>
            <a:spLocks xmlns:a="http://schemas.openxmlformats.org/drawingml/2006/main" noGrp="1"/>
          </p:cNvSpPr>
          <p:nvPr/>
        </p:nvSpPr>
        <p:spPr>
          <a:xfrm xmlns:a="http://schemas.openxmlformats.org/drawingml/2006/main">
            <a:off x="9197110" y="3749040"/>
            <a:ext cx="2186885" cy="548640"/>
          </a:xfrm>
          <a:prstGeom xmlns:a="http://schemas.openxmlformats.org/drawingml/2006/main" prst="rect">
            <a:avLst/>
          </a:prstGeom>
          <a:solidFill xmlns:a="http://schemas.openxmlformats.org/drawingml/2006/main">
            <a:srgbClr val="F2E7D2"/>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C88C1EEF-8F60-4963-ACFC-BB92EE10D6C2}"/>
              </a:ext>
            </a:extLst>
          </p:cNvPr>
          <p:cNvSpPr>
            <a:spLocks xmlns:a="http://schemas.openxmlformats.org/drawingml/2006/main" noGrp="1"/>
          </p:cNvSpPr>
          <p:nvPr/>
        </p:nvSpPr>
        <p:spPr>
          <a:xfrm xmlns:a="http://schemas.openxmlformats.org/drawingml/2006/main">
            <a:off x="9303787" y="3749040"/>
            <a:ext cx="1973531"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1">
                <a:solidFill>
                  <a:srgbClr val="84550F"/>
                </a:solidFill>
                <a:latin typeface="Arial"/>
                <a:ea typeface="Arial"/>
                <a:cs typeface="Arial"/>
              </a:defRPr>
            </a:defPPr>
            <a:lvl1pPr algn="l">
              <a:defRPr sz="1260" b="1">
                <a:solidFill>
                  <a:srgbClr val="84550F"/>
                </a:solidFill>
                <a:latin typeface="Arial"/>
                <a:ea typeface="Arial"/>
                <a:cs typeface="Arial"/>
              </a:defRPr>
            </a:lvl1pPr>
            <a:lvl2pPr algn="l">
              <a:defRPr sz="1260" b="1">
                <a:solidFill>
                  <a:srgbClr val="84550F"/>
                </a:solidFill>
                <a:latin typeface="Arial"/>
                <a:ea typeface="Arial"/>
                <a:cs typeface="Arial"/>
              </a:defRPr>
            </a:lvl2pPr>
            <a:lvl3pPr algn="l">
              <a:defRPr sz="1260" b="1">
                <a:solidFill>
                  <a:srgbClr val="84550F"/>
                </a:solidFill>
                <a:latin typeface="Arial"/>
                <a:ea typeface="Arial"/>
                <a:cs typeface="Arial"/>
              </a:defRPr>
            </a:lvl3pPr>
            <a:lvl4pPr algn="l">
              <a:defRPr sz="1260" b="1">
                <a:solidFill>
                  <a:srgbClr val="84550F"/>
                </a:solidFill>
                <a:latin typeface="Arial"/>
                <a:ea typeface="Arial"/>
                <a:cs typeface="Arial"/>
              </a:defRPr>
            </a:lvl4pPr>
            <a:lvl5pPr algn="l">
              <a:defRPr sz="1260" b="1">
                <a:solidFill>
                  <a:srgbClr val="84550F"/>
                </a:solidFill>
                <a:latin typeface="Arial"/>
                <a:ea typeface="Arial"/>
                <a:cs typeface="Arial"/>
              </a:defRPr>
            </a:lvl5pPr>
            <a:lvl6pPr algn="l">
              <a:defRPr sz="1260" b="1">
                <a:solidFill>
                  <a:srgbClr val="84550F"/>
                </a:solidFill>
                <a:latin typeface="Arial"/>
                <a:ea typeface="Arial"/>
                <a:cs typeface="Arial"/>
              </a:defRPr>
            </a:lvl6pPr>
            <a:lvl7pPr algn="l">
              <a:defRPr sz="1260" b="1">
                <a:solidFill>
                  <a:srgbClr val="84550F"/>
                </a:solidFill>
                <a:latin typeface="Arial"/>
                <a:ea typeface="Arial"/>
                <a:cs typeface="Arial"/>
              </a:defRPr>
            </a:lvl7pPr>
            <a:lvl8pPr algn="l">
              <a:defRPr sz="1260" b="1">
                <a:solidFill>
                  <a:srgbClr val="84550F"/>
                </a:solidFill>
                <a:latin typeface="Arial"/>
                <a:ea typeface="Arial"/>
                <a:cs typeface="Arial"/>
              </a:defRPr>
            </a:lvl8pPr>
            <a:lvl9pPr algn="l">
              <a:defRPr sz="1260" b="1">
                <a:solidFill>
                  <a:srgbClr val="84550F"/>
                </a:solidFill>
                <a:latin typeface="Arial"/>
                <a:ea typeface="Arial"/>
                <a:cs typeface="Arial"/>
              </a:defRPr>
            </a:lvl9pPr>
          </a:lstStyle>
          <a:p xmlns:a="http://schemas.openxmlformats.org/drawingml/2006/main">
            <a:pPr algn="l">
              <a:defRPr sz="1260" b="1">
                <a:solidFill>
                  <a:srgbClr val="84550F"/>
                </a:solidFill>
                <a:latin typeface="Arial"/>
                <a:ea typeface="Arial"/>
                <a:cs typeface="Arial"/>
              </a:defRPr>
            </a:pPr>
            <a:r>
              <a:rPr sz="1260" b="1">
                <a:solidFill>
                  <a:srgbClr val="84550F"/>
                </a:solidFill>
                <a:latin typeface="Arial"/>
                <a:ea typeface="Arial"/>
                <a:cs typeface="Arial"/>
              </a:rPr>
              <a:t>Mixed</a:t>
            </a:r>
          </a:p>
        </p:txBody>
      </p:sp>
      <p:sp>
        <p:nvSpPr>
          <p:cNvPr id="41" name="">
            <a:extLst xmlns:a="http://schemas.openxmlformats.org/drawingml/2006/main">
              <a:ext uri="{FF2B5EF4-FFF2-40B4-BE49-F238E27FC236}">
                <a16:creationId xmlns:a16="http://schemas.microsoft.com/office/drawing/2014/main" id="{A90BEB20-40A9-4183-8D1C-9C2D7F3F8E51}"/>
              </a:ext>
            </a:extLst>
          </p:cNvPr>
          <p:cNvSpPr>
            <a:spLocks xmlns:a="http://schemas.openxmlformats.org/drawingml/2006/main" noGrp="1"/>
          </p:cNvSpPr>
          <p:nvPr/>
        </p:nvSpPr>
        <p:spPr>
          <a:xfrm xmlns:a="http://schemas.openxmlformats.org/drawingml/2006/main">
            <a:off x="9197110" y="4480560"/>
            <a:ext cx="2186885" cy="868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Dates 99% of masked statements, yet masked scores track raw ones (r = 0.99)</a:t>
            </a:r>
          </a:p>
        </p:txBody>
      </p:sp>
    </p:spTree>
    <p:extLst>
      <p:ext uri="{BB962C8B-B14F-4D97-AF65-F5344CB8AC3E}">
        <p14:creationId xmlns:p14="http://schemas.microsoft.com/office/powerpoint/2010/main" val="600699637"/>
      </p:ext>
    </p:extLst>
  </p:cSld>
</p:sld>
</file>

<file path=ppt/slides/slide7.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D9CDE06-A7CA-481A-B532-AF0659325C47}"/>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8F197708-063A-4DF6-AC8E-E777FBF867E3}"/>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QUESTION AND DATA</a:t>
            </a:r>
          </a:p>
        </p:txBody>
      </p:sp>
      <p:sp>
        <p:nvSpPr>
          <p:cNvPr id="3" name="">
            <a:extLst xmlns:a="http://schemas.openxmlformats.org/drawingml/2006/main">
              <a:ext uri="{FF2B5EF4-FFF2-40B4-BE49-F238E27FC236}">
                <a16:creationId xmlns:a16="http://schemas.microsoft.com/office/drawing/2014/main" id="{A7E2BB33-83A7-4CF8-A4FE-5BEE241808CC}"/>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7 / 46</a:t>
            </a:r>
          </a:p>
        </p:txBody>
      </p:sp>
      <p:sp>
        <p:nvSpPr>
          <p:cNvPr id="4" name="">
            <a:extLst xmlns:a="http://schemas.openxmlformats.org/drawingml/2006/main">
              <a:ext uri="{FF2B5EF4-FFF2-40B4-BE49-F238E27FC236}">
                <a16:creationId xmlns:a16="http://schemas.microsoft.com/office/drawing/2014/main" id="{F9722F43-E9AA-4D65-BD11-9C837A12E6C8}"/>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9E81553-770C-453E-856C-0F7732DA195D}"/>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Every Fed document since 2009</a:t>
            </a:r>
          </a:p>
        </p:txBody>
      </p:sp>
      <p:sp>
        <p:nvSpPr>
          <p:cNvPr id="6" name="">
            <a:extLst xmlns:a="http://schemas.openxmlformats.org/drawingml/2006/main">
              <a:ext uri="{FF2B5EF4-FFF2-40B4-BE49-F238E27FC236}">
                <a16:creationId xmlns:a16="http://schemas.microsoft.com/office/drawing/2014/main" id="{D7B80EFF-7163-480A-8643-F4898424B573}"/>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Fed source text, recorded release times, and consistent cleaning</a:t>
            </a:r>
          </a:p>
        </p:txBody>
      </p:sp>
      <p:sp>
        <p:nvSpPr>
          <p:cNvPr id="7" name="">
            <a:extLst xmlns:a="http://schemas.openxmlformats.org/drawingml/2006/main">
              <a:ext uri="{FF2B5EF4-FFF2-40B4-BE49-F238E27FC236}">
                <a16:creationId xmlns:a16="http://schemas.microsoft.com/office/drawing/2014/main" id="{90640C16-F51B-4FE7-9C8B-81422FA62C2A}"/>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88279A6-F62A-4017-AF22-B8B0324C24BB}"/>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Federal Reserve Board website: FOMC calendar, statements, minutes, press conferences and speeches.</a:t>
            </a:r>
          </a:p>
        </p:txBody>
      </p:sp>
      <p:sp>
        <p:nvSpPr>
          <p:cNvPr id="9" name="">
            <a:extLst xmlns:a="http://schemas.openxmlformats.org/drawingml/2006/main">
              <a:ext uri="{FF2B5EF4-FFF2-40B4-BE49-F238E27FC236}">
                <a16:creationId xmlns:a16="http://schemas.microsoft.com/office/drawing/2014/main" id="{06407EC5-94C5-4673-99A0-F37CC0266808}"/>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7BB4814-3829-4918-B73C-9391B1838C7A}"/>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4D56573-D160-4DD2-955D-3D43A0C53F1F}"/>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BD9B974-F9E5-4849-A4B5-923F9A8E692E}"/>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5670987-C72E-40EF-92C3-0CAD59BAC955}"/>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68177F9-0BA6-4599-91C7-0121D08F286A}"/>
              </a:ext>
            </a:extLst>
          </p:cNvPr>
          <p:cNvSpPr>
            <a:spLocks xmlns:a="http://schemas.openxmlformats.org/drawingml/2006/main" noGrp="1"/>
          </p:cNvSpPr>
          <p:nvPr/>
        </p:nvSpPr>
        <p:spPr>
          <a:xfrm xmlns:a="http://schemas.openxmlformats.org/drawingml/2006/main">
            <a:off x="609585" y="1920240"/>
            <a:ext cx="1737317"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960" b="1">
                <a:solidFill>
                  <a:srgbClr val="151312"/>
                </a:solidFill>
                <a:latin typeface="Arial"/>
                <a:ea typeface="Arial"/>
                <a:cs typeface="Arial"/>
              </a:defRPr>
            </a:defPPr>
            <a:lvl1pPr algn="l">
              <a:defRPr sz="3960" b="1">
                <a:solidFill>
                  <a:srgbClr val="151312"/>
                </a:solidFill>
                <a:latin typeface="Arial"/>
                <a:ea typeface="Arial"/>
                <a:cs typeface="Arial"/>
              </a:defRPr>
            </a:lvl1pPr>
            <a:lvl2pPr algn="l">
              <a:defRPr sz="3960" b="1">
                <a:solidFill>
                  <a:srgbClr val="151312"/>
                </a:solidFill>
                <a:latin typeface="Arial"/>
                <a:ea typeface="Arial"/>
                <a:cs typeface="Arial"/>
              </a:defRPr>
            </a:lvl2pPr>
            <a:lvl3pPr algn="l">
              <a:defRPr sz="3960" b="1">
                <a:solidFill>
                  <a:srgbClr val="151312"/>
                </a:solidFill>
                <a:latin typeface="Arial"/>
                <a:ea typeface="Arial"/>
                <a:cs typeface="Arial"/>
              </a:defRPr>
            </a:lvl3pPr>
            <a:lvl4pPr algn="l">
              <a:defRPr sz="3960" b="1">
                <a:solidFill>
                  <a:srgbClr val="151312"/>
                </a:solidFill>
                <a:latin typeface="Arial"/>
                <a:ea typeface="Arial"/>
                <a:cs typeface="Arial"/>
              </a:defRPr>
            </a:lvl4pPr>
            <a:lvl5pPr algn="l">
              <a:defRPr sz="3960" b="1">
                <a:solidFill>
                  <a:srgbClr val="151312"/>
                </a:solidFill>
                <a:latin typeface="Arial"/>
                <a:ea typeface="Arial"/>
                <a:cs typeface="Arial"/>
              </a:defRPr>
            </a:lvl5pPr>
            <a:lvl6pPr algn="l">
              <a:defRPr sz="3960" b="1">
                <a:solidFill>
                  <a:srgbClr val="151312"/>
                </a:solidFill>
                <a:latin typeface="Arial"/>
                <a:ea typeface="Arial"/>
                <a:cs typeface="Arial"/>
              </a:defRPr>
            </a:lvl6pPr>
            <a:lvl7pPr algn="l">
              <a:defRPr sz="3960" b="1">
                <a:solidFill>
                  <a:srgbClr val="151312"/>
                </a:solidFill>
                <a:latin typeface="Arial"/>
                <a:ea typeface="Arial"/>
                <a:cs typeface="Arial"/>
              </a:defRPr>
            </a:lvl7pPr>
            <a:lvl8pPr algn="l">
              <a:defRPr sz="3960" b="1">
                <a:solidFill>
                  <a:srgbClr val="151312"/>
                </a:solidFill>
                <a:latin typeface="Arial"/>
                <a:ea typeface="Arial"/>
                <a:cs typeface="Arial"/>
              </a:defRPr>
            </a:lvl8pPr>
            <a:lvl9pPr algn="l">
              <a:defRPr sz="3960" b="1">
                <a:solidFill>
                  <a:srgbClr val="151312"/>
                </a:solidFill>
                <a:latin typeface="Arial"/>
                <a:ea typeface="Arial"/>
                <a:cs typeface="Arial"/>
              </a:defRPr>
            </a:lvl9pPr>
          </a:lstStyle>
          <a:p xmlns:a="http://schemas.openxmlformats.org/drawingml/2006/main">
            <a:pPr algn="l">
              <a:defRPr sz="3960" b="1">
                <a:solidFill>
                  <a:srgbClr val="151312"/>
                </a:solidFill>
                <a:latin typeface="Arial"/>
                <a:ea typeface="Arial"/>
                <a:cs typeface="Arial"/>
              </a:defRPr>
            </a:pPr>
            <a:r>
              <a:rPr sz="3960" b="1">
                <a:solidFill>
                  <a:srgbClr val="151312"/>
                </a:solidFill>
                <a:latin typeface="Arial"/>
                <a:ea typeface="Arial"/>
                <a:cs typeface="Arial"/>
              </a:rPr>
              <a:t>1,509</a:t>
            </a:r>
          </a:p>
        </p:txBody>
      </p:sp>
      <p:sp>
        <p:nvSpPr>
          <p:cNvPr id="15" name="">
            <a:extLst xmlns:a="http://schemas.openxmlformats.org/drawingml/2006/main">
              <a:ext uri="{FF2B5EF4-FFF2-40B4-BE49-F238E27FC236}">
                <a16:creationId xmlns:a16="http://schemas.microsoft.com/office/drawing/2014/main" id="{45C38101-D41B-4568-AF4B-A270CDAD1D94}"/>
              </a:ext>
            </a:extLst>
          </p:cNvPr>
          <p:cNvSpPr>
            <a:spLocks xmlns:a="http://schemas.openxmlformats.org/drawingml/2006/main" noGrp="1"/>
          </p:cNvSpPr>
          <p:nvPr/>
        </p:nvSpPr>
        <p:spPr>
          <a:xfrm xmlns:a="http://schemas.openxmlformats.org/drawingml/2006/main">
            <a:off x="2514537" y="1927860"/>
            <a:ext cx="2133547"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statements, minutes, press conferences and Board speeches; 4.5M words</a:t>
            </a:r>
          </a:p>
        </p:txBody>
      </p:sp>
      <p:sp>
        <p:nvSpPr>
          <p:cNvPr id="16" name="">
            <a:extLst xmlns:a="http://schemas.openxmlformats.org/drawingml/2006/main">
              <a:ext uri="{FF2B5EF4-FFF2-40B4-BE49-F238E27FC236}">
                <a16:creationId xmlns:a16="http://schemas.microsoft.com/office/drawing/2014/main" id="{F7C0EADE-00A1-4A90-A765-A0A6DBCB46AE}"/>
              </a:ext>
            </a:extLst>
          </p:cNvPr>
          <p:cNvSpPr>
            <a:spLocks xmlns:a="http://schemas.openxmlformats.org/drawingml/2006/main" noGrp="1"/>
          </p:cNvSpPr>
          <p:nvPr/>
        </p:nvSpPr>
        <p:spPr>
          <a:xfrm xmlns:a="http://schemas.openxmlformats.org/drawingml/2006/main">
            <a:off x="4830959" y="2004060"/>
            <a:ext cx="7620" cy="5334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A615013-DB78-48DC-8C5E-F63F74789001}"/>
              </a:ext>
            </a:extLst>
          </p:cNvPr>
          <p:cNvSpPr>
            <a:spLocks xmlns:a="http://schemas.openxmlformats.org/drawingml/2006/main" noGrp="1"/>
          </p:cNvSpPr>
          <p:nvPr/>
        </p:nvSpPr>
        <p:spPr>
          <a:xfrm xmlns:a="http://schemas.openxmlformats.org/drawingml/2006/main">
            <a:off x="4968116" y="1920240"/>
            <a:ext cx="1424904"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0">
                <a:solidFill>
                  <a:srgbClr val="45413C"/>
                </a:solidFill>
                <a:latin typeface="Arial"/>
                <a:ea typeface="Arial"/>
                <a:cs typeface="Arial"/>
              </a:defRPr>
            </a:defPPr>
            <a:lvl1pPr algn="l">
              <a:defRPr sz="1140" b="0">
                <a:solidFill>
                  <a:srgbClr val="45413C"/>
                </a:solidFill>
                <a:latin typeface="Arial"/>
                <a:ea typeface="Arial"/>
                <a:cs typeface="Arial"/>
              </a:defRPr>
            </a:lvl1pPr>
            <a:lvl2pPr algn="l">
              <a:defRPr sz="1140" b="0">
                <a:solidFill>
                  <a:srgbClr val="45413C"/>
                </a:solidFill>
                <a:latin typeface="Arial"/>
                <a:ea typeface="Arial"/>
                <a:cs typeface="Arial"/>
              </a:defRPr>
            </a:lvl2pPr>
            <a:lvl3pPr algn="l">
              <a:defRPr sz="1140" b="0">
                <a:solidFill>
                  <a:srgbClr val="45413C"/>
                </a:solidFill>
                <a:latin typeface="Arial"/>
                <a:ea typeface="Arial"/>
                <a:cs typeface="Arial"/>
              </a:defRPr>
            </a:lvl3pPr>
            <a:lvl4pPr algn="l">
              <a:defRPr sz="1140" b="0">
                <a:solidFill>
                  <a:srgbClr val="45413C"/>
                </a:solidFill>
                <a:latin typeface="Arial"/>
                <a:ea typeface="Arial"/>
                <a:cs typeface="Arial"/>
              </a:defRPr>
            </a:lvl4pPr>
            <a:lvl5pPr algn="l">
              <a:defRPr sz="1140" b="0">
                <a:solidFill>
                  <a:srgbClr val="45413C"/>
                </a:solidFill>
                <a:latin typeface="Arial"/>
                <a:ea typeface="Arial"/>
                <a:cs typeface="Arial"/>
              </a:defRPr>
            </a:lvl5pPr>
            <a:lvl6pPr algn="l">
              <a:defRPr sz="1140" b="0">
                <a:solidFill>
                  <a:srgbClr val="45413C"/>
                </a:solidFill>
                <a:latin typeface="Arial"/>
                <a:ea typeface="Arial"/>
                <a:cs typeface="Arial"/>
              </a:defRPr>
            </a:lvl6pPr>
            <a:lvl7pPr algn="l">
              <a:defRPr sz="1140" b="0">
                <a:solidFill>
                  <a:srgbClr val="45413C"/>
                </a:solidFill>
                <a:latin typeface="Arial"/>
                <a:ea typeface="Arial"/>
                <a:cs typeface="Arial"/>
              </a:defRPr>
            </a:lvl7pPr>
            <a:lvl8pPr algn="l">
              <a:defRPr sz="1140" b="0">
                <a:solidFill>
                  <a:srgbClr val="45413C"/>
                </a:solidFill>
                <a:latin typeface="Arial"/>
                <a:ea typeface="Arial"/>
                <a:cs typeface="Arial"/>
              </a:defRPr>
            </a:lvl8pPr>
            <a:lvl9pPr algn="l">
              <a:defRPr sz="1140" b="0">
                <a:solidFill>
                  <a:srgbClr val="45413C"/>
                </a:solidFill>
                <a:latin typeface="Arial"/>
                <a:ea typeface="Arial"/>
                <a:cs typeface="Arial"/>
              </a:defRPr>
            </a:lvl9pPr>
          </a:lstStyle>
          <a:p xmlns:a="http://schemas.openxmlformats.org/drawingml/2006/main">
            <a:pPr algn="l">
              <a:defRPr sz="1140" b="0">
                <a:solidFill>
                  <a:srgbClr val="45413C"/>
                </a:solidFill>
                <a:latin typeface="Arial"/>
                <a:ea typeface="Arial"/>
                <a:cs typeface="Arial"/>
              </a:defRPr>
            </a:pPr>
            <a:r>
              <a:rPr sz="1140" b="0">
                <a:solidFill>
                  <a:srgbClr val="45413C"/>
                </a:solidFill>
                <a:latin typeface="Arial"/>
                <a:ea typeface="Arial"/>
                <a:cs typeface="Arial"/>
              </a:rPr>
              <a:t>149 statements; time from text or recorded convention</a:t>
            </a:r>
          </a:p>
        </p:txBody>
      </p:sp>
      <p:sp>
        <p:nvSpPr>
          <p:cNvPr id="18" name="">
            <a:extLst xmlns:a="http://schemas.openxmlformats.org/drawingml/2006/main">
              <a:ext uri="{FF2B5EF4-FFF2-40B4-BE49-F238E27FC236}">
                <a16:creationId xmlns:a16="http://schemas.microsoft.com/office/drawing/2014/main" id="{FC839154-439B-4C6E-9425-18B3EDDA97C3}"/>
              </a:ext>
            </a:extLst>
          </p:cNvPr>
          <p:cNvSpPr>
            <a:spLocks xmlns:a="http://schemas.openxmlformats.org/drawingml/2006/main" noGrp="1"/>
          </p:cNvSpPr>
          <p:nvPr/>
        </p:nvSpPr>
        <p:spPr>
          <a:xfrm xmlns:a="http://schemas.openxmlformats.org/drawingml/2006/main">
            <a:off x="6560656" y="2004060"/>
            <a:ext cx="7620" cy="5334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A3777F6-BDC9-431D-89CE-E4363765961C}"/>
              </a:ext>
            </a:extLst>
          </p:cNvPr>
          <p:cNvSpPr>
            <a:spLocks xmlns:a="http://schemas.openxmlformats.org/drawingml/2006/main" noGrp="1"/>
          </p:cNvSpPr>
          <p:nvPr/>
        </p:nvSpPr>
        <p:spPr>
          <a:xfrm xmlns:a="http://schemas.openxmlformats.org/drawingml/2006/main">
            <a:off x="6697812" y="1920240"/>
            <a:ext cx="1424904"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0">
                <a:solidFill>
                  <a:srgbClr val="45413C"/>
                </a:solidFill>
                <a:latin typeface="Arial"/>
                <a:ea typeface="Arial"/>
                <a:cs typeface="Arial"/>
              </a:defRPr>
            </a:defPPr>
            <a:lvl1pPr algn="l">
              <a:defRPr sz="1140" b="0">
                <a:solidFill>
                  <a:srgbClr val="45413C"/>
                </a:solidFill>
                <a:latin typeface="Arial"/>
                <a:ea typeface="Arial"/>
                <a:cs typeface="Arial"/>
              </a:defRPr>
            </a:lvl1pPr>
            <a:lvl2pPr algn="l">
              <a:defRPr sz="1140" b="0">
                <a:solidFill>
                  <a:srgbClr val="45413C"/>
                </a:solidFill>
                <a:latin typeface="Arial"/>
                <a:ea typeface="Arial"/>
                <a:cs typeface="Arial"/>
              </a:defRPr>
            </a:lvl2pPr>
            <a:lvl3pPr algn="l">
              <a:defRPr sz="1140" b="0">
                <a:solidFill>
                  <a:srgbClr val="45413C"/>
                </a:solidFill>
                <a:latin typeface="Arial"/>
                <a:ea typeface="Arial"/>
                <a:cs typeface="Arial"/>
              </a:defRPr>
            </a:lvl3pPr>
            <a:lvl4pPr algn="l">
              <a:defRPr sz="1140" b="0">
                <a:solidFill>
                  <a:srgbClr val="45413C"/>
                </a:solidFill>
                <a:latin typeface="Arial"/>
                <a:ea typeface="Arial"/>
                <a:cs typeface="Arial"/>
              </a:defRPr>
            </a:lvl4pPr>
            <a:lvl5pPr algn="l">
              <a:defRPr sz="1140" b="0">
                <a:solidFill>
                  <a:srgbClr val="45413C"/>
                </a:solidFill>
                <a:latin typeface="Arial"/>
                <a:ea typeface="Arial"/>
                <a:cs typeface="Arial"/>
              </a:defRPr>
            </a:lvl5pPr>
            <a:lvl6pPr algn="l">
              <a:defRPr sz="1140" b="0">
                <a:solidFill>
                  <a:srgbClr val="45413C"/>
                </a:solidFill>
                <a:latin typeface="Arial"/>
                <a:ea typeface="Arial"/>
                <a:cs typeface="Arial"/>
              </a:defRPr>
            </a:lvl6pPr>
            <a:lvl7pPr algn="l">
              <a:defRPr sz="1140" b="0">
                <a:solidFill>
                  <a:srgbClr val="45413C"/>
                </a:solidFill>
                <a:latin typeface="Arial"/>
                <a:ea typeface="Arial"/>
                <a:cs typeface="Arial"/>
              </a:defRPr>
            </a:lvl7pPr>
            <a:lvl8pPr algn="l">
              <a:defRPr sz="1140" b="0">
                <a:solidFill>
                  <a:srgbClr val="45413C"/>
                </a:solidFill>
                <a:latin typeface="Arial"/>
                <a:ea typeface="Arial"/>
                <a:cs typeface="Arial"/>
              </a:defRPr>
            </a:lvl8pPr>
            <a:lvl9pPr algn="l">
              <a:defRPr sz="1140" b="0">
                <a:solidFill>
                  <a:srgbClr val="45413C"/>
                </a:solidFill>
                <a:latin typeface="Arial"/>
                <a:ea typeface="Arial"/>
                <a:cs typeface="Arial"/>
              </a:defRPr>
            </a:lvl9pPr>
          </a:lstStyle>
          <a:p xmlns:a="http://schemas.openxmlformats.org/drawingml/2006/main">
            <a:pPr algn="l">
              <a:defRPr sz="1140" b="0">
                <a:solidFill>
                  <a:srgbClr val="45413C"/>
                </a:solidFill>
                <a:latin typeface="Arial"/>
                <a:ea typeface="Arial"/>
                <a:cs typeface="Arial"/>
              </a:defRPr>
            </a:pPr>
            <a:r>
              <a:rPr sz="1140" b="0">
                <a:solidFill>
                  <a:srgbClr val="45413C"/>
                </a:solidFill>
                <a:latin typeface="Arial"/>
                <a:ea typeface="Arial"/>
                <a:cs typeface="Arial"/>
              </a:rPr>
              <a:t>142 minutes; attendance removed</a:t>
            </a:r>
          </a:p>
        </p:txBody>
      </p:sp>
      <p:sp>
        <p:nvSpPr>
          <p:cNvPr id="20" name="">
            <a:extLst xmlns:a="http://schemas.openxmlformats.org/drawingml/2006/main">
              <a:ext uri="{FF2B5EF4-FFF2-40B4-BE49-F238E27FC236}">
                <a16:creationId xmlns:a16="http://schemas.microsoft.com/office/drawing/2014/main" id="{2275D3F2-83F0-44DD-A0D3-A06A62E3D2B6}"/>
              </a:ext>
            </a:extLst>
          </p:cNvPr>
          <p:cNvSpPr>
            <a:spLocks xmlns:a="http://schemas.openxmlformats.org/drawingml/2006/main" noGrp="1"/>
          </p:cNvSpPr>
          <p:nvPr/>
        </p:nvSpPr>
        <p:spPr>
          <a:xfrm xmlns:a="http://schemas.openxmlformats.org/drawingml/2006/main">
            <a:off x="8290353" y="2004060"/>
            <a:ext cx="7620" cy="5334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00F7B25-D711-4258-B20E-798A3127F9ED}"/>
              </a:ext>
            </a:extLst>
          </p:cNvPr>
          <p:cNvSpPr>
            <a:spLocks xmlns:a="http://schemas.openxmlformats.org/drawingml/2006/main" noGrp="1"/>
          </p:cNvSpPr>
          <p:nvPr/>
        </p:nvSpPr>
        <p:spPr>
          <a:xfrm xmlns:a="http://schemas.openxmlformats.org/drawingml/2006/main">
            <a:off x="8427509" y="1920240"/>
            <a:ext cx="1424904"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0">
                <a:solidFill>
                  <a:srgbClr val="45413C"/>
                </a:solidFill>
                <a:latin typeface="Arial"/>
                <a:ea typeface="Arial"/>
                <a:cs typeface="Arial"/>
              </a:defRPr>
            </a:defPPr>
            <a:lvl1pPr algn="l">
              <a:defRPr sz="1140" b="0">
                <a:solidFill>
                  <a:srgbClr val="45413C"/>
                </a:solidFill>
                <a:latin typeface="Arial"/>
                <a:ea typeface="Arial"/>
                <a:cs typeface="Arial"/>
              </a:defRPr>
            </a:lvl1pPr>
            <a:lvl2pPr algn="l">
              <a:defRPr sz="1140" b="0">
                <a:solidFill>
                  <a:srgbClr val="45413C"/>
                </a:solidFill>
                <a:latin typeface="Arial"/>
                <a:ea typeface="Arial"/>
                <a:cs typeface="Arial"/>
              </a:defRPr>
            </a:lvl2pPr>
            <a:lvl3pPr algn="l">
              <a:defRPr sz="1140" b="0">
                <a:solidFill>
                  <a:srgbClr val="45413C"/>
                </a:solidFill>
                <a:latin typeface="Arial"/>
                <a:ea typeface="Arial"/>
                <a:cs typeface="Arial"/>
              </a:defRPr>
            </a:lvl3pPr>
            <a:lvl4pPr algn="l">
              <a:defRPr sz="1140" b="0">
                <a:solidFill>
                  <a:srgbClr val="45413C"/>
                </a:solidFill>
                <a:latin typeface="Arial"/>
                <a:ea typeface="Arial"/>
                <a:cs typeface="Arial"/>
              </a:defRPr>
            </a:lvl4pPr>
            <a:lvl5pPr algn="l">
              <a:defRPr sz="1140" b="0">
                <a:solidFill>
                  <a:srgbClr val="45413C"/>
                </a:solidFill>
                <a:latin typeface="Arial"/>
                <a:ea typeface="Arial"/>
                <a:cs typeface="Arial"/>
              </a:defRPr>
            </a:lvl5pPr>
            <a:lvl6pPr algn="l">
              <a:defRPr sz="1140" b="0">
                <a:solidFill>
                  <a:srgbClr val="45413C"/>
                </a:solidFill>
                <a:latin typeface="Arial"/>
                <a:ea typeface="Arial"/>
                <a:cs typeface="Arial"/>
              </a:defRPr>
            </a:lvl6pPr>
            <a:lvl7pPr algn="l">
              <a:defRPr sz="1140" b="0">
                <a:solidFill>
                  <a:srgbClr val="45413C"/>
                </a:solidFill>
                <a:latin typeface="Arial"/>
                <a:ea typeface="Arial"/>
                <a:cs typeface="Arial"/>
              </a:defRPr>
            </a:lvl7pPr>
            <a:lvl8pPr algn="l">
              <a:defRPr sz="1140" b="0">
                <a:solidFill>
                  <a:srgbClr val="45413C"/>
                </a:solidFill>
                <a:latin typeface="Arial"/>
                <a:ea typeface="Arial"/>
                <a:cs typeface="Arial"/>
              </a:defRPr>
            </a:lvl8pPr>
            <a:lvl9pPr algn="l">
              <a:defRPr sz="1140" b="0">
                <a:solidFill>
                  <a:srgbClr val="45413C"/>
                </a:solidFill>
                <a:latin typeface="Arial"/>
                <a:ea typeface="Arial"/>
                <a:cs typeface="Arial"/>
              </a:defRPr>
            </a:lvl9pPr>
          </a:lstStyle>
          <a:p xmlns:a="http://schemas.openxmlformats.org/drawingml/2006/main">
            <a:pPr algn="l">
              <a:defRPr sz="1140" b="0">
                <a:solidFill>
                  <a:srgbClr val="45413C"/>
                </a:solidFill>
                <a:latin typeface="Arial"/>
                <a:ea typeface="Arial"/>
                <a:cs typeface="Arial"/>
              </a:defRPr>
            </a:pPr>
            <a:r>
              <a:rPr sz="1140" b="0">
                <a:solidFill>
                  <a:srgbClr val="45413C"/>
                </a:solidFill>
                <a:latin typeface="Arial"/>
                <a:ea typeface="Arial"/>
                <a:cs typeface="Arial"/>
              </a:rPr>
              <a:t>95 press conferences; Chair's words only</a:t>
            </a:r>
          </a:p>
        </p:txBody>
      </p:sp>
      <p:sp>
        <p:nvSpPr>
          <p:cNvPr id="22" name="">
            <a:extLst xmlns:a="http://schemas.openxmlformats.org/drawingml/2006/main">
              <a:ext uri="{FF2B5EF4-FFF2-40B4-BE49-F238E27FC236}">
                <a16:creationId xmlns:a16="http://schemas.microsoft.com/office/drawing/2014/main" id="{9FF545C5-8866-48B7-9425-F989A200EAD5}"/>
              </a:ext>
            </a:extLst>
          </p:cNvPr>
          <p:cNvSpPr>
            <a:spLocks xmlns:a="http://schemas.openxmlformats.org/drawingml/2006/main" noGrp="1"/>
          </p:cNvSpPr>
          <p:nvPr/>
        </p:nvSpPr>
        <p:spPr>
          <a:xfrm xmlns:a="http://schemas.openxmlformats.org/drawingml/2006/main">
            <a:off x="10020049" y="2004060"/>
            <a:ext cx="7620" cy="5334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9F1E372-820D-4BA1-82BC-8A3BF2D6CCEB}"/>
              </a:ext>
            </a:extLst>
          </p:cNvPr>
          <p:cNvSpPr>
            <a:spLocks xmlns:a="http://schemas.openxmlformats.org/drawingml/2006/main" noGrp="1"/>
          </p:cNvSpPr>
          <p:nvPr/>
        </p:nvSpPr>
        <p:spPr>
          <a:xfrm xmlns:a="http://schemas.openxmlformats.org/drawingml/2006/main">
            <a:off x="10157206" y="1920240"/>
            <a:ext cx="1424904"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0">
                <a:solidFill>
                  <a:srgbClr val="45413C"/>
                </a:solidFill>
                <a:latin typeface="Arial"/>
                <a:ea typeface="Arial"/>
                <a:cs typeface="Arial"/>
              </a:defRPr>
            </a:defPPr>
            <a:lvl1pPr algn="l">
              <a:defRPr sz="1140" b="0">
                <a:solidFill>
                  <a:srgbClr val="45413C"/>
                </a:solidFill>
                <a:latin typeface="Arial"/>
                <a:ea typeface="Arial"/>
                <a:cs typeface="Arial"/>
              </a:defRPr>
            </a:lvl1pPr>
            <a:lvl2pPr algn="l">
              <a:defRPr sz="1140" b="0">
                <a:solidFill>
                  <a:srgbClr val="45413C"/>
                </a:solidFill>
                <a:latin typeface="Arial"/>
                <a:ea typeface="Arial"/>
                <a:cs typeface="Arial"/>
              </a:defRPr>
            </a:lvl2pPr>
            <a:lvl3pPr algn="l">
              <a:defRPr sz="1140" b="0">
                <a:solidFill>
                  <a:srgbClr val="45413C"/>
                </a:solidFill>
                <a:latin typeface="Arial"/>
                <a:ea typeface="Arial"/>
                <a:cs typeface="Arial"/>
              </a:defRPr>
            </a:lvl3pPr>
            <a:lvl4pPr algn="l">
              <a:defRPr sz="1140" b="0">
                <a:solidFill>
                  <a:srgbClr val="45413C"/>
                </a:solidFill>
                <a:latin typeface="Arial"/>
                <a:ea typeface="Arial"/>
                <a:cs typeface="Arial"/>
              </a:defRPr>
            </a:lvl4pPr>
            <a:lvl5pPr algn="l">
              <a:defRPr sz="1140" b="0">
                <a:solidFill>
                  <a:srgbClr val="45413C"/>
                </a:solidFill>
                <a:latin typeface="Arial"/>
                <a:ea typeface="Arial"/>
                <a:cs typeface="Arial"/>
              </a:defRPr>
            </a:lvl5pPr>
            <a:lvl6pPr algn="l">
              <a:defRPr sz="1140" b="0">
                <a:solidFill>
                  <a:srgbClr val="45413C"/>
                </a:solidFill>
                <a:latin typeface="Arial"/>
                <a:ea typeface="Arial"/>
                <a:cs typeface="Arial"/>
              </a:defRPr>
            </a:lvl6pPr>
            <a:lvl7pPr algn="l">
              <a:defRPr sz="1140" b="0">
                <a:solidFill>
                  <a:srgbClr val="45413C"/>
                </a:solidFill>
                <a:latin typeface="Arial"/>
                <a:ea typeface="Arial"/>
                <a:cs typeface="Arial"/>
              </a:defRPr>
            </a:lvl7pPr>
            <a:lvl8pPr algn="l">
              <a:defRPr sz="1140" b="0">
                <a:solidFill>
                  <a:srgbClr val="45413C"/>
                </a:solidFill>
                <a:latin typeface="Arial"/>
                <a:ea typeface="Arial"/>
                <a:cs typeface="Arial"/>
              </a:defRPr>
            </a:lvl8pPr>
            <a:lvl9pPr algn="l">
              <a:defRPr sz="1140" b="0">
                <a:solidFill>
                  <a:srgbClr val="45413C"/>
                </a:solidFill>
                <a:latin typeface="Arial"/>
                <a:ea typeface="Arial"/>
                <a:cs typeface="Arial"/>
              </a:defRPr>
            </a:lvl9pPr>
          </a:lstStyle>
          <a:p xmlns:a="http://schemas.openxmlformats.org/drawingml/2006/main">
            <a:pPr algn="l">
              <a:defRPr sz="1140" b="0">
                <a:solidFill>
                  <a:srgbClr val="45413C"/>
                </a:solidFill>
                <a:latin typeface="Arial"/>
                <a:ea typeface="Arial"/>
                <a:cs typeface="Arial"/>
              </a:defRPr>
            </a:pPr>
            <a:r>
              <a:rPr sz="1140" b="0">
                <a:solidFill>
                  <a:srgbClr val="45413C"/>
                </a:solidFill>
                <a:latin typeface="Arial"/>
                <a:ea typeface="Arial"/>
                <a:cs typeface="Arial"/>
              </a:rPr>
              <a:t>1,123 speeches; time from the Fed's feed</a:t>
            </a:r>
          </a:p>
        </p:txBody>
      </p:sp>
      <p:sp>
        <p:nvSpPr>
          <p:cNvPr id="24" name="">
            <a:extLst xmlns:a="http://schemas.openxmlformats.org/drawingml/2006/main">
              <a:ext uri="{FF2B5EF4-FFF2-40B4-BE49-F238E27FC236}">
                <a16:creationId xmlns:a16="http://schemas.microsoft.com/office/drawing/2014/main" id="{07F3B4F5-7808-4457-8107-8825CCA27EC8}"/>
              </a:ext>
            </a:extLst>
          </p:cNvPr>
          <p:cNvSpPr>
            <a:spLocks xmlns:a="http://schemas.openxmlformats.org/drawingml/2006/main" noGrp="1"/>
          </p:cNvSpPr>
          <p:nvPr/>
        </p:nvSpPr>
        <p:spPr>
          <a:xfrm xmlns:a="http://schemas.openxmlformats.org/drawingml/2006/main">
            <a:off x="609585" y="267462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pic>
        <p:nvPicPr>
          <p:cNvPr id="25" name="">
            <a:extLst xmlns:a="http://schemas.openxmlformats.org/drawingml/2006/main">
              <a:ext uri="{FF2B5EF4-FFF2-40B4-BE49-F238E27FC236}">
                <a16:creationId xmlns:a16="http://schemas.microsoft.com/office/drawing/2014/main" id="{989297AF-5AB5-4A3F-9461-0F9EF124BACA}"/>
              </a:ext>
            </a:extLst>
          </p:cNvPr>
          <p:cNvPicPr>
            <a:picLocks xmlns:a="http://schemas.openxmlformats.org/drawingml/2006/main" noChangeAspect="1"/>
          </p:cNvPicPr>
          <p:nvPr/>
        </p:nvPicPr>
        <p:blipFill>
          <a:blip xmlns:r="http://schemas.openxmlformats.org/officeDocument/2006/relationships" xmlns:a="http://schemas.openxmlformats.org/drawingml/2006/main" r:embed="R33afb3fa22194687"/>
          <a:stretch xmlns:a="http://schemas.openxmlformats.org/drawingml/2006/main"/>
        </p:blipFill>
        <p:spPr>
          <a:xfrm xmlns:a="http://schemas.openxmlformats.org/drawingml/2006/main">
            <a:off x="609585" y="2834682"/>
            <a:ext cx="10972526" cy="3337477"/>
          </a:xfrm>
          <a:prstGeom xmlns:a="http://schemas.openxmlformats.org/drawingml/2006/main" prst="rect">
            <a:avLst/>
          </a:prstGeom>
        </p:spPr>
      </p:pic>
    </p:spTree>
    <p:extLst>
      <p:ext uri="{BB962C8B-B14F-4D97-AF65-F5344CB8AC3E}">
        <p14:creationId xmlns:p14="http://schemas.microsoft.com/office/powerpoint/2010/main" val="1723686645"/>
      </p:ext>
    </p:extLst>
  </p:cSld>
</p:sld>
</file>

<file path=ppt/slides/slide8.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A08744D-D58A-4F63-8194-A0EDF51E70ED}"/>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1EF832B4-3582-47CC-8A83-5C6259414156}"/>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QUESTION AND DATA</a:t>
            </a:r>
          </a:p>
        </p:txBody>
      </p:sp>
      <p:sp>
        <p:nvSpPr>
          <p:cNvPr id="3" name="">
            <a:extLst xmlns:a="http://schemas.openxmlformats.org/drawingml/2006/main">
              <a:ext uri="{FF2B5EF4-FFF2-40B4-BE49-F238E27FC236}">
                <a16:creationId xmlns:a16="http://schemas.microsoft.com/office/drawing/2014/main" id="{6C3A1B62-03E0-4DC9-9091-8EC34CEA6D8E}"/>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8 / 46</a:t>
            </a:r>
          </a:p>
        </p:txBody>
      </p:sp>
      <p:sp>
        <p:nvSpPr>
          <p:cNvPr id="4" name="">
            <a:extLst xmlns:a="http://schemas.openxmlformats.org/drawingml/2006/main">
              <a:ext uri="{FF2B5EF4-FFF2-40B4-BE49-F238E27FC236}">
                <a16:creationId xmlns:a16="http://schemas.microsoft.com/office/drawing/2014/main" id="{0AA0C82C-B395-4808-A289-395C84E6201B}"/>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74E620E-6924-4531-9885-01EDB1FCD9EA}"/>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Release windows and trade entry</a:t>
            </a:r>
          </a:p>
        </p:txBody>
      </p:sp>
      <p:sp>
        <p:nvSpPr>
          <p:cNvPr id="6" name="">
            <a:extLst xmlns:a="http://schemas.openxmlformats.org/drawingml/2006/main">
              <a:ext uri="{FF2B5EF4-FFF2-40B4-BE49-F238E27FC236}">
                <a16:creationId xmlns:a16="http://schemas.microsoft.com/office/drawing/2014/main" id="{4A762FC3-5D70-472A-A87D-E6461B98EFA4}"/>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Event windows measure repricing; returns begin only after entry</a:t>
            </a:r>
          </a:p>
        </p:txBody>
      </p:sp>
      <p:sp>
        <p:nvSpPr>
          <p:cNvPr id="7" name="">
            <a:extLst xmlns:a="http://schemas.openxmlformats.org/drawingml/2006/main">
              <a:ext uri="{FF2B5EF4-FFF2-40B4-BE49-F238E27FC236}">
                <a16:creationId xmlns:a16="http://schemas.microsoft.com/office/drawing/2014/main" id="{0807948D-66E5-4097-8D6B-FDE9E16D17DF}"/>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9DD6DF2-25DF-459F-A514-B3AB6835AF84}"/>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Fed release times; Treasury par yields (about 3:30 p.m.) and ETF closes (4:00 p.m.); align.py.</a:t>
            </a:r>
          </a:p>
        </p:txBody>
      </p:sp>
      <p:sp>
        <p:nvSpPr>
          <p:cNvPr id="9" name="">
            <a:extLst xmlns:a="http://schemas.openxmlformats.org/drawingml/2006/main">
              <a:ext uri="{FF2B5EF4-FFF2-40B4-BE49-F238E27FC236}">
                <a16:creationId xmlns:a16="http://schemas.microsoft.com/office/drawing/2014/main" id="{B63B4861-CE16-4633-8536-9D7E715A34DA}"/>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813ADA3-E7F2-427A-9657-DB95F5D43CD2}"/>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B3330DC-8FFF-4C0E-95D3-67F7AFC6B2A5}"/>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95B5ECA-C220-4DA1-B106-756BC5C66822}"/>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663C0F1-2AFB-486B-977C-09DA2440D745}"/>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EEA6E09-E755-43C5-8251-ACE5A4CEAB95}"/>
              </a:ext>
            </a:extLst>
          </p:cNvPr>
          <p:cNvSpPr>
            <a:spLocks xmlns:a="http://schemas.openxmlformats.org/drawingml/2006/main" noGrp="1"/>
          </p:cNvSpPr>
          <p:nvPr/>
        </p:nvSpPr>
        <p:spPr>
          <a:xfrm xmlns:a="http://schemas.openxmlformats.org/drawingml/2006/main">
            <a:off x="609585" y="1965960"/>
            <a:ext cx="2743131"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4560" b="1">
                <a:solidFill>
                  <a:srgbClr val="151312"/>
                </a:solidFill>
                <a:latin typeface="Arial"/>
                <a:ea typeface="Arial"/>
                <a:cs typeface="Arial"/>
              </a:defRPr>
            </a:defPPr>
            <a:lvl1pPr algn="l">
              <a:defRPr sz="4560" b="1">
                <a:solidFill>
                  <a:srgbClr val="151312"/>
                </a:solidFill>
                <a:latin typeface="Arial"/>
                <a:ea typeface="Arial"/>
                <a:cs typeface="Arial"/>
              </a:defRPr>
            </a:lvl1pPr>
            <a:lvl2pPr algn="l">
              <a:defRPr sz="4560" b="1">
                <a:solidFill>
                  <a:srgbClr val="151312"/>
                </a:solidFill>
                <a:latin typeface="Arial"/>
                <a:ea typeface="Arial"/>
                <a:cs typeface="Arial"/>
              </a:defRPr>
            </a:lvl2pPr>
            <a:lvl3pPr algn="l">
              <a:defRPr sz="4560" b="1">
                <a:solidFill>
                  <a:srgbClr val="151312"/>
                </a:solidFill>
                <a:latin typeface="Arial"/>
                <a:ea typeface="Arial"/>
                <a:cs typeface="Arial"/>
              </a:defRPr>
            </a:lvl3pPr>
            <a:lvl4pPr algn="l">
              <a:defRPr sz="4560" b="1">
                <a:solidFill>
                  <a:srgbClr val="151312"/>
                </a:solidFill>
                <a:latin typeface="Arial"/>
                <a:ea typeface="Arial"/>
                <a:cs typeface="Arial"/>
              </a:defRPr>
            </a:lvl4pPr>
            <a:lvl5pPr algn="l">
              <a:defRPr sz="4560" b="1">
                <a:solidFill>
                  <a:srgbClr val="151312"/>
                </a:solidFill>
                <a:latin typeface="Arial"/>
                <a:ea typeface="Arial"/>
                <a:cs typeface="Arial"/>
              </a:defRPr>
            </a:lvl5pPr>
            <a:lvl6pPr algn="l">
              <a:defRPr sz="4560" b="1">
                <a:solidFill>
                  <a:srgbClr val="151312"/>
                </a:solidFill>
                <a:latin typeface="Arial"/>
                <a:ea typeface="Arial"/>
                <a:cs typeface="Arial"/>
              </a:defRPr>
            </a:lvl6pPr>
            <a:lvl7pPr algn="l">
              <a:defRPr sz="4560" b="1">
                <a:solidFill>
                  <a:srgbClr val="151312"/>
                </a:solidFill>
                <a:latin typeface="Arial"/>
                <a:ea typeface="Arial"/>
                <a:cs typeface="Arial"/>
              </a:defRPr>
            </a:lvl7pPr>
            <a:lvl8pPr algn="l">
              <a:defRPr sz="4560" b="1">
                <a:solidFill>
                  <a:srgbClr val="151312"/>
                </a:solidFill>
                <a:latin typeface="Arial"/>
                <a:ea typeface="Arial"/>
                <a:cs typeface="Arial"/>
              </a:defRPr>
            </a:lvl8pPr>
            <a:lvl9pPr algn="l">
              <a:defRPr sz="4560" b="1">
                <a:solidFill>
                  <a:srgbClr val="151312"/>
                </a:solidFill>
                <a:latin typeface="Arial"/>
                <a:ea typeface="Arial"/>
                <a:cs typeface="Arial"/>
              </a:defRPr>
            </a:lvl9pPr>
          </a:lstStyle>
          <a:p xmlns:a="http://schemas.openxmlformats.org/drawingml/2006/main">
            <a:pPr algn="l">
              <a:defRPr sz="4560" b="1">
                <a:solidFill>
                  <a:srgbClr val="151312"/>
                </a:solidFill>
                <a:latin typeface="Arial"/>
                <a:ea typeface="Arial"/>
                <a:cs typeface="Arial"/>
              </a:defRPr>
            </a:pPr>
            <a:r>
              <a:rPr sz="4560" b="1">
                <a:solidFill>
                  <a:srgbClr val="151312"/>
                </a:solidFill>
                <a:latin typeface="Arial"/>
                <a:ea typeface="Arial"/>
                <a:cs typeface="Arial"/>
              </a:rPr>
              <a:t>+1 day</a:t>
            </a:r>
          </a:p>
        </p:txBody>
      </p:sp>
      <p:sp>
        <p:nvSpPr>
          <p:cNvPr id="15" name="">
            <a:extLst xmlns:a="http://schemas.openxmlformats.org/drawingml/2006/main">
              <a:ext uri="{FF2B5EF4-FFF2-40B4-BE49-F238E27FC236}">
                <a16:creationId xmlns:a16="http://schemas.microsoft.com/office/drawing/2014/main" id="{84E26CF4-D169-46ED-92E1-A8B4F58DD04E}"/>
              </a:ext>
            </a:extLst>
          </p:cNvPr>
          <p:cNvSpPr>
            <a:spLocks xmlns:a="http://schemas.openxmlformats.org/drawingml/2006/main" noGrp="1"/>
          </p:cNvSpPr>
          <p:nvPr/>
        </p:nvSpPr>
        <p:spPr>
          <a:xfrm xmlns:a="http://schemas.openxmlformats.org/drawingml/2006/main">
            <a:off x="609585" y="2781300"/>
            <a:ext cx="2743131"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primary entry lag after the first eligible ETF close</a:t>
            </a:r>
          </a:p>
        </p:txBody>
      </p:sp>
      <p:sp>
        <p:nvSpPr>
          <p:cNvPr id="16" name="">
            <a:extLst xmlns:a="http://schemas.openxmlformats.org/drawingml/2006/main">
              <a:ext uri="{FF2B5EF4-FFF2-40B4-BE49-F238E27FC236}">
                <a16:creationId xmlns:a16="http://schemas.microsoft.com/office/drawing/2014/main" id="{517C6F59-F510-4C7F-8184-BCC50210E254}"/>
              </a:ext>
            </a:extLst>
          </p:cNvPr>
          <p:cNvSpPr>
            <a:spLocks xmlns:a="http://schemas.openxmlformats.org/drawingml/2006/main" noGrp="1"/>
          </p:cNvSpPr>
          <p:nvPr/>
        </p:nvSpPr>
        <p:spPr>
          <a:xfrm xmlns:a="http://schemas.openxmlformats.org/drawingml/2006/main">
            <a:off x="609585" y="364236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D10BC9D-4336-41B1-BD3C-DBFA0FE6E63B}"/>
              </a:ext>
            </a:extLst>
          </p:cNvPr>
          <p:cNvSpPr>
            <a:spLocks xmlns:a="http://schemas.openxmlformats.org/drawingml/2006/main" noGrp="1"/>
          </p:cNvSpPr>
          <p:nvPr/>
        </p:nvSpPr>
        <p:spPr>
          <a:xfrm xmlns:a="http://schemas.openxmlformats.org/drawingml/2006/main">
            <a:off x="609585" y="3718560"/>
            <a:ext cx="2743131"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Event window: last pre-release Treasury fix to the first eligible later fix</a:t>
            </a:r>
          </a:p>
        </p:txBody>
      </p:sp>
      <p:sp>
        <p:nvSpPr>
          <p:cNvPr id="18" name="">
            <a:extLst xmlns:a="http://schemas.openxmlformats.org/drawingml/2006/main">
              <a:ext uri="{FF2B5EF4-FFF2-40B4-BE49-F238E27FC236}">
                <a16:creationId xmlns:a16="http://schemas.microsoft.com/office/drawing/2014/main" id="{B450FB4D-C026-449A-932F-89A0D8D43CD6}"/>
              </a:ext>
            </a:extLst>
          </p:cNvPr>
          <p:cNvSpPr>
            <a:spLocks xmlns:a="http://schemas.openxmlformats.org/drawingml/2006/main" noGrp="1"/>
          </p:cNvSpPr>
          <p:nvPr/>
        </p:nvSpPr>
        <p:spPr>
          <a:xfrm xmlns:a="http://schemas.openxmlformats.org/drawingml/2006/main">
            <a:off x="609585" y="427482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222B8D9-A9D6-4F86-B812-D86CAB47E036}"/>
              </a:ext>
            </a:extLst>
          </p:cNvPr>
          <p:cNvSpPr>
            <a:spLocks xmlns:a="http://schemas.openxmlformats.org/drawingml/2006/main" noGrp="1"/>
          </p:cNvSpPr>
          <p:nvPr/>
        </p:nvSpPr>
        <p:spPr>
          <a:xfrm xmlns:a="http://schemas.openxmlformats.org/drawingml/2006/main">
            <a:off x="609585" y="4351020"/>
            <a:ext cx="2743131"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Speech-feed buffer: 60 minutes before either market close counts as after it</a:t>
            </a:r>
          </a:p>
        </p:txBody>
      </p:sp>
      <p:sp>
        <p:nvSpPr>
          <p:cNvPr id="20" name="">
            <a:extLst xmlns:a="http://schemas.openxmlformats.org/drawingml/2006/main">
              <a:ext uri="{FF2B5EF4-FFF2-40B4-BE49-F238E27FC236}">
                <a16:creationId xmlns:a16="http://schemas.microsoft.com/office/drawing/2014/main" id="{63C844C3-B494-4613-A6BB-21DE22162472}"/>
              </a:ext>
            </a:extLst>
          </p:cNvPr>
          <p:cNvSpPr>
            <a:spLocks xmlns:a="http://schemas.openxmlformats.org/drawingml/2006/main" noGrp="1"/>
          </p:cNvSpPr>
          <p:nvPr/>
        </p:nvSpPr>
        <p:spPr>
          <a:xfrm xmlns:a="http://schemas.openxmlformats.org/drawingml/2006/main">
            <a:off x="609585" y="490728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DC6D824-3549-4B52-ADB6-D70C20986F0A}"/>
              </a:ext>
            </a:extLst>
          </p:cNvPr>
          <p:cNvSpPr>
            <a:spLocks xmlns:a="http://schemas.openxmlformats.org/drawingml/2006/main" noGrp="1"/>
          </p:cNvSpPr>
          <p:nvPr/>
        </p:nvSpPr>
        <p:spPr>
          <a:xfrm xmlns:a="http://schemas.openxmlformats.org/drawingml/2006/main">
            <a:off x="609585" y="4983480"/>
            <a:ext cx="2743131"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Entry clock: first eligible ETF close, then one more trading day for the primary</a:t>
            </a:r>
          </a:p>
        </p:txBody>
      </p:sp>
      <p:sp>
        <p:nvSpPr>
          <p:cNvPr id="22" name="">
            <a:extLst xmlns:a="http://schemas.openxmlformats.org/drawingml/2006/main">
              <a:ext uri="{FF2B5EF4-FFF2-40B4-BE49-F238E27FC236}">
                <a16:creationId xmlns:a16="http://schemas.microsoft.com/office/drawing/2014/main" id="{D9401EFD-4785-4ADC-A6B5-80B0DAE55C2A}"/>
              </a:ext>
            </a:extLst>
          </p:cNvPr>
          <p:cNvSpPr>
            <a:spLocks xmlns:a="http://schemas.openxmlformats.org/drawingml/2006/main" noGrp="1"/>
          </p:cNvSpPr>
          <p:nvPr/>
        </p:nvSpPr>
        <p:spPr>
          <a:xfrm xmlns:a="http://schemas.openxmlformats.org/drawingml/2006/main">
            <a:off x="609585" y="553974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8B816B0-0FA6-4AA8-9842-2C1931F868BC}"/>
              </a:ext>
            </a:extLst>
          </p:cNvPr>
          <p:cNvSpPr>
            <a:spLocks xmlns:a="http://schemas.openxmlformats.org/drawingml/2006/main" noGrp="1"/>
          </p:cNvSpPr>
          <p:nvPr/>
        </p:nvSpPr>
        <p:spPr>
          <a:xfrm xmlns:a="http://schemas.openxmlformats.org/drawingml/2006/main">
            <a:off x="609585" y="5615940"/>
            <a:ext cx="2743131"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Return clock: first return after entry, never the return ending at that close</a:t>
            </a:r>
          </a:p>
        </p:txBody>
      </p:sp>
      <p:pic>
        <p:nvPicPr>
          <p:cNvPr id="24" name="">
            <a:extLst xmlns:a="http://schemas.openxmlformats.org/drawingml/2006/main">
              <a:ext uri="{FF2B5EF4-FFF2-40B4-BE49-F238E27FC236}">
                <a16:creationId xmlns:a16="http://schemas.microsoft.com/office/drawing/2014/main" id="{EB698272-3D24-4A5E-9E1F-BB6CE92C5F28}"/>
              </a:ext>
            </a:extLst>
          </p:cNvPr>
          <p:cNvPicPr>
            <a:picLocks xmlns:a="http://schemas.openxmlformats.org/drawingml/2006/main" noChangeAspect="1"/>
          </p:cNvPicPr>
          <p:nvPr/>
        </p:nvPicPr>
        <p:blipFill>
          <a:blip xmlns:r="http://schemas.openxmlformats.org/officeDocument/2006/relationships" xmlns:a="http://schemas.openxmlformats.org/drawingml/2006/main" r:embed="Rb8ffb72b4a0e4b8d"/>
          <a:stretch xmlns:a="http://schemas.openxmlformats.org/drawingml/2006/main"/>
        </p:blipFill>
        <p:spPr>
          <a:xfrm xmlns:a="http://schemas.openxmlformats.org/drawingml/2006/main">
            <a:off x="3718467" y="1920293"/>
            <a:ext cx="7863643" cy="4251854"/>
          </a:xfrm>
          <a:prstGeom xmlns:a="http://schemas.openxmlformats.org/drawingml/2006/main" prst="rect">
            <a:avLst/>
          </a:prstGeom>
        </p:spPr>
      </p:pic>
    </p:spTree>
    <p:extLst>
      <p:ext uri="{BB962C8B-B14F-4D97-AF65-F5344CB8AC3E}">
        <p14:creationId xmlns:p14="http://schemas.microsoft.com/office/powerpoint/2010/main" val="1652125005"/>
      </p:ext>
    </p:extLst>
  </p:cSld>
</p:sld>
</file>

<file path=ppt/slides/slide9.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28BA5620-6329-4A21-B781-3906AF0B7A4F}"/>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2350707A-44B8-48B7-B51E-0772043B744E}"/>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READERS AND VALIDATION</a:t>
            </a:r>
          </a:p>
        </p:txBody>
      </p:sp>
      <p:sp>
        <p:nvSpPr>
          <p:cNvPr id="3" name="">
            <a:extLst xmlns:a="http://schemas.openxmlformats.org/drawingml/2006/main">
              <a:ext uri="{FF2B5EF4-FFF2-40B4-BE49-F238E27FC236}">
                <a16:creationId xmlns:a16="http://schemas.microsoft.com/office/drawing/2014/main" id="{3CE03A06-CA8C-46F6-83D8-4C4518D79067}"/>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9 / 46</a:t>
            </a:r>
          </a:p>
        </p:txBody>
      </p:sp>
      <p:sp>
        <p:nvSpPr>
          <p:cNvPr id="4" name="">
            <a:extLst xmlns:a="http://schemas.openxmlformats.org/drawingml/2006/main">
              <a:ext uri="{FF2B5EF4-FFF2-40B4-BE49-F238E27FC236}">
                <a16:creationId xmlns:a16="http://schemas.microsoft.com/office/drawing/2014/main" id="{E51C4B1B-B4DF-4CA1-A2F6-FA019F14658D}"/>
              </a:ext>
            </a:extLst>
          </p:cNvPr>
          <p:cNvSpPr>
            <a:spLocks xmlns:a="http://schemas.openxmlformats.org/drawingml/2006/main" noGrp="1"/>
          </p:cNvSpPr>
          <p:nvPr/>
        </p:nvSpPr>
        <p:spPr>
          <a:xfrm xmlns:a="http://schemas.openxmlformats.org/drawingml/2006/main">
            <a:off x="609585" y="556260"/>
            <a:ext cx="10972526" cy="2286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0031F35-8D37-4B99-96A1-3AC4BD235271}"/>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One rubric, enforced as a JSON schema</a:t>
            </a:r>
          </a:p>
        </p:txBody>
      </p:sp>
      <p:sp>
        <p:nvSpPr>
          <p:cNvPr id="6" name="">
            <a:extLst xmlns:a="http://schemas.openxmlformats.org/drawingml/2006/main">
              <a:ext uri="{FF2B5EF4-FFF2-40B4-BE49-F238E27FC236}">
                <a16:creationId xmlns:a16="http://schemas.microsoft.com/office/drawing/2014/main" id="{72F2D620-B7B4-4140-A450-4ABEA748CFF3}"/>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Positive is hawkish; negative is dovish; stance_score is the index</a:t>
            </a:r>
          </a:p>
        </p:txBody>
      </p:sp>
      <p:sp>
        <p:nvSpPr>
          <p:cNvPr id="7" name="">
            <a:extLst xmlns:a="http://schemas.openxmlformats.org/drawingml/2006/main">
              <a:ext uri="{FF2B5EF4-FFF2-40B4-BE49-F238E27FC236}">
                <a16:creationId xmlns:a16="http://schemas.microsoft.com/office/drawing/2014/main" id="{85DE5DD0-9B74-418A-A211-71CDA54C6019}"/>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6E44480-FAFC-46DD-923D-236FE4B59B0A}"/>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llm/rubric.py and llm/scorer.py.</a:t>
            </a:r>
          </a:p>
        </p:txBody>
      </p:sp>
      <p:sp>
        <p:nvSpPr>
          <p:cNvPr id="9" name="">
            <a:extLst xmlns:a="http://schemas.openxmlformats.org/drawingml/2006/main">
              <a:ext uri="{FF2B5EF4-FFF2-40B4-BE49-F238E27FC236}">
                <a16:creationId xmlns:a16="http://schemas.microsoft.com/office/drawing/2014/main" id="{2A35E598-BE43-442D-8147-799E59C40F92}"/>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E5988ED-D9E3-46BD-8720-08533C082EF9}"/>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6F6B1D3-D364-43F4-87CB-FE0ADF919115}"/>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EA7A7C7-6E16-4902-A6A1-627606E84751}"/>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751D82C-B062-4493-A2D8-087C26226CAB}"/>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354945D-0051-405B-9BAE-56639501E217}"/>
              </a:ext>
            </a:extLst>
          </p:cNvPr>
          <p:cNvSpPr>
            <a:spLocks xmlns:a="http://schemas.openxmlformats.org/drawingml/2006/main" noGrp="1"/>
          </p:cNvSpPr>
          <p:nvPr/>
        </p:nvSpPr>
        <p:spPr>
          <a:xfrm xmlns:a="http://schemas.openxmlformats.org/drawingml/2006/main">
            <a:off x="8838979" y="1965960"/>
            <a:ext cx="2743131"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4560" b="1">
                <a:solidFill>
                  <a:srgbClr val="151312"/>
                </a:solidFill>
                <a:latin typeface="Arial"/>
                <a:ea typeface="Arial"/>
                <a:cs typeface="Arial"/>
              </a:defRPr>
            </a:defPPr>
            <a:lvl1pPr algn="l">
              <a:defRPr sz="4560" b="1">
                <a:solidFill>
                  <a:srgbClr val="151312"/>
                </a:solidFill>
                <a:latin typeface="Arial"/>
                <a:ea typeface="Arial"/>
                <a:cs typeface="Arial"/>
              </a:defRPr>
            </a:lvl1pPr>
            <a:lvl2pPr algn="l">
              <a:defRPr sz="4560" b="1">
                <a:solidFill>
                  <a:srgbClr val="151312"/>
                </a:solidFill>
                <a:latin typeface="Arial"/>
                <a:ea typeface="Arial"/>
                <a:cs typeface="Arial"/>
              </a:defRPr>
            </a:lvl2pPr>
            <a:lvl3pPr algn="l">
              <a:defRPr sz="4560" b="1">
                <a:solidFill>
                  <a:srgbClr val="151312"/>
                </a:solidFill>
                <a:latin typeface="Arial"/>
                <a:ea typeface="Arial"/>
                <a:cs typeface="Arial"/>
              </a:defRPr>
            </a:lvl3pPr>
            <a:lvl4pPr algn="l">
              <a:defRPr sz="4560" b="1">
                <a:solidFill>
                  <a:srgbClr val="151312"/>
                </a:solidFill>
                <a:latin typeface="Arial"/>
                <a:ea typeface="Arial"/>
                <a:cs typeface="Arial"/>
              </a:defRPr>
            </a:lvl4pPr>
            <a:lvl5pPr algn="l">
              <a:defRPr sz="4560" b="1">
                <a:solidFill>
                  <a:srgbClr val="151312"/>
                </a:solidFill>
                <a:latin typeface="Arial"/>
                <a:ea typeface="Arial"/>
                <a:cs typeface="Arial"/>
              </a:defRPr>
            </a:lvl5pPr>
            <a:lvl6pPr algn="l">
              <a:defRPr sz="4560" b="1">
                <a:solidFill>
                  <a:srgbClr val="151312"/>
                </a:solidFill>
                <a:latin typeface="Arial"/>
                <a:ea typeface="Arial"/>
                <a:cs typeface="Arial"/>
              </a:defRPr>
            </a:lvl6pPr>
            <a:lvl7pPr algn="l">
              <a:defRPr sz="4560" b="1">
                <a:solidFill>
                  <a:srgbClr val="151312"/>
                </a:solidFill>
                <a:latin typeface="Arial"/>
                <a:ea typeface="Arial"/>
                <a:cs typeface="Arial"/>
              </a:defRPr>
            </a:lvl7pPr>
            <a:lvl8pPr algn="l">
              <a:defRPr sz="4560" b="1">
                <a:solidFill>
                  <a:srgbClr val="151312"/>
                </a:solidFill>
                <a:latin typeface="Arial"/>
                <a:ea typeface="Arial"/>
                <a:cs typeface="Arial"/>
              </a:defRPr>
            </a:lvl8pPr>
            <a:lvl9pPr algn="l">
              <a:defRPr sz="4560" b="1">
                <a:solidFill>
                  <a:srgbClr val="151312"/>
                </a:solidFill>
                <a:latin typeface="Arial"/>
                <a:ea typeface="Arial"/>
                <a:cs typeface="Arial"/>
              </a:defRPr>
            </a:lvl9pPr>
          </a:lstStyle>
          <a:p xmlns:a="http://schemas.openxmlformats.org/drawingml/2006/main">
            <a:pPr algn="l">
              <a:defRPr sz="4560" b="1">
                <a:solidFill>
                  <a:srgbClr val="151312"/>
                </a:solidFill>
                <a:latin typeface="Arial"/>
                <a:ea typeface="Arial"/>
                <a:cs typeface="Arial"/>
              </a:defRPr>
            </a:pPr>
            <a:r>
              <a:rPr sz="4560" b="1">
                <a:solidFill>
                  <a:srgbClr val="151312"/>
                </a:solidFill>
                <a:latin typeface="Arial"/>
                <a:ea typeface="Arial"/>
                <a:cs typeface="Arial"/>
              </a:rPr>
              <a:t>6</a:t>
            </a:r>
          </a:p>
        </p:txBody>
      </p:sp>
      <p:sp>
        <p:nvSpPr>
          <p:cNvPr id="15" name="">
            <a:extLst xmlns:a="http://schemas.openxmlformats.org/drawingml/2006/main">
              <a:ext uri="{FF2B5EF4-FFF2-40B4-BE49-F238E27FC236}">
                <a16:creationId xmlns:a16="http://schemas.microsoft.com/office/drawing/2014/main" id="{DA0B445D-1D51-4F74-ACBE-C26C16FA5711}"/>
              </a:ext>
            </a:extLst>
          </p:cNvPr>
          <p:cNvSpPr>
            <a:spLocks xmlns:a="http://schemas.openxmlformats.org/drawingml/2006/main" noGrp="1"/>
          </p:cNvSpPr>
          <p:nvPr/>
        </p:nvSpPr>
        <p:spPr>
          <a:xfrm xmlns:a="http://schemas.openxmlformats.org/drawingml/2006/main">
            <a:off x="8838979" y="2781300"/>
            <a:ext cx="2743131"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policy dimensions, each from −2 to +2, then an overall stance and a continuous score</a:t>
            </a:r>
          </a:p>
        </p:txBody>
      </p:sp>
      <p:sp>
        <p:nvSpPr>
          <p:cNvPr id="16" name="">
            <a:extLst xmlns:a="http://schemas.openxmlformats.org/drawingml/2006/main">
              <a:ext uri="{FF2B5EF4-FFF2-40B4-BE49-F238E27FC236}">
                <a16:creationId xmlns:a16="http://schemas.microsoft.com/office/drawing/2014/main" id="{A63B5390-E945-4E62-BBA2-EA058F36DAEF}"/>
              </a:ext>
            </a:extLst>
          </p:cNvPr>
          <p:cNvSpPr>
            <a:spLocks xmlns:a="http://schemas.openxmlformats.org/drawingml/2006/main" noGrp="1"/>
          </p:cNvSpPr>
          <p:nvPr/>
        </p:nvSpPr>
        <p:spPr>
          <a:xfrm xmlns:a="http://schemas.openxmlformats.org/drawingml/2006/main">
            <a:off x="8838979" y="364236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386B916-D018-4373-8073-0A1C37059B67}"/>
              </a:ext>
            </a:extLst>
          </p:cNvPr>
          <p:cNvSpPr>
            <a:spLocks xmlns:a="http://schemas.openxmlformats.org/drawingml/2006/main" noGrp="1"/>
          </p:cNvSpPr>
          <p:nvPr/>
        </p:nvSpPr>
        <p:spPr>
          <a:xfrm xmlns:a="http://schemas.openxmlformats.org/drawingml/2006/main">
            <a:off x="8838979" y="371856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Structured outputs: the schema is the contract, no free text to parse</a:t>
            </a:r>
          </a:p>
        </p:txBody>
      </p:sp>
      <p:sp>
        <p:nvSpPr>
          <p:cNvPr id="18" name="">
            <a:extLst xmlns:a="http://schemas.openxmlformats.org/drawingml/2006/main">
              <a:ext uri="{FF2B5EF4-FFF2-40B4-BE49-F238E27FC236}">
                <a16:creationId xmlns:a16="http://schemas.microsoft.com/office/drawing/2014/main" id="{1A1863EC-9698-45B8-8352-2CBA1616108B}"/>
              </a:ext>
            </a:extLst>
          </p:cNvPr>
          <p:cNvSpPr>
            <a:spLocks xmlns:a="http://schemas.openxmlformats.org/drawingml/2006/main" noGrp="1"/>
          </p:cNvSpPr>
          <p:nvPr/>
        </p:nvSpPr>
        <p:spPr>
          <a:xfrm xmlns:a="http://schemas.openxmlformats.org/drawingml/2006/main">
            <a:off x="8838979" y="448564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18ACFA0-8101-4FFC-AA75-CD2C71F0CFD5}"/>
              </a:ext>
            </a:extLst>
          </p:cNvPr>
          <p:cNvSpPr>
            <a:spLocks xmlns:a="http://schemas.openxmlformats.org/drawingml/2006/main" noGrp="1"/>
          </p:cNvSpPr>
          <p:nvPr/>
        </p:nvSpPr>
        <p:spPr>
          <a:xfrm xmlns:a="http://schemas.openxmlformats.org/drawingml/2006/main">
            <a:off x="8838979" y="456184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The scorer sees the document type and the text, never the date</a:t>
            </a:r>
          </a:p>
        </p:txBody>
      </p:sp>
      <p:sp>
        <p:nvSpPr>
          <p:cNvPr id="20" name="">
            <a:extLst xmlns:a="http://schemas.openxmlformats.org/drawingml/2006/main">
              <a:ext uri="{FF2B5EF4-FFF2-40B4-BE49-F238E27FC236}">
                <a16:creationId xmlns:a16="http://schemas.microsoft.com/office/drawing/2014/main" id="{848213EE-D02B-4484-B04A-E01124D164F2}"/>
              </a:ext>
            </a:extLst>
          </p:cNvPr>
          <p:cNvSpPr>
            <a:spLocks xmlns:a="http://schemas.openxmlformats.org/drawingml/2006/main" noGrp="1"/>
          </p:cNvSpPr>
          <p:nvPr/>
        </p:nvSpPr>
        <p:spPr>
          <a:xfrm xmlns:a="http://schemas.openxmlformats.org/drawingml/2006/main">
            <a:off x="8838979" y="532892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390EF56-17CF-4734-A70A-AAA2626A585B}"/>
              </a:ext>
            </a:extLst>
          </p:cNvPr>
          <p:cNvSpPr>
            <a:spLocks xmlns:a="http://schemas.openxmlformats.org/drawingml/2006/main" noGrp="1"/>
          </p:cNvSpPr>
          <p:nvPr/>
        </p:nvSpPr>
        <p:spPr>
          <a:xfrm xmlns:a="http://schemas.openxmlformats.org/drawingml/2006/main">
            <a:off x="8838979" y="540512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Any change to the prompt or schema bumps v1 and starts new records</a:t>
            </a:r>
          </a:p>
        </p:txBody>
      </p:sp>
      <p:sp>
        <p:nvSpPr>
          <p:cNvPr id="22" name="">
            <a:extLst xmlns:a="http://schemas.openxmlformats.org/drawingml/2006/main">
              <a:ext uri="{FF2B5EF4-FFF2-40B4-BE49-F238E27FC236}">
                <a16:creationId xmlns:a16="http://schemas.microsoft.com/office/drawing/2014/main" id="{F04AD78A-399E-45A6-9014-E3BF785B5C10}"/>
              </a:ext>
            </a:extLst>
          </p:cNvPr>
          <p:cNvSpPr>
            <a:spLocks xmlns:a="http://schemas.openxmlformats.org/drawingml/2006/main" noGrp="1"/>
          </p:cNvSpPr>
          <p:nvPr/>
        </p:nvSpPr>
        <p:spPr>
          <a:xfrm xmlns:a="http://schemas.openxmlformats.org/drawingml/2006/main">
            <a:off x="609585" y="1920240"/>
            <a:ext cx="7863643" cy="4251960"/>
          </a:xfrm>
          <a:prstGeom xmlns:a="http://schemas.openxmlformats.org/drawingml/2006/main" prst="rect">
            <a:avLst/>
          </a:prstGeom>
          <a:solidFill xmlns:a="http://schemas.openxmlformats.org/drawingml/2006/main">
            <a:srgbClr val="F3F0E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AA8541B-D5F8-4735-B885-657FF06B8743}"/>
              </a:ext>
            </a:extLst>
          </p:cNvPr>
          <p:cNvSpPr>
            <a:spLocks xmlns:a="http://schemas.openxmlformats.org/drawingml/2006/main" noGrp="1"/>
          </p:cNvSpPr>
          <p:nvPr/>
        </p:nvSpPr>
        <p:spPr>
          <a:xfrm xmlns:a="http://schemas.openxmlformats.org/drawingml/2006/main">
            <a:off x="609585" y="1920240"/>
            <a:ext cx="22859" cy="425196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0EB5300-D728-4A0A-9F29-45F2BEB71901}"/>
              </a:ext>
            </a:extLst>
          </p:cNvPr>
          <p:cNvSpPr>
            <a:spLocks xmlns:a="http://schemas.openxmlformats.org/drawingml/2006/main" noGrp="1"/>
          </p:cNvSpPr>
          <p:nvPr/>
        </p:nvSpPr>
        <p:spPr>
          <a:xfrm xmlns:a="http://schemas.openxmlformats.org/drawingml/2006/main">
            <a:off x="838179" y="2164080"/>
            <a:ext cx="7406455"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77B35DD7-DA22-4801-95B4-BFE36B537BC6}"/>
              </a:ext>
            </a:extLst>
          </p:cNvPr>
          <p:cNvSpPr>
            <a:spLocks xmlns:a="http://schemas.openxmlformats.org/drawingml/2006/main" noGrp="1"/>
          </p:cNvSpPr>
          <p:nvPr/>
        </p:nvSpPr>
        <p:spPr>
          <a:xfrm xmlns:a="http://schemas.openxmlformats.org/drawingml/2006/main">
            <a:off x="1005815" y="2453640"/>
            <a:ext cx="7238819"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"policy_relevance": "high | medium | low",</a:t>
            </a:r>
          </a:p>
        </p:txBody>
      </p:sp>
      <p:sp>
        <p:nvSpPr>
          <p:cNvPr id="26" name="">
            <a:extLst xmlns:a="http://schemas.openxmlformats.org/drawingml/2006/main">
              <a:ext uri="{FF2B5EF4-FFF2-40B4-BE49-F238E27FC236}">
                <a16:creationId xmlns:a16="http://schemas.microsoft.com/office/drawing/2014/main" id="{2FF3E5C8-609E-4065-9893-32019AA02CEE}"/>
              </a:ext>
            </a:extLst>
          </p:cNvPr>
          <p:cNvSpPr>
            <a:spLocks xmlns:a="http://schemas.openxmlformats.org/drawingml/2006/main" noGrp="1"/>
          </p:cNvSpPr>
          <p:nvPr/>
        </p:nvSpPr>
        <p:spPr>
          <a:xfrm xmlns:a="http://schemas.openxmlformats.org/drawingml/2006/main">
            <a:off x="1005815" y="2743200"/>
            <a:ext cx="2682173"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"policy_action":</a:t>
            </a:r>
          </a:p>
        </p:txBody>
      </p:sp>
      <p:sp>
        <p:nvSpPr>
          <p:cNvPr id="27" name="">
            <a:extLst xmlns:a="http://schemas.openxmlformats.org/drawingml/2006/main">
              <a:ext uri="{FF2B5EF4-FFF2-40B4-BE49-F238E27FC236}">
                <a16:creationId xmlns:a16="http://schemas.microsoft.com/office/drawing/2014/main" id="{74FD603C-1ECC-4A90-ABC7-0A9D0D6DC220}"/>
              </a:ext>
            </a:extLst>
          </p:cNvPr>
          <p:cNvSpPr>
            <a:spLocks xmlns:a="http://schemas.openxmlformats.org/drawingml/2006/main" noGrp="1"/>
          </p:cNvSpPr>
          <p:nvPr/>
        </p:nvSpPr>
        <p:spPr>
          <a:xfrm xmlns:a="http://schemas.openxmlformats.org/drawingml/2006/main">
            <a:off x="3687988" y="2743200"/>
            <a:ext cx="4556646"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-2 … +2 | null,</a:t>
            </a:r>
          </a:p>
        </p:txBody>
      </p:sp>
      <p:sp>
        <p:nvSpPr>
          <p:cNvPr id="28" name="">
            <a:extLst xmlns:a="http://schemas.openxmlformats.org/drawingml/2006/main">
              <a:ext uri="{FF2B5EF4-FFF2-40B4-BE49-F238E27FC236}">
                <a16:creationId xmlns:a16="http://schemas.microsoft.com/office/drawing/2014/main" id="{7626BFFD-85E4-455A-8E05-DA55CDEB393A}"/>
              </a:ext>
            </a:extLst>
          </p:cNvPr>
          <p:cNvSpPr>
            <a:spLocks xmlns:a="http://schemas.openxmlformats.org/drawingml/2006/main" noGrp="1"/>
          </p:cNvSpPr>
          <p:nvPr/>
        </p:nvSpPr>
        <p:spPr>
          <a:xfrm xmlns:a="http://schemas.openxmlformats.org/drawingml/2006/main">
            <a:off x="1005815" y="3032760"/>
            <a:ext cx="2682173"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"forward_guidance":</a:t>
            </a:r>
          </a:p>
        </p:txBody>
      </p:sp>
      <p:sp>
        <p:nvSpPr>
          <p:cNvPr id="29" name="">
            <a:extLst xmlns:a="http://schemas.openxmlformats.org/drawingml/2006/main">
              <a:ext uri="{FF2B5EF4-FFF2-40B4-BE49-F238E27FC236}">
                <a16:creationId xmlns:a16="http://schemas.microsoft.com/office/drawing/2014/main" id="{DD433EFA-8701-41FF-B251-627DC57ECDBA}"/>
              </a:ext>
            </a:extLst>
          </p:cNvPr>
          <p:cNvSpPr>
            <a:spLocks xmlns:a="http://schemas.openxmlformats.org/drawingml/2006/main" noGrp="1"/>
          </p:cNvSpPr>
          <p:nvPr/>
        </p:nvSpPr>
        <p:spPr>
          <a:xfrm xmlns:a="http://schemas.openxmlformats.org/drawingml/2006/main">
            <a:off x="3687988" y="3032760"/>
            <a:ext cx="4556646"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-2 … +2 | null,</a:t>
            </a:r>
          </a:p>
        </p:txBody>
      </p:sp>
      <p:sp>
        <p:nvSpPr>
          <p:cNvPr id="30" name="">
            <a:extLst xmlns:a="http://schemas.openxmlformats.org/drawingml/2006/main">
              <a:ext uri="{FF2B5EF4-FFF2-40B4-BE49-F238E27FC236}">
                <a16:creationId xmlns:a16="http://schemas.microsoft.com/office/drawing/2014/main" id="{AC540BF1-ECAF-404B-89E4-03D06FD0D697}"/>
              </a:ext>
            </a:extLst>
          </p:cNvPr>
          <p:cNvSpPr>
            <a:spLocks xmlns:a="http://schemas.openxmlformats.org/drawingml/2006/main" noGrp="1"/>
          </p:cNvSpPr>
          <p:nvPr/>
        </p:nvSpPr>
        <p:spPr>
          <a:xfrm xmlns:a="http://schemas.openxmlformats.org/drawingml/2006/main">
            <a:off x="1005815" y="3322320"/>
            <a:ext cx="2682173"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"inflation_assessment":</a:t>
            </a:r>
          </a:p>
        </p:txBody>
      </p:sp>
      <p:sp>
        <p:nvSpPr>
          <p:cNvPr id="31" name="">
            <a:extLst xmlns:a="http://schemas.openxmlformats.org/drawingml/2006/main">
              <a:ext uri="{FF2B5EF4-FFF2-40B4-BE49-F238E27FC236}">
                <a16:creationId xmlns:a16="http://schemas.microsoft.com/office/drawing/2014/main" id="{25AA6D75-9FA0-4CA3-AD3E-A054F06F93DF}"/>
              </a:ext>
            </a:extLst>
          </p:cNvPr>
          <p:cNvSpPr>
            <a:spLocks xmlns:a="http://schemas.openxmlformats.org/drawingml/2006/main" noGrp="1"/>
          </p:cNvSpPr>
          <p:nvPr/>
        </p:nvSpPr>
        <p:spPr>
          <a:xfrm xmlns:a="http://schemas.openxmlformats.org/drawingml/2006/main">
            <a:off x="3687988" y="3322320"/>
            <a:ext cx="4556646"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-2 … +2 | null,</a:t>
            </a:r>
          </a:p>
        </p:txBody>
      </p:sp>
      <p:sp>
        <p:nvSpPr>
          <p:cNvPr id="32" name="">
            <a:extLst xmlns:a="http://schemas.openxmlformats.org/drawingml/2006/main">
              <a:ext uri="{FF2B5EF4-FFF2-40B4-BE49-F238E27FC236}">
                <a16:creationId xmlns:a16="http://schemas.microsoft.com/office/drawing/2014/main" id="{FD0CB887-E517-4F58-A34A-3C994A067E19}"/>
              </a:ext>
            </a:extLst>
          </p:cNvPr>
          <p:cNvSpPr>
            <a:spLocks xmlns:a="http://schemas.openxmlformats.org/drawingml/2006/main" noGrp="1"/>
          </p:cNvSpPr>
          <p:nvPr/>
        </p:nvSpPr>
        <p:spPr>
          <a:xfrm xmlns:a="http://schemas.openxmlformats.org/drawingml/2006/main">
            <a:off x="1005815" y="3611880"/>
            <a:ext cx="2682173"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"activity_labor_assessment":</a:t>
            </a:r>
          </a:p>
        </p:txBody>
      </p:sp>
      <p:sp>
        <p:nvSpPr>
          <p:cNvPr id="33" name="">
            <a:extLst xmlns:a="http://schemas.openxmlformats.org/drawingml/2006/main">
              <a:ext uri="{FF2B5EF4-FFF2-40B4-BE49-F238E27FC236}">
                <a16:creationId xmlns:a16="http://schemas.microsoft.com/office/drawing/2014/main" id="{28BC31CF-5E4D-4718-A811-E8EC09A78DE5}"/>
              </a:ext>
            </a:extLst>
          </p:cNvPr>
          <p:cNvSpPr>
            <a:spLocks xmlns:a="http://schemas.openxmlformats.org/drawingml/2006/main" noGrp="1"/>
          </p:cNvSpPr>
          <p:nvPr/>
        </p:nvSpPr>
        <p:spPr>
          <a:xfrm xmlns:a="http://schemas.openxmlformats.org/drawingml/2006/main">
            <a:off x="3687988" y="3611880"/>
            <a:ext cx="4556646"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-2 … +2 | null,</a:t>
            </a:r>
          </a:p>
        </p:txBody>
      </p:sp>
      <p:sp>
        <p:nvSpPr>
          <p:cNvPr id="34" name="">
            <a:extLst xmlns:a="http://schemas.openxmlformats.org/drawingml/2006/main">
              <a:ext uri="{FF2B5EF4-FFF2-40B4-BE49-F238E27FC236}">
                <a16:creationId xmlns:a16="http://schemas.microsoft.com/office/drawing/2014/main" id="{EDF8FE9E-AB74-4F52-B4CF-A3E329185C05}"/>
              </a:ext>
            </a:extLst>
          </p:cNvPr>
          <p:cNvSpPr>
            <a:spLocks xmlns:a="http://schemas.openxmlformats.org/drawingml/2006/main" noGrp="1"/>
          </p:cNvSpPr>
          <p:nvPr/>
        </p:nvSpPr>
        <p:spPr>
          <a:xfrm xmlns:a="http://schemas.openxmlformats.org/drawingml/2006/main">
            <a:off x="1005815" y="3901440"/>
            <a:ext cx="2682173"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"risk_balance":</a:t>
            </a:r>
          </a:p>
        </p:txBody>
      </p:sp>
      <p:sp>
        <p:nvSpPr>
          <p:cNvPr id="35" name="">
            <a:extLst xmlns:a="http://schemas.openxmlformats.org/drawingml/2006/main">
              <a:ext uri="{FF2B5EF4-FFF2-40B4-BE49-F238E27FC236}">
                <a16:creationId xmlns:a16="http://schemas.microsoft.com/office/drawing/2014/main" id="{5DDE6116-19A8-4E67-8D0A-27D13689FC39}"/>
              </a:ext>
            </a:extLst>
          </p:cNvPr>
          <p:cNvSpPr>
            <a:spLocks xmlns:a="http://schemas.openxmlformats.org/drawingml/2006/main" noGrp="1"/>
          </p:cNvSpPr>
          <p:nvPr/>
        </p:nvSpPr>
        <p:spPr>
          <a:xfrm xmlns:a="http://schemas.openxmlformats.org/drawingml/2006/main">
            <a:off x="3687988" y="3901440"/>
            <a:ext cx="4556646"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-2 … +2 | null,</a:t>
            </a:r>
          </a:p>
        </p:txBody>
      </p:sp>
      <p:sp>
        <p:nvSpPr>
          <p:cNvPr id="36" name="">
            <a:extLst xmlns:a="http://schemas.openxmlformats.org/drawingml/2006/main">
              <a:ext uri="{FF2B5EF4-FFF2-40B4-BE49-F238E27FC236}">
                <a16:creationId xmlns:a16="http://schemas.microsoft.com/office/drawing/2014/main" id="{187449C6-A3AD-4030-88AC-FB2EDB761792}"/>
              </a:ext>
            </a:extLst>
          </p:cNvPr>
          <p:cNvSpPr>
            <a:spLocks xmlns:a="http://schemas.openxmlformats.org/drawingml/2006/main" noGrp="1"/>
          </p:cNvSpPr>
          <p:nvPr/>
        </p:nvSpPr>
        <p:spPr>
          <a:xfrm xmlns:a="http://schemas.openxmlformats.org/drawingml/2006/main">
            <a:off x="1005815" y="4191000"/>
            <a:ext cx="2682173"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"balance_sheet":</a:t>
            </a:r>
          </a:p>
        </p:txBody>
      </p:sp>
      <p:sp>
        <p:nvSpPr>
          <p:cNvPr id="37" name="">
            <a:extLst xmlns:a="http://schemas.openxmlformats.org/drawingml/2006/main">
              <a:ext uri="{FF2B5EF4-FFF2-40B4-BE49-F238E27FC236}">
                <a16:creationId xmlns:a16="http://schemas.microsoft.com/office/drawing/2014/main" id="{3B255A5E-A206-4260-9912-CC6907255423}"/>
              </a:ext>
            </a:extLst>
          </p:cNvPr>
          <p:cNvSpPr>
            <a:spLocks xmlns:a="http://schemas.openxmlformats.org/drawingml/2006/main" noGrp="1"/>
          </p:cNvSpPr>
          <p:nvPr/>
        </p:nvSpPr>
        <p:spPr>
          <a:xfrm xmlns:a="http://schemas.openxmlformats.org/drawingml/2006/main">
            <a:off x="3687988" y="4191000"/>
            <a:ext cx="4556646"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-2 … +2 | null,</a:t>
            </a:r>
          </a:p>
        </p:txBody>
      </p:sp>
      <p:sp>
        <p:nvSpPr>
          <p:cNvPr id="38" name="">
            <a:extLst xmlns:a="http://schemas.openxmlformats.org/drawingml/2006/main">
              <a:ext uri="{FF2B5EF4-FFF2-40B4-BE49-F238E27FC236}">
                <a16:creationId xmlns:a16="http://schemas.microsoft.com/office/drawing/2014/main" id="{8E538164-24FF-4D14-BD4C-C27D610B7F61}"/>
              </a:ext>
            </a:extLst>
          </p:cNvPr>
          <p:cNvSpPr>
            <a:spLocks xmlns:a="http://schemas.openxmlformats.org/drawingml/2006/main" noGrp="1"/>
          </p:cNvSpPr>
          <p:nvPr/>
        </p:nvSpPr>
        <p:spPr>
          <a:xfrm xmlns:a="http://schemas.openxmlformats.org/drawingml/2006/main">
            <a:off x="1005815" y="4480560"/>
            <a:ext cx="2682173"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"overall_stance":</a:t>
            </a:r>
          </a:p>
        </p:txBody>
      </p:sp>
      <p:sp>
        <p:nvSpPr>
          <p:cNvPr id="39" name="">
            <a:extLst xmlns:a="http://schemas.openxmlformats.org/drawingml/2006/main">
              <a:ext uri="{FF2B5EF4-FFF2-40B4-BE49-F238E27FC236}">
                <a16:creationId xmlns:a16="http://schemas.microsoft.com/office/drawing/2014/main" id="{E98F2DF7-B5ED-484D-BCC4-CBA1289F84A2}"/>
              </a:ext>
            </a:extLst>
          </p:cNvPr>
          <p:cNvSpPr>
            <a:spLocks xmlns:a="http://schemas.openxmlformats.org/drawingml/2006/main" noGrp="1"/>
          </p:cNvSpPr>
          <p:nvPr/>
        </p:nvSpPr>
        <p:spPr>
          <a:xfrm xmlns:a="http://schemas.openxmlformats.org/drawingml/2006/main">
            <a:off x="3687988" y="4480560"/>
            <a:ext cx="1173451"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-2 … +2,</a:t>
            </a:r>
          </a:p>
        </p:txBody>
      </p:sp>
      <p:sp>
        <p:nvSpPr>
          <p:cNvPr id="40" name="">
            <a:extLst xmlns:a="http://schemas.openxmlformats.org/drawingml/2006/main">
              <a:ext uri="{FF2B5EF4-FFF2-40B4-BE49-F238E27FC236}">
                <a16:creationId xmlns:a16="http://schemas.microsoft.com/office/drawing/2014/main" id="{03DC61C4-E8D3-4F45-A4A3-977BE1B8C4DA}"/>
              </a:ext>
            </a:extLst>
          </p:cNvPr>
          <p:cNvSpPr>
            <a:spLocks xmlns:a="http://schemas.openxmlformats.org/drawingml/2006/main" noGrp="1"/>
          </p:cNvSpPr>
          <p:nvPr/>
        </p:nvSpPr>
        <p:spPr>
          <a:xfrm xmlns:a="http://schemas.openxmlformats.org/drawingml/2006/main">
            <a:off x="4861438" y="4480560"/>
            <a:ext cx="3383195"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55504A"/>
                </a:solidFill>
                <a:latin typeface="Arial"/>
                <a:ea typeface="Arial"/>
                <a:cs typeface="Arial"/>
              </a:defRPr>
            </a:defPPr>
            <a:lvl1pPr algn="l">
              <a:defRPr sz="1200" b="0">
                <a:solidFill>
                  <a:srgbClr val="55504A"/>
                </a:solidFill>
                <a:latin typeface="Arial"/>
                <a:ea typeface="Arial"/>
                <a:cs typeface="Arial"/>
              </a:defRPr>
            </a:lvl1pPr>
            <a:lvl2pPr algn="l">
              <a:defRPr sz="1200" b="0">
                <a:solidFill>
                  <a:srgbClr val="55504A"/>
                </a:solidFill>
                <a:latin typeface="Arial"/>
                <a:ea typeface="Arial"/>
                <a:cs typeface="Arial"/>
              </a:defRPr>
            </a:lvl2pPr>
            <a:lvl3pPr algn="l">
              <a:defRPr sz="1200" b="0">
                <a:solidFill>
                  <a:srgbClr val="55504A"/>
                </a:solidFill>
                <a:latin typeface="Arial"/>
                <a:ea typeface="Arial"/>
                <a:cs typeface="Arial"/>
              </a:defRPr>
            </a:lvl3pPr>
            <a:lvl4pPr algn="l">
              <a:defRPr sz="1200" b="0">
                <a:solidFill>
                  <a:srgbClr val="55504A"/>
                </a:solidFill>
                <a:latin typeface="Arial"/>
                <a:ea typeface="Arial"/>
                <a:cs typeface="Arial"/>
              </a:defRPr>
            </a:lvl4pPr>
            <a:lvl5pPr algn="l">
              <a:defRPr sz="1200" b="0">
                <a:solidFill>
                  <a:srgbClr val="55504A"/>
                </a:solidFill>
                <a:latin typeface="Arial"/>
                <a:ea typeface="Arial"/>
                <a:cs typeface="Arial"/>
              </a:defRPr>
            </a:lvl5pPr>
            <a:lvl6pPr algn="l">
              <a:defRPr sz="1200" b="0">
                <a:solidFill>
                  <a:srgbClr val="55504A"/>
                </a:solidFill>
                <a:latin typeface="Arial"/>
                <a:ea typeface="Arial"/>
                <a:cs typeface="Arial"/>
              </a:defRPr>
            </a:lvl6pPr>
            <a:lvl7pPr algn="l">
              <a:defRPr sz="1200" b="0">
                <a:solidFill>
                  <a:srgbClr val="55504A"/>
                </a:solidFill>
                <a:latin typeface="Arial"/>
                <a:ea typeface="Arial"/>
                <a:cs typeface="Arial"/>
              </a:defRPr>
            </a:lvl7pPr>
            <a:lvl8pPr algn="l">
              <a:defRPr sz="1200" b="0">
                <a:solidFill>
                  <a:srgbClr val="55504A"/>
                </a:solidFill>
                <a:latin typeface="Arial"/>
                <a:ea typeface="Arial"/>
                <a:cs typeface="Arial"/>
              </a:defRPr>
            </a:lvl8pPr>
            <a:lvl9pPr algn="l">
              <a:defRPr sz="1200" b="0">
                <a:solidFill>
                  <a:srgbClr val="55504A"/>
                </a:solidFill>
                <a:latin typeface="Arial"/>
                <a:ea typeface="Arial"/>
                <a:cs typeface="Arial"/>
              </a:defRPr>
            </a:lvl9pPr>
          </a:lstStyle>
          <a:p xmlns:a="http://schemas.openxmlformats.org/drawingml/2006/main">
            <a:pPr algn="l">
              <a:defRPr sz="1200" b="0">
                <a:solidFill>
                  <a:srgbClr val="55504A"/>
                </a:solidFill>
                <a:latin typeface="Arial"/>
                <a:ea typeface="Arial"/>
                <a:cs typeface="Arial"/>
              </a:defRPr>
            </a:pPr>
            <a:r>
              <a:rPr sz="1200" b="0">
                <a:solidFill>
                  <a:srgbClr val="55504A"/>
                </a:solidFill>
                <a:latin typeface="Arial"/>
                <a:ea typeface="Arial"/>
                <a:cs typeface="Arial"/>
              </a:rPr>
              <a:t># holistic, not an average</a:t>
            </a:r>
          </a:p>
        </p:txBody>
      </p:sp>
      <p:sp>
        <p:nvSpPr>
          <p:cNvPr id="41" name="">
            <a:extLst xmlns:a="http://schemas.openxmlformats.org/drawingml/2006/main">
              <a:ext uri="{FF2B5EF4-FFF2-40B4-BE49-F238E27FC236}">
                <a16:creationId xmlns:a16="http://schemas.microsoft.com/office/drawing/2014/main" id="{8E77BF46-9569-47CC-8946-4DC58BA6F935}"/>
              </a:ext>
            </a:extLst>
          </p:cNvPr>
          <p:cNvSpPr>
            <a:spLocks xmlns:a="http://schemas.openxmlformats.org/drawingml/2006/main" noGrp="1"/>
          </p:cNvSpPr>
          <p:nvPr/>
        </p:nvSpPr>
        <p:spPr>
          <a:xfrm xmlns:a="http://schemas.openxmlformats.org/drawingml/2006/main">
            <a:off x="1005815" y="4770120"/>
            <a:ext cx="2682173"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"stance_score":</a:t>
            </a:r>
          </a:p>
        </p:txBody>
      </p:sp>
      <p:sp>
        <p:nvSpPr>
          <p:cNvPr id="42" name="">
            <a:extLst xmlns:a="http://schemas.openxmlformats.org/drawingml/2006/main">
              <a:ext uri="{FF2B5EF4-FFF2-40B4-BE49-F238E27FC236}">
                <a16:creationId xmlns:a16="http://schemas.microsoft.com/office/drawing/2014/main" id="{9D823714-988C-4AA6-AAB5-79E52BCC0308}"/>
              </a:ext>
            </a:extLst>
          </p:cNvPr>
          <p:cNvSpPr>
            <a:spLocks xmlns:a="http://schemas.openxmlformats.org/drawingml/2006/main" noGrp="1"/>
          </p:cNvSpPr>
          <p:nvPr/>
        </p:nvSpPr>
        <p:spPr>
          <a:xfrm xmlns:a="http://schemas.openxmlformats.org/drawingml/2006/main">
            <a:off x="3687988" y="4770120"/>
            <a:ext cx="1173451"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-1.0 … +1.0,</a:t>
            </a:r>
          </a:p>
        </p:txBody>
      </p:sp>
      <p:sp>
        <p:nvSpPr>
          <p:cNvPr id="43" name="">
            <a:extLst xmlns:a="http://schemas.openxmlformats.org/drawingml/2006/main">
              <a:ext uri="{FF2B5EF4-FFF2-40B4-BE49-F238E27FC236}">
                <a16:creationId xmlns:a16="http://schemas.microsoft.com/office/drawing/2014/main" id="{526F9D41-E546-4E8F-9F44-F73475C9A191}"/>
              </a:ext>
            </a:extLst>
          </p:cNvPr>
          <p:cNvSpPr>
            <a:spLocks xmlns:a="http://schemas.openxmlformats.org/drawingml/2006/main" noGrp="1"/>
          </p:cNvSpPr>
          <p:nvPr/>
        </p:nvSpPr>
        <p:spPr>
          <a:xfrm xmlns:a="http://schemas.openxmlformats.org/drawingml/2006/main">
            <a:off x="4861438" y="4770120"/>
            <a:ext cx="3383195"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55504A"/>
                </a:solidFill>
                <a:latin typeface="Arial"/>
                <a:ea typeface="Arial"/>
                <a:cs typeface="Arial"/>
              </a:defRPr>
            </a:defPPr>
            <a:lvl1pPr algn="l">
              <a:defRPr sz="1200" b="0">
                <a:solidFill>
                  <a:srgbClr val="55504A"/>
                </a:solidFill>
                <a:latin typeface="Arial"/>
                <a:ea typeface="Arial"/>
                <a:cs typeface="Arial"/>
              </a:defRPr>
            </a:lvl1pPr>
            <a:lvl2pPr algn="l">
              <a:defRPr sz="1200" b="0">
                <a:solidFill>
                  <a:srgbClr val="55504A"/>
                </a:solidFill>
                <a:latin typeface="Arial"/>
                <a:ea typeface="Arial"/>
                <a:cs typeface="Arial"/>
              </a:defRPr>
            </a:lvl2pPr>
            <a:lvl3pPr algn="l">
              <a:defRPr sz="1200" b="0">
                <a:solidFill>
                  <a:srgbClr val="55504A"/>
                </a:solidFill>
                <a:latin typeface="Arial"/>
                <a:ea typeface="Arial"/>
                <a:cs typeface="Arial"/>
              </a:defRPr>
            </a:lvl3pPr>
            <a:lvl4pPr algn="l">
              <a:defRPr sz="1200" b="0">
                <a:solidFill>
                  <a:srgbClr val="55504A"/>
                </a:solidFill>
                <a:latin typeface="Arial"/>
                <a:ea typeface="Arial"/>
                <a:cs typeface="Arial"/>
              </a:defRPr>
            </a:lvl4pPr>
            <a:lvl5pPr algn="l">
              <a:defRPr sz="1200" b="0">
                <a:solidFill>
                  <a:srgbClr val="55504A"/>
                </a:solidFill>
                <a:latin typeface="Arial"/>
                <a:ea typeface="Arial"/>
                <a:cs typeface="Arial"/>
              </a:defRPr>
            </a:lvl5pPr>
            <a:lvl6pPr algn="l">
              <a:defRPr sz="1200" b="0">
                <a:solidFill>
                  <a:srgbClr val="55504A"/>
                </a:solidFill>
                <a:latin typeface="Arial"/>
                <a:ea typeface="Arial"/>
                <a:cs typeface="Arial"/>
              </a:defRPr>
            </a:lvl6pPr>
            <a:lvl7pPr algn="l">
              <a:defRPr sz="1200" b="0">
                <a:solidFill>
                  <a:srgbClr val="55504A"/>
                </a:solidFill>
                <a:latin typeface="Arial"/>
                <a:ea typeface="Arial"/>
                <a:cs typeface="Arial"/>
              </a:defRPr>
            </a:lvl7pPr>
            <a:lvl8pPr algn="l">
              <a:defRPr sz="1200" b="0">
                <a:solidFill>
                  <a:srgbClr val="55504A"/>
                </a:solidFill>
                <a:latin typeface="Arial"/>
                <a:ea typeface="Arial"/>
                <a:cs typeface="Arial"/>
              </a:defRPr>
            </a:lvl8pPr>
            <a:lvl9pPr algn="l">
              <a:defRPr sz="1200" b="0">
                <a:solidFill>
                  <a:srgbClr val="55504A"/>
                </a:solidFill>
                <a:latin typeface="Arial"/>
                <a:ea typeface="Arial"/>
                <a:cs typeface="Arial"/>
              </a:defRPr>
            </a:lvl9pPr>
          </a:lstStyle>
          <a:p xmlns:a="http://schemas.openxmlformats.org/drawingml/2006/main">
            <a:pPr algn="l">
              <a:defRPr sz="1200" b="0">
                <a:solidFill>
                  <a:srgbClr val="55504A"/>
                </a:solidFill>
                <a:latin typeface="Arial"/>
                <a:ea typeface="Arial"/>
                <a:cs typeface="Arial"/>
              </a:defRPr>
            </a:pPr>
            <a:r>
              <a:rPr sz="1200" b="0">
                <a:solidFill>
                  <a:srgbClr val="55504A"/>
                </a:solidFill>
                <a:latin typeface="Arial"/>
                <a:ea typeface="Arial"/>
                <a:cs typeface="Arial"/>
              </a:rPr>
              <a:t># the index</a:t>
            </a:r>
          </a:p>
        </p:txBody>
      </p:sp>
      <p:sp>
        <p:nvSpPr>
          <p:cNvPr id="44" name="">
            <a:extLst xmlns:a="http://schemas.openxmlformats.org/drawingml/2006/main">
              <a:ext uri="{FF2B5EF4-FFF2-40B4-BE49-F238E27FC236}">
                <a16:creationId xmlns:a16="http://schemas.microsoft.com/office/drawing/2014/main" id="{FF7914A3-B3CC-41A5-A803-D2EAB47488A5}"/>
              </a:ext>
            </a:extLst>
          </p:cNvPr>
          <p:cNvSpPr>
            <a:spLocks xmlns:a="http://schemas.openxmlformats.org/drawingml/2006/main" noGrp="1"/>
          </p:cNvSpPr>
          <p:nvPr/>
        </p:nvSpPr>
        <p:spPr>
          <a:xfrm xmlns:a="http://schemas.openxmlformats.org/drawingml/2006/main">
            <a:off x="1005815" y="5059680"/>
            <a:ext cx="2682173"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"confidence":</a:t>
            </a:r>
          </a:p>
        </p:txBody>
      </p:sp>
      <p:sp>
        <p:nvSpPr>
          <p:cNvPr id="45" name="">
            <a:extLst xmlns:a="http://schemas.openxmlformats.org/drawingml/2006/main">
              <a:ext uri="{FF2B5EF4-FFF2-40B4-BE49-F238E27FC236}">
                <a16:creationId xmlns:a16="http://schemas.microsoft.com/office/drawing/2014/main" id="{54D7A103-98A2-4F27-BAAD-83B2BAD321CE}"/>
              </a:ext>
            </a:extLst>
          </p:cNvPr>
          <p:cNvSpPr>
            <a:spLocks xmlns:a="http://schemas.openxmlformats.org/drawingml/2006/main" noGrp="1"/>
          </p:cNvSpPr>
          <p:nvPr/>
        </p:nvSpPr>
        <p:spPr>
          <a:xfrm xmlns:a="http://schemas.openxmlformats.org/drawingml/2006/main">
            <a:off x="3687988" y="5059680"/>
            <a:ext cx="4556646"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0 … 1,</a:t>
            </a:r>
          </a:p>
        </p:txBody>
      </p:sp>
      <p:sp>
        <p:nvSpPr>
          <p:cNvPr id="46" name="">
            <a:extLst xmlns:a="http://schemas.openxmlformats.org/drawingml/2006/main">
              <a:ext uri="{FF2B5EF4-FFF2-40B4-BE49-F238E27FC236}">
                <a16:creationId xmlns:a16="http://schemas.microsoft.com/office/drawing/2014/main" id="{FDF85755-54E0-4DB6-A471-3D2306CF84FB}"/>
              </a:ext>
            </a:extLst>
          </p:cNvPr>
          <p:cNvSpPr>
            <a:spLocks xmlns:a="http://schemas.openxmlformats.org/drawingml/2006/main" noGrp="1"/>
          </p:cNvSpPr>
          <p:nvPr/>
        </p:nvSpPr>
        <p:spPr>
          <a:xfrm xmlns:a="http://schemas.openxmlformats.org/drawingml/2006/main">
            <a:off x="1005815" y="5349240"/>
            <a:ext cx="7238819"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"evidence": [{"dimension": …, "quote": "verbatim"}]</a:t>
            </a:r>
          </a:p>
        </p:txBody>
      </p:sp>
      <p:sp>
        <p:nvSpPr>
          <p:cNvPr id="47" name="">
            <a:extLst xmlns:a="http://schemas.openxmlformats.org/drawingml/2006/main">
              <a:ext uri="{FF2B5EF4-FFF2-40B4-BE49-F238E27FC236}">
                <a16:creationId xmlns:a16="http://schemas.microsoft.com/office/drawing/2014/main" id="{991AE6C1-7C4C-48F7-97B8-2E94A07A1015}"/>
              </a:ext>
            </a:extLst>
          </p:cNvPr>
          <p:cNvSpPr>
            <a:spLocks xmlns:a="http://schemas.openxmlformats.org/drawingml/2006/main" noGrp="1"/>
          </p:cNvSpPr>
          <p:nvPr/>
        </p:nvSpPr>
        <p:spPr>
          <a:xfrm xmlns:a="http://schemas.openxmlformats.org/drawingml/2006/main">
            <a:off x="838179" y="5638800"/>
            <a:ext cx="7406455"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a:t>
            </a:r>
          </a:p>
        </p:txBody>
      </p:sp>
    </p:spTree>
    <p:extLst>
      <p:ext uri="{BB962C8B-B14F-4D97-AF65-F5344CB8AC3E}">
        <p14:creationId xmlns:p14="http://schemas.microsoft.com/office/powerpoint/2010/main" val="202387729"/>
      </p:ext>
    </p:extLst>
  </p:cSld>
</p:sld>
</file>

<file path=ppt/slides/slide10.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DAA2CAFA-EF26-4A1E-B8A8-FEBD64DD83F5}"/>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43B150CB-D598-4E5B-BBF0-14D6D9901AC5}"/>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READERS AND VALIDATION</a:t>
            </a:r>
          </a:p>
        </p:txBody>
      </p:sp>
      <p:sp>
        <p:nvSpPr>
          <p:cNvPr id="3" name="">
            <a:extLst xmlns:a="http://schemas.openxmlformats.org/drawingml/2006/main">
              <a:ext uri="{FF2B5EF4-FFF2-40B4-BE49-F238E27FC236}">
                <a16:creationId xmlns:a16="http://schemas.microsoft.com/office/drawing/2014/main" id="{00117171-91E6-4E7F-AE7A-51DB69273EE6}"/>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10 / 46</a:t>
            </a:r>
          </a:p>
        </p:txBody>
      </p:sp>
      <p:sp>
        <p:nvSpPr>
          <p:cNvPr id="4" name="">
            <a:extLst xmlns:a="http://schemas.openxmlformats.org/drawingml/2006/main">
              <a:ext uri="{FF2B5EF4-FFF2-40B4-BE49-F238E27FC236}">
                <a16:creationId xmlns:a16="http://schemas.microsoft.com/office/drawing/2014/main" id="{2DE385EE-C35B-48BB-A7E7-EDCFADBF192E}"/>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D5E35F9-F01D-4D7A-8F53-1D0C0367ACC8}"/>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Every score comes with its evidence</a:t>
            </a:r>
          </a:p>
        </p:txBody>
      </p:sp>
      <p:sp>
        <p:nvSpPr>
          <p:cNvPr id="6" name="">
            <a:extLst xmlns:a="http://schemas.openxmlformats.org/drawingml/2006/main">
              <a:ext uri="{FF2B5EF4-FFF2-40B4-BE49-F238E27FC236}">
                <a16:creationId xmlns:a16="http://schemas.microsoft.com/office/drawing/2014/main" id="{B62BC5E1-BFCB-4380-BB03-4DEDB01361BD}"/>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Claude supplies quoted spans; we verify each quote against the source</a:t>
            </a:r>
          </a:p>
        </p:txBody>
      </p:sp>
      <p:sp>
        <p:nvSpPr>
          <p:cNvPr id="7" name="">
            <a:extLst xmlns:a="http://schemas.openxmlformats.org/drawingml/2006/main">
              <a:ext uri="{FF2B5EF4-FFF2-40B4-BE49-F238E27FC236}">
                <a16:creationId xmlns:a16="http://schemas.microsoft.com/office/drawing/2014/main" id="{59A37990-9C62-4F20-A250-4537FDC58DDA}"/>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FCBF90E-2637-4CAD-81EE-11D4AC978FE7}"/>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Claude Opus 5.5 readings in the project store; quote checks in llm/scorer.py.</a:t>
            </a:r>
          </a:p>
        </p:txBody>
      </p:sp>
      <p:sp>
        <p:nvSpPr>
          <p:cNvPr id="9" name="">
            <a:extLst xmlns:a="http://schemas.openxmlformats.org/drawingml/2006/main">
              <a:ext uri="{FF2B5EF4-FFF2-40B4-BE49-F238E27FC236}">
                <a16:creationId xmlns:a16="http://schemas.microsoft.com/office/drawing/2014/main" id="{A3A54EEB-45EF-46CF-BD92-6610DA920A61}"/>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EF9F852-0741-40DC-99B6-7F70382E3892}"/>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897B5FD-034C-45F8-B42B-99847AF5C24C}"/>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5B748F1-C2D2-4BB3-BD44-6C3F49AADDDB}"/>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E7F6C41-3801-40A4-B599-444CFBD9AB99}"/>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05A1D3B-E774-4DAC-A6C4-D78678350CFF}"/>
              </a:ext>
            </a:extLst>
          </p:cNvPr>
          <p:cNvSpPr>
            <a:spLocks xmlns:a="http://schemas.openxmlformats.org/drawingml/2006/main" noGrp="1"/>
          </p:cNvSpPr>
          <p:nvPr/>
        </p:nvSpPr>
        <p:spPr>
          <a:xfrm xmlns:a="http://schemas.openxmlformats.org/drawingml/2006/main">
            <a:off x="8838979" y="1965960"/>
            <a:ext cx="2743131"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4560" b="1">
                <a:solidFill>
                  <a:srgbClr val="151312"/>
                </a:solidFill>
                <a:latin typeface="Arial"/>
                <a:ea typeface="Arial"/>
                <a:cs typeface="Arial"/>
              </a:defRPr>
            </a:defPPr>
            <a:lvl1pPr algn="l">
              <a:defRPr sz="4560" b="1">
                <a:solidFill>
                  <a:srgbClr val="151312"/>
                </a:solidFill>
                <a:latin typeface="Arial"/>
                <a:ea typeface="Arial"/>
                <a:cs typeface="Arial"/>
              </a:defRPr>
            </a:lvl1pPr>
            <a:lvl2pPr algn="l">
              <a:defRPr sz="4560" b="1">
                <a:solidFill>
                  <a:srgbClr val="151312"/>
                </a:solidFill>
                <a:latin typeface="Arial"/>
                <a:ea typeface="Arial"/>
                <a:cs typeface="Arial"/>
              </a:defRPr>
            </a:lvl2pPr>
            <a:lvl3pPr algn="l">
              <a:defRPr sz="4560" b="1">
                <a:solidFill>
                  <a:srgbClr val="151312"/>
                </a:solidFill>
                <a:latin typeface="Arial"/>
                <a:ea typeface="Arial"/>
                <a:cs typeface="Arial"/>
              </a:defRPr>
            </a:lvl3pPr>
            <a:lvl4pPr algn="l">
              <a:defRPr sz="4560" b="1">
                <a:solidFill>
                  <a:srgbClr val="151312"/>
                </a:solidFill>
                <a:latin typeface="Arial"/>
                <a:ea typeface="Arial"/>
                <a:cs typeface="Arial"/>
              </a:defRPr>
            </a:lvl4pPr>
            <a:lvl5pPr algn="l">
              <a:defRPr sz="4560" b="1">
                <a:solidFill>
                  <a:srgbClr val="151312"/>
                </a:solidFill>
                <a:latin typeface="Arial"/>
                <a:ea typeface="Arial"/>
                <a:cs typeface="Arial"/>
              </a:defRPr>
            </a:lvl5pPr>
            <a:lvl6pPr algn="l">
              <a:defRPr sz="4560" b="1">
                <a:solidFill>
                  <a:srgbClr val="151312"/>
                </a:solidFill>
                <a:latin typeface="Arial"/>
                <a:ea typeface="Arial"/>
                <a:cs typeface="Arial"/>
              </a:defRPr>
            </a:lvl6pPr>
            <a:lvl7pPr algn="l">
              <a:defRPr sz="4560" b="1">
                <a:solidFill>
                  <a:srgbClr val="151312"/>
                </a:solidFill>
                <a:latin typeface="Arial"/>
                <a:ea typeface="Arial"/>
                <a:cs typeface="Arial"/>
              </a:defRPr>
            </a:lvl7pPr>
            <a:lvl8pPr algn="l">
              <a:defRPr sz="4560" b="1">
                <a:solidFill>
                  <a:srgbClr val="151312"/>
                </a:solidFill>
                <a:latin typeface="Arial"/>
                <a:ea typeface="Arial"/>
                <a:cs typeface="Arial"/>
              </a:defRPr>
            </a:lvl8pPr>
            <a:lvl9pPr algn="l">
              <a:defRPr sz="4560" b="1">
                <a:solidFill>
                  <a:srgbClr val="151312"/>
                </a:solidFill>
                <a:latin typeface="Arial"/>
                <a:ea typeface="Arial"/>
                <a:cs typeface="Arial"/>
              </a:defRPr>
            </a:lvl9pPr>
          </a:lstStyle>
          <a:p xmlns:a="http://schemas.openxmlformats.org/drawingml/2006/main">
            <a:pPr algn="l">
              <a:defRPr sz="4560" b="1">
                <a:solidFill>
                  <a:srgbClr val="151312"/>
                </a:solidFill>
                <a:latin typeface="Arial"/>
                <a:ea typeface="Arial"/>
                <a:cs typeface="Arial"/>
              </a:defRPr>
            </a:pPr>
            <a:r>
              <a:rPr sz="4560" b="1">
                <a:solidFill>
                  <a:srgbClr val="151312"/>
                </a:solidFill>
                <a:latin typeface="Arial"/>
                <a:ea typeface="Arial"/>
                <a:cs typeface="Arial"/>
              </a:rPr>
              <a:t>99.96%</a:t>
            </a:r>
          </a:p>
        </p:txBody>
      </p:sp>
      <p:sp>
        <p:nvSpPr>
          <p:cNvPr id="15" name="">
            <a:extLst xmlns:a="http://schemas.openxmlformats.org/drawingml/2006/main">
              <a:ext uri="{FF2B5EF4-FFF2-40B4-BE49-F238E27FC236}">
                <a16:creationId xmlns:a16="http://schemas.microsoft.com/office/drawing/2014/main" id="{2A963F78-60D3-4810-8666-8A47024BB513}"/>
              </a:ext>
            </a:extLst>
          </p:cNvPr>
          <p:cNvSpPr>
            <a:spLocks xmlns:a="http://schemas.openxmlformats.org/drawingml/2006/main" noGrp="1"/>
          </p:cNvSpPr>
          <p:nvPr/>
        </p:nvSpPr>
        <p:spPr>
          <a:xfrm xmlns:a="http://schemas.openxmlformats.org/drawingml/2006/main">
            <a:off x="8838979" y="2781300"/>
            <a:ext cx="2743131"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mean document evidence-match share (1,509 documents)</a:t>
            </a:r>
          </a:p>
        </p:txBody>
      </p:sp>
      <p:sp>
        <p:nvSpPr>
          <p:cNvPr id="16" name="">
            <a:extLst xmlns:a="http://schemas.openxmlformats.org/drawingml/2006/main">
              <a:ext uri="{FF2B5EF4-FFF2-40B4-BE49-F238E27FC236}">
                <a16:creationId xmlns:a16="http://schemas.microsoft.com/office/drawing/2014/main" id="{D295DE2A-5AE8-418C-8E8C-17381283227C}"/>
              </a:ext>
            </a:extLst>
          </p:cNvPr>
          <p:cNvSpPr>
            <a:spLocks xmlns:a="http://schemas.openxmlformats.org/drawingml/2006/main" noGrp="1"/>
          </p:cNvSpPr>
          <p:nvPr/>
        </p:nvSpPr>
        <p:spPr>
          <a:xfrm xmlns:a="http://schemas.openxmlformats.org/drawingml/2006/main">
            <a:off x="8838979" y="364236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10B3E6C-BD1C-477D-8AAA-4B81A873A4F5}"/>
              </a:ext>
            </a:extLst>
          </p:cNvPr>
          <p:cNvSpPr>
            <a:spLocks xmlns:a="http://schemas.openxmlformats.org/drawingml/2006/main" noGrp="1"/>
          </p:cNvSpPr>
          <p:nvPr/>
        </p:nvSpPr>
        <p:spPr>
          <a:xfrm xmlns:a="http://schemas.openxmlformats.org/drawingml/2006/main">
            <a:off x="8838979" y="3718560"/>
            <a:ext cx="2743131"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Rubric v1: structured JSON and character-span evidence</a:t>
            </a:r>
          </a:p>
        </p:txBody>
      </p:sp>
      <p:sp>
        <p:nvSpPr>
          <p:cNvPr id="18" name="">
            <a:extLst xmlns:a="http://schemas.openxmlformats.org/drawingml/2006/main">
              <a:ext uri="{FF2B5EF4-FFF2-40B4-BE49-F238E27FC236}">
                <a16:creationId xmlns:a16="http://schemas.microsoft.com/office/drawing/2014/main" id="{B03E269C-D7F3-4D5E-8117-B2CED4B3EB8F}"/>
              </a:ext>
            </a:extLst>
          </p:cNvPr>
          <p:cNvSpPr>
            <a:spLocks xmlns:a="http://schemas.openxmlformats.org/drawingml/2006/main" noGrp="1"/>
          </p:cNvSpPr>
          <p:nvPr/>
        </p:nvSpPr>
        <p:spPr>
          <a:xfrm xmlns:a="http://schemas.openxmlformats.org/drawingml/2006/main">
            <a:off x="8838979" y="427482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1465E12-FB1E-43E5-B38B-812989EB1C66}"/>
              </a:ext>
            </a:extLst>
          </p:cNvPr>
          <p:cNvSpPr>
            <a:spLocks xmlns:a="http://schemas.openxmlformats.org/drawingml/2006/main" noGrp="1"/>
          </p:cNvSpPr>
          <p:nvPr/>
        </p:nvSpPr>
        <p:spPr>
          <a:xfrm xmlns:a="http://schemas.openxmlformats.org/drawingml/2006/main">
            <a:off x="8838979" y="4351020"/>
            <a:ext cx="2743131"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1,506 of 1,509 documents: every quote matched</a:t>
            </a:r>
          </a:p>
        </p:txBody>
      </p:sp>
      <p:sp>
        <p:nvSpPr>
          <p:cNvPr id="20" name="">
            <a:extLst xmlns:a="http://schemas.openxmlformats.org/drawingml/2006/main">
              <a:ext uri="{FF2B5EF4-FFF2-40B4-BE49-F238E27FC236}">
                <a16:creationId xmlns:a16="http://schemas.microsoft.com/office/drawing/2014/main" id="{934A1C2E-DCE3-4097-AA6B-34F619EEA114}"/>
              </a:ext>
            </a:extLst>
          </p:cNvPr>
          <p:cNvSpPr>
            <a:spLocks xmlns:a="http://schemas.openxmlformats.org/drawingml/2006/main" noGrp="1"/>
          </p:cNvSpPr>
          <p:nvPr/>
        </p:nvSpPr>
        <p:spPr>
          <a:xfrm xmlns:a="http://schemas.openxmlformats.org/drawingml/2006/main">
            <a:off x="8838979" y="490728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ED9FAEB-8857-48C0-B544-372DCB4FBD7A}"/>
              </a:ext>
            </a:extLst>
          </p:cNvPr>
          <p:cNvSpPr>
            <a:spLocks xmlns:a="http://schemas.openxmlformats.org/drawingml/2006/main" noGrp="1"/>
          </p:cNvSpPr>
          <p:nvPr/>
        </p:nvSpPr>
        <p:spPr>
          <a:xfrm xmlns:a="http://schemas.openxmlformats.org/drawingml/2006/main">
            <a:off x="8838979" y="4983480"/>
            <a:ext cx="2743131"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3 documents contain an unmatched quote</a:t>
            </a:r>
          </a:p>
        </p:txBody>
      </p:sp>
      <p:sp>
        <p:nvSpPr>
          <p:cNvPr id="22" name="">
            <a:extLst xmlns:a="http://schemas.openxmlformats.org/drawingml/2006/main">
              <a:ext uri="{FF2B5EF4-FFF2-40B4-BE49-F238E27FC236}">
                <a16:creationId xmlns:a16="http://schemas.microsoft.com/office/drawing/2014/main" id="{BFDBC05E-69C8-4D9B-965B-060BA5D28826}"/>
              </a:ext>
            </a:extLst>
          </p:cNvPr>
          <p:cNvSpPr>
            <a:spLocks xmlns:a="http://schemas.openxmlformats.org/drawingml/2006/main" noGrp="1"/>
          </p:cNvSpPr>
          <p:nvPr/>
        </p:nvSpPr>
        <p:spPr>
          <a:xfrm xmlns:a="http://schemas.openxmlformats.org/drawingml/2006/main">
            <a:off x="8838979" y="553974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8CD4D2D-D652-442D-AFDD-DD6D56876DB4}"/>
              </a:ext>
            </a:extLst>
          </p:cNvPr>
          <p:cNvSpPr>
            <a:spLocks xmlns:a="http://schemas.openxmlformats.org/drawingml/2006/main" noGrp="1"/>
          </p:cNvSpPr>
          <p:nvPr/>
        </p:nvSpPr>
        <p:spPr>
          <a:xfrm xmlns:a="http://schemas.openxmlformats.org/drawingml/2006/main">
            <a:off x="8838979" y="5615940"/>
            <a:ext cx="2743131"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Lowest document match share: 67%</a:t>
            </a:r>
          </a:p>
        </p:txBody>
      </p:sp>
      <p:sp>
        <p:nvSpPr>
          <p:cNvPr id="24" name="">
            <a:extLst xmlns:a="http://schemas.openxmlformats.org/drawingml/2006/main">
              <a:ext uri="{FF2B5EF4-FFF2-40B4-BE49-F238E27FC236}">
                <a16:creationId xmlns:a16="http://schemas.microsoft.com/office/drawing/2014/main" id="{A2CB37A4-11D0-4F36-8746-86A816D77ABE}"/>
              </a:ext>
            </a:extLst>
          </p:cNvPr>
          <p:cNvSpPr>
            <a:spLocks xmlns:a="http://schemas.openxmlformats.org/drawingml/2006/main" noGrp="1"/>
          </p:cNvSpPr>
          <p:nvPr/>
        </p:nvSpPr>
        <p:spPr>
          <a:xfrm xmlns:a="http://schemas.openxmlformats.org/drawingml/2006/main">
            <a:off x="609585" y="1920240"/>
            <a:ext cx="3779425" cy="1143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05BA1C6-8F8F-4E7B-86FB-58C662FBEC66}"/>
              </a:ext>
            </a:extLst>
          </p:cNvPr>
          <p:cNvSpPr>
            <a:spLocks xmlns:a="http://schemas.openxmlformats.org/drawingml/2006/main" noGrp="1"/>
          </p:cNvSpPr>
          <p:nvPr/>
        </p:nvSpPr>
        <p:spPr>
          <a:xfrm xmlns:a="http://schemas.openxmlformats.org/drawingml/2006/main">
            <a:off x="609585" y="2034540"/>
            <a:ext cx="259074"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1">
                <a:solidFill>
                  <a:srgbClr val="C8401F"/>
                </a:solidFill>
                <a:latin typeface="Arial"/>
                <a:ea typeface="Arial"/>
                <a:cs typeface="Arial"/>
              </a:defRPr>
            </a:defPPr>
            <a:lvl1pPr algn="l">
              <a:defRPr sz="1140" b="1">
                <a:solidFill>
                  <a:srgbClr val="C8401F"/>
                </a:solidFill>
                <a:latin typeface="Arial"/>
                <a:ea typeface="Arial"/>
                <a:cs typeface="Arial"/>
              </a:defRPr>
            </a:lvl1pPr>
            <a:lvl2pPr algn="l">
              <a:defRPr sz="1140" b="1">
                <a:solidFill>
                  <a:srgbClr val="C8401F"/>
                </a:solidFill>
                <a:latin typeface="Arial"/>
                <a:ea typeface="Arial"/>
                <a:cs typeface="Arial"/>
              </a:defRPr>
            </a:lvl2pPr>
            <a:lvl3pPr algn="l">
              <a:defRPr sz="1140" b="1">
                <a:solidFill>
                  <a:srgbClr val="C8401F"/>
                </a:solidFill>
                <a:latin typeface="Arial"/>
                <a:ea typeface="Arial"/>
                <a:cs typeface="Arial"/>
              </a:defRPr>
            </a:lvl3pPr>
            <a:lvl4pPr algn="l">
              <a:defRPr sz="1140" b="1">
                <a:solidFill>
                  <a:srgbClr val="C8401F"/>
                </a:solidFill>
                <a:latin typeface="Arial"/>
                <a:ea typeface="Arial"/>
                <a:cs typeface="Arial"/>
              </a:defRPr>
            </a:lvl4pPr>
            <a:lvl5pPr algn="l">
              <a:defRPr sz="1140" b="1">
                <a:solidFill>
                  <a:srgbClr val="C8401F"/>
                </a:solidFill>
                <a:latin typeface="Arial"/>
                <a:ea typeface="Arial"/>
                <a:cs typeface="Arial"/>
              </a:defRPr>
            </a:lvl5pPr>
            <a:lvl6pPr algn="l">
              <a:defRPr sz="1140" b="1">
                <a:solidFill>
                  <a:srgbClr val="C8401F"/>
                </a:solidFill>
                <a:latin typeface="Arial"/>
                <a:ea typeface="Arial"/>
                <a:cs typeface="Arial"/>
              </a:defRPr>
            </a:lvl6pPr>
            <a:lvl7pPr algn="l">
              <a:defRPr sz="1140" b="1">
                <a:solidFill>
                  <a:srgbClr val="C8401F"/>
                </a:solidFill>
                <a:latin typeface="Arial"/>
                <a:ea typeface="Arial"/>
                <a:cs typeface="Arial"/>
              </a:defRPr>
            </a:lvl7pPr>
            <a:lvl8pPr algn="l">
              <a:defRPr sz="1140" b="1">
                <a:solidFill>
                  <a:srgbClr val="C8401F"/>
                </a:solidFill>
                <a:latin typeface="Arial"/>
                <a:ea typeface="Arial"/>
                <a:cs typeface="Arial"/>
              </a:defRPr>
            </a:lvl8pPr>
            <a:lvl9pPr algn="l">
              <a:defRPr sz="1140" b="1">
                <a:solidFill>
                  <a:srgbClr val="C8401F"/>
                </a:solidFill>
                <a:latin typeface="Arial"/>
                <a:ea typeface="Arial"/>
                <a:cs typeface="Arial"/>
              </a:defRPr>
            </a:lvl9pPr>
          </a:lstStyle>
          <a:p xmlns:a="http://schemas.openxmlformats.org/drawingml/2006/main">
            <a:pPr algn="l">
              <a:defRPr sz="1140" b="1">
                <a:solidFill>
                  <a:srgbClr val="C8401F"/>
                </a:solidFill>
                <a:latin typeface="Arial"/>
                <a:ea typeface="Arial"/>
                <a:cs typeface="Arial"/>
              </a:defRPr>
            </a:pPr>
            <a:r>
              <a:rPr sz="1140" b="1">
                <a:solidFill>
                  <a:srgbClr val="C8401F"/>
                </a:solidFill>
                <a:latin typeface="Arial"/>
                <a:ea typeface="Arial"/>
                <a:cs typeface="Arial"/>
              </a:rPr>
              <a:t>01</a:t>
            </a:r>
          </a:p>
        </p:txBody>
      </p:sp>
      <p:sp>
        <p:nvSpPr>
          <p:cNvPr id="26" name="">
            <a:extLst xmlns:a="http://schemas.openxmlformats.org/drawingml/2006/main">
              <a:ext uri="{FF2B5EF4-FFF2-40B4-BE49-F238E27FC236}">
                <a16:creationId xmlns:a16="http://schemas.microsoft.com/office/drawing/2014/main" id="{04774DE8-6667-4D19-9CAF-9C1ED45457F4}"/>
              </a:ext>
            </a:extLst>
          </p:cNvPr>
          <p:cNvSpPr>
            <a:spLocks xmlns:a="http://schemas.openxmlformats.org/drawingml/2006/main" noGrp="1"/>
          </p:cNvSpPr>
          <p:nvPr/>
        </p:nvSpPr>
        <p:spPr>
          <a:xfrm xmlns:a="http://schemas.openxmlformats.org/drawingml/2006/main">
            <a:off x="975336" y="1996440"/>
            <a:ext cx="3413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500" b="1">
                <a:solidFill>
                  <a:srgbClr val="151312"/>
                </a:solidFill>
                <a:latin typeface="Arial"/>
                <a:ea typeface="Arial"/>
                <a:cs typeface="Arial"/>
              </a:defRPr>
            </a:defPPr>
            <a:lvl1pPr algn="l">
              <a:defRPr sz="1500" b="1">
                <a:solidFill>
                  <a:srgbClr val="151312"/>
                </a:solidFill>
                <a:latin typeface="Arial"/>
                <a:ea typeface="Arial"/>
                <a:cs typeface="Arial"/>
              </a:defRPr>
            </a:lvl1pPr>
            <a:lvl2pPr algn="l">
              <a:defRPr sz="1500" b="1">
                <a:solidFill>
                  <a:srgbClr val="151312"/>
                </a:solidFill>
                <a:latin typeface="Arial"/>
                <a:ea typeface="Arial"/>
                <a:cs typeface="Arial"/>
              </a:defRPr>
            </a:lvl2pPr>
            <a:lvl3pPr algn="l">
              <a:defRPr sz="1500" b="1">
                <a:solidFill>
                  <a:srgbClr val="151312"/>
                </a:solidFill>
                <a:latin typeface="Arial"/>
                <a:ea typeface="Arial"/>
                <a:cs typeface="Arial"/>
              </a:defRPr>
            </a:lvl3pPr>
            <a:lvl4pPr algn="l">
              <a:defRPr sz="1500" b="1">
                <a:solidFill>
                  <a:srgbClr val="151312"/>
                </a:solidFill>
                <a:latin typeface="Arial"/>
                <a:ea typeface="Arial"/>
                <a:cs typeface="Arial"/>
              </a:defRPr>
            </a:lvl4pPr>
            <a:lvl5pPr algn="l">
              <a:defRPr sz="1500" b="1">
                <a:solidFill>
                  <a:srgbClr val="151312"/>
                </a:solidFill>
                <a:latin typeface="Arial"/>
                <a:ea typeface="Arial"/>
                <a:cs typeface="Arial"/>
              </a:defRPr>
            </a:lvl5pPr>
            <a:lvl6pPr algn="l">
              <a:defRPr sz="1500" b="1">
                <a:solidFill>
                  <a:srgbClr val="151312"/>
                </a:solidFill>
                <a:latin typeface="Arial"/>
                <a:ea typeface="Arial"/>
                <a:cs typeface="Arial"/>
              </a:defRPr>
            </a:lvl6pPr>
            <a:lvl7pPr algn="l">
              <a:defRPr sz="1500" b="1">
                <a:solidFill>
                  <a:srgbClr val="151312"/>
                </a:solidFill>
                <a:latin typeface="Arial"/>
                <a:ea typeface="Arial"/>
                <a:cs typeface="Arial"/>
              </a:defRPr>
            </a:lvl7pPr>
            <a:lvl8pPr algn="l">
              <a:defRPr sz="1500" b="1">
                <a:solidFill>
                  <a:srgbClr val="151312"/>
                </a:solidFill>
                <a:latin typeface="Arial"/>
                <a:ea typeface="Arial"/>
                <a:cs typeface="Arial"/>
              </a:defRPr>
            </a:lvl8pPr>
            <a:lvl9pPr algn="l">
              <a:defRPr sz="1500" b="1">
                <a:solidFill>
                  <a:srgbClr val="151312"/>
                </a:solidFill>
                <a:latin typeface="Arial"/>
                <a:ea typeface="Arial"/>
                <a:cs typeface="Arial"/>
              </a:defRPr>
            </a:lvl9pPr>
          </a:lstStyle>
          <a:p xmlns:a="http://schemas.openxmlformats.org/drawingml/2006/main">
            <a:pPr algn="l">
              <a:defRPr sz="1500" b="1">
                <a:solidFill>
                  <a:srgbClr val="151312"/>
                </a:solidFill>
                <a:latin typeface="Arial"/>
                <a:ea typeface="Arial"/>
                <a:cs typeface="Arial"/>
              </a:defRPr>
            </a:pPr>
            <a:r>
              <a:rPr sz="1500" b="1">
                <a:solidFill>
                  <a:srgbClr val="151312"/>
                </a:solidFill>
                <a:latin typeface="Arial"/>
                <a:ea typeface="Arial"/>
                <a:cs typeface="Arial"/>
              </a:rPr>
              <a:t>Document</a:t>
            </a:r>
          </a:p>
        </p:txBody>
      </p:sp>
      <p:sp>
        <p:nvSpPr>
          <p:cNvPr id="27" name="">
            <a:extLst xmlns:a="http://schemas.openxmlformats.org/drawingml/2006/main">
              <a:ext uri="{FF2B5EF4-FFF2-40B4-BE49-F238E27FC236}">
                <a16:creationId xmlns:a16="http://schemas.microsoft.com/office/drawing/2014/main" id="{F0FB0045-F066-4146-8D47-0E6876D8D894}"/>
              </a:ext>
            </a:extLst>
          </p:cNvPr>
          <p:cNvSpPr>
            <a:spLocks xmlns:a="http://schemas.openxmlformats.org/drawingml/2006/main" noGrp="1"/>
          </p:cNvSpPr>
          <p:nvPr/>
        </p:nvSpPr>
        <p:spPr>
          <a:xfrm xmlns:a="http://schemas.openxmlformats.org/drawingml/2006/main">
            <a:off x="975336" y="2362200"/>
            <a:ext cx="3413675" cy="756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Cleaned text, the Fed’s words only; no date or title shown</a:t>
            </a:r>
          </a:p>
        </p:txBody>
      </p:sp>
      <p:sp>
        <p:nvSpPr>
          <p:cNvPr id="28" name="">
            <a:extLst xmlns:a="http://schemas.openxmlformats.org/drawingml/2006/main">
              <a:ext uri="{FF2B5EF4-FFF2-40B4-BE49-F238E27FC236}">
                <a16:creationId xmlns:a16="http://schemas.microsoft.com/office/drawing/2014/main" id="{D8965FB3-DC6B-49D2-8309-CD87F7A69373}"/>
              </a:ext>
            </a:extLst>
          </p:cNvPr>
          <p:cNvSpPr>
            <a:spLocks xmlns:a="http://schemas.openxmlformats.org/drawingml/2006/main" noGrp="1"/>
          </p:cNvSpPr>
          <p:nvPr/>
        </p:nvSpPr>
        <p:spPr>
          <a:xfrm xmlns:a="http://schemas.openxmlformats.org/drawingml/2006/main">
            <a:off x="4693803" y="1920240"/>
            <a:ext cx="3779425" cy="1143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7B77144-9DCC-4E78-8700-0F801EA33F8B}"/>
              </a:ext>
            </a:extLst>
          </p:cNvPr>
          <p:cNvSpPr>
            <a:spLocks xmlns:a="http://schemas.openxmlformats.org/drawingml/2006/main" noGrp="1"/>
          </p:cNvSpPr>
          <p:nvPr/>
        </p:nvSpPr>
        <p:spPr>
          <a:xfrm xmlns:a="http://schemas.openxmlformats.org/drawingml/2006/main">
            <a:off x="4693803" y="2034540"/>
            <a:ext cx="259074"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1">
                <a:solidFill>
                  <a:srgbClr val="C8401F"/>
                </a:solidFill>
                <a:latin typeface="Arial"/>
                <a:ea typeface="Arial"/>
                <a:cs typeface="Arial"/>
              </a:defRPr>
            </a:defPPr>
            <a:lvl1pPr algn="l">
              <a:defRPr sz="1140" b="1">
                <a:solidFill>
                  <a:srgbClr val="C8401F"/>
                </a:solidFill>
                <a:latin typeface="Arial"/>
                <a:ea typeface="Arial"/>
                <a:cs typeface="Arial"/>
              </a:defRPr>
            </a:lvl1pPr>
            <a:lvl2pPr algn="l">
              <a:defRPr sz="1140" b="1">
                <a:solidFill>
                  <a:srgbClr val="C8401F"/>
                </a:solidFill>
                <a:latin typeface="Arial"/>
                <a:ea typeface="Arial"/>
                <a:cs typeface="Arial"/>
              </a:defRPr>
            </a:lvl2pPr>
            <a:lvl3pPr algn="l">
              <a:defRPr sz="1140" b="1">
                <a:solidFill>
                  <a:srgbClr val="C8401F"/>
                </a:solidFill>
                <a:latin typeface="Arial"/>
                <a:ea typeface="Arial"/>
                <a:cs typeface="Arial"/>
              </a:defRPr>
            </a:lvl3pPr>
            <a:lvl4pPr algn="l">
              <a:defRPr sz="1140" b="1">
                <a:solidFill>
                  <a:srgbClr val="C8401F"/>
                </a:solidFill>
                <a:latin typeface="Arial"/>
                <a:ea typeface="Arial"/>
                <a:cs typeface="Arial"/>
              </a:defRPr>
            </a:lvl4pPr>
            <a:lvl5pPr algn="l">
              <a:defRPr sz="1140" b="1">
                <a:solidFill>
                  <a:srgbClr val="C8401F"/>
                </a:solidFill>
                <a:latin typeface="Arial"/>
                <a:ea typeface="Arial"/>
                <a:cs typeface="Arial"/>
              </a:defRPr>
            </a:lvl5pPr>
            <a:lvl6pPr algn="l">
              <a:defRPr sz="1140" b="1">
                <a:solidFill>
                  <a:srgbClr val="C8401F"/>
                </a:solidFill>
                <a:latin typeface="Arial"/>
                <a:ea typeface="Arial"/>
                <a:cs typeface="Arial"/>
              </a:defRPr>
            </a:lvl6pPr>
            <a:lvl7pPr algn="l">
              <a:defRPr sz="1140" b="1">
                <a:solidFill>
                  <a:srgbClr val="C8401F"/>
                </a:solidFill>
                <a:latin typeface="Arial"/>
                <a:ea typeface="Arial"/>
                <a:cs typeface="Arial"/>
              </a:defRPr>
            </a:lvl7pPr>
            <a:lvl8pPr algn="l">
              <a:defRPr sz="1140" b="1">
                <a:solidFill>
                  <a:srgbClr val="C8401F"/>
                </a:solidFill>
                <a:latin typeface="Arial"/>
                <a:ea typeface="Arial"/>
                <a:cs typeface="Arial"/>
              </a:defRPr>
            </a:lvl8pPr>
            <a:lvl9pPr algn="l">
              <a:defRPr sz="1140" b="1">
                <a:solidFill>
                  <a:srgbClr val="C8401F"/>
                </a:solidFill>
                <a:latin typeface="Arial"/>
                <a:ea typeface="Arial"/>
                <a:cs typeface="Arial"/>
              </a:defRPr>
            </a:lvl9pPr>
          </a:lstStyle>
          <a:p xmlns:a="http://schemas.openxmlformats.org/drawingml/2006/main">
            <a:pPr algn="l">
              <a:defRPr sz="1140" b="1">
                <a:solidFill>
                  <a:srgbClr val="C8401F"/>
                </a:solidFill>
                <a:latin typeface="Arial"/>
                <a:ea typeface="Arial"/>
                <a:cs typeface="Arial"/>
              </a:defRPr>
            </a:pPr>
            <a:r>
              <a:rPr sz="1140" b="1">
                <a:solidFill>
                  <a:srgbClr val="C8401F"/>
                </a:solidFill>
                <a:latin typeface="Arial"/>
                <a:ea typeface="Arial"/>
                <a:cs typeface="Arial"/>
              </a:rPr>
              <a:t>02</a:t>
            </a:r>
          </a:p>
        </p:txBody>
      </p:sp>
      <p:sp>
        <p:nvSpPr>
          <p:cNvPr id="30" name="">
            <a:extLst xmlns:a="http://schemas.openxmlformats.org/drawingml/2006/main">
              <a:ext uri="{FF2B5EF4-FFF2-40B4-BE49-F238E27FC236}">
                <a16:creationId xmlns:a16="http://schemas.microsoft.com/office/drawing/2014/main" id="{B71C0BDD-7999-43C8-84C7-DF227A7C4610}"/>
              </a:ext>
            </a:extLst>
          </p:cNvPr>
          <p:cNvSpPr>
            <a:spLocks xmlns:a="http://schemas.openxmlformats.org/drawingml/2006/main" noGrp="1"/>
          </p:cNvSpPr>
          <p:nvPr/>
        </p:nvSpPr>
        <p:spPr>
          <a:xfrm xmlns:a="http://schemas.openxmlformats.org/drawingml/2006/main">
            <a:off x="5059553" y="1996440"/>
            <a:ext cx="3413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500" b="1">
                <a:solidFill>
                  <a:srgbClr val="151312"/>
                </a:solidFill>
                <a:latin typeface="Arial"/>
                <a:ea typeface="Arial"/>
                <a:cs typeface="Arial"/>
              </a:defRPr>
            </a:defPPr>
            <a:lvl1pPr algn="l">
              <a:defRPr sz="1500" b="1">
                <a:solidFill>
                  <a:srgbClr val="151312"/>
                </a:solidFill>
                <a:latin typeface="Arial"/>
                <a:ea typeface="Arial"/>
                <a:cs typeface="Arial"/>
              </a:defRPr>
            </a:lvl1pPr>
            <a:lvl2pPr algn="l">
              <a:defRPr sz="1500" b="1">
                <a:solidFill>
                  <a:srgbClr val="151312"/>
                </a:solidFill>
                <a:latin typeface="Arial"/>
                <a:ea typeface="Arial"/>
                <a:cs typeface="Arial"/>
              </a:defRPr>
            </a:lvl2pPr>
            <a:lvl3pPr algn="l">
              <a:defRPr sz="1500" b="1">
                <a:solidFill>
                  <a:srgbClr val="151312"/>
                </a:solidFill>
                <a:latin typeface="Arial"/>
                <a:ea typeface="Arial"/>
                <a:cs typeface="Arial"/>
              </a:defRPr>
            </a:lvl3pPr>
            <a:lvl4pPr algn="l">
              <a:defRPr sz="1500" b="1">
                <a:solidFill>
                  <a:srgbClr val="151312"/>
                </a:solidFill>
                <a:latin typeface="Arial"/>
                <a:ea typeface="Arial"/>
                <a:cs typeface="Arial"/>
              </a:defRPr>
            </a:lvl4pPr>
            <a:lvl5pPr algn="l">
              <a:defRPr sz="1500" b="1">
                <a:solidFill>
                  <a:srgbClr val="151312"/>
                </a:solidFill>
                <a:latin typeface="Arial"/>
                <a:ea typeface="Arial"/>
                <a:cs typeface="Arial"/>
              </a:defRPr>
            </a:lvl5pPr>
            <a:lvl6pPr algn="l">
              <a:defRPr sz="1500" b="1">
                <a:solidFill>
                  <a:srgbClr val="151312"/>
                </a:solidFill>
                <a:latin typeface="Arial"/>
                <a:ea typeface="Arial"/>
                <a:cs typeface="Arial"/>
              </a:defRPr>
            </a:lvl6pPr>
            <a:lvl7pPr algn="l">
              <a:defRPr sz="1500" b="1">
                <a:solidFill>
                  <a:srgbClr val="151312"/>
                </a:solidFill>
                <a:latin typeface="Arial"/>
                <a:ea typeface="Arial"/>
                <a:cs typeface="Arial"/>
              </a:defRPr>
            </a:lvl7pPr>
            <a:lvl8pPr algn="l">
              <a:defRPr sz="1500" b="1">
                <a:solidFill>
                  <a:srgbClr val="151312"/>
                </a:solidFill>
                <a:latin typeface="Arial"/>
                <a:ea typeface="Arial"/>
                <a:cs typeface="Arial"/>
              </a:defRPr>
            </a:lvl8pPr>
            <a:lvl9pPr algn="l">
              <a:defRPr sz="1500" b="1">
                <a:solidFill>
                  <a:srgbClr val="151312"/>
                </a:solidFill>
                <a:latin typeface="Arial"/>
                <a:ea typeface="Arial"/>
                <a:cs typeface="Arial"/>
              </a:defRPr>
            </a:lvl9pPr>
          </a:lstStyle>
          <a:p xmlns:a="http://schemas.openxmlformats.org/drawingml/2006/main">
            <a:pPr algn="l">
              <a:defRPr sz="1500" b="1">
                <a:solidFill>
                  <a:srgbClr val="151312"/>
                </a:solidFill>
                <a:latin typeface="Arial"/>
                <a:ea typeface="Arial"/>
                <a:cs typeface="Arial"/>
              </a:defRPr>
            </a:pPr>
            <a:r>
              <a:rPr sz="1500" b="1">
                <a:solidFill>
                  <a:srgbClr val="151312"/>
                </a:solidFill>
                <a:latin typeface="Arial"/>
                <a:ea typeface="Arial"/>
                <a:cs typeface="Arial"/>
              </a:rPr>
              <a:t>Rubric v1</a:t>
            </a:r>
          </a:p>
        </p:txBody>
      </p:sp>
      <p:sp>
        <p:nvSpPr>
          <p:cNvPr id="31" name="">
            <a:extLst xmlns:a="http://schemas.openxmlformats.org/drawingml/2006/main">
              <a:ext uri="{FF2B5EF4-FFF2-40B4-BE49-F238E27FC236}">
                <a16:creationId xmlns:a16="http://schemas.microsoft.com/office/drawing/2014/main" id="{7924DE0E-B4CC-4BBD-9D46-15AE70517B6E}"/>
              </a:ext>
            </a:extLst>
          </p:cNvPr>
          <p:cNvSpPr>
            <a:spLocks xmlns:a="http://schemas.openxmlformats.org/drawingml/2006/main" noGrp="1"/>
          </p:cNvSpPr>
          <p:nvPr/>
        </p:nvSpPr>
        <p:spPr>
          <a:xfrm xmlns:a="http://schemas.openxmlformats.org/drawingml/2006/main">
            <a:off x="5059553" y="2362200"/>
            <a:ext cx="3413675" cy="756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Six policy dimensions, stance and confidence; cached system prompt</a:t>
            </a:r>
          </a:p>
        </p:txBody>
      </p:sp>
      <p:sp>
        <p:nvSpPr>
          <p:cNvPr id="32" name="">
            <a:extLst xmlns:a="http://schemas.openxmlformats.org/drawingml/2006/main">
              <a:ext uri="{FF2B5EF4-FFF2-40B4-BE49-F238E27FC236}">
                <a16:creationId xmlns:a16="http://schemas.microsoft.com/office/drawing/2014/main" id="{E7300077-E5E3-4357-9166-5023DD723407}"/>
              </a:ext>
            </a:extLst>
          </p:cNvPr>
          <p:cNvSpPr>
            <a:spLocks xmlns:a="http://schemas.openxmlformats.org/drawingml/2006/main" noGrp="1"/>
          </p:cNvSpPr>
          <p:nvPr/>
        </p:nvSpPr>
        <p:spPr>
          <a:xfrm xmlns:a="http://schemas.openxmlformats.org/drawingml/2006/main">
            <a:off x="609585" y="3408680"/>
            <a:ext cx="3779425" cy="1143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7E9F102-C65D-4FE9-8E2D-98FBFE7709DB}"/>
              </a:ext>
            </a:extLst>
          </p:cNvPr>
          <p:cNvSpPr>
            <a:spLocks xmlns:a="http://schemas.openxmlformats.org/drawingml/2006/main" noGrp="1"/>
          </p:cNvSpPr>
          <p:nvPr/>
        </p:nvSpPr>
        <p:spPr>
          <a:xfrm xmlns:a="http://schemas.openxmlformats.org/drawingml/2006/main">
            <a:off x="609585" y="3522980"/>
            <a:ext cx="259074"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1">
                <a:solidFill>
                  <a:srgbClr val="C8401F"/>
                </a:solidFill>
                <a:latin typeface="Arial"/>
                <a:ea typeface="Arial"/>
                <a:cs typeface="Arial"/>
              </a:defRPr>
            </a:defPPr>
            <a:lvl1pPr algn="l">
              <a:defRPr sz="1140" b="1">
                <a:solidFill>
                  <a:srgbClr val="C8401F"/>
                </a:solidFill>
                <a:latin typeface="Arial"/>
                <a:ea typeface="Arial"/>
                <a:cs typeface="Arial"/>
              </a:defRPr>
            </a:lvl1pPr>
            <a:lvl2pPr algn="l">
              <a:defRPr sz="1140" b="1">
                <a:solidFill>
                  <a:srgbClr val="C8401F"/>
                </a:solidFill>
                <a:latin typeface="Arial"/>
                <a:ea typeface="Arial"/>
                <a:cs typeface="Arial"/>
              </a:defRPr>
            </a:lvl2pPr>
            <a:lvl3pPr algn="l">
              <a:defRPr sz="1140" b="1">
                <a:solidFill>
                  <a:srgbClr val="C8401F"/>
                </a:solidFill>
                <a:latin typeface="Arial"/>
                <a:ea typeface="Arial"/>
                <a:cs typeface="Arial"/>
              </a:defRPr>
            </a:lvl3pPr>
            <a:lvl4pPr algn="l">
              <a:defRPr sz="1140" b="1">
                <a:solidFill>
                  <a:srgbClr val="C8401F"/>
                </a:solidFill>
                <a:latin typeface="Arial"/>
                <a:ea typeface="Arial"/>
                <a:cs typeface="Arial"/>
              </a:defRPr>
            </a:lvl4pPr>
            <a:lvl5pPr algn="l">
              <a:defRPr sz="1140" b="1">
                <a:solidFill>
                  <a:srgbClr val="C8401F"/>
                </a:solidFill>
                <a:latin typeface="Arial"/>
                <a:ea typeface="Arial"/>
                <a:cs typeface="Arial"/>
              </a:defRPr>
            </a:lvl5pPr>
            <a:lvl6pPr algn="l">
              <a:defRPr sz="1140" b="1">
                <a:solidFill>
                  <a:srgbClr val="C8401F"/>
                </a:solidFill>
                <a:latin typeface="Arial"/>
                <a:ea typeface="Arial"/>
                <a:cs typeface="Arial"/>
              </a:defRPr>
            </a:lvl6pPr>
            <a:lvl7pPr algn="l">
              <a:defRPr sz="1140" b="1">
                <a:solidFill>
                  <a:srgbClr val="C8401F"/>
                </a:solidFill>
                <a:latin typeface="Arial"/>
                <a:ea typeface="Arial"/>
                <a:cs typeface="Arial"/>
              </a:defRPr>
            </a:lvl7pPr>
            <a:lvl8pPr algn="l">
              <a:defRPr sz="1140" b="1">
                <a:solidFill>
                  <a:srgbClr val="C8401F"/>
                </a:solidFill>
                <a:latin typeface="Arial"/>
                <a:ea typeface="Arial"/>
                <a:cs typeface="Arial"/>
              </a:defRPr>
            </a:lvl8pPr>
            <a:lvl9pPr algn="l">
              <a:defRPr sz="1140" b="1">
                <a:solidFill>
                  <a:srgbClr val="C8401F"/>
                </a:solidFill>
                <a:latin typeface="Arial"/>
                <a:ea typeface="Arial"/>
                <a:cs typeface="Arial"/>
              </a:defRPr>
            </a:lvl9pPr>
          </a:lstStyle>
          <a:p xmlns:a="http://schemas.openxmlformats.org/drawingml/2006/main">
            <a:pPr algn="l">
              <a:defRPr sz="1140" b="1">
                <a:solidFill>
                  <a:srgbClr val="C8401F"/>
                </a:solidFill>
                <a:latin typeface="Arial"/>
                <a:ea typeface="Arial"/>
                <a:cs typeface="Arial"/>
              </a:defRPr>
            </a:pPr>
            <a:r>
              <a:rPr sz="1140" b="1">
                <a:solidFill>
                  <a:srgbClr val="C8401F"/>
                </a:solidFill>
                <a:latin typeface="Arial"/>
                <a:ea typeface="Arial"/>
                <a:cs typeface="Arial"/>
              </a:rPr>
              <a:t>03</a:t>
            </a:r>
          </a:p>
        </p:txBody>
      </p:sp>
      <p:sp>
        <p:nvSpPr>
          <p:cNvPr id="34" name="">
            <a:extLst xmlns:a="http://schemas.openxmlformats.org/drawingml/2006/main">
              <a:ext uri="{FF2B5EF4-FFF2-40B4-BE49-F238E27FC236}">
                <a16:creationId xmlns:a16="http://schemas.microsoft.com/office/drawing/2014/main" id="{E8EE85A2-A5DC-4CCD-A038-79B53D503F42}"/>
              </a:ext>
            </a:extLst>
          </p:cNvPr>
          <p:cNvSpPr>
            <a:spLocks xmlns:a="http://schemas.openxmlformats.org/drawingml/2006/main" noGrp="1"/>
          </p:cNvSpPr>
          <p:nvPr/>
        </p:nvSpPr>
        <p:spPr>
          <a:xfrm xmlns:a="http://schemas.openxmlformats.org/drawingml/2006/main">
            <a:off x="975336" y="3484880"/>
            <a:ext cx="3413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500" b="1">
                <a:solidFill>
                  <a:srgbClr val="151312"/>
                </a:solidFill>
                <a:latin typeface="Arial"/>
                <a:ea typeface="Arial"/>
                <a:cs typeface="Arial"/>
              </a:defRPr>
            </a:defPPr>
            <a:lvl1pPr algn="l">
              <a:defRPr sz="1500" b="1">
                <a:solidFill>
                  <a:srgbClr val="151312"/>
                </a:solidFill>
                <a:latin typeface="Arial"/>
                <a:ea typeface="Arial"/>
                <a:cs typeface="Arial"/>
              </a:defRPr>
            </a:lvl1pPr>
            <a:lvl2pPr algn="l">
              <a:defRPr sz="1500" b="1">
                <a:solidFill>
                  <a:srgbClr val="151312"/>
                </a:solidFill>
                <a:latin typeface="Arial"/>
                <a:ea typeface="Arial"/>
                <a:cs typeface="Arial"/>
              </a:defRPr>
            </a:lvl2pPr>
            <a:lvl3pPr algn="l">
              <a:defRPr sz="1500" b="1">
                <a:solidFill>
                  <a:srgbClr val="151312"/>
                </a:solidFill>
                <a:latin typeface="Arial"/>
                <a:ea typeface="Arial"/>
                <a:cs typeface="Arial"/>
              </a:defRPr>
            </a:lvl3pPr>
            <a:lvl4pPr algn="l">
              <a:defRPr sz="1500" b="1">
                <a:solidFill>
                  <a:srgbClr val="151312"/>
                </a:solidFill>
                <a:latin typeface="Arial"/>
                <a:ea typeface="Arial"/>
                <a:cs typeface="Arial"/>
              </a:defRPr>
            </a:lvl4pPr>
            <a:lvl5pPr algn="l">
              <a:defRPr sz="1500" b="1">
                <a:solidFill>
                  <a:srgbClr val="151312"/>
                </a:solidFill>
                <a:latin typeface="Arial"/>
                <a:ea typeface="Arial"/>
                <a:cs typeface="Arial"/>
              </a:defRPr>
            </a:lvl5pPr>
            <a:lvl6pPr algn="l">
              <a:defRPr sz="1500" b="1">
                <a:solidFill>
                  <a:srgbClr val="151312"/>
                </a:solidFill>
                <a:latin typeface="Arial"/>
                <a:ea typeface="Arial"/>
                <a:cs typeface="Arial"/>
              </a:defRPr>
            </a:lvl6pPr>
            <a:lvl7pPr algn="l">
              <a:defRPr sz="1500" b="1">
                <a:solidFill>
                  <a:srgbClr val="151312"/>
                </a:solidFill>
                <a:latin typeface="Arial"/>
                <a:ea typeface="Arial"/>
                <a:cs typeface="Arial"/>
              </a:defRPr>
            </a:lvl7pPr>
            <a:lvl8pPr algn="l">
              <a:defRPr sz="1500" b="1">
                <a:solidFill>
                  <a:srgbClr val="151312"/>
                </a:solidFill>
                <a:latin typeface="Arial"/>
                <a:ea typeface="Arial"/>
                <a:cs typeface="Arial"/>
              </a:defRPr>
            </a:lvl8pPr>
            <a:lvl9pPr algn="l">
              <a:defRPr sz="1500" b="1">
                <a:solidFill>
                  <a:srgbClr val="151312"/>
                </a:solidFill>
                <a:latin typeface="Arial"/>
                <a:ea typeface="Arial"/>
                <a:cs typeface="Arial"/>
              </a:defRPr>
            </a:lvl9pPr>
          </a:lstStyle>
          <a:p xmlns:a="http://schemas.openxmlformats.org/drawingml/2006/main">
            <a:pPr algn="l">
              <a:defRPr sz="1500" b="1">
                <a:solidFill>
                  <a:srgbClr val="151312"/>
                </a:solidFill>
                <a:latin typeface="Arial"/>
                <a:ea typeface="Arial"/>
                <a:cs typeface="Arial"/>
              </a:defRPr>
            </a:pPr>
            <a:r>
              <a:rPr sz="1500" b="1">
                <a:solidFill>
                  <a:srgbClr val="151312"/>
                </a:solidFill>
                <a:latin typeface="Arial"/>
                <a:ea typeface="Arial"/>
                <a:cs typeface="Arial"/>
              </a:rPr>
              <a:t>Claude Opus 5.5</a:t>
            </a:r>
          </a:p>
        </p:txBody>
      </p:sp>
      <p:sp>
        <p:nvSpPr>
          <p:cNvPr id="35" name="">
            <a:extLst xmlns:a="http://schemas.openxmlformats.org/drawingml/2006/main">
              <a:ext uri="{FF2B5EF4-FFF2-40B4-BE49-F238E27FC236}">
                <a16:creationId xmlns:a16="http://schemas.microsoft.com/office/drawing/2014/main" id="{C9CC8C16-DB3B-44E0-AEF9-DE6A38099397}"/>
              </a:ext>
            </a:extLst>
          </p:cNvPr>
          <p:cNvSpPr>
            <a:spLocks xmlns:a="http://schemas.openxmlformats.org/drawingml/2006/main" noGrp="1"/>
          </p:cNvSpPr>
          <p:nvPr/>
        </p:nvSpPr>
        <p:spPr>
          <a:xfrm xmlns:a="http://schemas.openxmlformats.org/drawingml/2006/main">
            <a:off x="975336" y="3850640"/>
            <a:ext cx="3413675" cy="756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Adaptive thinking, structured JSON output, Message Batches</a:t>
            </a:r>
          </a:p>
        </p:txBody>
      </p:sp>
      <p:sp>
        <p:nvSpPr>
          <p:cNvPr id="36" name="">
            <a:extLst xmlns:a="http://schemas.openxmlformats.org/drawingml/2006/main">
              <a:ext uri="{FF2B5EF4-FFF2-40B4-BE49-F238E27FC236}">
                <a16:creationId xmlns:a16="http://schemas.microsoft.com/office/drawing/2014/main" id="{EA75129E-1161-4B1D-B93D-6CBDFF3A31AC}"/>
              </a:ext>
            </a:extLst>
          </p:cNvPr>
          <p:cNvSpPr>
            <a:spLocks xmlns:a="http://schemas.openxmlformats.org/drawingml/2006/main" noGrp="1"/>
          </p:cNvSpPr>
          <p:nvPr/>
        </p:nvSpPr>
        <p:spPr>
          <a:xfrm xmlns:a="http://schemas.openxmlformats.org/drawingml/2006/main">
            <a:off x="4693803" y="3408680"/>
            <a:ext cx="3779425" cy="1143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CB594E7-482B-4D73-B07A-E62794D70490}"/>
              </a:ext>
            </a:extLst>
          </p:cNvPr>
          <p:cNvSpPr>
            <a:spLocks xmlns:a="http://schemas.openxmlformats.org/drawingml/2006/main" noGrp="1"/>
          </p:cNvSpPr>
          <p:nvPr/>
        </p:nvSpPr>
        <p:spPr>
          <a:xfrm xmlns:a="http://schemas.openxmlformats.org/drawingml/2006/main">
            <a:off x="4693803" y="3522980"/>
            <a:ext cx="259074"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1">
                <a:solidFill>
                  <a:srgbClr val="C8401F"/>
                </a:solidFill>
                <a:latin typeface="Arial"/>
                <a:ea typeface="Arial"/>
                <a:cs typeface="Arial"/>
              </a:defRPr>
            </a:defPPr>
            <a:lvl1pPr algn="l">
              <a:defRPr sz="1140" b="1">
                <a:solidFill>
                  <a:srgbClr val="C8401F"/>
                </a:solidFill>
                <a:latin typeface="Arial"/>
                <a:ea typeface="Arial"/>
                <a:cs typeface="Arial"/>
              </a:defRPr>
            </a:lvl1pPr>
            <a:lvl2pPr algn="l">
              <a:defRPr sz="1140" b="1">
                <a:solidFill>
                  <a:srgbClr val="C8401F"/>
                </a:solidFill>
                <a:latin typeface="Arial"/>
                <a:ea typeface="Arial"/>
                <a:cs typeface="Arial"/>
              </a:defRPr>
            </a:lvl2pPr>
            <a:lvl3pPr algn="l">
              <a:defRPr sz="1140" b="1">
                <a:solidFill>
                  <a:srgbClr val="C8401F"/>
                </a:solidFill>
                <a:latin typeface="Arial"/>
                <a:ea typeface="Arial"/>
                <a:cs typeface="Arial"/>
              </a:defRPr>
            </a:lvl3pPr>
            <a:lvl4pPr algn="l">
              <a:defRPr sz="1140" b="1">
                <a:solidFill>
                  <a:srgbClr val="C8401F"/>
                </a:solidFill>
                <a:latin typeface="Arial"/>
                <a:ea typeface="Arial"/>
                <a:cs typeface="Arial"/>
              </a:defRPr>
            </a:lvl4pPr>
            <a:lvl5pPr algn="l">
              <a:defRPr sz="1140" b="1">
                <a:solidFill>
                  <a:srgbClr val="C8401F"/>
                </a:solidFill>
                <a:latin typeface="Arial"/>
                <a:ea typeface="Arial"/>
                <a:cs typeface="Arial"/>
              </a:defRPr>
            </a:lvl5pPr>
            <a:lvl6pPr algn="l">
              <a:defRPr sz="1140" b="1">
                <a:solidFill>
                  <a:srgbClr val="C8401F"/>
                </a:solidFill>
                <a:latin typeface="Arial"/>
                <a:ea typeface="Arial"/>
                <a:cs typeface="Arial"/>
              </a:defRPr>
            </a:lvl6pPr>
            <a:lvl7pPr algn="l">
              <a:defRPr sz="1140" b="1">
                <a:solidFill>
                  <a:srgbClr val="C8401F"/>
                </a:solidFill>
                <a:latin typeface="Arial"/>
                <a:ea typeface="Arial"/>
                <a:cs typeface="Arial"/>
              </a:defRPr>
            </a:lvl7pPr>
            <a:lvl8pPr algn="l">
              <a:defRPr sz="1140" b="1">
                <a:solidFill>
                  <a:srgbClr val="C8401F"/>
                </a:solidFill>
                <a:latin typeface="Arial"/>
                <a:ea typeface="Arial"/>
                <a:cs typeface="Arial"/>
              </a:defRPr>
            </a:lvl8pPr>
            <a:lvl9pPr algn="l">
              <a:defRPr sz="1140" b="1">
                <a:solidFill>
                  <a:srgbClr val="C8401F"/>
                </a:solidFill>
                <a:latin typeface="Arial"/>
                <a:ea typeface="Arial"/>
                <a:cs typeface="Arial"/>
              </a:defRPr>
            </a:lvl9pPr>
          </a:lstStyle>
          <a:p xmlns:a="http://schemas.openxmlformats.org/drawingml/2006/main">
            <a:pPr algn="l">
              <a:defRPr sz="1140" b="1">
                <a:solidFill>
                  <a:srgbClr val="C8401F"/>
                </a:solidFill>
                <a:latin typeface="Arial"/>
                <a:ea typeface="Arial"/>
                <a:cs typeface="Arial"/>
              </a:defRPr>
            </a:pPr>
            <a:r>
              <a:rPr sz="1140" b="1">
                <a:solidFill>
                  <a:srgbClr val="C8401F"/>
                </a:solidFill>
                <a:latin typeface="Arial"/>
                <a:ea typeface="Arial"/>
                <a:cs typeface="Arial"/>
              </a:rPr>
              <a:t>04</a:t>
            </a:r>
          </a:p>
        </p:txBody>
      </p:sp>
      <p:sp>
        <p:nvSpPr>
          <p:cNvPr id="38" name="">
            <a:extLst xmlns:a="http://schemas.openxmlformats.org/drawingml/2006/main">
              <a:ext uri="{FF2B5EF4-FFF2-40B4-BE49-F238E27FC236}">
                <a16:creationId xmlns:a16="http://schemas.microsoft.com/office/drawing/2014/main" id="{2FA19454-1068-4DC1-B0FF-1AFD6B581787}"/>
              </a:ext>
            </a:extLst>
          </p:cNvPr>
          <p:cNvSpPr>
            <a:spLocks xmlns:a="http://schemas.openxmlformats.org/drawingml/2006/main" noGrp="1"/>
          </p:cNvSpPr>
          <p:nvPr/>
        </p:nvSpPr>
        <p:spPr>
          <a:xfrm xmlns:a="http://schemas.openxmlformats.org/drawingml/2006/main">
            <a:off x="5059553" y="3484880"/>
            <a:ext cx="3413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500" b="1">
                <a:solidFill>
                  <a:srgbClr val="151312"/>
                </a:solidFill>
                <a:latin typeface="Arial"/>
                <a:ea typeface="Arial"/>
                <a:cs typeface="Arial"/>
              </a:defRPr>
            </a:defPPr>
            <a:lvl1pPr algn="l">
              <a:defRPr sz="1500" b="1">
                <a:solidFill>
                  <a:srgbClr val="151312"/>
                </a:solidFill>
                <a:latin typeface="Arial"/>
                <a:ea typeface="Arial"/>
                <a:cs typeface="Arial"/>
              </a:defRPr>
            </a:lvl1pPr>
            <a:lvl2pPr algn="l">
              <a:defRPr sz="1500" b="1">
                <a:solidFill>
                  <a:srgbClr val="151312"/>
                </a:solidFill>
                <a:latin typeface="Arial"/>
                <a:ea typeface="Arial"/>
                <a:cs typeface="Arial"/>
              </a:defRPr>
            </a:lvl2pPr>
            <a:lvl3pPr algn="l">
              <a:defRPr sz="1500" b="1">
                <a:solidFill>
                  <a:srgbClr val="151312"/>
                </a:solidFill>
                <a:latin typeface="Arial"/>
                <a:ea typeface="Arial"/>
                <a:cs typeface="Arial"/>
              </a:defRPr>
            </a:lvl3pPr>
            <a:lvl4pPr algn="l">
              <a:defRPr sz="1500" b="1">
                <a:solidFill>
                  <a:srgbClr val="151312"/>
                </a:solidFill>
                <a:latin typeface="Arial"/>
                <a:ea typeface="Arial"/>
                <a:cs typeface="Arial"/>
              </a:defRPr>
            </a:lvl4pPr>
            <a:lvl5pPr algn="l">
              <a:defRPr sz="1500" b="1">
                <a:solidFill>
                  <a:srgbClr val="151312"/>
                </a:solidFill>
                <a:latin typeface="Arial"/>
                <a:ea typeface="Arial"/>
                <a:cs typeface="Arial"/>
              </a:defRPr>
            </a:lvl5pPr>
            <a:lvl6pPr algn="l">
              <a:defRPr sz="1500" b="1">
                <a:solidFill>
                  <a:srgbClr val="151312"/>
                </a:solidFill>
                <a:latin typeface="Arial"/>
                <a:ea typeface="Arial"/>
                <a:cs typeface="Arial"/>
              </a:defRPr>
            </a:lvl6pPr>
            <a:lvl7pPr algn="l">
              <a:defRPr sz="1500" b="1">
                <a:solidFill>
                  <a:srgbClr val="151312"/>
                </a:solidFill>
                <a:latin typeface="Arial"/>
                <a:ea typeface="Arial"/>
                <a:cs typeface="Arial"/>
              </a:defRPr>
            </a:lvl7pPr>
            <a:lvl8pPr algn="l">
              <a:defRPr sz="1500" b="1">
                <a:solidFill>
                  <a:srgbClr val="151312"/>
                </a:solidFill>
                <a:latin typeface="Arial"/>
                <a:ea typeface="Arial"/>
                <a:cs typeface="Arial"/>
              </a:defRPr>
            </a:lvl8pPr>
            <a:lvl9pPr algn="l">
              <a:defRPr sz="1500" b="1">
                <a:solidFill>
                  <a:srgbClr val="151312"/>
                </a:solidFill>
                <a:latin typeface="Arial"/>
                <a:ea typeface="Arial"/>
                <a:cs typeface="Arial"/>
              </a:defRPr>
            </a:lvl9pPr>
          </a:lstStyle>
          <a:p xmlns:a="http://schemas.openxmlformats.org/drawingml/2006/main">
            <a:pPr algn="l">
              <a:defRPr sz="1500" b="1">
                <a:solidFill>
                  <a:srgbClr val="151312"/>
                </a:solidFill>
                <a:latin typeface="Arial"/>
                <a:ea typeface="Arial"/>
                <a:cs typeface="Arial"/>
              </a:defRPr>
            </a:pPr>
            <a:r>
              <a:rPr sz="1500" b="1">
                <a:solidFill>
                  <a:srgbClr val="151312"/>
                </a:solidFill>
                <a:latin typeface="Arial"/>
                <a:ea typeface="Arial"/>
                <a:cs typeface="Arial"/>
              </a:rPr>
              <a:t>Verify</a:t>
            </a:r>
          </a:p>
        </p:txBody>
      </p:sp>
      <p:sp>
        <p:nvSpPr>
          <p:cNvPr id="39" name="">
            <a:extLst xmlns:a="http://schemas.openxmlformats.org/drawingml/2006/main">
              <a:ext uri="{FF2B5EF4-FFF2-40B4-BE49-F238E27FC236}">
                <a16:creationId xmlns:a16="http://schemas.microsoft.com/office/drawing/2014/main" id="{EF4D486C-BE3B-4604-B64B-3FEEF1B47BDB}"/>
              </a:ext>
            </a:extLst>
          </p:cNvPr>
          <p:cNvSpPr>
            <a:spLocks xmlns:a="http://schemas.openxmlformats.org/drawingml/2006/main" noGrp="1"/>
          </p:cNvSpPr>
          <p:nvPr/>
        </p:nvSpPr>
        <p:spPr>
          <a:xfrm xmlns:a="http://schemas.openxmlformats.org/drawingml/2006/main">
            <a:off x="5059553" y="3850640"/>
            <a:ext cx="3413675" cy="756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Checks every quote; stores matched spans and unmatched exceptions</a:t>
            </a:r>
          </a:p>
        </p:txBody>
      </p:sp>
      <p:sp>
        <p:nvSpPr>
          <p:cNvPr id="40" name="">
            <a:extLst xmlns:a="http://schemas.openxmlformats.org/drawingml/2006/main">
              <a:ext uri="{FF2B5EF4-FFF2-40B4-BE49-F238E27FC236}">
                <a16:creationId xmlns:a16="http://schemas.microsoft.com/office/drawing/2014/main" id="{C22D845C-3B09-48FD-88C7-AAC14E2B0F60}"/>
              </a:ext>
            </a:extLst>
          </p:cNvPr>
          <p:cNvSpPr>
            <a:spLocks xmlns:a="http://schemas.openxmlformats.org/drawingml/2006/main" noGrp="1"/>
          </p:cNvSpPr>
          <p:nvPr/>
        </p:nvSpPr>
        <p:spPr>
          <a:xfrm xmlns:a="http://schemas.openxmlformats.org/drawingml/2006/main">
            <a:off x="609585" y="4897120"/>
            <a:ext cx="3779425" cy="1143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BBFE4D04-D47E-4388-988F-0BD8EE45AED6}"/>
              </a:ext>
            </a:extLst>
          </p:cNvPr>
          <p:cNvSpPr>
            <a:spLocks xmlns:a="http://schemas.openxmlformats.org/drawingml/2006/main" noGrp="1"/>
          </p:cNvSpPr>
          <p:nvPr/>
        </p:nvSpPr>
        <p:spPr>
          <a:xfrm xmlns:a="http://schemas.openxmlformats.org/drawingml/2006/main">
            <a:off x="609585" y="5011420"/>
            <a:ext cx="259074"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1">
                <a:solidFill>
                  <a:srgbClr val="C8401F"/>
                </a:solidFill>
                <a:latin typeface="Arial"/>
                <a:ea typeface="Arial"/>
                <a:cs typeface="Arial"/>
              </a:defRPr>
            </a:defPPr>
            <a:lvl1pPr algn="l">
              <a:defRPr sz="1140" b="1">
                <a:solidFill>
                  <a:srgbClr val="C8401F"/>
                </a:solidFill>
                <a:latin typeface="Arial"/>
                <a:ea typeface="Arial"/>
                <a:cs typeface="Arial"/>
              </a:defRPr>
            </a:lvl1pPr>
            <a:lvl2pPr algn="l">
              <a:defRPr sz="1140" b="1">
                <a:solidFill>
                  <a:srgbClr val="C8401F"/>
                </a:solidFill>
                <a:latin typeface="Arial"/>
                <a:ea typeface="Arial"/>
                <a:cs typeface="Arial"/>
              </a:defRPr>
            </a:lvl2pPr>
            <a:lvl3pPr algn="l">
              <a:defRPr sz="1140" b="1">
                <a:solidFill>
                  <a:srgbClr val="C8401F"/>
                </a:solidFill>
                <a:latin typeface="Arial"/>
                <a:ea typeface="Arial"/>
                <a:cs typeface="Arial"/>
              </a:defRPr>
            </a:lvl3pPr>
            <a:lvl4pPr algn="l">
              <a:defRPr sz="1140" b="1">
                <a:solidFill>
                  <a:srgbClr val="C8401F"/>
                </a:solidFill>
                <a:latin typeface="Arial"/>
                <a:ea typeface="Arial"/>
                <a:cs typeface="Arial"/>
              </a:defRPr>
            </a:lvl4pPr>
            <a:lvl5pPr algn="l">
              <a:defRPr sz="1140" b="1">
                <a:solidFill>
                  <a:srgbClr val="C8401F"/>
                </a:solidFill>
                <a:latin typeface="Arial"/>
                <a:ea typeface="Arial"/>
                <a:cs typeface="Arial"/>
              </a:defRPr>
            </a:lvl5pPr>
            <a:lvl6pPr algn="l">
              <a:defRPr sz="1140" b="1">
                <a:solidFill>
                  <a:srgbClr val="C8401F"/>
                </a:solidFill>
                <a:latin typeface="Arial"/>
                <a:ea typeface="Arial"/>
                <a:cs typeface="Arial"/>
              </a:defRPr>
            </a:lvl6pPr>
            <a:lvl7pPr algn="l">
              <a:defRPr sz="1140" b="1">
                <a:solidFill>
                  <a:srgbClr val="C8401F"/>
                </a:solidFill>
                <a:latin typeface="Arial"/>
                <a:ea typeface="Arial"/>
                <a:cs typeface="Arial"/>
              </a:defRPr>
            </a:lvl7pPr>
            <a:lvl8pPr algn="l">
              <a:defRPr sz="1140" b="1">
                <a:solidFill>
                  <a:srgbClr val="C8401F"/>
                </a:solidFill>
                <a:latin typeface="Arial"/>
                <a:ea typeface="Arial"/>
                <a:cs typeface="Arial"/>
              </a:defRPr>
            </a:lvl8pPr>
            <a:lvl9pPr algn="l">
              <a:defRPr sz="1140" b="1">
                <a:solidFill>
                  <a:srgbClr val="C8401F"/>
                </a:solidFill>
                <a:latin typeface="Arial"/>
                <a:ea typeface="Arial"/>
                <a:cs typeface="Arial"/>
              </a:defRPr>
            </a:lvl9pPr>
          </a:lstStyle>
          <a:p xmlns:a="http://schemas.openxmlformats.org/drawingml/2006/main">
            <a:pPr algn="l">
              <a:defRPr sz="1140" b="1">
                <a:solidFill>
                  <a:srgbClr val="C8401F"/>
                </a:solidFill>
                <a:latin typeface="Arial"/>
                <a:ea typeface="Arial"/>
                <a:cs typeface="Arial"/>
              </a:defRPr>
            </a:pPr>
            <a:r>
              <a:rPr sz="1140" b="1">
                <a:solidFill>
                  <a:srgbClr val="C8401F"/>
                </a:solidFill>
                <a:latin typeface="Arial"/>
                <a:ea typeface="Arial"/>
                <a:cs typeface="Arial"/>
              </a:rPr>
              <a:t>05</a:t>
            </a:r>
          </a:p>
        </p:txBody>
      </p:sp>
      <p:sp>
        <p:nvSpPr>
          <p:cNvPr id="42" name="">
            <a:extLst xmlns:a="http://schemas.openxmlformats.org/drawingml/2006/main">
              <a:ext uri="{FF2B5EF4-FFF2-40B4-BE49-F238E27FC236}">
                <a16:creationId xmlns:a16="http://schemas.microsoft.com/office/drawing/2014/main" id="{6B74A2BC-4B7C-48AB-8777-8DBF7118E31B}"/>
              </a:ext>
            </a:extLst>
          </p:cNvPr>
          <p:cNvSpPr>
            <a:spLocks xmlns:a="http://schemas.openxmlformats.org/drawingml/2006/main" noGrp="1"/>
          </p:cNvSpPr>
          <p:nvPr/>
        </p:nvSpPr>
        <p:spPr>
          <a:xfrm xmlns:a="http://schemas.openxmlformats.org/drawingml/2006/main">
            <a:off x="975336" y="4973320"/>
            <a:ext cx="3413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500" b="1">
                <a:solidFill>
                  <a:srgbClr val="151312"/>
                </a:solidFill>
                <a:latin typeface="Arial"/>
                <a:ea typeface="Arial"/>
                <a:cs typeface="Arial"/>
              </a:defRPr>
            </a:defPPr>
            <a:lvl1pPr algn="l">
              <a:defRPr sz="1500" b="1">
                <a:solidFill>
                  <a:srgbClr val="151312"/>
                </a:solidFill>
                <a:latin typeface="Arial"/>
                <a:ea typeface="Arial"/>
                <a:cs typeface="Arial"/>
              </a:defRPr>
            </a:lvl1pPr>
            <a:lvl2pPr algn="l">
              <a:defRPr sz="1500" b="1">
                <a:solidFill>
                  <a:srgbClr val="151312"/>
                </a:solidFill>
                <a:latin typeface="Arial"/>
                <a:ea typeface="Arial"/>
                <a:cs typeface="Arial"/>
              </a:defRPr>
            </a:lvl2pPr>
            <a:lvl3pPr algn="l">
              <a:defRPr sz="1500" b="1">
                <a:solidFill>
                  <a:srgbClr val="151312"/>
                </a:solidFill>
                <a:latin typeface="Arial"/>
                <a:ea typeface="Arial"/>
                <a:cs typeface="Arial"/>
              </a:defRPr>
            </a:lvl3pPr>
            <a:lvl4pPr algn="l">
              <a:defRPr sz="1500" b="1">
                <a:solidFill>
                  <a:srgbClr val="151312"/>
                </a:solidFill>
                <a:latin typeface="Arial"/>
                <a:ea typeface="Arial"/>
                <a:cs typeface="Arial"/>
              </a:defRPr>
            </a:lvl4pPr>
            <a:lvl5pPr algn="l">
              <a:defRPr sz="1500" b="1">
                <a:solidFill>
                  <a:srgbClr val="151312"/>
                </a:solidFill>
                <a:latin typeface="Arial"/>
                <a:ea typeface="Arial"/>
                <a:cs typeface="Arial"/>
              </a:defRPr>
            </a:lvl5pPr>
            <a:lvl6pPr algn="l">
              <a:defRPr sz="1500" b="1">
                <a:solidFill>
                  <a:srgbClr val="151312"/>
                </a:solidFill>
                <a:latin typeface="Arial"/>
                <a:ea typeface="Arial"/>
                <a:cs typeface="Arial"/>
              </a:defRPr>
            </a:lvl6pPr>
            <a:lvl7pPr algn="l">
              <a:defRPr sz="1500" b="1">
                <a:solidFill>
                  <a:srgbClr val="151312"/>
                </a:solidFill>
                <a:latin typeface="Arial"/>
                <a:ea typeface="Arial"/>
                <a:cs typeface="Arial"/>
              </a:defRPr>
            </a:lvl7pPr>
            <a:lvl8pPr algn="l">
              <a:defRPr sz="1500" b="1">
                <a:solidFill>
                  <a:srgbClr val="151312"/>
                </a:solidFill>
                <a:latin typeface="Arial"/>
                <a:ea typeface="Arial"/>
                <a:cs typeface="Arial"/>
              </a:defRPr>
            </a:lvl8pPr>
            <a:lvl9pPr algn="l">
              <a:defRPr sz="1500" b="1">
                <a:solidFill>
                  <a:srgbClr val="151312"/>
                </a:solidFill>
                <a:latin typeface="Arial"/>
                <a:ea typeface="Arial"/>
                <a:cs typeface="Arial"/>
              </a:defRPr>
            </a:lvl9pPr>
          </a:lstStyle>
          <a:p xmlns:a="http://schemas.openxmlformats.org/drawingml/2006/main">
            <a:pPr algn="l">
              <a:defRPr sz="1500" b="1">
                <a:solidFill>
                  <a:srgbClr val="151312"/>
                </a:solidFill>
                <a:latin typeface="Arial"/>
                <a:ea typeface="Arial"/>
                <a:cs typeface="Arial"/>
              </a:defRPr>
            </a:pPr>
            <a:r>
              <a:rPr sz="1500" b="1">
                <a:solidFill>
                  <a:srgbClr val="151312"/>
                </a:solidFill>
                <a:latin typeface="Arial"/>
                <a:ea typeface="Arial"/>
                <a:cs typeface="Arial"/>
              </a:rPr>
              <a:t>Record</a:t>
            </a:r>
          </a:p>
        </p:txBody>
      </p:sp>
      <p:sp>
        <p:nvSpPr>
          <p:cNvPr id="43" name="">
            <a:extLst xmlns:a="http://schemas.openxmlformats.org/drawingml/2006/main">
              <a:ext uri="{FF2B5EF4-FFF2-40B4-BE49-F238E27FC236}">
                <a16:creationId xmlns:a16="http://schemas.microsoft.com/office/drawing/2014/main" id="{C5B7EA7B-6C0B-498C-BF64-6C76905404D6}"/>
              </a:ext>
            </a:extLst>
          </p:cNvPr>
          <p:cNvSpPr>
            <a:spLocks xmlns:a="http://schemas.openxmlformats.org/drawingml/2006/main" noGrp="1"/>
          </p:cNvSpPr>
          <p:nvPr/>
        </p:nvSpPr>
        <p:spPr>
          <a:xfrm xmlns:a="http://schemas.openxmlformats.org/drawingml/2006/main">
            <a:off x="975336" y="5339080"/>
            <a:ext cx="3413675" cy="756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JSON keyed by a hash of prompt, schema and text, with IDs and tokens</a:t>
            </a:r>
          </a:p>
        </p:txBody>
      </p:sp>
      <p:sp>
        <p:nvSpPr>
          <p:cNvPr id="44" name="">
            <a:extLst xmlns:a="http://schemas.openxmlformats.org/drawingml/2006/main">
              <a:ext uri="{FF2B5EF4-FFF2-40B4-BE49-F238E27FC236}">
                <a16:creationId xmlns:a16="http://schemas.microsoft.com/office/drawing/2014/main" id="{4BE42E4A-A3BE-4705-8815-022704DD4B43}"/>
              </a:ext>
            </a:extLst>
          </p:cNvPr>
          <p:cNvSpPr>
            <a:spLocks xmlns:a="http://schemas.openxmlformats.org/drawingml/2006/main" noGrp="1"/>
          </p:cNvSpPr>
          <p:nvPr/>
        </p:nvSpPr>
        <p:spPr>
          <a:xfrm xmlns:a="http://schemas.openxmlformats.org/drawingml/2006/main">
            <a:off x="4693803" y="4897120"/>
            <a:ext cx="3779425" cy="1143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360BD115-ED56-459C-A9EE-1A4D7DD1EC5E}"/>
              </a:ext>
            </a:extLst>
          </p:cNvPr>
          <p:cNvSpPr>
            <a:spLocks xmlns:a="http://schemas.openxmlformats.org/drawingml/2006/main" noGrp="1"/>
          </p:cNvSpPr>
          <p:nvPr/>
        </p:nvSpPr>
        <p:spPr>
          <a:xfrm xmlns:a="http://schemas.openxmlformats.org/drawingml/2006/main">
            <a:off x="4693803" y="5011420"/>
            <a:ext cx="259074"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1">
                <a:solidFill>
                  <a:srgbClr val="C8401F"/>
                </a:solidFill>
                <a:latin typeface="Arial"/>
                <a:ea typeface="Arial"/>
                <a:cs typeface="Arial"/>
              </a:defRPr>
            </a:defPPr>
            <a:lvl1pPr algn="l">
              <a:defRPr sz="1140" b="1">
                <a:solidFill>
                  <a:srgbClr val="C8401F"/>
                </a:solidFill>
                <a:latin typeface="Arial"/>
                <a:ea typeface="Arial"/>
                <a:cs typeface="Arial"/>
              </a:defRPr>
            </a:lvl1pPr>
            <a:lvl2pPr algn="l">
              <a:defRPr sz="1140" b="1">
                <a:solidFill>
                  <a:srgbClr val="C8401F"/>
                </a:solidFill>
                <a:latin typeface="Arial"/>
                <a:ea typeface="Arial"/>
                <a:cs typeface="Arial"/>
              </a:defRPr>
            </a:lvl2pPr>
            <a:lvl3pPr algn="l">
              <a:defRPr sz="1140" b="1">
                <a:solidFill>
                  <a:srgbClr val="C8401F"/>
                </a:solidFill>
                <a:latin typeface="Arial"/>
                <a:ea typeface="Arial"/>
                <a:cs typeface="Arial"/>
              </a:defRPr>
            </a:lvl3pPr>
            <a:lvl4pPr algn="l">
              <a:defRPr sz="1140" b="1">
                <a:solidFill>
                  <a:srgbClr val="C8401F"/>
                </a:solidFill>
                <a:latin typeface="Arial"/>
                <a:ea typeface="Arial"/>
                <a:cs typeface="Arial"/>
              </a:defRPr>
            </a:lvl4pPr>
            <a:lvl5pPr algn="l">
              <a:defRPr sz="1140" b="1">
                <a:solidFill>
                  <a:srgbClr val="C8401F"/>
                </a:solidFill>
                <a:latin typeface="Arial"/>
                <a:ea typeface="Arial"/>
                <a:cs typeface="Arial"/>
              </a:defRPr>
            </a:lvl5pPr>
            <a:lvl6pPr algn="l">
              <a:defRPr sz="1140" b="1">
                <a:solidFill>
                  <a:srgbClr val="C8401F"/>
                </a:solidFill>
                <a:latin typeface="Arial"/>
                <a:ea typeface="Arial"/>
                <a:cs typeface="Arial"/>
              </a:defRPr>
            </a:lvl6pPr>
            <a:lvl7pPr algn="l">
              <a:defRPr sz="1140" b="1">
                <a:solidFill>
                  <a:srgbClr val="C8401F"/>
                </a:solidFill>
                <a:latin typeface="Arial"/>
                <a:ea typeface="Arial"/>
                <a:cs typeface="Arial"/>
              </a:defRPr>
            </a:lvl7pPr>
            <a:lvl8pPr algn="l">
              <a:defRPr sz="1140" b="1">
                <a:solidFill>
                  <a:srgbClr val="C8401F"/>
                </a:solidFill>
                <a:latin typeface="Arial"/>
                <a:ea typeface="Arial"/>
                <a:cs typeface="Arial"/>
              </a:defRPr>
            </a:lvl8pPr>
            <a:lvl9pPr algn="l">
              <a:defRPr sz="1140" b="1">
                <a:solidFill>
                  <a:srgbClr val="C8401F"/>
                </a:solidFill>
                <a:latin typeface="Arial"/>
                <a:ea typeface="Arial"/>
                <a:cs typeface="Arial"/>
              </a:defRPr>
            </a:lvl9pPr>
          </a:lstStyle>
          <a:p xmlns:a="http://schemas.openxmlformats.org/drawingml/2006/main">
            <a:pPr algn="l">
              <a:defRPr sz="1140" b="1">
                <a:solidFill>
                  <a:srgbClr val="C8401F"/>
                </a:solidFill>
                <a:latin typeface="Arial"/>
                <a:ea typeface="Arial"/>
                <a:cs typeface="Arial"/>
              </a:defRPr>
            </a:pPr>
            <a:r>
              <a:rPr sz="1140" b="1">
                <a:solidFill>
                  <a:srgbClr val="C8401F"/>
                </a:solidFill>
                <a:latin typeface="Arial"/>
                <a:ea typeface="Arial"/>
                <a:cs typeface="Arial"/>
              </a:rPr>
              <a:t>06</a:t>
            </a:r>
          </a:p>
        </p:txBody>
      </p:sp>
      <p:sp>
        <p:nvSpPr>
          <p:cNvPr id="46" name="">
            <a:extLst xmlns:a="http://schemas.openxmlformats.org/drawingml/2006/main">
              <a:ext uri="{FF2B5EF4-FFF2-40B4-BE49-F238E27FC236}">
                <a16:creationId xmlns:a16="http://schemas.microsoft.com/office/drawing/2014/main" id="{9D031A92-DED9-4534-B740-5A32C16DE353}"/>
              </a:ext>
            </a:extLst>
          </p:cNvPr>
          <p:cNvSpPr>
            <a:spLocks xmlns:a="http://schemas.openxmlformats.org/drawingml/2006/main" noGrp="1"/>
          </p:cNvSpPr>
          <p:nvPr/>
        </p:nvSpPr>
        <p:spPr>
          <a:xfrm xmlns:a="http://schemas.openxmlformats.org/drawingml/2006/main">
            <a:off x="5059553" y="4973320"/>
            <a:ext cx="3413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500" b="1">
                <a:solidFill>
                  <a:srgbClr val="151312"/>
                </a:solidFill>
                <a:latin typeface="Arial"/>
                <a:ea typeface="Arial"/>
                <a:cs typeface="Arial"/>
              </a:defRPr>
            </a:defPPr>
            <a:lvl1pPr algn="l">
              <a:defRPr sz="1500" b="1">
                <a:solidFill>
                  <a:srgbClr val="151312"/>
                </a:solidFill>
                <a:latin typeface="Arial"/>
                <a:ea typeface="Arial"/>
                <a:cs typeface="Arial"/>
              </a:defRPr>
            </a:lvl1pPr>
            <a:lvl2pPr algn="l">
              <a:defRPr sz="1500" b="1">
                <a:solidFill>
                  <a:srgbClr val="151312"/>
                </a:solidFill>
                <a:latin typeface="Arial"/>
                <a:ea typeface="Arial"/>
                <a:cs typeface="Arial"/>
              </a:defRPr>
            </a:lvl2pPr>
            <a:lvl3pPr algn="l">
              <a:defRPr sz="1500" b="1">
                <a:solidFill>
                  <a:srgbClr val="151312"/>
                </a:solidFill>
                <a:latin typeface="Arial"/>
                <a:ea typeface="Arial"/>
                <a:cs typeface="Arial"/>
              </a:defRPr>
            </a:lvl3pPr>
            <a:lvl4pPr algn="l">
              <a:defRPr sz="1500" b="1">
                <a:solidFill>
                  <a:srgbClr val="151312"/>
                </a:solidFill>
                <a:latin typeface="Arial"/>
                <a:ea typeface="Arial"/>
                <a:cs typeface="Arial"/>
              </a:defRPr>
            </a:lvl4pPr>
            <a:lvl5pPr algn="l">
              <a:defRPr sz="1500" b="1">
                <a:solidFill>
                  <a:srgbClr val="151312"/>
                </a:solidFill>
                <a:latin typeface="Arial"/>
                <a:ea typeface="Arial"/>
                <a:cs typeface="Arial"/>
              </a:defRPr>
            </a:lvl5pPr>
            <a:lvl6pPr algn="l">
              <a:defRPr sz="1500" b="1">
                <a:solidFill>
                  <a:srgbClr val="151312"/>
                </a:solidFill>
                <a:latin typeface="Arial"/>
                <a:ea typeface="Arial"/>
                <a:cs typeface="Arial"/>
              </a:defRPr>
            </a:lvl6pPr>
            <a:lvl7pPr algn="l">
              <a:defRPr sz="1500" b="1">
                <a:solidFill>
                  <a:srgbClr val="151312"/>
                </a:solidFill>
                <a:latin typeface="Arial"/>
                <a:ea typeface="Arial"/>
                <a:cs typeface="Arial"/>
              </a:defRPr>
            </a:lvl7pPr>
            <a:lvl8pPr algn="l">
              <a:defRPr sz="1500" b="1">
                <a:solidFill>
                  <a:srgbClr val="151312"/>
                </a:solidFill>
                <a:latin typeface="Arial"/>
                <a:ea typeface="Arial"/>
                <a:cs typeface="Arial"/>
              </a:defRPr>
            </a:lvl8pPr>
            <a:lvl9pPr algn="l">
              <a:defRPr sz="1500" b="1">
                <a:solidFill>
                  <a:srgbClr val="151312"/>
                </a:solidFill>
                <a:latin typeface="Arial"/>
                <a:ea typeface="Arial"/>
                <a:cs typeface="Arial"/>
              </a:defRPr>
            </a:lvl9pPr>
          </a:lstStyle>
          <a:p xmlns:a="http://schemas.openxmlformats.org/drawingml/2006/main">
            <a:pPr algn="l">
              <a:defRPr sz="1500" b="1">
                <a:solidFill>
                  <a:srgbClr val="151312"/>
                </a:solidFill>
                <a:latin typeface="Arial"/>
                <a:ea typeface="Arial"/>
                <a:cs typeface="Arial"/>
              </a:defRPr>
            </a:pPr>
            <a:r>
              <a:rPr sz="1500" b="1">
                <a:solidFill>
                  <a:srgbClr val="151312"/>
                </a:solidFill>
                <a:latin typeface="Arial"/>
                <a:ea typeface="Arial"/>
                <a:cs typeface="Arial"/>
              </a:rPr>
              <a:t>Store</a:t>
            </a:r>
          </a:p>
        </p:txBody>
      </p:sp>
      <p:sp>
        <p:nvSpPr>
          <p:cNvPr id="47" name="">
            <a:extLst xmlns:a="http://schemas.openxmlformats.org/drawingml/2006/main">
              <a:ext uri="{FF2B5EF4-FFF2-40B4-BE49-F238E27FC236}">
                <a16:creationId xmlns:a16="http://schemas.microsoft.com/office/drawing/2014/main" id="{48E22693-8706-4D7B-98E6-16730531B45B}"/>
              </a:ext>
            </a:extLst>
          </p:cNvPr>
          <p:cNvSpPr>
            <a:spLocks xmlns:a="http://schemas.openxmlformats.org/drawingml/2006/main" noGrp="1"/>
          </p:cNvSpPr>
          <p:nvPr/>
        </p:nvSpPr>
        <p:spPr>
          <a:xfrm xmlns:a="http://schemas.openxmlformats.org/drawingml/2006/main">
            <a:off x="5059553" y="5339080"/>
            <a:ext cx="3413675" cy="756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Scores, evidence and costs in SQLite; the dashboard reads them</a:t>
            </a:r>
          </a:p>
        </p:txBody>
      </p:sp>
    </p:spTree>
    <p:extLst>
      <p:ext uri="{BB962C8B-B14F-4D97-AF65-F5344CB8AC3E}">
        <p14:creationId xmlns:p14="http://schemas.microsoft.com/office/powerpoint/2010/main" val="1438545015"/>
      </p:ext>
    </p:extLst>
  </p:cSld>
</p:sld>
</file>

<file path=ppt/slides/slide11.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FECB994-ADDB-4F61-97CA-37B32BA04F71}"/>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B95CB444-D6A2-4658-9E4D-83F806365139}"/>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READERS AND VALIDATION</a:t>
            </a:r>
          </a:p>
        </p:txBody>
      </p:sp>
      <p:sp>
        <p:nvSpPr>
          <p:cNvPr id="3" name="">
            <a:extLst xmlns:a="http://schemas.openxmlformats.org/drawingml/2006/main">
              <a:ext uri="{FF2B5EF4-FFF2-40B4-BE49-F238E27FC236}">
                <a16:creationId xmlns:a16="http://schemas.microsoft.com/office/drawing/2014/main" id="{920BB9E5-42AA-4FDD-8DB2-5B8E0B20A5DD}"/>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11 / 46</a:t>
            </a:r>
          </a:p>
        </p:txBody>
      </p:sp>
      <p:sp>
        <p:nvSpPr>
          <p:cNvPr id="4" name="">
            <a:extLst xmlns:a="http://schemas.openxmlformats.org/drawingml/2006/main">
              <a:ext uri="{FF2B5EF4-FFF2-40B4-BE49-F238E27FC236}">
                <a16:creationId xmlns:a16="http://schemas.microsoft.com/office/drawing/2014/main" id="{7A16D320-17A0-48F6-AB0A-E6B2B095D54C}"/>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DB845A9-2C77-40C5-AD5D-70F0A4F6060B}"/>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Cached requests and auditable spending</a:t>
            </a:r>
          </a:p>
        </p:txBody>
      </p:sp>
      <p:sp>
        <p:nvSpPr>
          <p:cNvPr id="6" name="">
            <a:extLst xmlns:a="http://schemas.openxmlformats.org/drawingml/2006/main">
              <a:ext uri="{FF2B5EF4-FFF2-40B4-BE49-F238E27FC236}">
                <a16:creationId xmlns:a16="http://schemas.microsoft.com/office/drawing/2014/main" id="{CBE1CFEB-B464-48E1-9D4F-FA43B6E88DFA}"/>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Operational snapshot through 2026-10-22, including monthly re-reads</a:t>
            </a:r>
          </a:p>
        </p:txBody>
      </p:sp>
      <p:sp>
        <p:nvSpPr>
          <p:cNvPr id="7" name="">
            <a:extLst xmlns:a="http://schemas.openxmlformats.org/drawingml/2006/main">
              <a:ext uri="{FF2B5EF4-FFF2-40B4-BE49-F238E27FC236}">
                <a16:creationId xmlns:a16="http://schemas.microsoft.com/office/drawing/2014/main" id="{E6DE996D-8A66-42E9-A622-22EDD51C1700}"/>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B567420-179C-4E29-BFD9-DB2856812C2C}"/>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Anthropic Message Batches records in data/llm/; llm/scorer.py.</a:t>
            </a:r>
          </a:p>
        </p:txBody>
      </p:sp>
      <p:sp>
        <p:nvSpPr>
          <p:cNvPr id="9" name="">
            <a:extLst xmlns:a="http://schemas.openxmlformats.org/drawingml/2006/main">
              <a:ext uri="{FF2B5EF4-FFF2-40B4-BE49-F238E27FC236}">
                <a16:creationId xmlns:a16="http://schemas.microsoft.com/office/drawing/2014/main" id="{0EC98E3B-4E16-4FF2-B0FA-9D88B0AC394C}"/>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123C5EC-F09B-47D7-A7B1-9A4D2355B3AC}"/>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9CF137E-41D4-47AD-ABE6-0F619B084C1A}"/>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E48269A-9956-48C5-A4A6-FAB65FBF3D0E}"/>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4798F91-89AB-4C07-BF3F-8257E3772359}"/>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120BE45-A571-4896-9D9E-F327C28AE232}"/>
              </a:ext>
            </a:extLst>
          </p:cNvPr>
          <p:cNvSpPr>
            <a:spLocks xmlns:a="http://schemas.openxmlformats.org/drawingml/2006/main" noGrp="1"/>
          </p:cNvSpPr>
          <p:nvPr/>
        </p:nvSpPr>
        <p:spPr>
          <a:xfrm xmlns:a="http://schemas.openxmlformats.org/drawingml/2006/main">
            <a:off x="609585" y="1965960"/>
            <a:ext cx="2743131"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4560" b="1">
                <a:solidFill>
                  <a:srgbClr val="151312"/>
                </a:solidFill>
                <a:latin typeface="Arial"/>
                <a:ea typeface="Arial"/>
                <a:cs typeface="Arial"/>
              </a:defRPr>
            </a:defPPr>
            <a:lvl1pPr algn="l">
              <a:defRPr sz="4560" b="1">
                <a:solidFill>
                  <a:srgbClr val="151312"/>
                </a:solidFill>
                <a:latin typeface="Arial"/>
                <a:ea typeface="Arial"/>
                <a:cs typeface="Arial"/>
              </a:defRPr>
            </a:lvl1pPr>
            <a:lvl2pPr algn="l">
              <a:defRPr sz="4560" b="1">
                <a:solidFill>
                  <a:srgbClr val="151312"/>
                </a:solidFill>
                <a:latin typeface="Arial"/>
                <a:ea typeface="Arial"/>
                <a:cs typeface="Arial"/>
              </a:defRPr>
            </a:lvl2pPr>
            <a:lvl3pPr algn="l">
              <a:defRPr sz="4560" b="1">
                <a:solidFill>
                  <a:srgbClr val="151312"/>
                </a:solidFill>
                <a:latin typeface="Arial"/>
                <a:ea typeface="Arial"/>
                <a:cs typeface="Arial"/>
              </a:defRPr>
            </a:lvl3pPr>
            <a:lvl4pPr algn="l">
              <a:defRPr sz="4560" b="1">
                <a:solidFill>
                  <a:srgbClr val="151312"/>
                </a:solidFill>
                <a:latin typeface="Arial"/>
                <a:ea typeface="Arial"/>
                <a:cs typeface="Arial"/>
              </a:defRPr>
            </a:lvl4pPr>
            <a:lvl5pPr algn="l">
              <a:defRPr sz="4560" b="1">
                <a:solidFill>
                  <a:srgbClr val="151312"/>
                </a:solidFill>
                <a:latin typeface="Arial"/>
                <a:ea typeface="Arial"/>
                <a:cs typeface="Arial"/>
              </a:defRPr>
            </a:lvl5pPr>
            <a:lvl6pPr algn="l">
              <a:defRPr sz="4560" b="1">
                <a:solidFill>
                  <a:srgbClr val="151312"/>
                </a:solidFill>
                <a:latin typeface="Arial"/>
                <a:ea typeface="Arial"/>
                <a:cs typeface="Arial"/>
              </a:defRPr>
            </a:lvl6pPr>
            <a:lvl7pPr algn="l">
              <a:defRPr sz="4560" b="1">
                <a:solidFill>
                  <a:srgbClr val="151312"/>
                </a:solidFill>
                <a:latin typeface="Arial"/>
                <a:ea typeface="Arial"/>
                <a:cs typeface="Arial"/>
              </a:defRPr>
            </a:lvl7pPr>
            <a:lvl8pPr algn="l">
              <a:defRPr sz="4560" b="1">
                <a:solidFill>
                  <a:srgbClr val="151312"/>
                </a:solidFill>
                <a:latin typeface="Arial"/>
                <a:ea typeface="Arial"/>
                <a:cs typeface="Arial"/>
              </a:defRPr>
            </a:lvl8pPr>
            <a:lvl9pPr algn="l">
              <a:defRPr sz="4560" b="1">
                <a:solidFill>
                  <a:srgbClr val="151312"/>
                </a:solidFill>
                <a:latin typeface="Arial"/>
                <a:ea typeface="Arial"/>
                <a:cs typeface="Arial"/>
              </a:defRPr>
            </a:lvl9pPr>
          </a:lstStyle>
          <a:p xmlns:a="http://schemas.openxmlformats.org/drawingml/2006/main">
            <a:pPr algn="l">
              <a:defRPr sz="4560" b="1">
                <a:solidFill>
                  <a:srgbClr val="151312"/>
                </a:solidFill>
                <a:latin typeface="Arial"/>
                <a:ea typeface="Arial"/>
                <a:cs typeface="Arial"/>
              </a:defRPr>
            </a:pPr>
            <a:r>
              <a:rPr sz="4560" b="1">
                <a:solidFill>
                  <a:srgbClr val="151312"/>
                </a:solidFill>
                <a:latin typeface="Arial"/>
                <a:ea typeface="Arial"/>
                <a:cs typeface="Arial"/>
              </a:rPr>
              <a:t>$32.75</a:t>
            </a:r>
          </a:p>
        </p:txBody>
      </p:sp>
      <p:sp>
        <p:nvSpPr>
          <p:cNvPr id="15" name="">
            <a:extLst xmlns:a="http://schemas.openxmlformats.org/drawingml/2006/main">
              <a:ext uri="{FF2B5EF4-FFF2-40B4-BE49-F238E27FC236}">
                <a16:creationId xmlns:a16="http://schemas.microsoft.com/office/drawing/2014/main" id="{6FDC5243-1556-445F-91BB-D4E430619661}"/>
              </a:ext>
            </a:extLst>
          </p:cNvPr>
          <p:cNvSpPr>
            <a:spLocks xmlns:a="http://schemas.openxmlformats.org/drawingml/2006/main" noGrp="1"/>
          </p:cNvSpPr>
          <p:nvPr/>
        </p:nvSpPr>
        <p:spPr>
          <a:xfrm xmlns:a="http://schemas.openxmlformats.org/drawingml/2006/main">
            <a:off x="609585" y="2781300"/>
            <a:ext cx="2743131"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for 2,057 stored Claude records; operations continue after the research freeze</a:t>
            </a:r>
          </a:p>
        </p:txBody>
      </p:sp>
      <p:sp>
        <p:nvSpPr>
          <p:cNvPr id="16" name="">
            <a:extLst xmlns:a="http://schemas.openxmlformats.org/drawingml/2006/main">
              <a:ext uri="{FF2B5EF4-FFF2-40B4-BE49-F238E27FC236}">
                <a16:creationId xmlns:a16="http://schemas.microsoft.com/office/drawing/2014/main" id="{2FBA727A-1D32-4F2E-8A30-912B544DE5BC}"/>
              </a:ext>
            </a:extLst>
          </p:cNvPr>
          <p:cNvSpPr>
            <a:spLocks xmlns:a="http://schemas.openxmlformats.org/drawingml/2006/main" noGrp="1"/>
          </p:cNvSpPr>
          <p:nvPr/>
        </p:nvSpPr>
        <p:spPr>
          <a:xfrm xmlns:a="http://schemas.openxmlformats.org/drawingml/2006/main">
            <a:off x="609585" y="364236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F65E1C9-970D-4353-A138-05940B2C5E96}"/>
              </a:ext>
            </a:extLst>
          </p:cNvPr>
          <p:cNvSpPr>
            <a:spLocks xmlns:a="http://schemas.openxmlformats.org/drawingml/2006/main" noGrp="1"/>
          </p:cNvSpPr>
          <p:nvPr/>
        </p:nvSpPr>
        <p:spPr>
          <a:xfrm xmlns:a="http://schemas.openxmlformats.org/drawingml/2006/main">
            <a:off x="609585" y="371856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A record's key changes with the prompt, schema or text, never otherwise</a:t>
            </a:r>
          </a:p>
        </p:txBody>
      </p:sp>
      <p:sp>
        <p:nvSpPr>
          <p:cNvPr id="18" name="">
            <a:extLst xmlns:a="http://schemas.openxmlformats.org/drawingml/2006/main">
              <a:ext uri="{FF2B5EF4-FFF2-40B4-BE49-F238E27FC236}">
                <a16:creationId xmlns:a16="http://schemas.microsoft.com/office/drawing/2014/main" id="{E2B1EC2A-79A8-4DDF-861E-B2B2ADA17EDC}"/>
              </a:ext>
            </a:extLst>
          </p:cNvPr>
          <p:cNvSpPr>
            <a:spLocks xmlns:a="http://schemas.openxmlformats.org/drawingml/2006/main" noGrp="1"/>
          </p:cNvSpPr>
          <p:nvPr/>
        </p:nvSpPr>
        <p:spPr>
          <a:xfrm xmlns:a="http://schemas.openxmlformats.org/drawingml/2006/main">
            <a:off x="609585" y="448564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6D4C6EB-CCFF-4860-916E-86E88CC17949}"/>
              </a:ext>
            </a:extLst>
          </p:cNvPr>
          <p:cNvSpPr>
            <a:spLocks xmlns:a="http://schemas.openxmlformats.org/drawingml/2006/main" noGrp="1"/>
          </p:cNvSpPr>
          <p:nvPr/>
        </p:nvSpPr>
        <p:spPr>
          <a:xfrm xmlns:a="http://schemas.openxmlformats.org/drawingml/2006/main">
            <a:off x="609585" y="456184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Records live in git: a rebuilt store costs nothing</a:t>
            </a:r>
          </a:p>
        </p:txBody>
      </p:sp>
      <p:sp>
        <p:nvSpPr>
          <p:cNvPr id="20" name="">
            <a:extLst xmlns:a="http://schemas.openxmlformats.org/drawingml/2006/main">
              <a:ext uri="{FF2B5EF4-FFF2-40B4-BE49-F238E27FC236}">
                <a16:creationId xmlns:a16="http://schemas.microsoft.com/office/drawing/2014/main" id="{28BBD838-DBB2-41B9-BFD6-5E052C334569}"/>
              </a:ext>
            </a:extLst>
          </p:cNvPr>
          <p:cNvSpPr>
            <a:spLocks xmlns:a="http://schemas.openxmlformats.org/drawingml/2006/main" noGrp="1"/>
          </p:cNvSpPr>
          <p:nvPr/>
        </p:nvSpPr>
        <p:spPr>
          <a:xfrm xmlns:a="http://schemas.openxmlformats.org/drawingml/2006/main">
            <a:off x="609585" y="532892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575B623-C539-473D-BB6A-DBB3C03F759E}"/>
              </a:ext>
            </a:extLst>
          </p:cNvPr>
          <p:cNvSpPr>
            <a:spLocks xmlns:a="http://schemas.openxmlformats.org/drawingml/2006/main" noGrp="1"/>
          </p:cNvSpPr>
          <p:nvPr/>
        </p:nvSpPr>
        <p:spPr>
          <a:xfrm xmlns:a="http://schemas.openxmlformats.org/drawingml/2006/main">
            <a:off x="609585" y="540512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Refusals, truncation and schema misses are recorded, not retried silently</a:t>
            </a:r>
          </a:p>
        </p:txBody>
      </p:sp>
      <p:graphicFrame>
        <p:nvGraphicFramePr>
          <p:cNvPr id="22" name="">
            <a:extLst xmlns:a="http://schemas.openxmlformats.org/drawingml/2006/main">
              <a:ext uri="{FF2B5EF4-FFF2-40B4-BE49-F238E27FC236}">
                <a16:creationId xmlns:a16="http://schemas.microsoft.com/office/drawing/2014/main" id="{9CC3EE4D-F8DD-4CE1-9145-51E4E240AC6B}"/>
              </a:ext>
            </a:extLst>
          </p:cNvPr>
          <p:cNvGraphicFramePr/>
          <p:nvPr/>
        </p:nvGraphicFramePr>
        <p:xfrm>
          <a:off xmlns:a="http://schemas.openxmlformats.org/drawingml/2006/main" x="3718467" y="1920240"/>
          <a:ext xmlns:a="http://schemas.openxmlformats.org/drawingml/2006/main" cx="7863643" cy="4251960"/>
        </p:xfrm>
        <a:graphic xmlns:a="http://schemas.openxmlformats.org/drawingml/2006/main">
          <a:graphicData uri="http://schemas.openxmlformats.org/drawingml/2006/table">
            <a:tbl>
              <a:tblPr/>
              <a:tblGrid>
                <a:gridCol w="1448566"/>
                <a:gridCol w="6415077"/>
              </a:tblGrid>
              <a:tr h="472440">
                <a:tc>
                  <a:txBody>
                    <a:bodyPr/>
                    <a:lstStyle/>
                    <a:p>
                      <a:pPr algn="l"/>
                      <a:r>
                        <a:rPr sz="1080" b="1">
                          <a:solidFill>
                            <a:srgbClr val="151312"/>
                          </a:solidFill>
                          <a:latin typeface="Arial"/>
                          <a:ea typeface="Arial"/>
                          <a:cs typeface="Arial"/>
                        </a:rPr>
                        <a:t>Piece</a:t>
                      </a:r>
                    </a:p>
                  </a:txBody>
                  <a:tcPr marL="91440" marR="91440" marT="45720" marB="45720" anchor="ctr">
                    <a:lnL w="0">
                      <a:noFill/>
                    </a:lnL>
                    <a:lnR w="0">
                      <a:noFill/>
                    </a:lnR>
                    <a:lnT w="0">
                      <a:noFill/>
                    </a:lnT>
                    <a:lnB w="0">
                      <a:noFill/>
                    </a:lnB>
                    <a:solidFill>
                      <a:srgbClr val="F3F0E9"/>
                    </a:solidFill>
                  </a:tcPr>
                </a:tc>
                <a:tc>
                  <a:txBody>
                    <a:bodyPr/>
                    <a:lstStyle/>
                    <a:p>
                      <a:pPr algn="l"/>
                      <a:r>
                        <a:rPr sz="1080" b="1">
                          <a:solidFill>
                            <a:srgbClr val="151312"/>
                          </a:solidFill>
                          <a:latin typeface="Arial"/>
                          <a:ea typeface="Arial"/>
                          <a:cs typeface="Arial"/>
                        </a:rPr>
                        <a:t>Setting</a:t>
                      </a:r>
                    </a:p>
                  </a:txBody>
                  <a:tcPr marL="91440" marR="91440" marT="45720" marB="45720" anchor="ctr">
                    <a:lnR w="0">
                      <a:noFill/>
                    </a:lnR>
                    <a:lnT w="0">
                      <a:noFill/>
                    </a:lnT>
                    <a:lnB w="0">
                      <a:noFill/>
                    </a:lnB>
                    <a:solidFill>
                      <a:srgbClr val="F3F0E9"/>
                    </a:solidFill>
                  </a:tcPr>
                </a:tc>
              </a:tr>
              <a:tr h="472440">
                <a:tc>
                  <a:txBody>
                    <a:bodyPr/>
                    <a:lstStyle/>
                    <a:p>
                      <a:pPr algn="l"/>
                      <a:r>
                        <a:rPr sz="1260" b="1">
                          <a:solidFill>
                            <a:srgbClr val="45413C"/>
                          </a:solidFill>
                          <a:latin typeface="Arial"/>
                          <a:ea typeface="Arial"/>
                          <a:cs typeface="Arial"/>
                        </a:rPr>
                        <a:t>Model</a:t>
                      </a:r>
                    </a:p>
                  </a:txBody>
                  <a:tcPr marL="91440" marR="91440" marT="45720" marB="45720" anchor="ctr">
                    <a:lnL w="0">
                      <a:noFill/>
                    </a:lnL>
                    <a:lnR w="0">
                      <a:noFill/>
                    </a:lnR>
                    <a:lnB w="0">
                      <a:noFill/>
                    </a:lnB>
                    <a:solidFill>
                      <a:srgbClr val="FFFEFB"/>
                    </a:solidFill>
                  </a:tcPr>
                </a:tc>
                <a:tc>
                  <a:txBody>
                    <a:bodyPr/>
                    <a:lstStyle/>
                    <a:p>
                      <a:pPr algn="l"/>
                      <a:r>
                        <a:rPr sz="1260" b="0">
                          <a:solidFill>
                            <a:srgbClr val="45413C"/>
                          </a:solidFill>
                          <a:latin typeface="Arial"/>
                          <a:ea typeface="Arial"/>
                          <a:cs typeface="Arial"/>
                        </a:rPr>
                        <a:t>claude-opus-5-5, adaptive thinking, effort medium</a:t>
                      </a:r>
                    </a:p>
                  </a:txBody>
                  <a:tcPr marL="91440" marR="91440" marT="45720" marB="45720" anchor="ctr">
                    <a:lnR w="0">
                      <a:noFill/>
                    </a:lnR>
                    <a:lnB w="0">
                      <a:noFill/>
                    </a:lnB>
                    <a:solidFill>
                      <a:srgbClr val="FFFEFB"/>
                    </a:solidFill>
                  </a:tcPr>
                </a:tc>
              </a:tr>
              <a:tr h="472440">
                <a:tc>
                  <a:txBody>
                    <a:bodyPr/>
                    <a:lstStyle/>
                    <a:p>
                      <a:pPr algn="l"/>
                      <a:r>
                        <a:rPr sz="1260" b="1">
                          <a:solidFill>
                            <a:srgbClr val="45413C"/>
                          </a:solidFill>
                          <a:latin typeface="Arial"/>
                          <a:ea typeface="Arial"/>
                          <a:cs typeface="Arial"/>
                        </a:rPr>
                        <a:t>Output</a:t>
                      </a:r>
                    </a:p>
                  </a:txBody>
                  <a:tcPr marL="91440" marR="91440" marT="45720" marB="45720" anchor="ctr">
                    <a:lnL w="0">
                      <a:noFill/>
                    </a:lnL>
                    <a:lnR w="0">
                      <a:noFill/>
                    </a:lnR>
                    <a:lnB w="0">
                      <a:noFill/>
                    </a:lnB>
                    <a:solidFill>
                      <a:srgbClr val="FFFEFB"/>
                    </a:solidFill>
                  </a:tcPr>
                </a:tc>
                <a:tc>
                  <a:txBody>
                    <a:bodyPr/>
                    <a:lstStyle/>
                    <a:p>
                      <a:pPr algn="l"/>
                      <a:r>
                        <a:rPr sz="1260" b="0">
                          <a:solidFill>
                            <a:srgbClr val="45413C"/>
                          </a:solidFill>
                          <a:latin typeface="Arial"/>
                          <a:ea typeface="Arial"/>
                          <a:cs typeface="Arial"/>
                        </a:rPr>
                        <a:t>structured JSON against the rubric's schema; quotes located in the source</a:t>
                      </a:r>
                    </a:p>
                  </a:txBody>
                  <a:tcPr marL="91440" marR="91440" marT="45720" marB="45720" anchor="ctr">
                    <a:lnR w="0">
                      <a:noFill/>
                    </a:lnR>
                    <a:lnB w="0">
                      <a:noFill/>
                    </a:lnB>
                    <a:solidFill>
                      <a:srgbClr val="FFFEFB"/>
                    </a:solidFill>
                  </a:tcPr>
                </a:tc>
              </a:tr>
              <a:tr h="472440">
                <a:tc>
                  <a:txBody>
                    <a:bodyPr/>
                    <a:lstStyle/>
                    <a:p>
                      <a:pPr algn="l"/>
                      <a:r>
                        <a:rPr sz="1260" b="1">
                          <a:solidFill>
                            <a:srgbClr val="45413C"/>
                          </a:solidFill>
                          <a:latin typeface="Arial"/>
                          <a:ea typeface="Arial"/>
                          <a:cs typeface="Arial"/>
                        </a:rPr>
                        <a:t>Batching</a:t>
                      </a:r>
                    </a:p>
                  </a:txBody>
                  <a:tcPr marL="91440" marR="91440" marT="45720" marB="45720" anchor="ctr">
                    <a:lnL w="0">
                      <a:noFill/>
                    </a:lnL>
                    <a:lnR w="0">
                      <a:noFill/>
                    </a:lnR>
                    <a:lnB w="0">
                      <a:noFill/>
                    </a:lnB>
                    <a:solidFill>
                      <a:srgbClr val="FFFEFB"/>
                    </a:solidFill>
                  </a:tcPr>
                </a:tc>
                <a:tc>
                  <a:txBody>
                    <a:bodyPr/>
                    <a:lstStyle/>
                    <a:p>
                      <a:pPr algn="l"/>
                      <a:r>
                        <a:rPr sz="1260" b="0">
                          <a:solidFill>
                            <a:srgbClr val="45413C"/>
                          </a:solidFill>
                          <a:latin typeface="Arial"/>
                          <a:ea typeface="Arial"/>
                          <a:cs typeface="Arial"/>
                        </a:rPr>
                        <a:t>7 Message Batches at half price; 21 direct calls</a:t>
                      </a:r>
                    </a:p>
                  </a:txBody>
                  <a:tcPr marL="91440" marR="91440" marT="45720" marB="45720" anchor="ctr">
                    <a:lnR w="0">
                      <a:noFill/>
                    </a:lnR>
                    <a:lnB w="0">
                      <a:noFill/>
                    </a:lnB>
                    <a:solidFill>
                      <a:srgbClr val="FFFEFB"/>
                    </a:solidFill>
                  </a:tcPr>
                </a:tc>
              </a:tr>
              <a:tr h="472440">
                <a:tc>
                  <a:txBody>
                    <a:bodyPr/>
                    <a:lstStyle/>
                    <a:p>
                      <a:pPr algn="l"/>
                      <a:r>
                        <a:rPr sz="1260" b="1">
                          <a:solidFill>
                            <a:srgbClr val="45413C"/>
                          </a:solidFill>
                          <a:latin typeface="Arial"/>
                          <a:ea typeface="Arial"/>
                          <a:cs typeface="Arial"/>
                        </a:rPr>
                        <a:t>Prompt cache</a:t>
                      </a:r>
                    </a:p>
                  </a:txBody>
                  <a:tcPr marL="91440" marR="91440" marT="45720" marB="45720" anchor="ctr">
                    <a:lnL w="0">
                      <a:noFill/>
                    </a:lnL>
                    <a:lnR w="0">
                      <a:noFill/>
                    </a:lnR>
                    <a:lnB w="0">
                      <a:noFill/>
                    </a:lnB>
                    <a:solidFill>
                      <a:srgbClr val="FFFEFB"/>
                    </a:solidFill>
                  </a:tcPr>
                </a:tc>
                <a:tc>
                  <a:txBody>
                    <a:bodyPr/>
                    <a:lstStyle/>
                    <a:p>
                      <a:pPr algn="l"/>
                      <a:r>
                        <a:rPr sz="1260" b="0">
                          <a:solidFill>
                            <a:srgbClr val="45413C"/>
                          </a:solidFill>
                          <a:latin typeface="Arial"/>
                          <a:ea typeface="Arial"/>
                          <a:cs typeface="Arial"/>
                        </a:rPr>
                        <a:t>3.7M input tokens read from the cache</a:t>
                      </a:r>
                    </a:p>
                  </a:txBody>
                  <a:tcPr marL="91440" marR="91440" marT="45720" marB="45720" anchor="ctr">
                    <a:lnR w="0">
                      <a:noFill/>
                    </a:lnR>
                    <a:lnB w="0">
                      <a:noFill/>
                    </a:lnB>
                    <a:solidFill>
                      <a:srgbClr val="FFFEFB"/>
                    </a:solidFill>
                  </a:tcPr>
                </a:tc>
              </a:tr>
              <a:tr h="472440">
                <a:tc>
                  <a:txBody>
                    <a:bodyPr/>
                    <a:lstStyle/>
                    <a:p>
                      <a:pPr algn="l"/>
                      <a:r>
                        <a:rPr sz="1260" b="1">
                          <a:solidFill>
                            <a:srgbClr val="45413C"/>
                          </a:solidFill>
                          <a:latin typeface="Arial"/>
                          <a:ea typeface="Arial"/>
                          <a:cs typeface="Arial"/>
                        </a:rPr>
                        <a:t>Tokens</a:t>
                      </a:r>
                    </a:p>
                  </a:txBody>
                  <a:tcPr marL="91440" marR="91440" marT="45720" marB="45720" anchor="ctr">
                    <a:lnL w="0">
                      <a:noFill/>
                    </a:lnL>
                    <a:lnR w="0">
                      <a:noFill/>
                    </a:lnR>
                    <a:lnB w="0">
                      <a:noFill/>
                    </a:lnB>
                    <a:solidFill>
                      <a:srgbClr val="FFFEFB"/>
                    </a:solidFill>
                  </a:tcPr>
                </a:tc>
                <a:tc>
                  <a:txBody>
                    <a:bodyPr/>
                    <a:lstStyle/>
                    <a:p>
                      <a:pPr algn="l"/>
                      <a:r>
                        <a:rPr sz="1260" b="0">
                          <a:solidFill>
                            <a:srgbClr val="45413C"/>
                          </a:solidFill>
                          <a:latin typeface="Arial"/>
                          <a:ea typeface="Arial"/>
                          <a:cs typeface="Arial"/>
                        </a:rPr>
                        <a:t>10.6M in, 0.96M out</a:t>
                      </a:r>
                    </a:p>
                  </a:txBody>
                  <a:tcPr marL="91440" marR="91440" marT="45720" marB="45720" anchor="ctr">
                    <a:lnR w="0">
                      <a:noFill/>
                    </a:lnR>
                    <a:lnB w="0">
                      <a:noFill/>
                    </a:lnB>
                    <a:solidFill>
                      <a:srgbClr val="FFFEFB"/>
                    </a:solidFill>
                  </a:tcPr>
                </a:tc>
              </a:tr>
              <a:tr h="472440">
                <a:tc>
                  <a:txBody>
                    <a:bodyPr/>
                    <a:lstStyle/>
                    <a:p>
                      <a:pPr algn="l"/>
                      <a:r>
                        <a:rPr sz="1260" b="1">
                          <a:solidFill>
                            <a:srgbClr val="45413C"/>
                          </a:solidFill>
                          <a:latin typeface="Arial"/>
                          <a:ea typeface="Arial"/>
                          <a:cs typeface="Arial"/>
                        </a:rPr>
                        <a:t>Records</a:t>
                      </a:r>
                    </a:p>
                  </a:txBody>
                  <a:tcPr marL="91440" marR="91440" marT="45720" marB="45720" anchor="ctr">
                    <a:lnL w="0">
                      <a:noFill/>
                    </a:lnL>
                    <a:lnR w="0">
                      <a:noFill/>
                    </a:lnR>
                    <a:lnB w="0">
                      <a:noFill/>
                    </a:lnB>
                    <a:solidFill>
                      <a:srgbClr val="FFFEFB"/>
                    </a:solidFill>
                  </a:tcPr>
                </a:tc>
                <a:tc>
                  <a:txBody>
                    <a:bodyPr/>
                    <a:lstStyle/>
                    <a:p>
                      <a:pPr algn="l"/>
                      <a:r>
                        <a:rPr sz="1260" b="0">
                          <a:solidFill>
                            <a:srgbClr val="45413C"/>
                          </a:solidFill>
                          <a:latin typeface="Arial"/>
                          <a:ea typeface="Arial"/>
                          <a:cs typeface="Arial"/>
                        </a:rPr>
                        <a:t>2,057, each keyed by a hash of prompt, schema and text</a:t>
                      </a:r>
                    </a:p>
                  </a:txBody>
                  <a:tcPr marL="91440" marR="91440" marT="45720" marB="45720" anchor="ctr">
                    <a:lnR w="0">
                      <a:noFill/>
                    </a:lnR>
                    <a:lnB w="0">
                      <a:noFill/>
                    </a:lnB>
                    <a:solidFill>
                      <a:srgbClr val="FFFEFB"/>
                    </a:solidFill>
                  </a:tcPr>
                </a:tc>
              </a:tr>
              <a:tr h="472440">
                <a:tc>
                  <a:txBody>
                    <a:bodyPr/>
                    <a:lstStyle/>
                    <a:p>
                      <a:pPr algn="l"/>
                      <a:r>
                        <a:rPr sz="1260" b="1">
                          <a:solidFill>
                            <a:srgbClr val="45413C"/>
                          </a:solidFill>
                          <a:latin typeface="Arial"/>
                          <a:ea typeface="Arial"/>
                          <a:cs typeface="Arial"/>
                        </a:rPr>
                        <a:t>Failures</a:t>
                      </a:r>
                    </a:p>
                  </a:txBody>
                  <a:tcPr marL="91440" marR="91440" marT="45720" marB="45720" anchor="ctr">
                    <a:lnL w="0">
                      <a:noFill/>
                    </a:lnL>
                    <a:lnR w="0">
                      <a:noFill/>
                    </a:lnR>
                    <a:lnB w="0">
                      <a:noFill/>
                    </a:lnB>
                    <a:solidFill>
                      <a:srgbClr val="FFFEFB"/>
                    </a:solidFill>
                  </a:tcPr>
                </a:tc>
                <a:tc>
                  <a:txBody>
                    <a:bodyPr/>
                    <a:lstStyle/>
                    <a:p>
                      <a:pPr algn="l"/>
                      <a:r>
                        <a:rPr sz="1260" b="0">
                          <a:solidFill>
                            <a:srgbClr val="45413C"/>
                          </a:solidFill>
                          <a:latin typeface="Arial"/>
                          <a:ea typeface="Arial"/>
                          <a:cs typeface="Arial"/>
                        </a:rPr>
                        <a:t>0 failed requests</a:t>
                      </a:r>
                    </a:p>
                  </a:txBody>
                  <a:tcPr marL="91440" marR="91440" marT="45720" marB="45720" anchor="ctr">
                    <a:lnR w="0">
                      <a:noFill/>
                    </a:lnR>
                    <a:lnB w="0">
                      <a:noFill/>
                    </a:lnB>
                    <a:solidFill>
                      <a:srgbClr val="FFFEFB"/>
                    </a:solidFill>
                  </a:tcPr>
                </a:tc>
              </a:tr>
              <a:tr h="472440">
                <a:tc>
                  <a:txBody>
                    <a:bodyPr/>
                    <a:lstStyle/>
                    <a:p>
                      <a:pPr algn="l"/>
                      <a:r>
                        <a:rPr sz="1260" b="1">
                          <a:solidFill>
                            <a:srgbClr val="45413C"/>
                          </a:solidFill>
                          <a:latin typeface="Arial"/>
                          <a:ea typeface="Arial"/>
                          <a:cs typeface="Arial"/>
                        </a:rPr>
                        <a:t>Caps</a:t>
                      </a:r>
                    </a:p>
                  </a:txBody>
                  <a:tcPr marL="91440" marR="91440" marT="45720" marB="45720" anchor="ctr">
                    <a:lnL w="0">
                      <a:noFill/>
                    </a:lnL>
                    <a:lnR w="0">
                      <a:noFill/>
                    </a:lnR>
                    <a:lnB w="0">
                      <a:noFill/>
                    </a:lnB>
                    <a:solidFill>
                      <a:srgbClr val="FFFEFB"/>
                    </a:solidFill>
                  </a:tcPr>
                </a:tc>
                <a:tc>
                  <a:txBody>
                    <a:bodyPr/>
                    <a:lstStyle/>
                    <a:p>
                      <a:pPr algn="l"/>
                      <a:r>
                        <a:rPr sz="1260" b="0">
                          <a:solidFill>
                            <a:srgbClr val="45413C"/>
                          </a:solidFill>
                          <a:latin typeface="Arial"/>
                          <a:ea typeface="Arial"/>
                          <a:cs typeface="Arial"/>
                        </a:rPr>
                        <a:t>at most 40 new jobs a run; 5 USD a month of scheduled scoring</a:t>
                      </a:r>
                    </a:p>
                  </a:txBody>
                  <a:tcPr marL="91440" marR="91440" marT="45720" marB="45720" anchor="ctr">
                    <a:lnR w="0">
                      <a:noFill/>
                    </a:lnR>
                    <a:lnB w="0">
                      <a:noFill/>
                    </a:lnB>
                    <a:solidFill>
                      <a:srgbClr val="FFFEFB"/>
                    </a:solidFill>
                  </a:tcPr>
                </a:tc>
              </a:tr>
            </a:tbl>
          </a:graphicData>
        </a:graphic>
      </p:graphicFrame>
      <p:sp>
        <p:nvSpPr>
          <p:cNvPr id="23" name="">
            <a:extLst xmlns:a="http://schemas.openxmlformats.org/drawingml/2006/main">
              <a:ext uri="{FF2B5EF4-FFF2-40B4-BE49-F238E27FC236}">
                <a16:creationId xmlns:a16="http://schemas.microsoft.com/office/drawing/2014/main" id="{8193E557-DF1F-4B5F-9EE8-CFAF01EA8C56}"/>
              </a:ext>
            </a:extLst>
          </p:cNvPr>
          <p:cNvSpPr>
            <a:spLocks xmlns:a="http://schemas.openxmlformats.org/drawingml/2006/main" noGrp="1"/>
          </p:cNvSpPr>
          <p:nvPr/>
        </p:nvSpPr>
        <p:spPr>
          <a:xfrm xmlns:a="http://schemas.openxmlformats.org/drawingml/2006/main">
            <a:off x="3718467" y="2392680"/>
            <a:ext cx="7863643"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9974529-AEA6-41C1-80CD-1952B069A439}"/>
              </a:ext>
            </a:extLst>
          </p:cNvPr>
          <p:cNvSpPr>
            <a:spLocks xmlns:a="http://schemas.openxmlformats.org/drawingml/2006/main" noGrp="1"/>
          </p:cNvSpPr>
          <p:nvPr/>
        </p:nvSpPr>
        <p:spPr>
          <a:xfrm xmlns:a="http://schemas.openxmlformats.org/drawingml/2006/main">
            <a:off x="3718467" y="286512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4CBC2E9-7EE5-42E7-AD85-74848CA2EFE2}"/>
              </a:ext>
            </a:extLst>
          </p:cNvPr>
          <p:cNvSpPr>
            <a:spLocks xmlns:a="http://schemas.openxmlformats.org/drawingml/2006/main" noGrp="1"/>
          </p:cNvSpPr>
          <p:nvPr/>
        </p:nvSpPr>
        <p:spPr>
          <a:xfrm xmlns:a="http://schemas.openxmlformats.org/drawingml/2006/main">
            <a:off x="3718467" y="333756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9374724-9FC8-4054-BA81-FE2D4FFE916B}"/>
              </a:ext>
            </a:extLst>
          </p:cNvPr>
          <p:cNvSpPr>
            <a:spLocks xmlns:a="http://schemas.openxmlformats.org/drawingml/2006/main" noGrp="1"/>
          </p:cNvSpPr>
          <p:nvPr/>
        </p:nvSpPr>
        <p:spPr>
          <a:xfrm xmlns:a="http://schemas.openxmlformats.org/drawingml/2006/main">
            <a:off x="3718467" y="381000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239E8E2-8315-4308-B41F-B9BB038868F2}"/>
              </a:ext>
            </a:extLst>
          </p:cNvPr>
          <p:cNvSpPr>
            <a:spLocks xmlns:a="http://schemas.openxmlformats.org/drawingml/2006/main" noGrp="1"/>
          </p:cNvSpPr>
          <p:nvPr/>
        </p:nvSpPr>
        <p:spPr>
          <a:xfrm xmlns:a="http://schemas.openxmlformats.org/drawingml/2006/main">
            <a:off x="3718467" y="428244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E191E8E-5386-4805-91D6-060E1FCC7FDE}"/>
              </a:ext>
            </a:extLst>
          </p:cNvPr>
          <p:cNvSpPr>
            <a:spLocks xmlns:a="http://schemas.openxmlformats.org/drawingml/2006/main" noGrp="1"/>
          </p:cNvSpPr>
          <p:nvPr/>
        </p:nvSpPr>
        <p:spPr>
          <a:xfrm xmlns:a="http://schemas.openxmlformats.org/drawingml/2006/main">
            <a:off x="3718467" y="475488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4864B4D-9352-4692-AD17-2998C557FC06}"/>
              </a:ext>
            </a:extLst>
          </p:cNvPr>
          <p:cNvSpPr>
            <a:spLocks xmlns:a="http://schemas.openxmlformats.org/drawingml/2006/main" noGrp="1"/>
          </p:cNvSpPr>
          <p:nvPr/>
        </p:nvSpPr>
        <p:spPr>
          <a:xfrm xmlns:a="http://schemas.openxmlformats.org/drawingml/2006/main">
            <a:off x="3718467" y="522732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6C625E37-627D-4E48-A027-B98DFED4A0CE}"/>
              </a:ext>
            </a:extLst>
          </p:cNvPr>
          <p:cNvSpPr>
            <a:spLocks xmlns:a="http://schemas.openxmlformats.org/drawingml/2006/main" noGrp="1"/>
          </p:cNvSpPr>
          <p:nvPr/>
        </p:nvSpPr>
        <p:spPr>
          <a:xfrm xmlns:a="http://schemas.openxmlformats.org/drawingml/2006/main">
            <a:off x="3718467" y="569976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721D8564-A158-4720-A93F-D98A26B76C3C}"/>
              </a:ext>
            </a:extLst>
          </p:cNvPr>
          <p:cNvSpPr>
            <a:spLocks xmlns:a="http://schemas.openxmlformats.org/drawingml/2006/main" noGrp="1"/>
          </p:cNvSpPr>
          <p:nvPr/>
        </p:nvSpPr>
        <p:spPr>
          <a:xfrm xmlns:a="http://schemas.openxmlformats.org/drawingml/2006/main">
            <a:off x="3718467" y="617220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Tree>
    <p:extLst>
      <p:ext uri="{BB962C8B-B14F-4D97-AF65-F5344CB8AC3E}">
        <p14:creationId xmlns:p14="http://schemas.microsoft.com/office/powerpoint/2010/main" val="557265392"/>
      </p:ext>
    </p:extLst>
  </p:cSld>
</p:sld>
</file>

<file path=ppt/slides/slide12.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F2B16A3-A543-4268-9E39-D1532A2C8E78}"/>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845804D4-C82A-4ECB-8454-884199E1CF33}"/>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READERS AND VALIDATION</a:t>
            </a:r>
          </a:p>
        </p:txBody>
      </p:sp>
      <p:sp>
        <p:nvSpPr>
          <p:cNvPr id="3" name="">
            <a:extLst xmlns:a="http://schemas.openxmlformats.org/drawingml/2006/main">
              <a:ext uri="{FF2B5EF4-FFF2-40B4-BE49-F238E27FC236}">
                <a16:creationId xmlns:a16="http://schemas.microsoft.com/office/drawing/2014/main" id="{093135F2-0ABE-45FB-A861-469C404ED9A9}"/>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12 / 46</a:t>
            </a:r>
          </a:p>
        </p:txBody>
      </p:sp>
      <p:sp>
        <p:nvSpPr>
          <p:cNvPr id="4" name="">
            <a:extLst xmlns:a="http://schemas.openxmlformats.org/drawingml/2006/main">
              <a:ext uri="{FF2B5EF4-FFF2-40B4-BE49-F238E27FC236}">
                <a16:creationId xmlns:a16="http://schemas.microsoft.com/office/drawing/2014/main" id="{AAD55CB3-FDDB-46BA-A869-EF686C2E8223}"/>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EB98C20-198A-49FF-B48B-6F25D09EE88F}"/>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Claude reads the 16 September statement as hawkish</a:t>
            </a:r>
          </a:p>
        </p:txBody>
      </p:sp>
      <p:sp>
        <p:nvSpPr>
          <p:cNvPr id="6" name="">
            <a:extLst xmlns:a="http://schemas.openxmlformats.org/drawingml/2006/main">
              <a:ext uri="{FF2B5EF4-FFF2-40B4-BE49-F238E27FC236}">
                <a16:creationId xmlns:a16="http://schemas.microsoft.com/office/drawing/2014/main" id="{34DE9F66-BA89-41F4-B1B4-8678D1A5D2AF}"/>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And shows, word for word, where the statement says so</a:t>
            </a:r>
          </a:p>
        </p:txBody>
      </p:sp>
      <p:sp>
        <p:nvSpPr>
          <p:cNvPr id="7" name="">
            <a:extLst xmlns:a="http://schemas.openxmlformats.org/drawingml/2006/main">
              <a:ext uri="{FF2B5EF4-FFF2-40B4-BE49-F238E27FC236}">
                <a16:creationId xmlns:a16="http://schemas.microsoft.com/office/drawing/2014/main" id="{0B8F263C-5421-464D-AC38-0A05EDA8D566}"/>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210E7A4-6000-45BE-88B2-A4187C3B18A0}"/>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FOMC statement of 16 September 2026; Claude Opus 5.5, rubric v1.</a:t>
            </a:r>
          </a:p>
        </p:txBody>
      </p:sp>
      <p:sp>
        <p:nvSpPr>
          <p:cNvPr id="9" name="">
            <a:extLst xmlns:a="http://schemas.openxmlformats.org/drawingml/2006/main">
              <a:ext uri="{FF2B5EF4-FFF2-40B4-BE49-F238E27FC236}">
                <a16:creationId xmlns:a16="http://schemas.microsoft.com/office/drawing/2014/main" id="{A148341C-EE40-44DF-A2A6-AE474C369F74}"/>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B0789B0-115B-4480-9CBA-15CA197B0417}"/>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91C406A-6709-42A8-B328-BC457F5E3C9C}"/>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228E07C-61E4-4526-90AD-C381D07C5FD3}"/>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6353AD9-5F68-4F4A-B1C6-4F7EB056057C}"/>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D52D83E0-F163-42A6-8B0C-08351E026BF1}"/>
              </a:ext>
            </a:extLst>
          </p:cNvPr>
          <p:cNvPicPr>
            <a:picLocks xmlns:a="http://schemas.openxmlformats.org/drawingml/2006/main" noChangeAspect="1"/>
          </p:cNvPicPr>
          <p:nvPr/>
        </p:nvPicPr>
        <p:blipFill>
          <a:blip xmlns:r="http://schemas.openxmlformats.org/officeDocument/2006/relationships" xmlns:a="http://schemas.openxmlformats.org/drawingml/2006/main" r:embed="R5364a5aa6c724b7d"/>
          <a:stretch xmlns:a="http://schemas.openxmlformats.org/drawingml/2006/main"/>
        </p:blipFill>
        <p:spPr>
          <a:xfrm xmlns:a="http://schemas.openxmlformats.org/drawingml/2006/main">
            <a:off x="609585" y="1920293"/>
            <a:ext cx="10972526" cy="4251854"/>
          </a:xfrm>
          <a:prstGeom xmlns:a="http://schemas.openxmlformats.org/drawingml/2006/main" prst="rect">
            <a:avLst/>
          </a:prstGeom>
        </p:spPr>
      </p:pic>
    </p:spTree>
    <p:extLst>
      <p:ext uri="{BB962C8B-B14F-4D97-AF65-F5344CB8AC3E}">
        <p14:creationId xmlns:p14="http://schemas.microsoft.com/office/powerpoint/2010/main" val="1713122340"/>
      </p:ext>
    </p:extLst>
  </p:cSld>
</p:sld>
</file>

<file path=ppt/slides/slide13.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53DED97-CDD2-4DAD-B4AF-D68BD8F68928}"/>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17F7181A-23F9-4F1B-AE80-73F368BEA172}"/>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READERS AND VALIDATION</a:t>
            </a:r>
          </a:p>
        </p:txBody>
      </p:sp>
      <p:sp>
        <p:nvSpPr>
          <p:cNvPr id="3" name="">
            <a:extLst xmlns:a="http://schemas.openxmlformats.org/drawingml/2006/main">
              <a:ext uri="{FF2B5EF4-FFF2-40B4-BE49-F238E27FC236}">
                <a16:creationId xmlns:a16="http://schemas.microsoft.com/office/drawing/2014/main" id="{8C2129DF-FC88-471A-83AC-330495FC7188}"/>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13 / 46</a:t>
            </a:r>
          </a:p>
        </p:txBody>
      </p:sp>
      <p:sp>
        <p:nvSpPr>
          <p:cNvPr id="4" name="">
            <a:extLst xmlns:a="http://schemas.openxmlformats.org/drawingml/2006/main">
              <a:ext uri="{FF2B5EF4-FFF2-40B4-BE49-F238E27FC236}">
                <a16:creationId xmlns:a16="http://schemas.microsoft.com/office/drawing/2014/main" id="{DA3FC5FF-4881-4025-A62A-E414E828164A}"/>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19DAF44-85C0-4DED-BCB6-4F557E171349}"/>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Same 1,984 sentences, same five folds</a:t>
            </a:r>
          </a:p>
        </p:txBody>
      </p:sp>
      <p:sp>
        <p:nvSpPr>
          <p:cNvPr id="6" name="">
            <a:extLst xmlns:a="http://schemas.openxmlformats.org/drawingml/2006/main">
              <a:ext uri="{FF2B5EF4-FFF2-40B4-BE49-F238E27FC236}">
                <a16:creationId xmlns:a16="http://schemas.microsoft.com/office/drawing/2014/main" id="{5FE0C164-6BA0-471B-A042-1A509CC9B391}"/>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H1 uses the same test sentences; corpus scoring uses full documents</a:t>
            </a:r>
          </a:p>
        </p:txBody>
      </p:sp>
      <p:sp>
        <p:nvSpPr>
          <p:cNvPr id="7" name="">
            <a:extLst xmlns:a="http://schemas.openxmlformats.org/drawingml/2006/main">
              <a:ext uri="{FF2B5EF4-FFF2-40B4-BE49-F238E27FC236}">
                <a16:creationId xmlns:a16="http://schemas.microsoft.com/office/drawing/2014/main" id="{4FFBBF5C-04AA-4CA6-A1DC-89441D3C8094}"/>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A4C8D65-6867-4268-B135-D7D68C438026}"/>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Trillion Dollar Words (Shah, Paturi and Chava, 2023): 1,984 training and 496 test sentences.</a:t>
            </a:r>
          </a:p>
        </p:txBody>
      </p:sp>
      <p:sp>
        <p:nvSpPr>
          <p:cNvPr id="9" name="">
            <a:extLst xmlns:a="http://schemas.openxmlformats.org/drawingml/2006/main">
              <a:ext uri="{FF2B5EF4-FFF2-40B4-BE49-F238E27FC236}">
                <a16:creationId xmlns:a16="http://schemas.microsoft.com/office/drawing/2014/main" id="{B9840DE5-21F6-4333-80BB-E6822BD23F07}"/>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7433451-7A24-4D78-8E5E-D6657C05036D}"/>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23B06C5-6F2E-47A3-BF7B-FE03B82EF829}"/>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4614BCA-7FC9-4F4F-A447-9F12777248FB}"/>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4009E48-D9F0-4CD0-8F16-304ED3B73706}"/>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graphicFrame>
        <p:nvGraphicFramePr>
          <p:cNvPr id="14" name="">
            <a:extLst xmlns:a="http://schemas.openxmlformats.org/drawingml/2006/main">
              <a:ext uri="{FF2B5EF4-FFF2-40B4-BE49-F238E27FC236}">
                <a16:creationId xmlns:a16="http://schemas.microsoft.com/office/drawing/2014/main" id="{BFB521D2-DEC8-47A8-B420-0A477AE02F80}"/>
              </a:ext>
            </a:extLst>
          </p:cNvPr>
          <p:cNvGraphicFramePr/>
          <p:nvPr/>
        </p:nvGraphicFramePr>
        <p:xfrm>
          <a:off xmlns:a="http://schemas.openxmlformats.org/drawingml/2006/main" x="609585" y="1920240"/>
          <a:ext xmlns:a="http://schemas.openxmlformats.org/drawingml/2006/main" cx="10972526" cy="3947160"/>
        </p:xfrm>
        <a:graphic xmlns:a="http://schemas.openxmlformats.org/drawingml/2006/main">
          <a:graphicData uri="http://schemas.openxmlformats.org/drawingml/2006/table">
            <a:tbl>
              <a:tblPr/>
              <a:tblGrid>
                <a:gridCol w="1489128"/>
                <a:gridCol w="3448508"/>
                <a:gridCol w="2272880"/>
                <a:gridCol w="1567504"/>
                <a:gridCol w="1097253"/>
                <a:gridCol w="1097253"/>
              </a:tblGrid>
              <a:tr h="472440">
                <a:tc>
                  <a:txBody>
                    <a:bodyPr/>
                    <a:lstStyle/>
                    <a:p>
                      <a:pPr algn="l"/>
                      <a:r>
                        <a:rPr sz="1080" b="1">
                          <a:solidFill>
                            <a:srgbClr val="151312"/>
                          </a:solidFill>
                          <a:latin typeface="Arial"/>
                          <a:ea typeface="Arial"/>
                          <a:cs typeface="Arial"/>
                        </a:rPr>
                        <a:t>Reader</a:t>
                      </a:r>
                    </a:p>
                  </a:txBody>
                  <a:tcPr marL="91440" marR="91440" marT="45720" marB="45720" anchor="ctr">
                    <a:lnL w="0">
                      <a:noFill/>
                    </a:lnL>
                    <a:lnR w="0">
                      <a:noFill/>
                    </a:lnR>
                    <a:lnT w="0">
                      <a:noFill/>
                    </a:lnT>
                    <a:lnB w="0">
                      <a:noFill/>
                    </a:lnB>
                    <a:solidFill>
                      <a:srgbClr val="F3F0E9"/>
                    </a:solidFill>
                  </a:tcPr>
                </a:tc>
                <a:tc>
                  <a:txBody>
                    <a:bodyPr/>
                    <a:lstStyle/>
                    <a:p>
                      <a:pPr algn="l"/>
                      <a:r>
                        <a:rPr sz="1080" b="1">
                          <a:solidFill>
                            <a:srgbClr val="151312"/>
                          </a:solidFill>
                          <a:latin typeface="Arial"/>
                          <a:ea typeface="Arial"/>
                          <a:cs typeface="Arial"/>
                        </a:rPr>
                        <a:t>Representation</a:t>
                      </a:r>
                    </a:p>
                  </a:txBody>
                  <a:tcPr marL="91440" marR="91440" marT="45720" marB="45720" anchor="ctr">
                    <a:lnR w="0">
                      <a:noFill/>
                    </a:lnR>
                    <a:lnT w="0">
                      <a:noFill/>
                    </a:lnT>
                    <a:lnB w="0">
                      <a:noFill/>
                    </a:lnB>
                    <a:solidFill>
                      <a:srgbClr val="F3F0E9"/>
                    </a:solidFill>
                  </a:tcPr>
                </a:tc>
                <a:tc>
                  <a:txBody>
                    <a:bodyPr/>
                    <a:lstStyle/>
                    <a:p>
                      <a:pPr algn="l"/>
                      <a:r>
                        <a:rPr sz="1080" b="1">
                          <a:solidFill>
                            <a:srgbClr val="151312"/>
                          </a:solidFill>
                          <a:latin typeface="Arial"/>
                          <a:ea typeface="Arial"/>
                          <a:cs typeface="Arial"/>
                        </a:rPr>
                        <a:t>Classifier</a:t>
                      </a:r>
                    </a:p>
                  </a:txBody>
                  <a:tcPr marL="91440" marR="91440" marT="45720" marB="45720" anchor="ctr">
                    <a:lnR w="0">
                      <a:noFill/>
                    </a:lnR>
                    <a:lnT w="0">
                      <a:noFill/>
                    </a:lnT>
                    <a:lnB w="0">
                      <a:noFill/>
                    </a:lnB>
                    <a:solidFill>
                      <a:srgbClr val="F3F0E9"/>
                    </a:solidFill>
                  </a:tcPr>
                </a:tc>
                <a:tc>
                  <a:txBody>
                    <a:bodyPr/>
                    <a:lstStyle/>
                    <a:p>
                      <a:pPr algn="l"/>
                      <a:r>
                        <a:rPr sz="1080" b="1">
                          <a:solidFill>
                            <a:srgbClr val="151312"/>
                          </a:solidFill>
                          <a:latin typeface="Arial"/>
                          <a:ea typeface="Arial"/>
                          <a:cs typeface="Arial"/>
                        </a:rPr>
                        <a:t>Tuned</a:t>
                      </a:r>
                    </a:p>
                  </a:txBody>
                  <a:tcPr marL="91440" marR="91440" marT="45720" marB="45720" anchor="ctr">
                    <a:lnR w="0">
                      <a:noFill/>
                    </a:lnR>
                    <a:lnT w="0">
                      <a:noFill/>
                    </a:lnT>
                    <a:lnB w="0">
                      <a:noFill/>
                    </a:lnB>
                    <a:solidFill>
                      <a:srgbClr val="F3F0E9"/>
                    </a:solidFill>
                  </a:tcPr>
                </a:tc>
                <a:tc>
                  <a:txBody>
                    <a:bodyPr/>
                    <a:lstStyle/>
                    <a:p>
                      <a:pPr algn="r"/>
                      <a:r>
                        <a:rPr sz="1080" b="1">
                          <a:solidFill>
                            <a:srgbClr val="151312"/>
                          </a:solidFill>
                          <a:latin typeface="Arial"/>
                          <a:ea typeface="Arial"/>
                          <a:cs typeface="Arial"/>
                        </a:rPr>
                        <a:t>CV macro-F1</a:t>
                      </a:r>
                    </a:p>
                  </a:txBody>
                  <a:tcPr marL="91440" marR="91440" marT="45720" marB="45720" anchor="ctr">
                    <a:lnR w="0">
                      <a:noFill/>
                    </a:lnR>
                    <a:lnT w="0">
                      <a:noFill/>
                    </a:lnT>
                    <a:lnB w="0">
                      <a:noFill/>
                    </a:lnB>
                    <a:solidFill>
                      <a:srgbClr val="F3F0E9"/>
                    </a:solidFill>
                  </a:tcPr>
                </a:tc>
                <a:tc>
                  <a:txBody>
                    <a:bodyPr/>
                    <a:lstStyle/>
                    <a:p>
                      <a:pPr algn="r"/>
                      <a:r>
                        <a:rPr sz="1080" b="1">
                          <a:solidFill>
                            <a:srgbClr val="151312"/>
                          </a:solidFill>
                          <a:latin typeface="Arial"/>
                          <a:ea typeface="Arial"/>
                          <a:cs typeface="Arial"/>
                        </a:rPr>
                        <a:t>Test macro-F1</a:t>
                      </a:r>
                    </a:p>
                  </a:txBody>
                  <a:tcPr marL="91440" marR="91440" marT="45720" marB="45720" anchor="ctr">
                    <a:lnR w="0">
                      <a:noFill/>
                    </a:lnR>
                    <a:lnT w="0">
                      <a:noFill/>
                    </a:lnT>
                    <a:lnB w="0">
                      <a:noFill/>
                    </a:lnB>
                    <a:solidFill>
                      <a:srgbClr val="F3F0E9"/>
                    </a:solidFill>
                  </a:tcPr>
                </a:tc>
              </a:tr>
              <a:tr h="694944">
                <a:tc>
                  <a:txBody>
                    <a:bodyPr/>
                    <a:lstStyle/>
                    <a:p>
                      <a:pPr algn="l"/>
                      <a:r>
                        <a:rPr sz="1440" b="1">
                          <a:solidFill>
                            <a:srgbClr val="45413C"/>
                          </a:solidFill>
                          <a:latin typeface="Arial"/>
                          <a:ea typeface="Arial"/>
                          <a:cs typeface="Arial"/>
                        </a:rPr>
                        <a:t>Dictionary</a:t>
                      </a:r>
                    </a:p>
                  </a:txBody>
                  <a:tcPr marL="91440" marR="91440" marT="45720" marB="45720" anchor="ctr">
                    <a:lnL w="0">
                      <a:noFill/>
                    </a:lnL>
                    <a:lnR w="0">
                      <a:noFill/>
                    </a:lnR>
                    <a:lnB w="0">
                      <a:noFill/>
                    </a:lnB>
                    <a:solidFill>
                      <a:srgbClr val="FFFEFB"/>
                    </a:solidFill>
                  </a:tcPr>
                </a:tc>
                <a:tc>
                  <a:txBody>
                    <a:bodyPr/>
                    <a:lstStyle/>
                    <a:p>
                      <a:pPr algn="l"/>
                      <a:r>
                        <a:rPr sz="1440" b="0">
                          <a:solidFill>
                            <a:srgbClr val="45413C"/>
                          </a:solidFill>
                          <a:latin typeface="Arial"/>
                          <a:ea typeface="Arial"/>
                          <a:cs typeface="Arial"/>
                        </a:rPr>
                        <a:t>policy nouns near direction words</a:t>
                      </a:r>
                    </a:p>
                  </a:txBody>
                  <a:tcPr marL="91440" marR="91440" marT="45720" marB="45720" anchor="ctr">
                    <a:lnR w="0">
                      <a:noFill/>
                    </a:lnR>
                    <a:lnB w="0">
                      <a:noFill/>
                    </a:lnB>
                    <a:solidFill>
                      <a:srgbClr val="FFFEFB"/>
                    </a:solidFill>
                  </a:tcPr>
                </a:tc>
                <a:tc>
                  <a:txBody>
                    <a:bodyPr/>
                    <a:lstStyle/>
                    <a:p>
                      <a:pPr algn="l"/>
                      <a:r>
                        <a:rPr sz="1440" b="0">
                          <a:solidFill>
                            <a:srgbClr val="45413C"/>
                          </a:solidFill>
                          <a:latin typeface="Arial"/>
                          <a:ea typeface="Arial"/>
                          <a:cs typeface="Arial"/>
                        </a:rPr>
                        <a:t>signed rules</a:t>
                      </a:r>
                    </a:p>
                  </a:txBody>
                  <a:tcPr marL="91440" marR="91440" marT="45720" marB="45720" anchor="ctr">
                    <a:lnR w="0">
                      <a:noFill/>
                    </a:lnR>
                    <a:lnB w="0">
                      <a:noFill/>
                    </a:lnB>
                    <a:solidFill>
                      <a:srgbClr val="FFFEFB"/>
                    </a:solidFill>
                  </a:tcPr>
                </a:tc>
                <a:tc>
                  <a:txBody>
                    <a:bodyPr/>
                    <a:lstStyle/>
                    <a:p>
                      <a:pPr algn="l"/>
                      <a:r>
                        <a:rPr sz="1440" b="0">
                          <a:solidFill>
                            <a:srgbClr val="45413C"/>
                          </a:solidFill>
                          <a:latin typeface="Arial"/>
                          <a:ea typeface="Arial"/>
                          <a:cs typeface="Arial"/>
                        </a:rPr>
                        <a:t>none</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0.511</a:t>
                      </a:r>
                    </a:p>
                  </a:txBody>
                  <a:tcPr marL="91440" marR="91440" marT="45720" marB="45720" anchor="ctr">
                    <a:lnR w="0">
                      <a:noFill/>
                    </a:lnR>
                    <a:lnB w="0">
                      <a:noFill/>
                    </a:lnB>
                    <a:solidFill>
                      <a:srgbClr val="FFFEFB"/>
                    </a:solidFill>
                  </a:tcPr>
                </a:tc>
              </a:tr>
              <a:tr h="694944">
                <a:tc>
                  <a:txBody>
                    <a:bodyPr/>
                    <a:lstStyle/>
                    <a:p>
                      <a:pPr algn="l"/>
                      <a:r>
                        <a:rPr sz="1440" b="1">
                          <a:solidFill>
                            <a:srgbClr val="45413C"/>
                          </a:solidFill>
                          <a:latin typeface="Arial"/>
                          <a:ea typeface="Arial"/>
                          <a:cs typeface="Arial"/>
                        </a:rPr>
                        <a:t>TF-IDF</a:t>
                      </a:r>
                    </a:p>
                  </a:txBody>
                  <a:tcPr marL="91440" marR="91440" marT="45720" marB="45720" anchor="ctr">
                    <a:lnL w="0">
                      <a:noFill/>
                    </a:lnL>
                    <a:lnR w="0">
                      <a:noFill/>
                    </a:lnR>
                    <a:lnB w="0">
                      <a:noFill/>
                    </a:lnB>
                    <a:solidFill>
                      <a:srgbClr val="FFFEFB"/>
                    </a:solidFill>
                  </a:tcPr>
                </a:tc>
                <a:tc>
                  <a:txBody>
                    <a:bodyPr/>
                    <a:lstStyle/>
                    <a:p>
                      <a:pPr algn="l"/>
                      <a:r>
                        <a:rPr sz="1440" b="0">
                          <a:solidFill>
                            <a:srgbClr val="45413C"/>
                          </a:solidFill>
                          <a:latin typeface="Arial"/>
                          <a:ea typeface="Arial"/>
                          <a:cs typeface="Arial"/>
                        </a:rPr>
                        <a:t>unigrams and bigrams, min_df 2, sublinear tf</a:t>
                      </a:r>
                    </a:p>
                  </a:txBody>
                  <a:tcPr marL="91440" marR="91440" marT="45720" marB="45720" anchor="ctr">
                    <a:lnR w="0">
                      <a:noFill/>
                    </a:lnR>
                    <a:lnB w="0">
                      <a:noFill/>
                    </a:lnB>
                    <a:solidFill>
                      <a:srgbClr val="FFFEFB"/>
                    </a:solidFill>
                  </a:tcPr>
                </a:tc>
                <a:tc>
                  <a:txBody>
                    <a:bodyPr/>
                    <a:lstStyle/>
                    <a:p>
                      <a:pPr algn="l"/>
                      <a:r>
                        <a:rPr sz="1440" b="0">
                          <a:solidFill>
                            <a:srgbClr val="45413C"/>
                          </a:solidFill>
                          <a:latin typeface="Arial"/>
                          <a:ea typeface="Arial"/>
                          <a:cs typeface="Arial"/>
                        </a:rPr>
                        <a:t>logistic regression, balanced</a:t>
                      </a:r>
                    </a:p>
                  </a:txBody>
                  <a:tcPr marL="91440" marR="91440" marT="45720" marB="45720" anchor="ctr">
                    <a:lnR w="0">
                      <a:noFill/>
                    </a:lnR>
                    <a:lnB w="0">
                      <a:noFill/>
                    </a:lnB>
                    <a:solidFill>
                      <a:srgbClr val="FFFEFB"/>
                    </a:solidFill>
                  </a:tcPr>
                </a:tc>
                <a:tc>
                  <a:txBody>
                    <a:bodyPr/>
                    <a:lstStyle/>
                    <a:p>
                      <a:pPr algn="l"/>
                      <a:r>
                        <a:rPr sz="1440" b="0">
                          <a:solidFill>
                            <a:srgbClr val="45413C"/>
                          </a:solidFill>
                          <a:latin typeface="Arial"/>
                          <a:ea typeface="Arial"/>
                          <a:cs typeface="Arial"/>
                        </a:rPr>
                        <a:t>C = 2 of 0.5 to 8</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0.575</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0.578</a:t>
                      </a:r>
                    </a:p>
                  </a:txBody>
                  <a:tcPr marL="91440" marR="91440" marT="45720" marB="45720" anchor="ctr">
                    <a:lnR w="0">
                      <a:noFill/>
                    </a:lnR>
                    <a:lnB w="0">
                      <a:noFill/>
                    </a:lnB>
                    <a:solidFill>
                      <a:srgbClr val="FFFEFB"/>
                    </a:solidFill>
                  </a:tcPr>
                </a:tc>
              </a:tr>
              <a:tr h="694944">
                <a:tc>
                  <a:txBody>
                    <a:bodyPr/>
                    <a:lstStyle/>
                    <a:p>
                      <a:pPr algn="l"/>
                      <a:r>
                        <a:rPr sz="1440" b="1">
                          <a:solidFill>
                            <a:srgbClr val="45413C"/>
                          </a:solidFill>
                          <a:latin typeface="Arial"/>
                          <a:ea typeface="Arial"/>
                          <a:cs typeface="Arial"/>
                        </a:rPr>
                        <a:t>Sentence embeddings</a:t>
                      </a:r>
                    </a:p>
                  </a:txBody>
                  <a:tcPr marL="91440" marR="91440" marT="45720" marB="45720" anchor="ctr">
                    <a:lnL w="0">
                      <a:noFill/>
                    </a:lnL>
                    <a:lnR w="0">
                      <a:noFill/>
                    </a:lnR>
                    <a:lnB w="0">
                      <a:noFill/>
                    </a:lnB>
                    <a:solidFill>
                      <a:srgbClr val="FFFEFB"/>
                    </a:solidFill>
                  </a:tcPr>
                </a:tc>
                <a:tc>
                  <a:txBody>
                    <a:bodyPr/>
                    <a:lstStyle/>
                    <a:p>
                      <a:pPr algn="l"/>
                      <a:r>
                        <a:rPr sz="1440" b="0">
                          <a:solidFill>
                            <a:srgbClr val="45413C"/>
                          </a:solidFill>
                          <a:latin typeface="Arial"/>
                          <a:ea typeface="Arial"/>
                          <a:cs typeface="Arial"/>
                        </a:rPr>
                        <a:t>all-MiniLM-L6-v2, 384 dimensions, ONNX</a:t>
                      </a:r>
                    </a:p>
                  </a:txBody>
                  <a:tcPr marL="91440" marR="91440" marT="45720" marB="45720" anchor="ctr">
                    <a:lnR w="0">
                      <a:noFill/>
                    </a:lnR>
                    <a:lnB w="0">
                      <a:noFill/>
                    </a:lnB>
                    <a:solidFill>
                      <a:srgbClr val="FFFEFB"/>
                    </a:solidFill>
                  </a:tcPr>
                </a:tc>
                <a:tc>
                  <a:txBody>
                    <a:bodyPr/>
                    <a:lstStyle/>
                    <a:p>
                      <a:pPr algn="l"/>
                      <a:r>
                        <a:rPr sz="1440" b="0">
                          <a:solidFill>
                            <a:srgbClr val="45413C"/>
                          </a:solidFill>
                          <a:latin typeface="Arial"/>
                          <a:ea typeface="Arial"/>
                          <a:cs typeface="Arial"/>
                        </a:rPr>
                        <a:t>logistic regression, balanced</a:t>
                      </a:r>
                    </a:p>
                  </a:txBody>
                  <a:tcPr marL="91440" marR="91440" marT="45720" marB="45720" anchor="ctr">
                    <a:lnR w="0">
                      <a:noFill/>
                    </a:lnR>
                    <a:lnB w="0">
                      <a:noFill/>
                    </a:lnB>
                    <a:solidFill>
                      <a:srgbClr val="FFFEFB"/>
                    </a:solidFill>
                  </a:tcPr>
                </a:tc>
                <a:tc>
                  <a:txBody>
                    <a:bodyPr/>
                    <a:lstStyle/>
                    <a:p>
                      <a:pPr algn="l"/>
                      <a:r>
                        <a:rPr sz="1440" b="0">
                          <a:solidFill>
                            <a:srgbClr val="45413C"/>
                          </a:solidFill>
                          <a:latin typeface="Arial"/>
                          <a:ea typeface="Arial"/>
                          <a:cs typeface="Arial"/>
                        </a:rPr>
                        <a:t>C = 4 of 0.25 to 16</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0.592</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0.576</a:t>
                      </a:r>
                    </a:p>
                  </a:txBody>
                  <a:tcPr marL="91440" marR="91440" marT="45720" marB="45720" anchor="ctr">
                    <a:lnR w="0">
                      <a:noFill/>
                    </a:lnR>
                    <a:lnB w="0">
                      <a:noFill/>
                    </a:lnB>
                    <a:solidFill>
                      <a:srgbClr val="FFFEFB"/>
                    </a:solidFill>
                  </a:tcPr>
                </a:tc>
              </a:tr>
              <a:tr h="694944">
                <a:tc>
                  <a:txBody>
                    <a:bodyPr/>
                    <a:lstStyle/>
                    <a:p>
                      <a:pPr algn="l"/>
                      <a:r>
                        <a:rPr sz="1440" b="1">
                          <a:solidFill>
                            <a:srgbClr val="45413C"/>
                          </a:solidFill>
                          <a:latin typeface="Arial"/>
                          <a:ea typeface="Arial"/>
                          <a:cs typeface="Arial"/>
                        </a:rPr>
                        <a:t>Fine-tuned RoBERTa</a:t>
                      </a:r>
                    </a:p>
                  </a:txBody>
                  <a:tcPr marL="91440" marR="91440" marT="45720" marB="45720" anchor="ctr">
                    <a:lnL w="0">
                      <a:noFill/>
                    </a:lnL>
                    <a:lnR w="0">
                      <a:noFill/>
                    </a:lnR>
                    <a:lnB w="0">
                      <a:noFill/>
                    </a:lnB>
                    <a:solidFill>
                      <a:srgbClr val="FFFEFB"/>
                    </a:solidFill>
                  </a:tcPr>
                </a:tc>
                <a:tc>
                  <a:txBody>
                    <a:bodyPr/>
                    <a:lstStyle/>
                    <a:p>
                      <a:pPr algn="l"/>
                      <a:r>
                        <a:rPr sz="1440" b="0">
                          <a:solidFill>
                            <a:srgbClr val="45413C"/>
                          </a:solidFill>
                          <a:latin typeface="Arial"/>
                          <a:ea typeface="Arial"/>
                          <a:cs typeface="Arial"/>
                        </a:rPr>
                        <a:t>RoBERTa-large, 355M parameters</a:t>
                      </a:r>
                    </a:p>
                  </a:txBody>
                  <a:tcPr marL="91440" marR="91440" marT="45720" marB="45720" anchor="ctr">
                    <a:lnR w="0">
                      <a:noFill/>
                    </a:lnR>
                    <a:lnB w="0">
                      <a:noFill/>
                    </a:lnB>
                    <a:solidFill>
                      <a:srgbClr val="FFFEFB"/>
                    </a:solidFill>
                  </a:tcPr>
                </a:tc>
                <a:tc>
                  <a:txBody>
                    <a:bodyPr/>
                    <a:lstStyle/>
                    <a:p>
                      <a:pPr algn="l"/>
                      <a:r>
                        <a:rPr sz="1440" b="0">
                          <a:solidFill>
                            <a:srgbClr val="45413C"/>
                          </a:solidFill>
                          <a:latin typeface="Arial"/>
                          <a:ea typeface="Arial"/>
                          <a:cs typeface="Arial"/>
                        </a:rPr>
                        <a:t>fine-tuned end to end</a:t>
                      </a:r>
                    </a:p>
                  </a:txBody>
                  <a:tcPr marL="91440" marR="91440" marT="45720" marB="45720" anchor="ctr">
                    <a:lnR w="0">
                      <a:noFill/>
                    </a:lnR>
                    <a:lnB w="0">
                      <a:noFill/>
                    </a:lnB>
                    <a:solidFill>
                      <a:srgbClr val="FFFEFB"/>
                    </a:solidFill>
                  </a:tcPr>
                </a:tc>
                <a:tc>
                  <a:txBody>
                    <a:bodyPr/>
                    <a:lstStyle/>
                    <a:p>
                      <a:pPr algn="l"/>
                      <a:r>
                        <a:rPr sz="1440" b="0">
                          <a:solidFill>
                            <a:srgbClr val="45413C"/>
                          </a:solidFill>
                          <a:latin typeface="Arial"/>
                          <a:ea typeface="Arial"/>
                          <a:cs typeface="Arial"/>
                        </a:rPr>
                        <a:t>9 settings × 5 folds</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0.724</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0.737</a:t>
                      </a:r>
                    </a:p>
                  </a:txBody>
                  <a:tcPr marL="91440" marR="91440" marT="45720" marB="45720" anchor="ctr">
                    <a:lnR w="0">
                      <a:noFill/>
                    </a:lnR>
                    <a:lnB w="0">
                      <a:noFill/>
                    </a:lnB>
                    <a:solidFill>
                      <a:srgbClr val="FFFEFB"/>
                    </a:solidFill>
                  </a:tcPr>
                </a:tc>
              </a:tr>
              <a:tr h="694944">
                <a:tc>
                  <a:txBody>
                    <a:bodyPr/>
                    <a:lstStyle/>
                    <a:p>
                      <a:pPr algn="l"/>
                      <a:r>
                        <a:rPr sz="1440" b="1">
                          <a:solidFill>
                            <a:srgbClr val="45413C"/>
                          </a:solidFill>
                          <a:latin typeface="Arial"/>
                          <a:ea typeface="Arial"/>
                          <a:cs typeface="Arial"/>
                        </a:rPr>
                        <a:t>Claude Opus 5.5</a:t>
                      </a:r>
                    </a:p>
                  </a:txBody>
                  <a:tcPr marL="91440" marR="91440" marT="45720" marB="45720" anchor="ctr">
                    <a:lnL w="0">
                      <a:noFill/>
                    </a:lnL>
                    <a:lnR w="0">
                      <a:noFill/>
                    </a:lnR>
                    <a:lnB w="0">
                      <a:noFill/>
                    </a:lnB>
                    <a:solidFill>
                      <a:srgbClr val="FFFEFB"/>
                    </a:solidFill>
                  </a:tcPr>
                </a:tc>
                <a:tc>
                  <a:txBody>
                    <a:bodyPr/>
                    <a:lstStyle/>
                    <a:p>
                      <a:pPr algn="l"/>
                      <a:r>
                        <a:rPr sz="1440" b="0">
                          <a:solidFill>
                            <a:srgbClr val="45413C"/>
                          </a:solidFill>
                          <a:latin typeface="Arial"/>
                          <a:ea typeface="Arial"/>
                          <a:cs typeface="Arial"/>
                        </a:rPr>
                        <a:t>sentences (H1); documents (index)</a:t>
                      </a:r>
                    </a:p>
                  </a:txBody>
                  <a:tcPr marL="91440" marR="91440" marT="45720" marB="45720" anchor="ctr">
                    <a:lnR w="0">
                      <a:noFill/>
                    </a:lnR>
                    <a:lnB w="0">
                      <a:noFill/>
                    </a:lnB>
                    <a:solidFill>
                      <a:srgbClr val="FFFEFB"/>
                    </a:solidFill>
                  </a:tcPr>
                </a:tc>
                <a:tc>
                  <a:txBody>
                    <a:bodyPr/>
                    <a:lstStyle/>
                    <a:p>
                      <a:pPr algn="l"/>
                      <a:r>
                        <a:rPr sz="1440" b="0">
                          <a:solidFill>
                            <a:srgbClr val="45413C"/>
                          </a:solidFill>
                          <a:latin typeface="Arial"/>
                          <a:ea typeface="Arial"/>
                          <a:cs typeface="Arial"/>
                        </a:rPr>
                        <a:t>zero-shot rubric</a:t>
                      </a:r>
                    </a:p>
                  </a:txBody>
                  <a:tcPr marL="91440" marR="91440" marT="45720" marB="45720" anchor="ctr">
                    <a:lnR w="0">
                      <a:noFill/>
                    </a:lnR>
                    <a:lnB w="0">
                      <a:noFill/>
                    </a:lnB>
                    <a:solidFill>
                      <a:srgbClr val="FFFEFB"/>
                    </a:solidFill>
                  </a:tcPr>
                </a:tc>
                <a:tc>
                  <a:txBody>
                    <a:bodyPr/>
                    <a:lstStyle/>
                    <a:p>
                      <a:pPr algn="l"/>
                      <a:r>
                        <a:rPr sz="1440" b="0">
                          <a:solidFill>
                            <a:srgbClr val="45413C"/>
                          </a:solidFill>
                          <a:latin typeface="Arial"/>
                          <a:ea typeface="Arial"/>
                          <a:cs typeface="Arial"/>
                        </a:rPr>
                        <a:t>none</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0.661</a:t>
                      </a:r>
                    </a:p>
                  </a:txBody>
                  <a:tcPr marL="91440" marR="91440" marT="45720" marB="45720" anchor="ctr">
                    <a:lnR w="0">
                      <a:noFill/>
                    </a:lnR>
                    <a:lnB w="0">
                      <a:noFill/>
                    </a:lnB>
                    <a:solidFill>
                      <a:srgbClr val="FFFEFB"/>
                    </a:solidFill>
                  </a:tcPr>
                </a:tc>
              </a:tr>
            </a:tbl>
          </a:graphicData>
        </a:graphic>
      </p:graphicFrame>
      <p:sp>
        <p:nvSpPr>
          <p:cNvPr id="15" name="">
            <a:extLst xmlns:a="http://schemas.openxmlformats.org/drawingml/2006/main">
              <a:ext uri="{FF2B5EF4-FFF2-40B4-BE49-F238E27FC236}">
                <a16:creationId xmlns:a16="http://schemas.microsoft.com/office/drawing/2014/main" id="{99AD9D92-B553-480E-A6D8-910D3BBBF20A}"/>
              </a:ext>
            </a:extLst>
          </p:cNvPr>
          <p:cNvSpPr>
            <a:spLocks xmlns:a="http://schemas.openxmlformats.org/drawingml/2006/main" noGrp="1"/>
          </p:cNvSpPr>
          <p:nvPr/>
        </p:nvSpPr>
        <p:spPr>
          <a:xfrm xmlns:a="http://schemas.openxmlformats.org/drawingml/2006/main">
            <a:off x="609585" y="2392680"/>
            <a:ext cx="10972526"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3E9674B-57C8-4C52-B017-00284D900E4D}"/>
              </a:ext>
            </a:extLst>
          </p:cNvPr>
          <p:cNvSpPr>
            <a:spLocks xmlns:a="http://schemas.openxmlformats.org/drawingml/2006/main" noGrp="1"/>
          </p:cNvSpPr>
          <p:nvPr/>
        </p:nvSpPr>
        <p:spPr>
          <a:xfrm xmlns:a="http://schemas.openxmlformats.org/drawingml/2006/main">
            <a:off x="609585" y="3087624"/>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8B23065-C7DA-48A8-9D35-F99476E88660}"/>
              </a:ext>
            </a:extLst>
          </p:cNvPr>
          <p:cNvSpPr>
            <a:spLocks xmlns:a="http://schemas.openxmlformats.org/drawingml/2006/main" noGrp="1"/>
          </p:cNvSpPr>
          <p:nvPr/>
        </p:nvSpPr>
        <p:spPr>
          <a:xfrm xmlns:a="http://schemas.openxmlformats.org/drawingml/2006/main">
            <a:off x="609585" y="3782568"/>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D2D0EAE-1042-4AF4-99D9-EE73C948B5DD}"/>
              </a:ext>
            </a:extLst>
          </p:cNvPr>
          <p:cNvSpPr>
            <a:spLocks xmlns:a="http://schemas.openxmlformats.org/drawingml/2006/main" noGrp="1"/>
          </p:cNvSpPr>
          <p:nvPr/>
        </p:nvSpPr>
        <p:spPr>
          <a:xfrm xmlns:a="http://schemas.openxmlformats.org/drawingml/2006/main">
            <a:off x="609585" y="4477512"/>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D002E62-4394-4C58-9022-112DED489541}"/>
              </a:ext>
            </a:extLst>
          </p:cNvPr>
          <p:cNvSpPr>
            <a:spLocks xmlns:a="http://schemas.openxmlformats.org/drawingml/2006/main" noGrp="1"/>
          </p:cNvSpPr>
          <p:nvPr/>
        </p:nvSpPr>
        <p:spPr>
          <a:xfrm xmlns:a="http://schemas.openxmlformats.org/drawingml/2006/main">
            <a:off x="609585" y="5172456"/>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8AFD062-447C-4735-A4F7-F94C442DAD5B}"/>
              </a:ext>
            </a:extLst>
          </p:cNvPr>
          <p:cNvSpPr>
            <a:spLocks xmlns:a="http://schemas.openxmlformats.org/drawingml/2006/main" noGrp="1"/>
          </p:cNvSpPr>
          <p:nvPr/>
        </p:nvSpPr>
        <p:spPr>
          <a:xfrm xmlns:a="http://schemas.openxmlformats.org/drawingml/2006/main">
            <a:off x="609585" y="5867400"/>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F9725B3-7724-4121-9B44-DA4135409919}"/>
              </a:ext>
            </a:extLst>
          </p:cNvPr>
          <p:cNvSpPr>
            <a:spLocks xmlns:a="http://schemas.openxmlformats.org/drawingml/2006/main" noGrp="1"/>
          </p:cNvSpPr>
          <p:nvPr/>
        </p:nvSpPr>
        <p:spPr>
          <a:xfrm xmlns:a="http://schemas.openxmlformats.org/drawingml/2006/main">
            <a:off x="609585" y="5928360"/>
            <a:ext cx="10972526"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0">
                <a:solidFill>
                  <a:srgbClr val="55504A"/>
                </a:solidFill>
                <a:latin typeface="Arial"/>
                <a:ea typeface="Arial"/>
                <a:cs typeface="Arial"/>
              </a:defRPr>
            </a:defPPr>
            <a:lvl1pPr algn="l">
              <a:defRPr sz="1020" b="0">
                <a:solidFill>
                  <a:srgbClr val="55504A"/>
                </a:solidFill>
                <a:latin typeface="Arial"/>
                <a:ea typeface="Arial"/>
                <a:cs typeface="Arial"/>
              </a:defRPr>
            </a:lvl1pPr>
            <a:lvl2pPr algn="l">
              <a:defRPr sz="1020" b="0">
                <a:solidFill>
                  <a:srgbClr val="55504A"/>
                </a:solidFill>
                <a:latin typeface="Arial"/>
                <a:ea typeface="Arial"/>
                <a:cs typeface="Arial"/>
              </a:defRPr>
            </a:lvl2pPr>
            <a:lvl3pPr algn="l">
              <a:defRPr sz="1020" b="0">
                <a:solidFill>
                  <a:srgbClr val="55504A"/>
                </a:solidFill>
                <a:latin typeface="Arial"/>
                <a:ea typeface="Arial"/>
                <a:cs typeface="Arial"/>
              </a:defRPr>
            </a:lvl3pPr>
            <a:lvl4pPr algn="l">
              <a:defRPr sz="1020" b="0">
                <a:solidFill>
                  <a:srgbClr val="55504A"/>
                </a:solidFill>
                <a:latin typeface="Arial"/>
                <a:ea typeface="Arial"/>
                <a:cs typeface="Arial"/>
              </a:defRPr>
            </a:lvl4pPr>
            <a:lvl5pPr algn="l">
              <a:defRPr sz="1020" b="0">
                <a:solidFill>
                  <a:srgbClr val="55504A"/>
                </a:solidFill>
                <a:latin typeface="Arial"/>
                <a:ea typeface="Arial"/>
                <a:cs typeface="Arial"/>
              </a:defRPr>
            </a:lvl5pPr>
            <a:lvl6pPr algn="l">
              <a:defRPr sz="1020" b="0">
                <a:solidFill>
                  <a:srgbClr val="55504A"/>
                </a:solidFill>
                <a:latin typeface="Arial"/>
                <a:ea typeface="Arial"/>
                <a:cs typeface="Arial"/>
              </a:defRPr>
            </a:lvl6pPr>
            <a:lvl7pPr algn="l">
              <a:defRPr sz="1020" b="0">
                <a:solidFill>
                  <a:srgbClr val="55504A"/>
                </a:solidFill>
                <a:latin typeface="Arial"/>
                <a:ea typeface="Arial"/>
                <a:cs typeface="Arial"/>
              </a:defRPr>
            </a:lvl7pPr>
            <a:lvl8pPr algn="l">
              <a:defRPr sz="1020" b="0">
                <a:solidFill>
                  <a:srgbClr val="55504A"/>
                </a:solidFill>
                <a:latin typeface="Arial"/>
                <a:ea typeface="Arial"/>
                <a:cs typeface="Arial"/>
              </a:defRPr>
            </a:lvl8pPr>
            <a:lvl9pPr algn="l">
              <a:defRPr sz="1020" b="0">
                <a:solidFill>
                  <a:srgbClr val="55504A"/>
                </a:solidFill>
                <a:latin typeface="Arial"/>
                <a:ea typeface="Arial"/>
                <a:cs typeface="Arial"/>
              </a:defRPr>
            </a:lvl9pPr>
          </a:lstStyle>
          <a:p xmlns:a="http://schemas.openxmlformats.org/drawingml/2006/main">
            <a:pPr algn="l">
              <a:defRPr sz="1020" b="0">
                <a:solidFill>
                  <a:srgbClr val="55504A"/>
                </a:solidFill>
                <a:latin typeface="Arial"/>
                <a:ea typeface="Arial"/>
                <a:cs typeface="Arial"/>
              </a:defRPr>
            </a:pPr>
            <a:r>
              <a:rPr sz="1020" b="0">
                <a:solidFill>
                  <a:srgbClr val="55504A"/>
                </a:solidFill>
                <a:latin typeface="Arial"/>
                <a:ea typeface="Arial"/>
                <a:cs typeface="Arial"/>
              </a:rPr>
              <a:t>Trained sentence-reader index: mean[P(hawkish) − P(dovish)]; Claude uses a holistic document rubric.</a:t>
            </a:r>
          </a:p>
        </p:txBody>
      </p:sp>
    </p:spTree>
    <p:extLst>
      <p:ext uri="{BB962C8B-B14F-4D97-AF65-F5344CB8AC3E}">
        <p14:creationId xmlns:p14="http://schemas.microsoft.com/office/powerpoint/2010/main" val="1953130085"/>
      </p:ext>
    </p:extLst>
  </p:cSld>
</p:sld>
</file>

<file path=ppt/slides/slide14.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C47C397-6641-473F-9CE3-E9EC836DE019}"/>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2662B42D-9D46-4E09-AF1E-9121DD6F1C80}"/>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READERS AND VALIDATION</a:t>
            </a:r>
          </a:p>
        </p:txBody>
      </p:sp>
      <p:sp>
        <p:nvSpPr>
          <p:cNvPr id="3" name="">
            <a:extLst xmlns:a="http://schemas.openxmlformats.org/drawingml/2006/main">
              <a:ext uri="{FF2B5EF4-FFF2-40B4-BE49-F238E27FC236}">
                <a16:creationId xmlns:a16="http://schemas.microsoft.com/office/drawing/2014/main" id="{DD3E8773-E018-43FA-A1B1-88D290460A58}"/>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14 / 46</a:t>
            </a:r>
          </a:p>
        </p:txBody>
      </p:sp>
      <p:sp>
        <p:nvSpPr>
          <p:cNvPr id="4" name="">
            <a:extLst xmlns:a="http://schemas.openxmlformats.org/drawingml/2006/main">
              <a:ext uri="{FF2B5EF4-FFF2-40B4-BE49-F238E27FC236}">
                <a16:creationId xmlns:a16="http://schemas.microsoft.com/office/drawing/2014/main" id="{17A4EC43-D2DC-404A-A9D8-583418E59278}"/>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F562809-68BF-497D-82C4-F25BF3974FE4}"/>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How we fine-tuned RoBERTa locally</a:t>
            </a:r>
          </a:p>
        </p:txBody>
      </p:sp>
      <p:sp>
        <p:nvSpPr>
          <p:cNvPr id="6" name="">
            <a:extLst xmlns:a="http://schemas.openxmlformats.org/drawingml/2006/main">
              <a:ext uri="{FF2B5EF4-FFF2-40B4-BE49-F238E27FC236}">
                <a16:creationId xmlns:a16="http://schemas.microsoft.com/office/drawing/2014/main" id="{68B46926-4CF2-4821-8543-FF896F53A029}"/>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A supervised reference added after the original study, using public expert labels</a:t>
            </a:r>
          </a:p>
        </p:txBody>
      </p:sp>
      <p:sp>
        <p:nvSpPr>
          <p:cNvPr id="7" name="">
            <a:extLst xmlns:a="http://schemas.openxmlformats.org/drawingml/2006/main">
              <a:ext uri="{FF2B5EF4-FFF2-40B4-BE49-F238E27FC236}">
                <a16:creationId xmlns:a16="http://schemas.microsoft.com/office/drawing/2014/main" id="{9EBF1AC8-1AED-4778-A093-3B3F0CECFE18}"/>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DE01460-91D9-4387-AE1D-709EE4BB98BB}"/>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RoBERTa (Liu et al., 2019); Trillion Dollar Words training labels; finetune.py.</a:t>
            </a:r>
          </a:p>
        </p:txBody>
      </p:sp>
      <p:sp>
        <p:nvSpPr>
          <p:cNvPr id="9" name="">
            <a:extLst xmlns:a="http://schemas.openxmlformats.org/drawingml/2006/main">
              <a:ext uri="{FF2B5EF4-FFF2-40B4-BE49-F238E27FC236}">
                <a16:creationId xmlns:a16="http://schemas.microsoft.com/office/drawing/2014/main" id="{2CB6F27F-8F03-4FBB-879B-59FF25EB42A6}"/>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7EE2AB2-C3DE-4260-9D1B-F7C10E991F52}"/>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3A95548-DB8E-470C-B0C5-185991C235ED}"/>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8D28B36-3CAD-48B6-AC79-F57CBE4E92E7}"/>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A885695-ABDC-459F-B69D-2052ECD15436}"/>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0E73C21-033A-4236-9E12-3F7604AD9E51}"/>
              </a:ext>
            </a:extLst>
          </p:cNvPr>
          <p:cNvSpPr>
            <a:spLocks xmlns:a="http://schemas.openxmlformats.org/drawingml/2006/main" noGrp="1"/>
          </p:cNvSpPr>
          <p:nvPr/>
        </p:nvSpPr>
        <p:spPr>
          <a:xfrm xmlns:a="http://schemas.openxmlformats.org/drawingml/2006/main">
            <a:off x="609585" y="1920240"/>
            <a:ext cx="5333867" cy="1143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09752B1-82DA-4929-B05B-CEDFA4B09098}"/>
              </a:ext>
            </a:extLst>
          </p:cNvPr>
          <p:cNvSpPr>
            <a:spLocks xmlns:a="http://schemas.openxmlformats.org/drawingml/2006/main" noGrp="1"/>
          </p:cNvSpPr>
          <p:nvPr/>
        </p:nvSpPr>
        <p:spPr>
          <a:xfrm xmlns:a="http://schemas.openxmlformats.org/drawingml/2006/main">
            <a:off x="609585" y="2057400"/>
            <a:ext cx="5333867"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1">
                <a:solidFill>
                  <a:srgbClr val="C8401F"/>
                </a:solidFill>
                <a:latin typeface="Arial"/>
                <a:ea typeface="Arial"/>
                <a:cs typeface="Arial"/>
              </a:defRPr>
            </a:defPPr>
            <a:lvl1pPr algn="l">
              <a:defRPr sz="1320" b="1">
                <a:solidFill>
                  <a:srgbClr val="C8401F"/>
                </a:solidFill>
                <a:latin typeface="Arial"/>
                <a:ea typeface="Arial"/>
                <a:cs typeface="Arial"/>
              </a:defRPr>
            </a:lvl1pPr>
            <a:lvl2pPr algn="l">
              <a:defRPr sz="1320" b="1">
                <a:solidFill>
                  <a:srgbClr val="C8401F"/>
                </a:solidFill>
                <a:latin typeface="Arial"/>
                <a:ea typeface="Arial"/>
                <a:cs typeface="Arial"/>
              </a:defRPr>
            </a:lvl2pPr>
            <a:lvl3pPr algn="l">
              <a:defRPr sz="1320" b="1">
                <a:solidFill>
                  <a:srgbClr val="C8401F"/>
                </a:solidFill>
                <a:latin typeface="Arial"/>
                <a:ea typeface="Arial"/>
                <a:cs typeface="Arial"/>
              </a:defRPr>
            </a:lvl3pPr>
            <a:lvl4pPr algn="l">
              <a:defRPr sz="1320" b="1">
                <a:solidFill>
                  <a:srgbClr val="C8401F"/>
                </a:solidFill>
                <a:latin typeface="Arial"/>
                <a:ea typeface="Arial"/>
                <a:cs typeface="Arial"/>
              </a:defRPr>
            </a:lvl4pPr>
            <a:lvl5pPr algn="l">
              <a:defRPr sz="1320" b="1">
                <a:solidFill>
                  <a:srgbClr val="C8401F"/>
                </a:solidFill>
                <a:latin typeface="Arial"/>
                <a:ea typeface="Arial"/>
                <a:cs typeface="Arial"/>
              </a:defRPr>
            </a:lvl5pPr>
            <a:lvl6pPr algn="l">
              <a:defRPr sz="1320" b="1">
                <a:solidFill>
                  <a:srgbClr val="C8401F"/>
                </a:solidFill>
                <a:latin typeface="Arial"/>
                <a:ea typeface="Arial"/>
                <a:cs typeface="Arial"/>
              </a:defRPr>
            </a:lvl6pPr>
            <a:lvl7pPr algn="l">
              <a:defRPr sz="1320" b="1">
                <a:solidFill>
                  <a:srgbClr val="C8401F"/>
                </a:solidFill>
                <a:latin typeface="Arial"/>
                <a:ea typeface="Arial"/>
                <a:cs typeface="Arial"/>
              </a:defRPr>
            </a:lvl7pPr>
            <a:lvl8pPr algn="l">
              <a:defRPr sz="1320" b="1">
                <a:solidFill>
                  <a:srgbClr val="C8401F"/>
                </a:solidFill>
                <a:latin typeface="Arial"/>
                <a:ea typeface="Arial"/>
                <a:cs typeface="Arial"/>
              </a:defRPr>
            </a:lvl8pPr>
            <a:lvl9pPr algn="l">
              <a:defRPr sz="1320" b="1">
                <a:solidFill>
                  <a:srgbClr val="C8401F"/>
                </a:solidFill>
                <a:latin typeface="Arial"/>
                <a:ea typeface="Arial"/>
                <a:cs typeface="Arial"/>
              </a:defRPr>
            </a:lvl9pPr>
          </a:lstStyle>
          <a:p xmlns:a="http://schemas.openxmlformats.org/drawingml/2006/main">
            <a:pPr algn="l">
              <a:defRPr sz="1320" b="1">
                <a:solidFill>
                  <a:srgbClr val="C8401F"/>
                </a:solidFill>
                <a:latin typeface="Arial"/>
                <a:ea typeface="Arial"/>
                <a:cs typeface="Arial"/>
              </a:defRPr>
            </a:pPr>
            <a:r>
              <a:rPr sz="1320" b="1">
                <a:solidFill>
                  <a:srgbClr val="C8401F"/>
                </a:solidFill>
                <a:latin typeface="Arial"/>
                <a:ea typeface="Arial"/>
                <a:cs typeface="Arial"/>
              </a:rPr>
              <a:t>01</a:t>
            </a:r>
          </a:p>
        </p:txBody>
      </p:sp>
      <p:sp>
        <p:nvSpPr>
          <p:cNvPr id="16" name="">
            <a:extLst xmlns:a="http://schemas.openxmlformats.org/drawingml/2006/main">
              <a:ext uri="{FF2B5EF4-FFF2-40B4-BE49-F238E27FC236}">
                <a16:creationId xmlns:a16="http://schemas.microsoft.com/office/drawing/2014/main" id="{76B7CA98-B66D-44AC-B2BE-C7A63B8FB803}"/>
              </a:ext>
            </a:extLst>
          </p:cNvPr>
          <p:cNvSpPr>
            <a:spLocks xmlns:a="http://schemas.openxmlformats.org/drawingml/2006/main" noGrp="1"/>
          </p:cNvSpPr>
          <p:nvPr/>
        </p:nvSpPr>
        <p:spPr>
          <a:xfrm xmlns:a="http://schemas.openxmlformats.org/drawingml/2006/main">
            <a:off x="609585" y="2392680"/>
            <a:ext cx="5333867" cy="396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680" b="1">
                <a:solidFill>
                  <a:srgbClr val="151312"/>
                </a:solidFill>
                <a:latin typeface="Arial"/>
                <a:ea typeface="Arial"/>
                <a:cs typeface="Arial"/>
              </a:defRPr>
            </a:defPPr>
            <a:lvl1pPr algn="l">
              <a:defRPr sz="1680" b="1">
                <a:solidFill>
                  <a:srgbClr val="151312"/>
                </a:solidFill>
                <a:latin typeface="Arial"/>
                <a:ea typeface="Arial"/>
                <a:cs typeface="Arial"/>
              </a:defRPr>
            </a:lvl1pPr>
            <a:lvl2pPr algn="l">
              <a:defRPr sz="1680" b="1">
                <a:solidFill>
                  <a:srgbClr val="151312"/>
                </a:solidFill>
                <a:latin typeface="Arial"/>
                <a:ea typeface="Arial"/>
                <a:cs typeface="Arial"/>
              </a:defRPr>
            </a:lvl2pPr>
            <a:lvl3pPr algn="l">
              <a:defRPr sz="1680" b="1">
                <a:solidFill>
                  <a:srgbClr val="151312"/>
                </a:solidFill>
                <a:latin typeface="Arial"/>
                <a:ea typeface="Arial"/>
                <a:cs typeface="Arial"/>
              </a:defRPr>
            </a:lvl3pPr>
            <a:lvl4pPr algn="l">
              <a:defRPr sz="1680" b="1">
                <a:solidFill>
                  <a:srgbClr val="151312"/>
                </a:solidFill>
                <a:latin typeface="Arial"/>
                <a:ea typeface="Arial"/>
                <a:cs typeface="Arial"/>
              </a:defRPr>
            </a:lvl4pPr>
            <a:lvl5pPr algn="l">
              <a:defRPr sz="1680" b="1">
                <a:solidFill>
                  <a:srgbClr val="151312"/>
                </a:solidFill>
                <a:latin typeface="Arial"/>
                <a:ea typeface="Arial"/>
                <a:cs typeface="Arial"/>
              </a:defRPr>
            </a:lvl5pPr>
            <a:lvl6pPr algn="l">
              <a:defRPr sz="1680" b="1">
                <a:solidFill>
                  <a:srgbClr val="151312"/>
                </a:solidFill>
                <a:latin typeface="Arial"/>
                <a:ea typeface="Arial"/>
                <a:cs typeface="Arial"/>
              </a:defRPr>
            </a:lvl6pPr>
            <a:lvl7pPr algn="l">
              <a:defRPr sz="1680" b="1">
                <a:solidFill>
                  <a:srgbClr val="151312"/>
                </a:solidFill>
                <a:latin typeface="Arial"/>
                <a:ea typeface="Arial"/>
                <a:cs typeface="Arial"/>
              </a:defRPr>
            </a:lvl7pPr>
            <a:lvl8pPr algn="l">
              <a:defRPr sz="1680" b="1">
                <a:solidFill>
                  <a:srgbClr val="151312"/>
                </a:solidFill>
                <a:latin typeface="Arial"/>
                <a:ea typeface="Arial"/>
                <a:cs typeface="Arial"/>
              </a:defRPr>
            </a:lvl8pPr>
            <a:lvl9pPr algn="l">
              <a:defRPr sz="1680" b="1">
                <a:solidFill>
                  <a:srgbClr val="151312"/>
                </a:solidFill>
                <a:latin typeface="Arial"/>
                <a:ea typeface="Arial"/>
                <a:cs typeface="Arial"/>
              </a:defRPr>
            </a:lvl9pPr>
          </a:lstStyle>
          <a:p xmlns:a="http://schemas.openxmlformats.org/drawingml/2006/main">
            <a:pPr algn="l">
              <a:defRPr sz="1680" b="1">
                <a:solidFill>
                  <a:srgbClr val="151312"/>
                </a:solidFill>
                <a:latin typeface="Arial"/>
                <a:ea typeface="Arial"/>
                <a:cs typeface="Arial"/>
              </a:defRPr>
            </a:pPr>
            <a:r>
              <a:rPr sz="1680" b="1">
                <a:solidFill>
                  <a:srgbClr val="151312"/>
                </a:solidFill>
                <a:latin typeface="Arial"/>
                <a:ea typeface="Arial"/>
                <a:cs typeface="Arial"/>
              </a:rPr>
              <a:t>Keep the split fixed</a:t>
            </a:r>
          </a:p>
        </p:txBody>
      </p:sp>
      <p:sp>
        <p:nvSpPr>
          <p:cNvPr id="17" name="">
            <a:extLst xmlns:a="http://schemas.openxmlformats.org/drawingml/2006/main">
              <a:ext uri="{FF2B5EF4-FFF2-40B4-BE49-F238E27FC236}">
                <a16:creationId xmlns:a16="http://schemas.microsoft.com/office/drawing/2014/main" id="{4CB72A25-4C5F-4F57-BA68-7A93D0F16377}"/>
              </a:ext>
            </a:extLst>
          </p:cNvPr>
          <p:cNvSpPr>
            <a:spLocks xmlns:a="http://schemas.openxmlformats.org/drawingml/2006/main" noGrp="1"/>
          </p:cNvSpPr>
          <p:nvPr/>
        </p:nvSpPr>
        <p:spPr>
          <a:xfrm xmlns:a="http://schemas.openxmlformats.org/drawingml/2006/main">
            <a:off x="609585" y="2887980"/>
            <a:ext cx="5333867"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1,984 public expert training sentences; 496 held out. Three classes: dovish, neutral and hawkish.</a:t>
            </a:r>
          </a:p>
        </p:txBody>
      </p:sp>
      <p:sp>
        <p:nvSpPr>
          <p:cNvPr id="18" name="">
            <a:extLst xmlns:a="http://schemas.openxmlformats.org/drawingml/2006/main">
              <a:ext uri="{FF2B5EF4-FFF2-40B4-BE49-F238E27FC236}">
                <a16:creationId xmlns:a16="http://schemas.microsoft.com/office/drawing/2014/main" id="{DE6A5219-B2AE-47DF-AFBE-6C89347A62C8}"/>
              </a:ext>
            </a:extLst>
          </p:cNvPr>
          <p:cNvSpPr>
            <a:spLocks xmlns:a="http://schemas.openxmlformats.org/drawingml/2006/main" noGrp="1"/>
          </p:cNvSpPr>
          <p:nvPr/>
        </p:nvSpPr>
        <p:spPr>
          <a:xfrm xmlns:a="http://schemas.openxmlformats.org/drawingml/2006/main">
            <a:off x="6248244" y="1920240"/>
            <a:ext cx="5333867" cy="1143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F4BF9A3-C959-4BE2-9907-49093F00864D}"/>
              </a:ext>
            </a:extLst>
          </p:cNvPr>
          <p:cNvSpPr>
            <a:spLocks xmlns:a="http://schemas.openxmlformats.org/drawingml/2006/main" noGrp="1"/>
          </p:cNvSpPr>
          <p:nvPr/>
        </p:nvSpPr>
        <p:spPr>
          <a:xfrm xmlns:a="http://schemas.openxmlformats.org/drawingml/2006/main">
            <a:off x="6248244" y="2057400"/>
            <a:ext cx="5333867"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1">
                <a:solidFill>
                  <a:srgbClr val="C8401F"/>
                </a:solidFill>
                <a:latin typeface="Arial"/>
                <a:ea typeface="Arial"/>
                <a:cs typeface="Arial"/>
              </a:defRPr>
            </a:defPPr>
            <a:lvl1pPr algn="l">
              <a:defRPr sz="1320" b="1">
                <a:solidFill>
                  <a:srgbClr val="C8401F"/>
                </a:solidFill>
                <a:latin typeface="Arial"/>
                <a:ea typeface="Arial"/>
                <a:cs typeface="Arial"/>
              </a:defRPr>
            </a:lvl1pPr>
            <a:lvl2pPr algn="l">
              <a:defRPr sz="1320" b="1">
                <a:solidFill>
                  <a:srgbClr val="C8401F"/>
                </a:solidFill>
                <a:latin typeface="Arial"/>
                <a:ea typeface="Arial"/>
                <a:cs typeface="Arial"/>
              </a:defRPr>
            </a:lvl2pPr>
            <a:lvl3pPr algn="l">
              <a:defRPr sz="1320" b="1">
                <a:solidFill>
                  <a:srgbClr val="C8401F"/>
                </a:solidFill>
                <a:latin typeface="Arial"/>
                <a:ea typeface="Arial"/>
                <a:cs typeface="Arial"/>
              </a:defRPr>
            </a:lvl3pPr>
            <a:lvl4pPr algn="l">
              <a:defRPr sz="1320" b="1">
                <a:solidFill>
                  <a:srgbClr val="C8401F"/>
                </a:solidFill>
                <a:latin typeface="Arial"/>
                <a:ea typeface="Arial"/>
                <a:cs typeface="Arial"/>
              </a:defRPr>
            </a:lvl4pPr>
            <a:lvl5pPr algn="l">
              <a:defRPr sz="1320" b="1">
                <a:solidFill>
                  <a:srgbClr val="C8401F"/>
                </a:solidFill>
                <a:latin typeface="Arial"/>
                <a:ea typeface="Arial"/>
                <a:cs typeface="Arial"/>
              </a:defRPr>
            </a:lvl5pPr>
            <a:lvl6pPr algn="l">
              <a:defRPr sz="1320" b="1">
                <a:solidFill>
                  <a:srgbClr val="C8401F"/>
                </a:solidFill>
                <a:latin typeface="Arial"/>
                <a:ea typeface="Arial"/>
                <a:cs typeface="Arial"/>
              </a:defRPr>
            </a:lvl6pPr>
            <a:lvl7pPr algn="l">
              <a:defRPr sz="1320" b="1">
                <a:solidFill>
                  <a:srgbClr val="C8401F"/>
                </a:solidFill>
                <a:latin typeface="Arial"/>
                <a:ea typeface="Arial"/>
                <a:cs typeface="Arial"/>
              </a:defRPr>
            </a:lvl7pPr>
            <a:lvl8pPr algn="l">
              <a:defRPr sz="1320" b="1">
                <a:solidFill>
                  <a:srgbClr val="C8401F"/>
                </a:solidFill>
                <a:latin typeface="Arial"/>
                <a:ea typeface="Arial"/>
                <a:cs typeface="Arial"/>
              </a:defRPr>
            </a:lvl8pPr>
            <a:lvl9pPr algn="l">
              <a:defRPr sz="1320" b="1">
                <a:solidFill>
                  <a:srgbClr val="C8401F"/>
                </a:solidFill>
                <a:latin typeface="Arial"/>
                <a:ea typeface="Arial"/>
                <a:cs typeface="Arial"/>
              </a:defRPr>
            </a:lvl9pPr>
          </a:lstStyle>
          <a:p xmlns:a="http://schemas.openxmlformats.org/drawingml/2006/main">
            <a:pPr algn="l">
              <a:defRPr sz="1320" b="1">
                <a:solidFill>
                  <a:srgbClr val="C8401F"/>
                </a:solidFill>
                <a:latin typeface="Arial"/>
                <a:ea typeface="Arial"/>
                <a:cs typeface="Arial"/>
              </a:defRPr>
            </a:pPr>
            <a:r>
              <a:rPr sz="1320" b="1">
                <a:solidFill>
                  <a:srgbClr val="C8401F"/>
                </a:solidFill>
                <a:latin typeface="Arial"/>
                <a:ea typeface="Arial"/>
                <a:cs typeface="Arial"/>
              </a:rPr>
              <a:t>02</a:t>
            </a:r>
          </a:p>
        </p:txBody>
      </p:sp>
      <p:sp>
        <p:nvSpPr>
          <p:cNvPr id="20" name="">
            <a:extLst xmlns:a="http://schemas.openxmlformats.org/drawingml/2006/main">
              <a:ext uri="{FF2B5EF4-FFF2-40B4-BE49-F238E27FC236}">
                <a16:creationId xmlns:a16="http://schemas.microsoft.com/office/drawing/2014/main" id="{FEBB6952-AC31-4BFC-8591-4F688172A9D0}"/>
              </a:ext>
            </a:extLst>
          </p:cNvPr>
          <p:cNvSpPr>
            <a:spLocks xmlns:a="http://schemas.openxmlformats.org/drawingml/2006/main" noGrp="1"/>
          </p:cNvSpPr>
          <p:nvPr/>
        </p:nvSpPr>
        <p:spPr>
          <a:xfrm xmlns:a="http://schemas.openxmlformats.org/drawingml/2006/main">
            <a:off x="6248244" y="2392680"/>
            <a:ext cx="5333867" cy="396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680" b="1">
                <a:solidFill>
                  <a:srgbClr val="151312"/>
                </a:solidFill>
                <a:latin typeface="Arial"/>
                <a:ea typeface="Arial"/>
                <a:cs typeface="Arial"/>
              </a:defRPr>
            </a:defPPr>
            <a:lvl1pPr algn="l">
              <a:defRPr sz="1680" b="1">
                <a:solidFill>
                  <a:srgbClr val="151312"/>
                </a:solidFill>
                <a:latin typeface="Arial"/>
                <a:ea typeface="Arial"/>
                <a:cs typeface="Arial"/>
              </a:defRPr>
            </a:lvl1pPr>
            <a:lvl2pPr algn="l">
              <a:defRPr sz="1680" b="1">
                <a:solidFill>
                  <a:srgbClr val="151312"/>
                </a:solidFill>
                <a:latin typeface="Arial"/>
                <a:ea typeface="Arial"/>
                <a:cs typeface="Arial"/>
              </a:defRPr>
            </a:lvl2pPr>
            <a:lvl3pPr algn="l">
              <a:defRPr sz="1680" b="1">
                <a:solidFill>
                  <a:srgbClr val="151312"/>
                </a:solidFill>
                <a:latin typeface="Arial"/>
                <a:ea typeface="Arial"/>
                <a:cs typeface="Arial"/>
              </a:defRPr>
            </a:lvl3pPr>
            <a:lvl4pPr algn="l">
              <a:defRPr sz="1680" b="1">
                <a:solidFill>
                  <a:srgbClr val="151312"/>
                </a:solidFill>
                <a:latin typeface="Arial"/>
                <a:ea typeface="Arial"/>
                <a:cs typeface="Arial"/>
              </a:defRPr>
            </a:lvl4pPr>
            <a:lvl5pPr algn="l">
              <a:defRPr sz="1680" b="1">
                <a:solidFill>
                  <a:srgbClr val="151312"/>
                </a:solidFill>
                <a:latin typeface="Arial"/>
                <a:ea typeface="Arial"/>
                <a:cs typeface="Arial"/>
              </a:defRPr>
            </a:lvl5pPr>
            <a:lvl6pPr algn="l">
              <a:defRPr sz="1680" b="1">
                <a:solidFill>
                  <a:srgbClr val="151312"/>
                </a:solidFill>
                <a:latin typeface="Arial"/>
                <a:ea typeface="Arial"/>
                <a:cs typeface="Arial"/>
              </a:defRPr>
            </a:lvl6pPr>
            <a:lvl7pPr algn="l">
              <a:defRPr sz="1680" b="1">
                <a:solidFill>
                  <a:srgbClr val="151312"/>
                </a:solidFill>
                <a:latin typeface="Arial"/>
                <a:ea typeface="Arial"/>
                <a:cs typeface="Arial"/>
              </a:defRPr>
            </a:lvl7pPr>
            <a:lvl8pPr algn="l">
              <a:defRPr sz="1680" b="1">
                <a:solidFill>
                  <a:srgbClr val="151312"/>
                </a:solidFill>
                <a:latin typeface="Arial"/>
                <a:ea typeface="Arial"/>
                <a:cs typeface="Arial"/>
              </a:defRPr>
            </a:lvl8pPr>
            <a:lvl9pPr algn="l">
              <a:defRPr sz="1680" b="1">
                <a:solidFill>
                  <a:srgbClr val="151312"/>
                </a:solidFill>
                <a:latin typeface="Arial"/>
                <a:ea typeface="Arial"/>
                <a:cs typeface="Arial"/>
              </a:defRPr>
            </a:lvl9pPr>
          </a:lstStyle>
          <a:p xmlns:a="http://schemas.openxmlformats.org/drawingml/2006/main">
            <a:pPr algn="l">
              <a:defRPr sz="1680" b="1">
                <a:solidFill>
                  <a:srgbClr val="151312"/>
                </a:solidFill>
                <a:latin typeface="Arial"/>
                <a:ea typeface="Arial"/>
                <a:cs typeface="Arial"/>
              </a:defRPr>
            </a:pPr>
            <a:r>
              <a:rPr sz="1680" b="1">
                <a:solidFill>
                  <a:srgbClr val="151312"/>
                </a:solidFill>
                <a:latin typeface="Arial"/>
                <a:ea typeface="Arial"/>
                <a:cs typeface="Arial"/>
              </a:rPr>
              <a:t>Select on validation folds</a:t>
            </a:r>
          </a:p>
        </p:txBody>
      </p:sp>
      <p:sp>
        <p:nvSpPr>
          <p:cNvPr id="21" name="">
            <a:extLst xmlns:a="http://schemas.openxmlformats.org/drawingml/2006/main">
              <a:ext uri="{FF2B5EF4-FFF2-40B4-BE49-F238E27FC236}">
                <a16:creationId xmlns:a16="http://schemas.microsoft.com/office/drawing/2014/main" id="{A428B3A4-B4A3-4FC9-A44B-1AA2C4DAA610}"/>
              </a:ext>
            </a:extLst>
          </p:cNvPr>
          <p:cNvSpPr>
            <a:spLocks xmlns:a="http://schemas.openxmlformats.org/drawingml/2006/main" noGrp="1"/>
          </p:cNvSpPr>
          <p:nvPr/>
        </p:nvSpPr>
        <p:spPr>
          <a:xfrm xmlns:a="http://schemas.openxmlformats.org/drawingml/2006/main">
            <a:off x="6248244" y="2887980"/>
            <a:ext cx="5333867"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9 settings across 5 stratified folds. Mean validation macro-F1 selects the setting and epoch.</a:t>
            </a:r>
          </a:p>
        </p:txBody>
      </p:sp>
      <p:sp>
        <p:nvSpPr>
          <p:cNvPr id="22" name="">
            <a:extLst xmlns:a="http://schemas.openxmlformats.org/drawingml/2006/main">
              <a:ext uri="{FF2B5EF4-FFF2-40B4-BE49-F238E27FC236}">
                <a16:creationId xmlns:a16="http://schemas.microsoft.com/office/drawing/2014/main" id="{E96841FC-DA84-4365-BA01-3121E2325ED3}"/>
              </a:ext>
            </a:extLst>
          </p:cNvPr>
          <p:cNvSpPr>
            <a:spLocks xmlns:a="http://schemas.openxmlformats.org/drawingml/2006/main" noGrp="1"/>
          </p:cNvSpPr>
          <p:nvPr/>
        </p:nvSpPr>
        <p:spPr>
          <a:xfrm xmlns:a="http://schemas.openxmlformats.org/drawingml/2006/main">
            <a:off x="609585" y="4152900"/>
            <a:ext cx="5333867" cy="1143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9D46B1B-178F-4750-A4DD-EDE0B05B5D4B}"/>
              </a:ext>
            </a:extLst>
          </p:cNvPr>
          <p:cNvSpPr>
            <a:spLocks xmlns:a="http://schemas.openxmlformats.org/drawingml/2006/main" noGrp="1"/>
          </p:cNvSpPr>
          <p:nvPr/>
        </p:nvSpPr>
        <p:spPr>
          <a:xfrm xmlns:a="http://schemas.openxmlformats.org/drawingml/2006/main">
            <a:off x="609585" y="4290060"/>
            <a:ext cx="5333867"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1">
                <a:solidFill>
                  <a:srgbClr val="C8401F"/>
                </a:solidFill>
                <a:latin typeface="Arial"/>
                <a:ea typeface="Arial"/>
                <a:cs typeface="Arial"/>
              </a:defRPr>
            </a:defPPr>
            <a:lvl1pPr algn="l">
              <a:defRPr sz="1320" b="1">
                <a:solidFill>
                  <a:srgbClr val="C8401F"/>
                </a:solidFill>
                <a:latin typeface="Arial"/>
                <a:ea typeface="Arial"/>
                <a:cs typeface="Arial"/>
              </a:defRPr>
            </a:lvl1pPr>
            <a:lvl2pPr algn="l">
              <a:defRPr sz="1320" b="1">
                <a:solidFill>
                  <a:srgbClr val="C8401F"/>
                </a:solidFill>
                <a:latin typeface="Arial"/>
                <a:ea typeface="Arial"/>
                <a:cs typeface="Arial"/>
              </a:defRPr>
            </a:lvl2pPr>
            <a:lvl3pPr algn="l">
              <a:defRPr sz="1320" b="1">
                <a:solidFill>
                  <a:srgbClr val="C8401F"/>
                </a:solidFill>
                <a:latin typeface="Arial"/>
                <a:ea typeface="Arial"/>
                <a:cs typeface="Arial"/>
              </a:defRPr>
            </a:lvl3pPr>
            <a:lvl4pPr algn="l">
              <a:defRPr sz="1320" b="1">
                <a:solidFill>
                  <a:srgbClr val="C8401F"/>
                </a:solidFill>
                <a:latin typeface="Arial"/>
                <a:ea typeface="Arial"/>
                <a:cs typeface="Arial"/>
              </a:defRPr>
            </a:lvl4pPr>
            <a:lvl5pPr algn="l">
              <a:defRPr sz="1320" b="1">
                <a:solidFill>
                  <a:srgbClr val="C8401F"/>
                </a:solidFill>
                <a:latin typeface="Arial"/>
                <a:ea typeface="Arial"/>
                <a:cs typeface="Arial"/>
              </a:defRPr>
            </a:lvl5pPr>
            <a:lvl6pPr algn="l">
              <a:defRPr sz="1320" b="1">
                <a:solidFill>
                  <a:srgbClr val="C8401F"/>
                </a:solidFill>
                <a:latin typeface="Arial"/>
                <a:ea typeface="Arial"/>
                <a:cs typeface="Arial"/>
              </a:defRPr>
            </a:lvl6pPr>
            <a:lvl7pPr algn="l">
              <a:defRPr sz="1320" b="1">
                <a:solidFill>
                  <a:srgbClr val="C8401F"/>
                </a:solidFill>
                <a:latin typeface="Arial"/>
                <a:ea typeface="Arial"/>
                <a:cs typeface="Arial"/>
              </a:defRPr>
            </a:lvl7pPr>
            <a:lvl8pPr algn="l">
              <a:defRPr sz="1320" b="1">
                <a:solidFill>
                  <a:srgbClr val="C8401F"/>
                </a:solidFill>
                <a:latin typeface="Arial"/>
                <a:ea typeface="Arial"/>
                <a:cs typeface="Arial"/>
              </a:defRPr>
            </a:lvl8pPr>
            <a:lvl9pPr algn="l">
              <a:defRPr sz="1320" b="1">
                <a:solidFill>
                  <a:srgbClr val="C8401F"/>
                </a:solidFill>
                <a:latin typeface="Arial"/>
                <a:ea typeface="Arial"/>
                <a:cs typeface="Arial"/>
              </a:defRPr>
            </a:lvl9pPr>
          </a:lstStyle>
          <a:p xmlns:a="http://schemas.openxmlformats.org/drawingml/2006/main">
            <a:pPr algn="l">
              <a:defRPr sz="1320" b="1">
                <a:solidFill>
                  <a:srgbClr val="C8401F"/>
                </a:solidFill>
                <a:latin typeface="Arial"/>
                <a:ea typeface="Arial"/>
                <a:cs typeface="Arial"/>
              </a:defRPr>
            </a:pPr>
            <a:r>
              <a:rPr sz="1320" b="1">
                <a:solidFill>
                  <a:srgbClr val="C8401F"/>
                </a:solidFill>
                <a:latin typeface="Arial"/>
                <a:ea typeface="Arial"/>
                <a:cs typeface="Arial"/>
              </a:rPr>
              <a:t>03</a:t>
            </a:r>
          </a:p>
        </p:txBody>
      </p:sp>
      <p:sp>
        <p:nvSpPr>
          <p:cNvPr id="24" name="">
            <a:extLst xmlns:a="http://schemas.openxmlformats.org/drawingml/2006/main">
              <a:ext uri="{FF2B5EF4-FFF2-40B4-BE49-F238E27FC236}">
                <a16:creationId xmlns:a16="http://schemas.microsoft.com/office/drawing/2014/main" id="{AA2D2601-A68F-4319-AE52-11334CCD29BF}"/>
              </a:ext>
            </a:extLst>
          </p:cNvPr>
          <p:cNvSpPr>
            <a:spLocks xmlns:a="http://schemas.openxmlformats.org/drawingml/2006/main" noGrp="1"/>
          </p:cNvSpPr>
          <p:nvPr/>
        </p:nvSpPr>
        <p:spPr>
          <a:xfrm xmlns:a="http://schemas.openxmlformats.org/drawingml/2006/main">
            <a:off x="609585" y="4625340"/>
            <a:ext cx="5333867" cy="396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680" b="1">
                <a:solidFill>
                  <a:srgbClr val="151312"/>
                </a:solidFill>
                <a:latin typeface="Arial"/>
                <a:ea typeface="Arial"/>
                <a:cs typeface="Arial"/>
              </a:defRPr>
            </a:defPPr>
            <a:lvl1pPr algn="l">
              <a:defRPr sz="1680" b="1">
                <a:solidFill>
                  <a:srgbClr val="151312"/>
                </a:solidFill>
                <a:latin typeface="Arial"/>
                <a:ea typeface="Arial"/>
                <a:cs typeface="Arial"/>
              </a:defRPr>
            </a:lvl1pPr>
            <a:lvl2pPr algn="l">
              <a:defRPr sz="1680" b="1">
                <a:solidFill>
                  <a:srgbClr val="151312"/>
                </a:solidFill>
                <a:latin typeface="Arial"/>
                <a:ea typeface="Arial"/>
                <a:cs typeface="Arial"/>
              </a:defRPr>
            </a:lvl2pPr>
            <a:lvl3pPr algn="l">
              <a:defRPr sz="1680" b="1">
                <a:solidFill>
                  <a:srgbClr val="151312"/>
                </a:solidFill>
                <a:latin typeface="Arial"/>
                <a:ea typeface="Arial"/>
                <a:cs typeface="Arial"/>
              </a:defRPr>
            </a:lvl3pPr>
            <a:lvl4pPr algn="l">
              <a:defRPr sz="1680" b="1">
                <a:solidFill>
                  <a:srgbClr val="151312"/>
                </a:solidFill>
                <a:latin typeface="Arial"/>
                <a:ea typeface="Arial"/>
                <a:cs typeface="Arial"/>
              </a:defRPr>
            </a:lvl4pPr>
            <a:lvl5pPr algn="l">
              <a:defRPr sz="1680" b="1">
                <a:solidFill>
                  <a:srgbClr val="151312"/>
                </a:solidFill>
                <a:latin typeface="Arial"/>
                <a:ea typeface="Arial"/>
                <a:cs typeface="Arial"/>
              </a:defRPr>
            </a:lvl5pPr>
            <a:lvl6pPr algn="l">
              <a:defRPr sz="1680" b="1">
                <a:solidFill>
                  <a:srgbClr val="151312"/>
                </a:solidFill>
                <a:latin typeface="Arial"/>
                <a:ea typeface="Arial"/>
                <a:cs typeface="Arial"/>
              </a:defRPr>
            </a:lvl6pPr>
            <a:lvl7pPr algn="l">
              <a:defRPr sz="1680" b="1">
                <a:solidFill>
                  <a:srgbClr val="151312"/>
                </a:solidFill>
                <a:latin typeface="Arial"/>
                <a:ea typeface="Arial"/>
                <a:cs typeface="Arial"/>
              </a:defRPr>
            </a:lvl7pPr>
            <a:lvl8pPr algn="l">
              <a:defRPr sz="1680" b="1">
                <a:solidFill>
                  <a:srgbClr val="151312"/>
                </a:solidFill>
                <a:latin typeface="Arial"/>
                <a:ea typeface="Arial"/>
                <a:cs typeface="Arial"/>
              </a:defRPr>
            </a:lvl8pPr>
            <a:lvl9pPr algn="l">
              <a:defRPr sz="1680" b="1">
                <a:solidFill>
                  <a:srgbClr val="151312"/>
                </a:solidFill>
                <a:latin typeface="Arial"/>
                <a:ea typeface="Arial"/>
                <a:cs typeface="Arial"/>
              </a:defRPr>
            </a:lvl9pPr>
          </a:lstStyle>
          <a:p xmlns:a="http://schemas.openxmlformats.org/drawingml/2006/main">
            <a:pPr algn="l">
              <a:defRPr sz="1680" b="1">
                <a:solidFill>
                  <a:srgbClr val="151312"/>
                </a:solidFill>
                <a:latin typeface="Arial"/>
                <a:ea typeface="Arial"/>
                <a:cs typeface="Arial"/>
              </a:defRPr>
            </a:pPr>
            <a:r>
              <a:rPr sz="1680" b="1">
                <a:solidFill>
                  <a:srgbClr val="151312"/>
                </a:solidFill>
                <a:latin typeface="Arial"/>
                <a:ea typeface="Arial"/>
                <a:cs typeface="Arial"/>
              </a:rPr>
              <a:t>Fit the chosen model locally</a:t>
            </a:r>
          </a:p>
        </p:txBody>
      </p:sp>
      <p:sp>
        <p:nvSpPr>
          <p:cNvPr id="25" name="">
            <a:extLst xmlns:a="http://schemas.openxmlformats.org/drawingml/2006/main">
              <a:ext uri="{FF2B5EF4-FFF2-40B4-BE49-F238E27FC236}">
                <a16:creationId xmlns:a16="http://schemas.microsoft.com/office/drawing/2014/main" id="{04DC520C-BACA-43C8-A6CB-7C62180DF36B}"/>
              </a:ext>
            </a:extLst>
          </p:cNvPr>
          <p:cNvSpPr>
            <a:spLocks xmlns:a="http://schemas.openxmlformats.org/drawingml/2006/main" noGrp="1"/>
          </p:cNvSpPr>
          <p:nvPr/>
        </p:nvSpPr>
        <p:spPr>
          <a:xfrm xmlns:a="http://schemas.openxmlformats.org/drawingml/2006/main">
            <a:off x="609585" y="5120640"/>
            <a:ext cx="5333867"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Full-parameter RoBERTa fine-tuning on Apple MPS; 5 seeds. Chosen learning rate 2e-5, stopping at epoch 9.</a:t>
            </a:r>
          </a:p>
        </p:txBody>
      </p:sp>
      <p:sp>
        <p:nvSpPr>
          <p:cNvPr id="26" name="">
            <a:extLst xmlns:a="http://schemas.openxmlformats.org/drawingml/2006/main">
              <a:ext uri="{FF2B5EF4-FFF2-40B4-BE49-F238E27FC236}">
                <a16:creationId xmlns:a16="http://schemas.microsoft.com/office/drawing/2014/main" id="{87ECE411-50C9-4FF7-85E9-74595B30561C}"/>
              </a:ext>
            </a:extLst>
          </p:cNvPr>
          <p:cNvSpPr>
            <a:spLocks xmlns:a="http://schemas.openxmlformats.org/drawingml/2006/main" noGrp="1"/>
          </p:cNvSpPr>
          <p:nvPr/>
        </p:nvSpPr>
        <p:spPr>
          <a:xfrm xmlns:a="http://schemas.openxmlformats.org/drawingml/2006/main">
            <a:off x="6248244" y="4152900"/>
            <a:ext cx="5333867" cy="1143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2DE058A-3DD9-4816-8C8A-2B9817CEA16C}"/>
              </a:ext>
            </a:extLst>
          </p:cNvPr>
          <p:cNvSpPr>
            <a:spLocks xmlns:a="http://schemas.openxmlformats.org/drawingml/2006/main" noGrp="1"/>
          </p:cNvSpPr>
          <p:nvPr/>
        </p:nvSpPr>
        <p:spPr>
          <a:xfrm xmlns:a="http://schemas.openxmlformats.org/drawingml/2006/main">
            <a:off x="6248244" y="4290060"/>
            <a:ext cx="5333867"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1">
                <a:solidFill>
                  <a:srgbClr val="C8401F"/>
                </a:solidFill>
                <a:latin typeface="Arial"/>
                <a:ea typeface="Arial"/>
                <a:cs typeface="Arial"/>
              </a:defRPr>
            </a:defPPr>
            <a:lvl1pPr algn="l">
              <a:defRPr sz="1320" b="1">
                <a:solidFill>
                  <a:srgbClr val="C8401F"/>
                </a:solidFill>
                <a:latin typeface="Arial"/>
                <a:ea typeface="Arial"/>
                <a:cs typeface="Arial"/>
              </a:defRPr>
            </a:lvl1pPr>
            <a:lvl2pPr algn="l">
              <a:defRPr sz="1320" b="1">
                <a:solidFill>
                  <a:srgbClr val="C8401F"/>
                </a:solidFill>
                <a:latin typeface="Arial"/>
                <a:ea typeface="Arial"/>
                <a:cs typeface="Arial"/>
              </a:defRPr>
            </a:lvl2pPr>
            <a:lvl3pPr algn="l">
              <a:defRPr sz="1320" b="1">
                <a:solidFill>
                  <a:srgbClr val="C8401F"/>
                </a:solidFill>
                <a:latin typeface="Arial"/>
                <a:ea typeface="Arial"/>
                <a:cs typeface="Arial"/>
              </a:defRPr>
            </a:lvl3pPr>
            <a:lvl4pPr algn="l">
              <a:defRPr sz="1320" b="1">
                <a:solidFill>
                  <a:srgbClr val="C8401F"/>
                </a:solidFill>
                <a:latin typeface="Arial"/>
                <a:ea typeface="Arial"/>
                <a:cs typeface="Arial"/>
              </a:defRPr>
            </a:lvl4pPr>
            <a:lvl5pPr algn="l">
              <a:defRPr sz="1320" b="1">
                <a:solidFill>
                  <a:srgbClr val="C8401F"/>
                </a:solidFill>
                <a:latin typeface="Arial"/>
                <a:ea typeface="Arial"/>
                <a:cs typeface="Arial"/>
              </a:defRPr>
            </a:lvl5pPr>
            <a:lvl6pPr algn="l">
              <a:defRPr sz="1320" b="1">
                <a:solidFill>
                  <a:srgbClr val="C8401F"/>
                </a:solidFill>
                <a:latin typeface="Arial"/>
                <a:ea typeface="Arial"/>
                <a:cs typeface="Arial"/>
              </a:defRPr>
            </a:lvl6pPr>
            <a:lvl7pPr algn="l">
              <a:defRPr sz="1320" b="1">
                <a:solidFill>
                  <a:srgbClr val="C8401F"/>
                </a:solidFill>
                <a:latin typeface="Arial"/>
                <a:ea typeface="Arial"/>
                <a:cs typeface="Arial"/>
              </a:defRPr>
            </a:lvl7pPr>
            <a:lvl8pPr algn="l">
              <a:defRPr sz="1320" b="1">
                <a:solidFill>
                  <a:srgbClr val="C8401F"/>
                </a:solidFill>
                <a:latin typeface="Arial"/>
                <a:ea typeface="Arial"/>
                <a:cs typeface="Arial"/>
              </a:defRPr>
            </a:lvl8pPr>
            <a:lvl9pPr algn="l">
              <a:defRPr sz="1320" b="1">
                <a:solidFill>
                  <a:srgbClr val="C8401F"/>
                </a:solidFill>
                <a:latin typeface="Arial"/>
                <a:ea typeface="Arial"/>
                <a:cs typeface="Arial"/>
              </a:defRPr>
            </a:lvl9pPr>
          </a:lstStyle>
          <a:p xmlns:a="http://schemas.openxmlformats.org/drawingml/2006/main">
            <a:pPr algn="l">
              <a:defRPr sz="1320" b="1">
                <a:solidFill>
                  <a:srgbClr val="C8401F"/>
                </a:solidFill>
                <a:latin typeface="Arial"/>
                <a:ea typeface="Arial"/>
                <a:cs typeface="Arial"/>
              </a:defRPr>
            </a:pPr>
            <a:r>
              <a:rPr sz="1320" b="1">
                <a:solidFill>
                  <a:srgbClr val="C8401F"/>
                </a:solidFill>
                <a:latin typeface="Arial"/>
                <a:ea typeface="Arial"/>
                <a:cs typeface="Arial"/>
              </a:rPr>
              <a:t>04</a:t>
            </a:r>
          </a:p>
        </p:txBody>
      </p:sp>
      <p:sp>
        <p:nvSpPr>
          <p:cNvPr id="28" name="">
            <a:extLst xmlns:a="http://schemas.openxmlformats.org/drawingml/2006/main">
              <a:ext uri="{FF2B5EF4-FFF2-40B4-BE49-F238E27FC236}">
                <a16:creationId xmlns:a16="http://schemas.microsoft.com/office/drawing/2014/main" id="{597AEB51-84A7-4A01-96F5-6D8D2D329AFA}"/>
              </a:ext>
            </a:extLst>
          </p:cNvPr>
          <p:cNvSpPr>
            <a:spLocks xmlns:a="http://schemas.openxmlformats.org/drawingml/2006/main" noGrp="1"/>
          </p:cNvSpPr>
          <p:nvPr/>
        </p:nvSpPr>
        <p:spPr>
          <a:xfrm xmlns:a="http://schemas.openxmlformats.org/drawingml/2006/main">
            <a:off x="6248244" y="4625340"/>
            <a:ext cx="5333867" cy="396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680" b="1">
                <a:solidFill>
                  <a:srgbClr val="151312"/>
                </a:solidFill>
                <a:latin typeface="Arial"/>
                <a:ea typeface="Arial"/>
                <a:cs typeface="Arial"/>
              </a:defRPr>
            </a:defPPr>
            <a:lvl1pPr algn="l">
              <a:defRPr sz="1680" b="1">
                <a:solidFill>
                  <a:srgbClr val="151312"/>
                </a:solidFill>
                <a:latin typeface="Arial"/>
                <a:ea typeface="Arial"/>
                <a:cs typeface="Arial"/>
              </a:defRPr>
            </a:lvl1pPr>
            <a:lvl2pPr algn="l">
              <a:defRPr sz="1680" b="1">
                <a:solidFill>
                  <a:srgbClr val="151312"/>
                </a:solidFill>
                <a:latin typeface="Arial"/>
                <a:ea typeface="Arial"/>
                <a:cs typeface="Arial"/>
              </a:defRPr>
            </a:lvl2pPr>
            <a:lvl3pPr algn="l">
              <a:defRPr sz="1680" b="1">
                <a:solidFill>
                  <a:srgbClr val="151312"/>
                </a:solidFill>
                <a:latin typeface="Arial"/>
                <a:ea typeface="Arial"/>
                <a:cs typeface="Arial"/>
              </a:defRPr>
            </a:lvl3pPr>
            <a:lvl4pPr algn="l">
              <a:defRPr sz="1680" b="1">
                <a:solidFill>
                  <a:srgbClr val="151312"/>
                </a:solidFill>
                <a:latin typeface="Arial"/>
                <a:ea typeface="Arial"/>
                <a:cs typeface="Arial"/>
              </a:defRPr>
            </a:lvl4pPr>
            <a:lvl5pPr algn="l">
              <a:defRPr sz="1680" b="1">
                <a:solidFill>
                  <a:srgbClr val="151312"/>
                </a:solidFill>
                <a:latin typeface="Arial"/>
                <a:ea typeface="Arial"/>
                <a:cs typeface="Arial"/>
              </a:defRPr>
            </a:lvl5pPr>
            <a:lvl6pPr algn="l">
              <a:defRPr sz="1680" b="1">
                <a:solidFill>
                  <a:srgbClr val="151312"/>
                </a:solidFill>
                <a:latin typeface="Arial"/>
                <a:ea typeface="Arial"/>
                <a:cs typeface="Arial"/>
              </a:defRPr>
            </a:lvl6pPr>
            <a:lvl7pPr algn="l">
              <a:defRPr sz="1680" b="1">
                <a:solidFill>
                  <a:srgbClr val="151312"/>
                </a:solidFill>
                <a:latin typeface="Arial"/>
                <a:ea typeface="Arial"/>
                <a:cs typeface="Arial"/>
              </a:defRPr>
            </a:lvl7pPr>
            <a:lvl8pPr algn="l">
              <a:defRPr sz="1680" b="1">
                <a:solidFill>
                  <a:srgbClr val="151312"/>
                </a:solidFill>
                <a:latin typeface="Arial"/>
                <a:ea typeface="Arial"/>
                <a:cs typeface="Arial"/>
              </a:defRPr>
            </a:lvl8pPr>
            <a:lvl9pPr algn="l">
              <a:defRPr sz="1680" b="1">
                <a:solidFill>
                  <a:srgbClr val="151312"/>
                </a:solidFill>
                <a:latin typeface="Arial"/>
                <a:ea typeface="Arial"/>
                <a:cs typeface="Arial"/>
              </a:defRPr>
            </a:lvl9pPr>
          </a:lstStyle>
          <a:p xmlns:a="http://schemas.openxmlformats.org/drawingml/2006/main">
            <a:pPr algn="l">
              <a:defRPr sz="1680" b="1">
                <a:solidFill>
                  <a:srgbClr val="151312"/>
                </a:solidFill>
                <a:latin typeface="Arial"/>
                <a:ea typeface="Arial"/>
                <a:cs typeface="Arial"/>
              </a:defRPr>
            </a:pPr>
            <a:r>
              <a:rPr sz="1680" b="1">
                <a:solidFill>
                  <a:srgbClr val="151312"/>
                </a:solidFill>
                <a:latin typeface="Arial"/>
                <a:ea typeface="Arial"/>
                <a:cs typeface="Arial"/>
              </a:rPr>
              <a:t>Evaluate the fixed ensemble</a:t>
            </a:r>
          </a:p>
        </p:txBody>
      </p:sp>
      <p:sp>
        <p:nvSpPr>
          <p:cNvPr id="29" name="">
            <a:extLst xmlns:a="http://schemas.openxmlformats.org/drawingml/2006/main">
              <a:ext uri="{FF2B5EF4-FFF2-40B4-BE49-F238E27FC236}">
                <a16:creationId xmlns:a16="http://schemas.microsoft.com/office/drawing/2014/main" id="{7A94B008-E9F8-4521-B1AF-6A5215DD0DEE}"/>
              </a:ext>
            </a:extLst>
          </p:cNvPr>
          <p:cNvSpPr>
            <a:spLocks xmlns:a="http://schemas.openxmlformats.org/drawingml/2006/main" noGrp="1"/>
          </p:cNvSpPr>
          <p:nvPr/>
        </p:nvSpPr>
        <p:spPr>
          <a:xfrm xmlns:a="http://schemas.openxmlformats.org/drawingml/2006/main">
            <a:off x="6248244" y="5120640"/>
            <a:ext cx="5333867"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Average the seeds' class probabilities. Test once; then average P(hawkish) minus P(dovish) over each document's sentences.</a:t>
            </a:r>
          </a:p>
        </p:txBody>
      </p:sp>
    </p:spTree>
    <p:extLst>
      <p:ext uri="{BB962C8B-B14F-4D97-AF65-F5344CB8AC3E}">
        <p14:creationId xmlns:p14="http://schemas.microsoft.com/office/powerpoint/2010/main" val="475217180"/>
      </p:ext>
    </p:extLst>
  </p:cSld>
</p:sld>
</file>

<file path=ppt/slides/slide15.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1E1FE0A-1A63-4DEF-AA3E-691E81DFDDB8}"/>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066590DB-0D59-49C5-8EA8-84EC7B0F2556}"/>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READERS AND VALIDATION</a:t>
            </a:r>
          </a:p>
        </p:txBody>
      </p:sp>
      <p:sp>
        <p:nvSpPr>
          <p:cNvPr id="3" name="">
            <a:extLst xmlns:a="http://schemas.openxmlformats.org/drawingml/2006/main">
              <a:ext uri="{FF2B5EF4-FFF2-40B4-BE49-F238E27FC236}">
                <a16:creationId xmlns:a16="http://schemas.microsoft.com/office/drawing/2014/main" id="{5C874FA4-E57D-4BFF-9A7D-8D3835EA03C1}"/>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15 / 46</a:t>
            </a:r>
          </a:p>
        </p:txBody>
      </p:sp>
      <p:sp>
        <p:nvSpPr>
          <p:cNvPr id="4" name="">
            <a:extLst xmlns:a="http://schemas.openxmlformats.org/drawingml/2006/main">
              <a:ext uri="{FF2B5EF4-FFF2-40B4-BE49-F238E27FC236}">
                <a16:creationId xmlns:a16="http://schemas.microsoft.com/office/drawing/2014/main" id="{81064FAC-9E31-4005-9150-79C8512B6691}"/>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5ADB10F-D902-4C76-99AE-E75DACDE46F2}"/>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Nine settings, five folds, five seeds</a:t>
            </a:r>
          </a:p>
        </p:txBody>
      </p:sp>
      <p:sp>
        <p:nvSpPr>
          <p:cNvPr id="6" name="">
            <a:extLst xmlns:a="http://schemas.openxmlformats.org/drawingml/2006/main">
              <a:ext uri="{FF2B5EF4-FFF2-40B4-BE49-F238E27FC236}">
                <a16:creationId xmlns:a16="http://schemas.microsoft.com/office/drawing/2014/main" id="{CAA5CD9A-413D-40D2-B096-A6CABB735333}"/>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The best setting is refit on all 1,984 sentences with five seeds, then averaged</a:t>
            </a:r>
          </a:p>
        </p:txBody>
      </p:sp>
      <p:sp>
        <p:nvSpPr>
          <p:cNvPr id="7" name="">
            <a:extLst xmlns:a="http://schemas.openxmlformats.org/drawingml/2006/main">
              <a:ext uri="{FF2B5EF4-FFF2-40B4-BE49-F238E27FC236}">
                <a16:creationId xmlns:a16="http://schemas.microsoft.com/office/drawing/2014/main" id="{164C133E-72CD-4716-8DE9-EB239DA16222}"/>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E356D17-F930-4B8A-AEAD-500585FD9345}"/>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finetune.py; data/baselines/roberta-tuned.json.</a:t>
            </a:r>
          </a:p>
        </p:txBody>
      </p:sp>
      <p:sp>
        <p:nvSpPr>
          <p:cNvPr id="9" name="">
            <a:extLst xmlns:a="http://schemas.openxmlformats.org/drawingml/2006/main">
              <a:ext uri="{FF2B5EF4-FFF2-40B4-BE49-F238E27FC236}">
                <a16:creationId xmlns:a16="http://schemas.microsoft.com/office/drawing/2014/main" id="{0B8012EC-FD82-465C-989A-8E015DD719A8}"/>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F7A7034-73C5-49D7-9971-F3E28AADBE80}"/>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6F0A1BC-AD5C-4F1A-B306-F985246F24CB}"/>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8DA7B70-9D28-47E3-BEF0-C6A5DD1C75C9}"/>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4CD2A95-8AAF-4229-A04F-4E78F2D778BA}"/>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2E5B143-9096-4C76-AA60-048AC55B9246}"/>
              </a:ext>
            </a:extLst>
          </p:cNvPr>
          <p:cNvSpPr>
            <a:spLocks xmlns:a="http://schemas.openxmlformats.org/drawingml/2006/main" noGrp="1"/>
          </p:cNvSpPr>
          <p:nvPr/>
        </p:nvSpPr>
        <p:spPr>
          <a:xfrm xmlns:a="http://schemas.openxmlformats.org/drawingml/2006/main">
            <a:off x="8838979" y="1965960"/>
            <a:ext cx="2743131"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4560" b="1">
                <a:solidFill>
                  <a:srgbClr val="151312"/>
                </a:solidFill>
                <a:latin typeface="Arial"/>
                <a:ea typeface="Arial"/>
                <a:cs typeface="Arial"/>
              </a:defRPr>
            </a:defPPr>
            <a:lvl1pPr algn="l">
              <a:defRPr sz="4560" b="1">
                <a:solidFill>
                  <a:srgbClr val="151312"/>
                </a:solidFill>
                <a:latin typeface="Arial"/>
                <a:ea typeface="Arial"/>
                <a:cs typeface="Arial"/>
              </a:defRPr>
            </a:lvl1pPr>
            <a:lvl2pPr algn="l">
              <a:defRPr sz="4560" b="1">
                <a:solidFill>
                  <a:srgbClr val="151312"/>
                </a:solidFill>
                <a:latin typeface="Arial"/>
                <a:ea typeface="Arial"/>
                <a:cs typeface="Arial"/>
              </a:defRPr>
            </a:lvl2pPr>
            <a:lvl3pPr algn="l">
              <a:defRPr sz="4560" b="1">
                <a:solidFill>
                  <a:srgbClr val="151312"/>
                </a:solidFill>
                <a:latin typeface="Arial"/>
                <a:ea typeface="Arial"/>
                <a:cs typeface="Arial"/>
              </a:defRPr>
            </a:lvl3pPr>
            <a:lvl4pPr algn="l">
              <a:defRPr sz="4560" b="1">
                <a:solidFill>
                  <a:srgbClr val="151312"/>
                </a:solidFill>
                <a:latin typeface="Arial"/>
                <a:ea typeface="Arial"/>
                <a:cs typeface="Arial"/>
              </a:defRPr>
            </a:lvl4pPr>
            <a:lvl5pPr algn="l">
              <a:defRPr sz="4560" b="1">
                <a:solidFill>
                  <a:srgbClr val="151312"/>
                </a:solidFill>
                <a:latin typeface="Arial"/>
                <a:ea typeface="Arial"/>
                <a:cs typeface="Arial"/>
              </a:defRPr>
            </a:lvl5pPr>
            <a:lvl6pPr algn="l">
              <a:defRPr sz="4560" b="1">
                <a:solidFill>
                  <a:srgbClr val="151312"/>
                </a:solidFill>
                <a:latin typeface="Arial"/>
                <a:ea typeface="Arial"/>
                <a:cs typeface="Arial"/>
              </a:defRPr>
            </a:lvl6pPr>
            <a:lvl7pPr algn="l">
              <a:defRPr sz="4560" b="1">
                <a:solidFill>
                  <a:srgbClr val="151312"/>
                </a:solidFill>
                <a:latin typeface="Arial"/>
                <a:ea typeface="Arial"/>
                <a:cs typeface="Arial"/>
              </a:defRPr>
            </a:lvl7pPr>
            <a:lvl8pPr algn="l">
              <a:defRPr sz="4560" b="1">
                <a:solidFill>
                  <a:srgbClr val="151312"/>
                </a:solidFill>
                <a:latin typeface="Arial"/>
                <a:ea typeface="Arial"/>
                <a:cs typeface="Arial"/>
              </a:defRPr>
            </a:lvl8pPr>
            <a:lvl9pPr algn="l">
              <a:defRPr sz="4560" b="1">
                <a:solidFill>
                  <a:srgbClr val="151312"/>
                </a:solidFill>
                <a:latin typeface="Arial"/>
                <a:ea typeface="Arial"/>
                <a:cs typeface="Arial"/>
              </a:defRPr>
            </a:lvl9pPr>
          </a:lstStyle>
          <a:p xmlns:a="http://schemas.openxmlformats.org/drawingml/2006/main">
            <a:pPr algn="l">
              <a:defRPr sz="4560" b="1">
                <a:solidFill>
                  <a:srgbClr val="151312"/>
                </a:solidFill>
                <a:latin typeface="Arial"/>
                <a:ea typeface="Arial"/>
                <a:cs typeface="Arial"/>
              </a:defRPr>
            </a:pPr>
            <a:r>
              <a:rPr sz="4560" b="1">
                <a:solidFill>
                  <a:srgbClr val="151312"/>
                </a:solidFill>
                <a:latin typeface="Arial"/>
                <a:ea typeface="Arial"/>
                <a:cs typeface="Arial"/>
              </a:rPr>
              <a:t>0.724</a:t>
            </a:r>
          </a:p>
        </p:txBody>
      </p:sp>
      <p:sp>
        <p:nvSpPr>
          <p:cNvPr id="15" name="">
            <a:extLst xmlns:a="http://schemas.openxmlformats.org/drawingml/2006/main">
              <a:ext uri="{FF2B5EF4-FFF2-40B4-BE49-F238E27FC236}">
                <a16:creationId xmlns:a16="http://schemas.microsoft.com/office/drawing/2014/main" id="{22CE726D-CE29-4AAB-A567-B07C2517E670}"/>
              </a:ext>
            </a:extLst>
          </p:cNvPr>
          <p:cNvSpPr>
            <a:spLocks xmlns:a="http://schemas.openxmlformats.org/drawingml/2006/main" noGrp="1"/>
          </p:cNvSpPr>
          <p:nvPr/>
        </p:nvSpPr>
        <p:spPr>
          <a:xfrm xmlns:a="http://schemas.openxmlformats.org/drawingml/2006/main">
            <a:off x="8838979" y="2781300"/>
            <a:ext cx="2743131"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cross-validated macro-F1 of RoBERTa-large at 2e-5, epoch 9 of ten</a:t>
            </a:r>
          </a:p>
        </p:txBody>
      </p:sp>
      <p:sp>
        <p:nvSpPr>
          <p:cNvPr id="16" name="">
            <a:extLst xmlns:a="http://schemas.openxmlformats.org/drawingml/2006/main">
              <a:ext uri="{FF2B5EF4-FFF2-40B4-BE49-F238E27FC236}">
                <a16:creationId xmlns:a16="http://schemas.microsoft.com/office/drawing/2014/main" id="{D35768F9-851F-43DA-A0D4-00C240C4529E}"/>
              </a:ext>
            </a:extLst>
          </p:cNvPr>
          <p:cNvSpPr>
            <a:spLocks xmlns:a="http://schemas.openxmlformats.org/drawingml/2006/main" noGrp="1"/>
          </p:cNvSpPr>
          <p:nvPr/>
        </p:nvSpPr>
        <p:spPr>
          <a:xfrm xmlns:a="http://schemas.openxmlformats.org/drawingml/2006/main">
            <a:off x="8838979" y="364236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92CD3DE-783D-44C2-8A6A-F215B2C7C465}"/>
              </a:ext>
            </a:extLst>
          </p:cNvPr>
          <p:cNvSpPr>
            <a:spLocks xmlns:a="http://schemas.openxmlformats.org/drawingml/2006/main" noGrp="1"/>
          </p:cNvSpPr>
          <p:nvPr/>
        </p:nvSpPr>
        <p:spPr>
          <a:xfrm xmlns:a="http://schemas.openxmlformats.org/drawingml/2006/main">
            <a:off x="8838979" y="371856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AdamW, betas 0.9 and 0.98, eps 1e-6, weight decay 0.01</a:t>
            </a:r>
          </a:p>
        </p:txBody>
      </p:sp>
      <p:sp>
        <p:nvSpPr>
          <p:cNvPr id="18" name="">
            <a:extLst xmlns:a="http://schemas.openxmlformats.org/drawingml/2006/main">
              <a:ext uri="{FF2B5EF4-FFF2-40B4-BE49-F238E27FC236}">
                <a16:creationId xmlns:a16="http://schemas.microsoft.com/office/drawing/2014/main" id="{C9204414-7109-4E1F-B6D0-9F1A6350C787}"/>
              </a:ext>
            </a:extLst>
          </p:cNvPr>
          <p:cNvSpPr>
            <a:spLocks xmlns:a="http://schemas.openxmlformats.org/drawingml/2006/main" noGrp="1"/>
          </p:cNvSpPr>
          <p:nvPr/>
        </p:nvSpPr>
        <p:spPr>
          <a:xfrm xmlns:a="http://schemas.openxmlformats.org/drawingml/2006/main">
            <a:off x="8838979" y="448564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9A92E39-A218-4EE5-82C4-C6811458A8EB}"/>
              </a:ext>
            </a:extLst>
          </p:cNvPr>
          <p:cNvSpPr>
            <a:spLocks xmlns:a="http://schemas.openxmlformats.org/drawingml/2006/main" noGrp="1"/>
          </p:cNvSpPr>
          <p:nvPr/>
        </p:nvSpPr>
        <p:spPr>
          <a:xfrm xmlns:a="http://schemas.openxmlformats.org/drawingml/2006/main">
            <a:off x="8838979" y="456184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10% warmup, linear decay; class-balanced loss; gradients clipped at 1</a:t>
            </a:r>
          </a:p>
        </p:txBody>
      </p:sp>
      <p:sp>
        <p:nvSpPr>
          <p:cNvPr id="20" name="">
            <a:extLst xmlns:a="http://schemas.openxmlformats.org/drawingml/2006/main">
              <a:ext uri="{FF2B5EF4-FFF2-40B4-BE49-F238E27FC236}">
                <a16:creationId xmlns:a16="http://schemas.microsoft.com/office/drawing/2014/main" id="{A074AC1A-5D71-4E64-8B40-1B07F20277EF}"/>
              </a:ext>
            </a:extLst>
          </p:cNvPr>
          <p:cNvSpPr>
            <a:spLocks xmlns:a="http://schemas.openxmlformats.org/drawingml/2006/main" noGrp="1"/>
          </p:cNvSpPr>
          <p:nvPr/>
        </p:nvSpPr>
        <p:spPr>
          <a:xfrm xmlns:a="http://schemas.openxmlformats.org/drawingml/2006/main">
            <a:off x="8838979" y="532892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0082A41-ABE8-4AB7-9B90-9EFD039A7CB1}"/>
              </a:ext>
            </a:extLst>
          </p:cNvPr>
          <p:cNvSpPr>
            <a:spLocks xmlns:a="http://schemas.openxmlformats.org/drawingml/2006/main" noGrp="1"/>
          </p:cNvSpPr>
          <p:nvPr/>
        </p:nvSpPr>
        <p:spPr>
          <a:xfrm xmlns:a="http://schemas.openxmlformats.org/drawingml/2006/main">
            <a:off x="8838979" y="540512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Validation macro-F1 after every epoch: the epoch is chosen too</a:t>
            </a:r>
          </a:p>
        </p:txBody>
      </p:sp>
      <p:pic>
        <p:nvPicPr>
          <p:cNvPr id="22" name="">
            <a:extLst xmlns:a="http://schemas.openxmlformats.org/drawingml/2006/main">
              <a:ext uri="{FF2B5EF4-FFF2-40B4-BE49-F238E27FC236}">
                <a16:creationId xmlns:a16="http://schemas.microsoft.com/office/drawing/2014/main" id="{FCA1F6BB-3B6A-434A-9027-807D5C9CDE0E}"/>
              </a:ext>
            </a:extLst>
          </p:cNvPr>
          <p:cNvPicPr>
            <a:picLocks xmlns:a="http://schemas.openxmlformats.org/drawingml/2006/main" noChangeAspect="1"/>
          </p:cNvPicPr>
          <p:nvPr/>
        </p:nvPicPr>
        <p:blipFill>
          <a:blip xmlns:r="http://schemas.openxmlformats.org/officeDocument/2006/relationships" xmlns:a="http://schemas.openxmlformats.org/drawingml/2006/main" r:embed="R451692388ed041a8"/>
          <a:stretch xmlns:a="http://schemas.openxmlformats.org/drawingml/2006/main"/>
        </p:blipFill>
        <p:spPr>
          <a:xfrm xmlns:a="http://schemas.openxmlformats.org/drawingml/2006/main">
            <a:off x="609585" y="1920293"/>
            <a:ext cx="7863643" cy="4251854"/>
          </a:xfrm>
          <a:prstGeom xmlns:a="http://schemas.openxmlformats.org/drawingml/2006/main" prst="rect">
            <a:avLst/>
          </a:prstGeom>
        </p:spPr>
      </p:pic>
    </p:spTree>
    <p:extLst>
      <p:ext uri="{BB962C8B-B14F-4D97-AF65-F5344CB8AC3E}">
        <p14:creationId xmlns:p14="http://schemas.microsoft.com/office/powerpoint/2010/main" val="126064351"/>
      </p:ext>
    </p:extLst>
  </p:cSld>
</p:sld>
</file>

<file path=ppt/slides/slide16.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B874F7F-A054-41A7-BA95-833F8ED13BDC}"/>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FA51273C-92FE-4AA7-91EC-89189155144A}"/>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READERS AND VALIDATION</a:t>
            </a:r>
          </a:p>
        </p:txBody>
      </p:sp>
      <p:sp>
        <p:nvSpPr>
          <p:cNvPr id="3" name="">
            <a:extLst xmlns:a="http://schemas.openxmlformats.org/drawingml/2006/main">
              <a:ext uri="{FF2B5EF4-FFF2-40B4-BE49-F238E27FC236}">
                <a16:creationId xmlns:a16="http://schemas.microsoft.com/office/drawing/2014/main" id="{7605DEC5-8702-4528-B350-E4F8A8C86461}"/>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16 / 46</a:t>
            </a:r>
          </a:p>
        </p:txBody>
      </p:sp>
      <p:sp>
        <p:nvSpPr>
          <p:cNvPr id="4" name="">
            <a:extLst xmlns:a="http://schemas.openxmlformats.org/drawingml/2006/main">
              <a:ext uri="{FF2B5EF4-FFF2-40B4-BE49-F238E27FC236}">
                <a16:creationId xmlns:a16="http://schemas.microsoft.com/office/drawing/2014/main" id="{D6893C21-44A1-49C4-88EE-9E05FA41DD3E}"/>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0A18269-274E-4E09-A927-BB9636CB0C3C}"/>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Higher agreement on public expert labels</a:t>
            </a:r>
          </a:p>
        </p:txBody>
      </p:sp>
      <p:sp>
        <p:nvSpPr>
          <p:cNvPr id="6" name="">
            <a:extLst xmlns:a="http://schemas.openxmlformats.org/drawingml/2006/main">
              <a:ext uri="{FF2B5EF4-FFF2-40B4-BE49-F238E27FC236}">
                <a16:creationId xmlns:a16="http://schemas.microsoft.com/office/drawing/2014/main" id="{01A47D5A-A48D-4F73-A98D-709C8E9310C2}"/>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Public expert labels support H1; the post-cutoff human test was not run</a:t>
            </a:r>
          </a:p>
        </p:txBody>
      </p:sp>
      <p:sp>
        <p:nvSpPr>
          <p:cNvPr id="7" name="">
            <a:extLst xmlns:a="http://schemas.openxmlformats.org/drawingml/2006/main">
              <a:ext uri="{FF2B5EF4-FFF2-40B4-BE49-F238E27FC236}">
                <a16:creationId xmlns:a16="http://schemas.microsoft.com/office/drawing/2014/main" id="{FAFB52CC-C58A-4395-A7A6-1A0D06A487C7}"/>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8918072-4682-4CE0-A0B4-D5D4E0109827}"/>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Trillion Dollar Words test split, 496 expert-labeled sentences (Shah, Paturi and Chava, 2023).</a:t>
            </a:r>
          </a:p>
        </p:txBody>
      </p:sp>
      <p:sp>
        <p:nvSpPr>
          <p:cNvPr id="9" name="">
            <a:extLst xmlns:a="http://schemas.openxmlformats.org/drawingml/2006/main">
              <a:ext uri="{FF2B5EF4-FFF2-40B4-BE49-F238E27FC236}">
                <a16:creationId xmlns:a16="http://schemas.microsoft.com/office/drawing/2014/main" id="{28B2D664-41A6-40D0-B13D-D6361A8787D4}"/>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A3102F4-20D2-46ED-8AEF-EC9247786F5E}"/>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BD6C830-E2F7-4FC2-B907-D0C3A95D62F4}"/>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904A925-9237-4DF5-9709-977485B5F3AD}"/>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EC1CA47-4A96-4161-8424-04B60BFC44AC}"/>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7A8F602-5E3C-4181-BE94-E79C1FDE1207}"/>
              </a:ext>
            </a:extLst>
          </p:cNvPr>
          <p:cNvSpPr>
            <a:spLocks xmlns:a="http://schemas.openxmlformats.org/drawingml/2006/main" noGrp="1"/>
          </p:cNvSpPr>
          <p:nvPr/>
        </p:nvSpPr>
        <p:spPr>
          <a:xfrm xmlns:a="http://schemas.openxmlformats.org/drawingml/2006/main">
            <a:off x="609585" y="1981200"/>
            <a:ext cx="274313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96491"/>
          </a:bodyPr>
          <a:lstStyle xmlns:a="http://schemas.openxmlformats.org/drawingml/2006/main">
            <a:defPPr algn="l">
              <a:defRPr sz="4560" b="1">
                <a:solidFill>
                  <a:srgbClr val="151312"/>
                </a:solidFill>
                <a:latin typeface="Arial"/>
                <a:ea typeface="Arial"/>
                <a:cs typeface="Arial"/>
              </a:defRPr>
            </a:defPPr>
            <a:lvl1pPr algn="l">
              <a:defRPr sz="4560" b="1">
                <a:solidFill>
                  <a:srgbClr val="151312"/>
                </a:solidFill>
                <a:latin typeface="Arial"/>
                <a:ea typeface="Arial"/>
                <a:cs typeface="Arial"/>
              </a:defRPr>
            </a:lvl1pPr>
            <a:lvl2pPr algn="l">
              <a:defRPr sz="4560" b="1">
                <a:solidFill>
                  <a:srgbClr val="151312"/>
                </a:solidFill>
                <a:latin typeface="Arial"/>
                <a:ea typeface="Arial"/>
                <a:cs typeface="Arial"/>
              </a:defRPr>
            </a:lvl2pPr>
            <a:lvl3pPr algn="l">
              <a:defRPr sz="4560" b="1">
                <a:solidFill>
                  <a:srgbClr val="151312"/>
                </a:solidFill>
                <a:latin typeface="Arial"/>
                <a:ea typeface="Arial"/>
                <a:cs typeface="Arial"/>
              </a:defRPr>
            </a:lvl3pPr>
            <a:lvl4pPr algn="l">
              <a:defRPr sz="4560" b="1">
                <a:solidFill>
                  <a:srgbClr val="151312"/>
                </a:solidFill>
                <a:latin typeface="Arial"/>
                <a:ea typeface="Arial"/>
                <a:cs typeface="Arial"/>
              </a:defRPr>
            </a:lvl4pPr>
            <a:lvl5pPr algn="l">
              <a:defRPr sz="4560" b="1">
                <a:solidFill>
                  <a:srgbClr val="151312"/>
                </a:solidFill>
                <a:latin typeface="Arial"/>
                <a:ea typeface="Arial"/>
                <a:cs typeface="Arial"/>
              </a:defRPr>
            </a:lvl5pPr>
            <a:lvl6pPr algn="l">
              <a:defRPr sz="4560" b="1">
                <a:solidFill>
                  <a:srgbClr val="151312"/>
                </a:solidFill>
                <a:latin typeface="Arial"/>
                <a:ea typeface="Arial"/>
                <a:cs typeface="Arial"/>
              </a:defRPr>
            </a:lvl6pPr>
            <a:lvl7pPr algn="l">
              <a:defRPr sz="4560" b="1">
                <a:solidFill>
                  <a:srgbClr val="151312"/>
                </a:solidFill>
                <a:latin typeface="Arial"/>
                <a:ea typeface="Arial"/>
                <a:cs typeface="Arial"/>
              </a:defRPr>
            </a:lvl7pPr>
            <a:lvl8pPr algn="l">
              <a:defRPr sz="4560" b="1">
                <a:solidFill>
                  <a:srgbClr val="151312"/>
                </a:solidFill>
                <a:latin typeface="Arial"/>
                <a:ea typeface="Arial"/>
                <a:cs typeface="Arial"/>
              </a:defRPr>
            </a:lvl8pPr>
            <a:lvl9pPr algn="l">
              <a:defRPr sz="4560" b="1">
                <a:solidFill>
                  <a:srgbClr val="151312"/>
                </a:solidFill>
                <a:latin typeface="Arial"/>
                <a:ea typeface="Arial"/>
                <a:cs typeface="Arial"/>
              </a:defRPr>
            </a:lvl9pPr>
          </a:lstStyle>
          <a:p xmlns:a="http://schemas.openxmlformats.org/drawingml/2006/main">
            <a:pPr algn="l">
              <a:defRPr sz="4560" b="1">
                <a:solidFill>
                  <a:srgbClr val="151312"/>
                </a:solidFill>
                <a:latin typeface="Arial"/>
                <a:ea typeface="Arial"/>
                <a:cs typeface="Arial"/>
              </a:defRPr>
            </a:pPr>
            <a:r>
              <a:rPr sz="4560" b="1">
                <a:solidFill>
                  <a:srgbClr val="151312"/>
                </a:solidFill>
                <a:latin typeface="Arial"/>
                <a:ea typeface="Arial"/>
                <a:cs typeface="Arial"/>
              </a:rPr>
              <a:t>0.66</a:t>
            </a:r>
          </a:p>
        </p:txBody>
      </p:sp>
      <p:sp>
        <p:nvSpPr>
          <p:cNvPr id="15" name="">
            <a:extLst xmlns:a="http://schemas.openxmlformats.org/drawingml/2006/main">
              <a:ext uri="{FF2B5EF4-FFF2-40B4-BE49-F238E27FC236}">
                <a16:creationId xmlns:a16="http://schemas.microsoft.com/office/drawing/2014/main" id="{35C075E8-6977-4DD1-BD71-945D1E416A42}"/>
              </a:ext>
            </a:extLst>
          </p:cNvPr>
          <p:cNvSpPr>
            <a:spLocks xmlns:a="http://schemas.openxmlformats.org/drawingml/2006/main" noGrp="1"/>
          </p:cNvSpPr>
          <p:nvPr/>
        </p:nvSpPr>
        <p:spPr>
          <a:xfrm xmlns:a="http://schemas.openxmlformats.org/drawingml/2006/main">
            <a:off x="609585" y="2689860"/>
            <a:ext cx="2743131"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Claude’s macro-F1 on 496 expert-labeled sentences</a:t>
            </a:r>
          </a:p>
        </p:txBody>
      </p:sp>
      <p:sp>
        <p:nvSpPr>
          <p:cNvPr id="16" name="">
            <a:extLst xmlns:a="http://schemas.openxmlformats.org/drawingml/2006/main">
              <a:ext uri="{FF2B5EF4-FFF2-40B4-BE49-F238E27FC236}">
                <a16:creationId xmlns:a16="http://schemas.microsoft.com/office/drawing/2014/main" id="{2DEDBDFA-B4DD-4DD8-8C55-2B1897528DA8}"/>
              </a:ext>
            </a:extLst>
          </p:cNvPr>
          <p:cNvSpPr>
            <a:spLocks xmlns:a="http://schemas.openxmlformats.org/drawingml/2006/main" noGrp="1"/>
          </p:cNvSpPr>
          <p:nvPr/>
        </p:nvSpPr>
        <p:spPr>
          <a:xfrm xmlns:a="http://schemas.openxmlformats.org/drawingml/2006/main">
            <a:off x="609585" y="3444240"/>
            <a:ext cx="2743131"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780" b="1">
                <a:solidFill>
                  <a:srgbClr val="55504A"/>
                </a:solidFill>
                <a:latin typeface="Arial"/>
                <a:ea typeface="Arial"/>
                <a:cs typeface="Arial"/>
              </a:defRPr>
            </a:defPPr>
            <a:lvl1pPr algn="l">
              <a:defRPr sz="780" b="1">
                <a:solidFill>
                  <a:srgbClr val="55504A"/>
                </a:solidFill>
                <a:latin typeface="Arial"/>
                <a:ea typeface="Arial"/>
                <a:cs typeface="Arial"/>
              </a:defRPr>
            </a:lvl1pPr>
            <a:lvl2pPr algn="l">
              <a:defRPr sz="780" b="1">
                <a:solidFill>
                  <a:srgbClr val="55504A"/>
                </a:solidFill>
                <a:latin typeface="Arial"/>
                <a:ea typeface="Arial"/>
                <a:cs typeface="Arial"/>
              </a:defRPr>
            </a:lvl2pPr>
            <a:lvl3pPr algn="l">
              <a:defRPr sz="780" b="1">
                <a:solidFill>
                  <a:srgbClr val="55504A"/>
                </a:solidFill>
                <a:latin typeface="Arial"/>
                <a:ea typeface="Arial"/>
                <a:cs typeface="Arial"/>
              </a:defRPr>
            </a:lvl3pPr>
            <a:lvl4pPr algn="l">
              <a:defRPr sz="780" b="1">
                <a:solidFill>
                  <a:srgbClr val="55504A"/>
                </a:solidFill>
                <a:latin typeface="Arial"/>
                <a:ea typeface="Arial"/>
                <a:cs typeface="Arial"/>
              </a:defRPr>
            </a:lvl4pPr>
            <a:lvl5pPr algn="l">
              <a:defRPr sz="780" b="1">
                <a:solidFill>
                  <a:srgbClr val="55504A"/>
                </a:solidFill>
                <a:latin typeface="Arial"/>
                <a:ea typeface="Arial"/>
                <a:cs typeface="Arial"/>
              </a:defRPr>
            </a:lvl5pPr>
            <a:lvl6pPr algn="l">
              <a:defRPr sz="780" b="1">
                <a:solidFill>
                  <a:srgbClr val="55504A"/>
                </a:solidFill>
                <a:latin typeface="Arial"/>
                <a:ea typeface="Arial"/>
                <a:cs typeface="Arial"/>
              </a:defRPr>
            </a:lvl6pPr>
            <a:lvl7pPr algn="l">
              <a:defRPr sz="780" b="1">
                <a:solidFill>
                  <a:srgbClr val="55504A"/>
                </a:solidFill>
                <a:latin typeface="Arial"/>
                <a:ea typeface="Arial"/>
                <a:cs typeface="Arial"/>
              </a:defRPr>
            </a:lvl7pPr>
            <a:lvl8pPr algn="l">
              <a:defRPr sz="780" b="1">
                <a:solidFill>
                  <a:srgbClr val="55504A"/>
                </a:solidFill>
                <a:latin typeface="Arial"/>
                <a:ea typeface="Arial"/>
                <a:cs typeface="Arial"/>
              </a:defRPr>
            </a:lvl8pPr>
            <a:lvl9pPr algn="l">
              <a:defRPr sz="780" b="1">
                <a:solidFill>
                  <a:srgbClr val="55504A"/>
                </a:solidFill>
                <a:latin typeface="Arial"/>
                <a:ea typeface="Arial"/>
                <a:cs typeface="Arial"/>
              </a:defRPr>
            </a:lvl9pPr>
          </a:lstStyle>
          <a:p xmlns:a="http://schemas.openxmlformats.org/drawingml/2006/main">
            <a:pPr algn="l">
              <a:defRPr sz="780" b="1">
                <a:solidFill>
                  <a:srgbClr val="55504A"/>
                </a:solidFill>
                <a:latin typeface="Arial"/>
                <a:ea typeface="Arial"/>
                <a:cs typeface="Arial"/>
              </a:defRPr>
            </a:pPr>
            <a:r>
              <a:rPr sz="780" b="1">
                <a:solidFill>
                  <a:srgbClr val="55504A"/>
                </a:solidFill>
                <a:latin typeface="Arial"/>
                <a:ea typeface="Arial"/>
                <a:cs typeface="Arial"/>
              </a:rPr>
              <a:t>AGAINST</a:t>
            </a:r>
          </a:p>
        </p:txBody>
      </p:sp>
      <p:sp>
        <p:nvSpPr>
          <p:cNvPr id="17" name="">
            <a:extLst xmlns:a="http://schemas.openxmlformats.org/drawingml/2006/main">
              <a:ext uri="{FF2B5EF4-FFF2-40B4-BE49-F238E27FC236}">
                <a16:creationId xmlns:a16="http://schemas.microsoft.com/office/drawing/2014/main" id="{C90DB5B9-2DA9-4E73-9D8C-50B06644B109}"/>
              </a:ext>
            </a:extLst>
          </p:cNvPr>
          <p:cNvSpPr>
            <a:spLocks xmlns:a="http://schemas.openxmlformats.org/drawingml/2006/main" noGrp="1"/>
          </p:cNvSpPr>
          <p:nvPr/>
        </p:nvSpPr>
        <p:spPr>
          <a:xfrm xmlns:a="http://schemas.openxmlformats.org/drawingml/2006/main">
            <a:off x="609585" y="3733800"/>
            <a:ext cx="274313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96491"/>
          </a:bodyPr>
          <a:lstStyle xmlns:a="http://schemas.openxmlformats.org/drawingml/2006/main">
            <a:defPPr algn="l">
              <a:defRPr sz="4560" b="1">
                <a:solidFill>
                  <a:srgbClr val="151312"/>
                </a:solidFill>
                <a:latin typeface="Arial"/>
                <a:ea typeface="Arial"/>
                <a:cs typeface="Arial"/>
              </a:defRPr>
            </a:defPPr>
            <a:lvl1pPr algn="l">
              <a:defRPr sz="4560" b="1">
                <a:solidFill>
                  <a:srgbClr val="151312"/>
                </a:solidFill>
                <a:latin typeface="Arial"/>
                <a:ea typeface="Arial"/>
                <a:cs typeface="Arial"/>
              </a:defRPr>
            </a:lvl1pPr>
            <a:lvl2pPr algn="l">
              <a:defRPr sz="4560" b="1">
                <a:solidFill>
                  <a:srgbClr val="151312"/>
                </a:solidFill>
                <a:latin typeface="Arial"/>
                <a:ea typeface="Arial"/>
                <a:cs typeface="Arial"/>
              </a:defRPr>
            </a:lvl2pPr>
            <a:lvl3pPr algn="l">
              <a:defRPr sz="4560" b="1">
                <a:solidFill>
                  <a:srgbClr val="151312"/>
                </a:solidFill>
                <a:latin typeface="Arial"/>
                <a:ea typeface="Arial"/>
                <a:cs typeface="Arial"/>
              </a:defRPr>
            </a:lvl3pPr>
            <a:lvl4pPr algn="l">
              <a:defRPr sz="4560" b="1">
                <a:solidFill>
                  <a:srgbClr val="151312"/>
                </a:solidFill>
                <a:latin typeface="Arial"/>
                <a:ea typeface="Arial"/>
                <a:cs typeface="Arial"/>
              </a:defRPr>
            </a:lvl4pPr>
            <a:lvl5pPr algn="l">
              <a:defRPr sz="4560" b="1">
                <a:solidFill>
                  <a:srgbClr val="151312"/>
                </a:solidFill>
                <a:latin typeface="Arial"/>
                <a:ea typeface="Arial"/>
                <a:cs typeface="Arial"/>
              </a:defRPr>
            </a:lvl5pPr>
            <a:lvl6pPr algn="l">
              <a:defRPr sz="4560" b="1">
                <a:solidFill>
                  <a:srgbClr val="151312"/>
                </a:solidFill>
                <a:latin typeface="Arial"/>
                <a:ea typeface="Arial"/>
                <a:cs typeface="Arial"/>
              </a:defRPr>
            </a:lvl6pPr>
            <a:lvl7pPr algn="l">
              <a:defRPr sz="4560" b="1">
                <a:solidFill>
                  <a:srgbClr val="151312"/>
                </a:solidFill>
                <a:latin typeface="Arial"/>
                <a:ea typeface="Arial"/>
                <a:cs typeface="Arial"/>
              </a:defRPr>
            </a:lvl7pPr>
            <a:lvl8pPr algn="l">
              <a:defRPr sz="4560" b="1">
                <a:solidFill>
                  <a:srgbClr val="151312"/>
                </a:solidFill>
                <a:latin typeface="Arial"/>
                <a:ea typeface="Arial"/>
                <a:cs typeface="Arial"/>
              </a:defRPr>
            </a:lvl8pPr>
            <a:lvl9pPr algn="l">
              <a:defRPr sz="4560" b="1">
                <a:solidFill>
                  <a:srgbClr val="151312"/>
                </a:solidFill>
                <a:latin typeface="Arial"/>
                <a:ea typeface="Arial"/>
                <a:cs typeface="Arial"/>
              </a:defRPr>
            </a:lvl9pPr>
          </a:lstStyle>
          <a:p xmlns:a="http://schemas.openxmlformats.org/drawingml/2006/main">
            <a:pPr algn="l">
              <a:defRPr sz="4560" b="1">
                <a:solidFill>
                  <a:srgbClr val="151312"/>
                </a:solidFill>
                <a:latin typeface="Arial"/>
                <a:ea typeface="Arial"/>
                <a:cs typeface="Arial"/>
              </a:defRPr>
            </a:pPr>
            <a:r>
              <a:rPr sz="4560" b="1">
                <a:solidFill>
                  <a:srgbClr val="151312"/>
                </a:solidFill>
                <a:latin typeface="Arial"/>
                <a:ea typeface="Arial"/>
                <a:cs typeface="Arial"/>
              </a:rPr>
              <a:t>0.58</a:t>
            </a:r>
          </a:p>
        </p:txBody>
      </p:sp>
      <p:sp>
        <p:nvSpPr>
          <p:cNvPr id="18" name="">
            <a:extLst xmlns:a="http://schemas.openxmlformats.org/drawingml/2006/main">
              <a:ext uri="{FF2B5EF4-FFF2-40B4-BE49-F238E27FC236}">
                <a16:creationId xmlns:a16="http://schemas.microsoft.com/office/drawing/2014/main" id="{74AC42FF-53E8-4853-A106-A478E1227C1B}"/>
              </a:ext>
            </a:extLst>
          </p:cNvPr>
          <p:cNvSpPr>
            <a:spLocks xmlns:a="http://schemas.openxmlformats.org/drawingml/2006/main" noGrp="1"/>
          </p:cNvSpPr>
          <p:nvPr/>
        </p:nvSpPr>
        <p:spPr>
          <a:xfrm xmlns:a="http://schemas.openxmlformats.org/drawingml/2006/main">
            <a:off x="609585" y="4442460"/>
            <a:ext cx="2743131"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the best of the three simpler readers</a:t>
            </a:r>
          </a:p>
        </p:txBody>
      </p:sp>
      <p:sp>
        <p:nvSpPr>
          <p:cNvPr id="19" name="">
            <a:extLst xmlns:a="http://schemas.openxmlformats.org/drawingml/2006/main">
              <a:ext uri="{FF2B5EF4-FFF2-40B4-BE49-F238E27FC236}">
                <a16:creationId xmlns:a16="http://schemas.microsoft.com/office/drawing/2014/main" id="{4E77B76B-FD60-4437-81C8-E45042ABA093}"/>
              </a:ext>
            </a:extLst>
          </p:cNvPr>
          <p:cNvSpPr>
            <a:spLocks xmlns:a="http://schemas.openxmlformats.org/drawingml/2006/main" noGrp="1"/>
          </p:cNvSpPr>
          <p:nvPr/>
        </p:nvSpPr>
        <p:spPr>
          <a:xfrm xmlns:a="http://schemas.openxmlformats.org/drawingml/2006/main">
            <a:off x="609585" y="519684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D16EDF8-0005-4B93-91BC-4391C2152DC3}"/>
              </a:ext>
            </a:extLst>
          </p:cNvPr>
          <p:cNvSpPr>
            <a:spLocks xmlns:a="http://schemas.openxmlformats.org/drawingml/2006/main" noGrp="1"/>
          </p:cNvSpPr>
          <p:nvPr/>
        </p:nvSpPr>
        <p:spPr>
          <a:xfrm xmlns:a="http://schemas.openxmlformats.org/drawingml/2006/main">
            <a:off x="609585" y="5288280"/>
            <a:ext cx="2743131"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Kappa 0.49; best baseline 0.37 (Sentence embeddings)</a:t>
            </a:r>
          </a:p>
        </p:txBody>
      </p:sp>
      <p:pic>
        <p:nvPicPr>
          <p:cNvPr id="21" name="">
            <a:extLst xmlns:a="http://schemas.openxmlformats.org/drawingml/2006/main">
              <a:ext uri="{FF2B5EF4-FFF2-40B4-BE49-F238E27FC236}">
                <a16:creationId xmlns:a16="http://schemas.microsoft.com/office/drawing/2014/main" id="{41E86D57-2281-414D-92FA-100C35523A2B}"/>
              </a:ext>
            </a:extLst>
          </p:cNvPr>
          <p:cNvPicPr>
            <a:picLocks xmlns:a="http://schemas.openxmlformats.org/drawingml/2006/main" noChangeAspect="1"/>
          </p:cNvPicPr>
          <p:nvPr/>
        </p:nvPicPr>
        <p:blipFill>
          <a:blip xmlns:r="http://schemas.openxmlformats.org/officeDocument/2006/relationships" xmlns:a="http://schemas.openxmlformats.org/drawingml/2006/main" r:embed="Rf20c57e77826491a"/>
          <a:stretch xmlns:a="http://schemas.openxmlformats.org/drawingml/2006/main"/>
        </p:blipFill>
        <p:spPr>
          <a:xfrm xmlns:a="http://schemas.openxmlformats.org/drawingml/2006/main">
            <a:off x="3718467" y="1920293"/>
            <a:ext cx="7863643" cy="4251854"/>
          </a:xfrm>
          <a:prstGeom xmlns:a="http://schemas.openxmlformats.org/drawingml/2006/main" prst="rect">
            <a:avLst/>
          </a:prstGeom>
        </p:spPr>
      </p:pic>
    </p:spTree>
    <p:extLst>
      <p:ext uri="{BB962C8B-B14F-4D97-AF65-F5344CB8AC3E}">
        <p14:creationId xmlns:p14="http://schemas.microsoft.com/office/powerpoint/2010/main" val="1371005866"/>
      </p:ext>
    </p:extLst>
  </p:cSld>
</p:sld>
</file>

<file path=ppt/slides/slide17.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EF293A4-5620-42F7-B266-239FE7AD4B49}"/>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87A97AE0-1037-4325-B9C9-2A91F9E4DCA9}"/>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READERS AND VALIDATION</a:t>
            </a:r>
          </a:p>
        </p:txBody>
      </p:sp>
      <p:sp>
        <p:nvSpPr>
          <p:cNvPr id="3" name="">
            <a:extLst xmlns:a="http://schemas.openxmlformats.org/drawingml/2006/main">
              <a:ext uri="{FF2B5EF4-FFF2-40B4-BE49-F238E27FC236}">
                <a16:creationId xmlns:a16="http://schemas.microsoft.com/office/drawing/2014/main" id="{C0196AC5-EBEA-4FC4-940C-5B38883A111C}"/>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17 / 46</a:t>
            </a:r>
          </a:p>
        </p:txBody>
      </p:sp>
      <p:sp>
        <p:nvSpPr>
          <p:cNvPr id="4" name="">
            <a:extLst xmlns:a="http://schemas.openxmlformats.org/drawingml/2006/main">
              <a:ext uri="{FF2B5EF4-FFF2-40B4-BE49-F238E27FC236}">
                <a16:creationId xmlns:a16="http://schemas.microsoft.com/office/drawing/2014/main" id="{C6E6D9E8-A03A-410E-9937-9C262543B33C}"/>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BCF2B58-2923-4CCF-AB96-A0A065FDB8D5}"/>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Ahead of the baselines, behind a trained model</a:t>
            </a:r>
          </a:p>
        </p:txBody>
      </p:sp>
      <p:sp>
        <p:nvSpPr>
          <p:cNvPr id="6" name="">
            <a:extLst xmlns:a="http://schemas.openxmlformats.org/drawingml/2006/main">
              <a:ext uri="{FF2B5EF4-FFF2-40B4-BE49-F238E27FC236}">
                <a16:creationId xmlns:a16="http://schemas.microsoft.com/office/drawing/2014/main" id="{E28677EA-D24C-44C3-9CAE-1BC110F7EDBA}"/>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Paired macro-F1 gaps on public expert labels; positive favors Claude</a:t>
            </a:r>
          </a:p>
        </p:txBody>
      </p:sp>
      <p:sp>
        <p:nvSpPr>
          <p:cNvPr id="7" name="">
            <a:extLst xmlns:a="http://schemas.openxmlformats.org/drawingml/2006/main">
              <a:ext uri="{FF2B5EF4-FFF2-40B4-BE49-F238E27FC236}">
                <a16:creationId xmlns:a16="http://schemas.microsoft.com/office/drawing/2014/main" id="{D10151FD-0309-45CE-A133-D5E7B5C28D43}"/>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83F7BEB-8C5A-4E82-9D7B-025C9700F312}"/>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Trillion Dollar Words test split (496 sentences); evaluate/validity.py.</a:t>
            </a:r>
          </a:p>
        </p:txBody>
      </p:sp>
      <p:sp>
        <p:nvSpPr>
          <p:cNvPr id="9" name="">
            <a:extLst xmlns:a="http://schemas.openxmlformats.org/drawingml/2006/main">
              <a:ext uri="{FF2B5EF4-FFF2-40B4-BE49-F238E27FC236}">
                <a16:creationId xmlns:a16="http://schemas.microsoft.com/office/drawing/2014/main" id="{DA48A153-DCC8-4A1A-8BC2-7B913D5497A7}"/>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40C67DF-F26C-44F1-B268-50FA2E9688BF}"/>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076C55C-69BD-472A-9333-AC656EA67339}"/>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A57B586-48AD-4250-98D4-0F5EDBFDC0ED}"/>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1E01E50-9D0E-447B-B0DD-0EAF70A8A996}"/>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graphicFrame>
        <p:nvGraphicFramePr>
          <p:cNvPr id="14" name="">
            <a:extLst xmlns:a="http://schemas.openxmlformats.org/drawingml/2006/main">
              <a:ext uri="{FF2B5EF4-FFF2-40B4-BE49-F238E27FC236}">
                <a16:creationId xmlns:a16="http://schemas.microsoft.com/office/drawing/2014/main" id="{5AC6D609-F687-4796-AA34-AF24BE0FF5C1}"/>
              </a:ext>
            </a:extLst>
          </p:cNvPr>
          <p:cNvGraphicFramePr/>
          <p:nvPr/>
        </p:nvGraphicFramePr>
        <p:xfrm>
          <a:off xmlns:a="http://schemas.openxmlformats.org/drawingml/2006/main" x="609585" y="1920240"/>
          <a:ext xmlns:a="http://schemas.openxmlformats.org/drawingml/2006/main" cx="10972526" cy="4251960"/>
        </p:xfrm>
        <a:graphic xmlns:a="http://schemas.openxmlformats.org/drawingml/2006/main">
          <a:graphicData uri="http://schemas.openxmlformats.org/drawingml/2006/table">
            <a:tbl>
              <a:tblPr/>
              <a:tblGrid>
                <a:gridCol w="2095448"/>
                <a:gridCol w="952476"/>
                <a:gridCol w="952476"/>
                <a:gridCol w="1066773"/>
                <a:gridCol w="1523962"/>
                <a:gridCol w="1485863"/>
                <a:gridCol w="1447764"/>
                <a:gridCol w="1447764"/>
              </a:tblGrid>
              <a:tr h="472440">
                <a:tc>
                  <a:txBody>
                    <a:bodyPr/>
                    <a:lstStyle/>
                    <a:p>
                      <a:pPr algn="l"/>
                      <a:r>
                        <a:rPr sz="1080" b="1">
                          <a:solidFill>
                            <a:srgbClr val="151312"/>
                          </a:solidFill>
                          <a:latin typeface="Arial"/>
                          <a:ea typeface="Arial"/>
                          <a:cs typeface="Arial"/>
                        </a:rPr>
                        <a:t>Reader</a:t>
                      </a:r>
                    </a:p>
                  </a:txBody>
                  <a:tcPr marL="91440" marR="91440" marT="45720" marB="45720" anchor="ctr">
                    <a:lnL w="0">
                      <a:noFill/>
                    </a:lnL>
                    <a:lnR w="0">
                      <a:noFill/>
                    </a:lnR>
                    <a:lnT w="0">
                      <a:noFill/>
                    </a:lnT>
                    <a:lnB w="0">
                      <a:noFill/>
                    </a:lnB>
                    <a:solidFill>
                      <a:srgbClr val="F3F0E9"/>
                    </a:solidFill>
                  </a:tcPr>
                </a:tc>
                <a:tc>
                  <a:txBody>
                    <a:bodyPr/>
                    <a:lstStyle/>
                    <a:p>
                      <a:pPr algn="r"/>
                      <a:r>
                        <a:rPr sz="1080" b="1">
                          <a:solidFill>
                            <a:srgbClr val="151312"/>
                          </a:solidFill>
                          <a:latin typeface="Arial"/>
                          <a:ea typeface="Arial"/>
                          <a:cs typeface="Arial"/>
                        </a:rPr>
                        <a:t>Accuracy</a:t>
                      </a:r>
                    </a:p>
                  </a:txBody>
                  <a:tcPr marL="91440" marR="91440" marT="45720" marB="45720" anchor="ctr">
                    <a:lnR w="0">
                      <a:noFill/>
                    </a:lnR>
                    <a:lnT w="0">
                      <a:noFill/>
                    </a:lnT>
                    <a:lnB w="0">
                      <a:noFill/>
                    </a:lnB>
                    <a:solidFill>
                      <a:srgbClr val="F3F0E9"/>
                    </a:solidFill>
                  </a:tcPr>
                </a:tc>
                <a:tc>
                  <a:txBody>
                    <a:bodyPr/>
                    <a:lstStyle/>
                    <a:p>
                      <a:pPr algn="r"/>
                      <a:r>
                        <a:rPr sz="1080" b="1">
                          <a:solidFill>
                            <a:srgbClr val="151312"/>
                          </a:solidFill>
                          <a:latin typeface="Arial"/>
                          <a:ea typeface="Arial"/>
                          <a:cs typeface="Arial"/>
                        </a:rPr>
                        <a:t>Macro-F1</a:t>
                      </a:r>
                    </a:p>
                  </a:txBody>
                  <a:tcPr marL="91440" marR="91440" marT="45720" marB="45720" anchor="ctr">
                    <a:lnR w="0">
                      <a:noFill/>
                    </a:lnR>
                    <a:lnT w="0">
                      <a:noFill/>
                    </a:lnT>
                    <a:lnB w="0">
                      <a:noFill/>
                    </a:lnB>
                    <a:solidFill>
                      <a:srgbClr val="F3F0E9"/>
                    </a:solidFill>
                  </a:tcPr>
                </a:tc>
                <a:tc>
                  <a:txBody>
                    <a:bodyPr/>
                    <a:lstStyle/>
                    <a:p>
                      <a:pPr algn="r"/>
                      <a:r>
                        <a:rPr sz="1080" b="1">
                          <a:solidFill>
                            <a:srgbClr val="151312"/>
                          </a:solidFill>
                          <a:latin typeface="Arial"/>
                          <a:ea typeface="Arial"/>
                          <a:cs typeface="Arial"/>
                        </a:rPr>
                        <a:t>Kappa</a:t>
                      </a:r>
                    </a:p>
                  </a:txBody>
                  <a:tcPr marL="91440" marR="91440" marT="45720" marB="45720" anchor="ctr">
                    <a:lnR w="0">
                      <a:noFill/>
                    </a:lnR>
                    <a:lnT w="0">
                      <a:noFill/>
                    </a:lnT>
                    <a:lnB w="0">
                      <a:noFill/>
                    </a:lnB>
                    <a:solidFill>
                      <a:srgbClr val="F3F0E9"/>
                    </a:solidFill>
                  </a:tcPr>
                </a:tc>
                <a:tc>
                  <a:txBody>
                    <a:bodyPr/>
                    <a:lstStyle/>
                    <a:p>
                      <a:pPr algn="r"/>
                      <a:r>
                        <a:rPr sz="1080" b="1">
                          <a:solidFill>
                            <a:srgbClr val="151312"/>
                          </a:solidFill>
                          <a:latin typeface="Arial"/>
                          <a:ea typeface="Arial"/>
                          <a:cs typeface="Arial"/>
                        </a:rPr>
                        <a:t>Claude − reader F1</a:t>
                      </a:r>
                    </a:p>
                  </a:txBody>
                  <a:tcPr marL="91440" marR="91440" marT="45720" marB="45720" anchor="ctr">
                    <a:lnR w="0">
                      <a:noFill/>
                    </a:lnR>
                    <a:lnT w="0">
                      <a:noFill/>
                    </a:lnT>
                    <a:lnB w="0">
                      <a:noFill/>
                    </a:lnB>
                    <a:solidFill>
                      <a:srgbClr val="F3F0E9"/>
                    </a:solidFill>
                  </a:tcPr>
                </a:tc>
                <a:tc>
                  <a:txBody>
                    <a:bodyPr/>
                    <a:lstStyle/>
                    <a:p>
                      <a:pPr algn="r"/>
                      <a:r>
                        <a:rPr sz="1080" b="1">
                          <a:solidFill>
                            <a:srgbClr val="151312"/>
                          </a:solidFill>
                          <a:latin typeface="Arial"/>
                          <a:ea typeface="Arial"/>
                          <a:cs typeface="Arial"/>
                        </a:rPr>
                        <a:t>95% interval</a:t>
                      </a:r>
                    </a:p>
                  </a:txBody>
                  <a:tcPr marL="91440" marR="91440" marT="45720" marB="45720" anchor="ctr">
                    <a:lnR w="0">
                      <a:noFill/>
                    </a:lnR>
                    <a:lnT w="0">
                      <a:noFill/>
                    </a:lnT>
                    <a:lnB w="0">
                      <a:noFill/>
                    </a:lnB>
                    <a:solidFill>
                      <a:srgbClr val="F3F0E9"/>
                    </a:solidFill>
                  </a:tcPr>
                </a:tc>
                <a:tc>
                  <a:txBody>
                    <a:bodyPr/>
                    <a:lstStyle/>
                    <a:p>
                      <a:pPr algn="r"/>
                      <a:r>
                        <a:rPr sz="1080" b="1">
                          <a:solidFill>
                            <a:srgbClr val="151312"/>
                          </a:solidFill>
                          <a:latin typeface="Arial"/>
                          <a:ea typeface="Arial"/>
                          <a:cs typeface="Arial"/>
                        </a:rPr>
                        <a:t>p</a:t>
                      </a:r>
                    </a:p>
                  </a:txBody>
                  <a:tcPr marL="91440" marR="91440" marT="45720" marB="45720" anchor="ctr">
                    <a:lnR w="0">
                      <a:noFill/>
                    </a:lnR>
                    <a:lnT w="0">
                      <a:noFill/>
                    </a:lnT>
                    <a:lnB w="0">
                      <a:noFill/>
                    </a:lnB>
                    <a:solidFill>
                      <a:srgbClr val="F3F0E9"/>
                    </a:solidFill>
                  </a:tcPr>
                </a:tc>
                <a:tc>
                  <a:txBody>
                    <a:bodyPr/>
                    <a:lstStyle/>
                    <a:p>
                      <a:pPr algn="r"/>
                      <a:r>
                        <a:rPr sz="1080" b="1">
                          <a:solidFill>
                            <a:srgbClr val="151312"/>
                          </a:solidFill>
                          <a:latin typeface="Arial"/>
                          <a:ea typeface="Arial"/>
                          <a:cs typeface="Arial"/>
                        </a:rPr>
                        <a:t>McNemar p</a:t>
                      </a:r>
                    </a:p>
                  </a:txBody>
                  <a:tcPr marL="91440" marR="91440" marT="45720" marB="45720" anchor="ctr">
                    <a:lnR w="0">
                      <a:noFill/>
                    </a:lnR>
                    <a:lnT w="0">
                      <a:noFill/>
                    </a:lnT>
                    <a:lnB w="0">
                      <a:noFill/>
                    </a:lnB>
                    <a:solidFill>
                      <a:srgbClr val="F3F0E9"/>
                    </a:solidFill>
                  </a:tcPr>
                </a:tc>
              </a:tr>
              <a:tr h="755904">
                <a:tc>
                  <a:txBody>
                    <a:bodyPr/>
                    <a:lstStyle/>
                    <a:p>
                      <a:pPr algn="l"/>
                      <a:r>
                        <a:rPr sz="1440" b="1">
                          <a:solidFill>
                            <a:srgbClr val="45413C"/>
                          </a:solidFill>
                          <a:latin typeface="Arial"/>
                          <a:ea typeface="Arial"/>
                          <a:cs typeface="Arial"/>
                        </a:rPr>
                        <a:t>Fine-tuned RoBERTa</a:t>
                      </a:r>
                    </a:p>
                  </a:txBody>
                  <a:tcPr marL="91440" marR="91440" marT="45720" marB="45720" anchor="ctr">
                    <a:lnL w="0">
                      <a:noFill/>
                    </a:lnL>
                    <a:lnR w="0">
                      <a:noFill/>
                    </a:lnR>
                    <a:lnB w="0">
                      <a:noFill/>
                    </a:lnB>
                    <a:solidFill>
                      <a:srgbClr val="FFFEFB"/>
                    </a:solidFill>
                  </a:tcPr>
                </a:tc>
                <a:tc>
                  <a:txBody>
                    <a:bodyPr/>
                    <a:lstStyle/>
                    <a:p>
                      <a:pPr algn="r"/>
                      <a:r>
                        <a:rPr sz="1440" b="0">
                          <a:solidFill>
                            <a:srgbClr val="45413C"/>
                          </a:solidFill>
                          <a:latin typeface="Arial"/>
                          <a:ea typeface="Arial"/>
                          <a:cs typeface="Arial"/>
                        </a:rPr>
                        <a:t>0.746</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0.737</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0.602</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−0.076</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−0.122 to −0.030</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&lt; 0.001</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0.003</a:t>
                      </a:r>
                    </a:p>
                  </a:txBody>
                  <a:tcPr marL="91440" marR="91440" marT="45720" marB="45720" anchor="ctr">
                    <a:lnR w="0">
                      <a:noFill/>
                    </a:lnR>
                    <a:lnB w="0">
                      <a:noFill/>
                    </a:lnB>
                    <a:solidFill>
                      <a:srgbClr val="FFFEFB"/>
                    </a:solidFill>
                  </a:tcPr>
                </a:tc>
              </a:tr>
              <a:tr h="755904">
                <a:tc>
                  <a:txBody>
                    <a:bodyPr/>
                    <a:lstStyle/>
                    <a:p>
                      <a:pPr algn="l"/>
                      <a:r>
                        <a:rPr sz="1440" b="1">
                          <a:solidFill>
                            <a:srgbClr val="45413C"/>
                          </a:solidFill>
                          <a:latin typeface="Arial"/>
                          <a:ea typeface="Arial"/>
                          <a:cs typeface="Arial"/>
                        </a:rPr>
                        <a:t>Claude Opus 5.5</a:t>
                      </a:r>
                    </a:p>
                  </a:txBody>
                  <a:tcPr marL="91440" marR="91440" marT="45720" marB="45720" anchor="ctr">
                    <a:lnL w="0">
                      <a:noFill/>
                    </a:lnL>
                    <a:lnR w="0">
                      <a:noFill/>
                    </a:lnR>
                    <a:lnB w="0">
                      <a:noFill/>
                    </a:lnB>
                    <a:solidFill>
                      <a:srgbClr val="ECE8E1"/>
                    </a:solidFill>
                  </a:tcPr>
                </a:tc>
                <a:tc>
                  <a:txBody>
                    <a:bodyPr/>
                    <a:lstStyle/>
                    <a:p>
                      <a:pPr algn="r"/>
                      <a:r>
                        <a:rPr sz="1440" b="0">
                          <a:solidFill>
                            <a:srgbClr val="45413C"/>
                          </a:solidFill>
                          <a:latin typeface="Arial"/>
                          <a:ea typeface="Arial"/>
                          <a:cs typeface="Arial"/>
                        </a:rPr>
                        <a:t>0.677</a:t>
                      </a:r>
                    </a:p>
                  </a:txBody>
                  <a:tcPr marL="91440" marR="91440" marT="45720" marB="45720" anchor="ctr">
                    <a:lnR w="0">
                      <a:noFill/>
                    </a:lnR>
                    <a:lnB w="0">
                      <a:noFill/>
                    </a:lnB>
                    <a:solidFill>
                      <a:srgbClr val="ECE8E1"/>
                    </a:solidFill>
                  </a:tcPr>
                </a:tc>
                <a:tc>
                  <a:txBody>
                    <a:bodyPr/>
                    <a:lstStyle/>
                    <a:p>
                      <a:pPr algn="r"/>
                      <a:r>
                        <a:rPr sz="1440" b="0">
                          <a:solidFill>
                            <a:srgbClr val="45413C"/>
                          </a:solidFill>
                          <a:latin typeface="Arial"/>
                          <a:ea typeface="Arial"/>
                          <a:cs typeface="Arial"/>
                        </a:rPr>
                        <a:t>0.661</a:t>
                      </a:r>
                    </a:p>
                  </a:txBody>
                  <a:tcPr marL="91440" marR="91440" marT="45720" marB="45720" anchor="ctr">
                    <a:lnR w="0">
                      <a:noFill/>
                    </a:lnR>
                    <a:lnB w="0">
                      <a:noFill/>
                    </a:lnB>
                    <a:solidFill>
                      <a:srgbClr val="ECE8E1"/>
                    </a:solidFill>
                  </a:tcPr>
                </a:tc>
                <a:tc>
                  <a:txBody>
                    <a:bodyPr/>
                    <a:lstStyle/>
                    <a:p>
                      <a:pPr algn="r"/>
                      <a:r>
                        <a:rPr sz="1440" b="0">
                          <a:solidFill>
                            <a:srgbClr val="45413C"/>
                          </a:solidFill>
                          <a:latin typeface="Arial"/>
                          <a:ea typeface="Arial"/>
                          <a:cs typeface="Arial"/>
                        </a:rPr>
                        <a:t>0.485</a:t>
                      </a:r>
                    </a:p>
                  </a:txBody>
                  <a:tcPr marL="91440" marR="91440" marT="45720" marB="45720" anchor="ctr">
                    <a:lnR w="0">
                      <a:noFill/>
                    </a:lnR>
                    <a:lnB w="0">
                      <a:noFill/>
                    </a:lnB>
                    <a:solidFill>
                      <a:srgbClr val="ECE8E1"/>
                    </a:solidFill>
                  </a:tcPr>
                </a:tc>
                <a:tc>
                  <a:txBody>
                    <a:bodyPr/>
                    <a:lstStyle/>
                    <a:p>
                      <a:pPr algn="r"/>
                      <a:r>
                        <a:rPr sz="1440" b="0">
                          <a:solidFill>
                            <a:srgbClr val="45413C"/>
                          </a:solidFill>
                          <a:latin typeface="Arial"/>
                          <a:ea typeface="Arial"/>
                          <a:cs typeface="Arial"/>
                        </a:rPr>
                        <a:t>–</a:t>
                      </a:r>
                    </a:p>
                  </a:txBody>
                  <a:tcPr marL="91440" marR="91440" marT="45720" marB="45720" anchor="ctr">
                    <a:lnR w="0">
                      <a:noFill/>
                    </a:lnR>
                    <a:lnB w="0">
                      <a:noFill/>
                    </a:lnB>
                    <a:solidFill>
                      <a:srgbClr val="ECE8E1"/>
                    </a:solidFill>
                  </a:tcPr>
                </a:tc>
                <a:tc>
                  <a:txBody>
                    <a:bodyPr/>
                    <a:lstStyle/>
                    <a:p>
                      <a:pPr algn="r"/>
                      <a:r>
                        <a:rPr sz="1440" b="0">
                          <a:solidFill>
                            <a:srgbClr val="45413C"/>
                          </a:solidFill>
                          <a:latin typeface="Arial"/>
                          <a:ea typeface="Arial"/>
                          <a:cs typeface="Arial"/>
                        </a:rPr>
                        <a:t>–</a:t>
                      </a:r>
                    </a:p>
                  </a:txBody>
                  <a:tcPr marL="91440" marR="91440" marT="45720" marB="45720" anchor="ctr">
                    <a:lnR w="0">
                      <a:noFill/>
                    </a:lnR>
                    <a:lnB w="0">
                      <a:noFill/>
                    </a:lnB>
                    <a:solidFill>
                      <a:srgbClr val="ECE8E1"/>
                    </a:solidFill>
                  </a:tcPr>
                </a:tc>
                <a:tc>
                  <a:txBody>
                    <a:bodyPr/>
                    <a:lstStyle/>
                    <a:p>
                      <a:pPr algn="r"/>
                      <a:r>
                        <a:rPr sz="1440" b="0">
                          <a:solidFill>
                            <a:srgbClr val="45413C"/>
                          </a:solidFill>
                          <a:latin typeface="Arial"/>
                          <a:ea typeface="Arial"/>
                          <a:cs typeface="Arial"/>
                        </a:rPr>
                        <a:t>–</a:t>
                      </a:r>
                    </a:p>
                  </a:txBody>
                  <a:tcPr marL="91440" marR="91440" marT="45720" marB="45720" anchor="ctr">
                    <a:lnR w="0">
                      <a:noFill/>
                    </a:lnR>
                    <a:lnB w="0">
                      <a:noFill/>
                    </a:lnB>
                    <a:solidFill>
                      <a:srgbClr val="ECE8E1"/>
                    </a:solidFill>
                  </a:tcPr>
                </a:tc>
                <a:tc>
                  <a:txBody>
                    <a:bodyPr/>
                    <a:lstStyle/>
                    <a:p>
                      <a:pPr algn="r"/>
                      <a:r>
                        <a:rPr sz="1440" b="0">
                          <a:solidFill>
                            <a:srgbClr val="45413C"/>
                          </a:solidFill>
                          <a:latin typeface="Arial"/>
                          <a:ea typeface="Arial"/>
                          <a:cs typeface="Arial"/>
                        </a:rPr>
                        <a:t>–</a:t>
                      </a:r>
                    </a:p>
                  </a:txBody>
                  <a:tcPr marL="91440" marR="91440" marT="45720" marB="45720" anchor="ctr">
                    <a:lnR w="0">
                      <a:noFill/>
                    </a:lnR>
                    <a:lnB w="0">
                      <a:noFill/>
                    </a:lnB>
                    <a:solidFill>
                      <a:srgbClr val="ECE8E1"/>
                    </a:solidFill>
                  </a:tcPr>
                </a:tc>
              </a:tr>
              <a:tr h="755904">
                <a:tc>
                  <a:txBody>
                    <a:bodyPr/>
                    <a:lstStyle/>
                    <a:p>
                      <a:pPr algn="l"/>
                      <a:r>
                        <a:rPr sz="1440" b="1">
                          <a:solidFill>
                            <a:srgbClr val="45413C"/>
                          </a:solidFill>
                          <a:latin typeface="Arial"/>
                          <a:ea typeface="Arial"/>
                          <a:cs typeface="Arial"/>
                        </a:rPr>
                        <a:t>TF-IDF classifier</a:t>
                      </a:r>
                    </a:p>
                  </a:txBody>
                  <a:tcPr marL="91440" marR="91440" marT="45720" marB="45720" anchor="ctr">
                    <a:lnL w="0">
                      <a:noFill/>
                    </a:lnL>
                    <a:lnR w="0">
                      <a:noFill/>
                    </a:lnR>
                    <a:lnB w="0">
                      <a:noFill/>
                    </a:lnB>
                    <a:solidFill>
                      <a:srgbClr val="FFFEFB"/>
                    </a:solidFill>
                  </a:tcPr>
                </a:tc>
                <a:tc>
                  <a:txBody>
                    <a:bodyPr/>
                    <a:lstStyle/>
                    <a:p>
                      <a:pPr algn="r"/>
                      <a:r>
                        <a:rPr sz="1440" b="0">
                          <a:solidFill>
                            <a:srgbClr val="45413C"/>
                          </a:solidFill>
                          <a:latin typeface="Arial"/>
                          <a:ea typeface="Arial"/>
                          <a:cs typeface="Arial"/>
                        </a:rPr>
                        <a:t>0.601</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0.578</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0.361</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+0.083</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+0.027 to +0.139</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0.004</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0.005</a:t>
                      </a:r>
                    </a:p>
                  </a:txBody>
                  <a:tcPr marL="91440" marR="91440" marT="45720" marB="45720" anchor="ctr">
                    <a:lnR w="0">
                      <a:noFill/>
                    </a:lnR>
                    <a:lnB w="0">
                      <a:noFill/>
                    </a:lnB>
                    <a:solidFill>
                      <a:srgbClr val="FFFEFB"/>
                    </a:solidFill>
                  </a:tcPr>
                </a:tc>
              </a:tr>
              <a:tr h="755904">
                <a:tc>
                  <a:txBody>
                    <a:bodyPr/>
                    <a:lstStyle/>
                    <a:p>
                      <a:pPr algn="l"/>
                      <a:r>
                        <a:rPr sz="1440" b="1">
                          <a:solidFill>
                            <a:srgbClr val="45413C"/>
                          </a:solidFill>
                          <a:latin typeface="Arial"/>
                          <a:ea typeface="Arial"/>
                          <a:cs typeface="Arial"/>
                        </a:rPr>
                        <a:t>Sentence embeddings</a:t>
                      </a:r>
                    </a:p>
                  </a:txBody>
                  <a:tcPr marL="91440" marR="91440" marT="45720" marB="45720" anchor="ctr">
                    <a:lnL w="0">
                      <a:noFill/>
                    </a:lnL>
                    <a:lnR w="0">
                      <a:noFill/>
                    </a:lnR>
                    <a:lnB w="0">
                      <a:noFill/>
                    </a:lnB>
                    <a:solidFill>
                      <a:srgbClr val="FFFEFB"/>
                    </a:solidFill>
                  </a:tcPr>
                </a:tc>
                <a:tc>
                  <a:txBody>
                    <a:bodyPr/>
                    <a:lstStyle/>
                    <a:p>
                      <a:pPr algn="r"/>
                      <a:r>
                        <a:rPr sz="1440" b="0">
                          <a:solidFill>
                            <a:srgbClr val="45413C"/>
                          </a:solidFill>
                          <a:latin typeface="Arial"/>
                          <a:ea typeface="Arial"/>
                          <a:cs typeface="Arial"/>
                        </a:rPr>
                        <a:t>0.599</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0.576</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0.374</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+0.085</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+0.030 to +0.136</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0.002</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0.002</a:t>
                      </a:r>
                    </a:p>
                  </a:txBody>
                  <a:tcPr marL="91440" marR="91440" marT="45720" marB="45720" anchor="ctr">
                    <a:lnR w="0">
                      <a:noFill/>
                    </a:lnR>
                    <a:lnB w="0">
                      <a:noFill/>
                    </a:lnB>
                    <a:solidFill>
                      <a:srgbClr val="FFFEFB"/>
                    </a:solidFill>
                  </a:tcPr>
                </a:tc>
              </a:tr>
              <a:tr h="755904">
                <a:tc>
                  <a:txBody>
                    <a:bodyPr/>
                    <a:lstStyle/>
                    <a:p>
                      <a:pPr algn="l"/>
                      <a:r>
                        <a:rPr sz="1440" b="1">
                          <a:solidFill>
                            <a:srgbClr val="45413C"/>
                          </a:solidFill>
                          <a:latin typeface="Arial"/>
                          <a:ea typeface="Arial"/>
                          <a:cs typeface="Arial"/>
                        </a:rPr>
                        <a:t>Dictionary</a:t>
                      </a:r>
                    </a:p>
                  </a:txBody>
                  <a:tcPr marL="91440" marR="91440" marT="45720" marB="45720" anchor="ctr">
                    <a:lnL w="0">
                      <a:noFill/>
                    </a:lnL>
                    <a:lnR w="0">
                      <a:noFill/>
                    </a:lnR>
                    <a:lnB w="0">
                      <a:noFill/>
                    </a:lnB>
                    <a:solidFill>
                      <a:srgbClr val="FFFEFB"/>
                    </a:solidFill>
                  </a:tcPr>
                </a:tc>
                <a:tc>
                  <a:txBody>
                    <a:bodyPr/>
                    <a:lstStyle/>
                    <a:p>
                      <a:pPr algn="r"/>
                      <a:r>
                        <a:rPr sz="1440" b="0">
                          <a:solidFill>
                            <a:srgbClr val="45413C"/>
                          </a:solidFill>
                          <a:latin typeface="Arial"/>
                          <a:ea typeface="Arial"/>
                          <a:cs typeface="Arial"/>
                        </a:rPr>
                        <a:t>0.569</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0.511</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0.264</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+0.150</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+0.094 to +0.205</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&lt; 0.001</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&lt; 0.001</a:t>
                      </a:r>
                    </a:p>
                  </a:txBody>
                  <a:tcPr marL="91440" marR="91440" marT="45720" marB="45720" anchor="ctr">
                    <a:lnR w="0">
                      <a:noFill/>
                    </a:lnR>
                    <a:lnB w="0">
                      <a:noFill/>
                    </a:lnB>
                    <a:solidFill>
                      <a:srgbClr val="FFFEFB"/>
                    </a:solidFill>
                  </a:tcPr>
                </a:tc>
              </a:tr>
            </a:tbl>
          </a:graphicData>
        </a:graphic>
      </p:graphicFrame>
      <p:sp>
        <p:nvSpPr>
          <p:cNvPr id="15" name="">
            <a:extLst xmlns:a="http://schemas.openxmlformats.org/drawingml/2006/main">
              <a:ext uri="{FF2B5EF4-FFF2-40B4-BE49-F238E27FC236}">
                <a16:creationId xmlns:a16="http://schemas.microsoft.com/office/drawing/2014/main" id="{8CCA86A1-13D4-4324-A07C-3B0CC17019D4}"/>
              </a:ext>
            </a:extLst>
          </p:cNvPr>
          <p:cNvSpPr>
            <a:spLocks xmlns:a="http://schemas.openxmlformats.org/drawingml/2006/main" noGrp="1"/>
          </p:cNvSpPr>
          <p:nvPr/>
        </p:nvSpPr>
        <p:spPr>
          <a:xfrm xmlns:a="http://schemas.openxmlformats.org/drawingml/2006/main">
            <a:off x="609585" y="2392680"/>
            <a:ext cx="10972526"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78E3A88-FEE4-442A-9A56-8F6D58B06860}"/>
              </a:ext>
            </a:extLst>
          </p:cNvPr>
          <p:cNvSpPr>
            <a:spLocks xmlns:a="http://schemas.openxmlformats.org/drawingml/2006/main" noGrp="1"/>
          </p:cNvSpPr>
          <p:nvPr/>
        </p:nvSpPr>
        <p:spPr>
          <a:xfrm xmlns:a="http://schemas.openxmlformats.org/drawingml/2006/main">
            <a:off x="609585" y="3148584"/>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5D8D94A-D1A0-43F3-82E3-13779B4E215C}"/>
              </a:ext>
            </a:extLst>
          </p:cNvPr>
          <p:cNvSpPr>
            <a:spLocks xmlns:a="http://schemas.openxmlformats.org/drawingml/2006/main" noGrp="1"/>
          </p:cNvSpPr>
          <p:nvPr/>
        </p:nvSpPr>
        <p:spPr>
          <a:xfrm xmlns:a="http://schemas.openxmlformats.org/drawingml/2006/main">
            <a:off x="609585" y="3904488"/>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8AE68E8-6428-405D-96CD-FFF8A1315E8C}"/>
              </a:ext>
            </a:extLst>
          </p:cNvPr>
          <p:cNvSpPr>
            <a:spLocks xmlns:a="http://schemas.openxmlformats.org/drawingml/2006/main" noGrp="1"/>
          </p:cNvSpPr>
          <p:nvPr/>
        </p:nvSpPr>
        <p:spPr>
          <a:xfrm xmlns:a="http://schemas.openxmlformats.org/drawingml/2006/main">
            <a:off x="609585" y="4660392"/>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218F4DD-9274-409E-BECE-92A7B2102917}"/>
              </a:ext>
            </a:extLst>
          </p:cNvPr>
          <p:cNvSpPr>
            <a:spLocks xmlns:a="http://schemas.openxmlformats.org/drawingml/2006/main" noGrp="1"/>
          </p:cNvSpPr>
          <p:nvPr/>
        </p:nvSpPr>
        <p:spPr>
          <a:xfrm xmlns:a="http://schemas.openxmlformats.org/drawingml/2006/main">
            <a:off x="609585" y="5416296"/>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6614969-D06E-474B-993B-562FFC787569}"/>
              </a:ext>
            </a:extLst>
          </p:cNvPr>
          <p:cNvSpPr>
            <a:spLocks xmlns:a="http://schemas.openxmlformats.org/drawingml/2006/main" noGrp="1"/>
          </p:cNvSpPr>
          <p:nvPr/>
        </p:nvSpPr>
        <p:spPr>
          <a:xfrm xmlns:a="http://schemas.openxmlformats.org/drawingml/2006/main">
            <a:off x="609585" y="6172200"/>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Tree>
    <p:extLst>
      <p:ext uri="{BB962C8B-B14F-4D97-AF65-F5344CB8AC3E}">
        <p14:creationId xmlns:p14="http://schemas.microsoft.com/office/powerpoint/2010/main" val="1571403103"/>
      </p:ext>
    </p:extLst>
  </p:cSld>
</p:sld>
</file>

<file path=ppt/slides/slide18.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82FF19B-BC12-445E-8DEF-C299B5DE6149}"/>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04B3644F-6CFC-4826-8D34-1B51DC86BF8A}"/>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READERS AND VALIDATION</a:t>
            </a:r>
          </a:p>
        </p:txBody>
      </p:sp>
      <p:sp>
        <p:nvSpPr>
          <p:cNvPr id="3" name="">
            <a:extLst xmlns:a="http://schemas.openxmlformats.org/drawingml/2006/main">
              <a:ext uri="{FF2B5EF4-FFF2-40B4-BE49-F238E27FC236}">
                <a16:creationId xmlns:a16="http://schemas.microsoft.com/office/drawing/2014/main" id="{A532CAED-28BC-4C9D-8F8D-72B30AC72F70}"/>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18 / 46</a:t>
            </a:r>
          </a:p>
        </p:txBody>
      </p:sp>
      <p:sp>
        <p:nvSpPr>
          <p:cNvPr id="4" name="">
            <a:extLst xmlns:a="http://schemas.openxmlformats.org/drawingml/2006/main">
              <a:ext uri="{FF2B5EF4-FFF2-40B4-BE49-F238E27FC236}">
                <a16:creationId xmlns:a16="http://schemas.microsoft.com/office/drawing/2014/main" id="{EFA83741-8DBE-44F1-AE94-881E751C042A}"/>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BF3B87A-E601-4142-9049-68C321A2FD55}"/>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Commonest miss: neutral read as dovish</a:t>
            </a:r>
          </a:p>
        </p:txBody>
      </p:sp>
      <p:sp>
        <p:nvSpPr>
          <p:cNvPr id="6" name="">
            <a:extLst xmlns:a="http://schemas.openxmlformats.org/drawingml/2006/main">
              <a:ext uri="{FF2B5EF4-FFF2-40B4-BE49-F238E27FC236}">
                <a16:creationId xmlns:a16="http://schemas.microsoft.com/office/drawing/2014/main" id="{FACC6A15-D453-4E81-9C40-FDF49EF9B810}"/>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Each reader's labels against the experts' on the 496 test sentences</a:t>
            </a:r>
          </a:p>
        </p:txBody>
      </p:sp>
      <p:sp>
        <p:nvSpPr>
          <p:cNvPr id="7" name="">
            <a:extLst xmlns:a="http://schemas.openxmlformats.org/drawingml/2006/main">
              <a:ext uri="{FF2B5EF4-FFF2-40B4-BE49-F238E27FC236}">
                <a16:creationId xmlns:a16="http://schemas.microsoft.com/office/drawing/2014/main" id="{98C95BDB-537B-480B-AB7A-AA864ADCF3A8}"/>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183E6F4-EDA9-492A-9151-523EF7520A2B}"/>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Trillion Dollar Words test split; rows are the experts’ labels, columns the reader’s.</a:t>
            </a:r>
          </a:p>
        </p:txBody>
      </p:sp>
      <p:sp>
        <p:nvSpPr>
          <p:cNvPr id="9" name="">
            <a:extLst xmlns:a="http://schemas.openxmlformats.org/drawingml/2006/main">
              <a:ext uri="{FF2B5EF4-FFF2-40B4-BE49-F238E27FC236}">
                <a16:creationId xmlns:a16="http://schemas.microsoft.com/office/drawing/2014/main" id="{9E701AC7-4280-4865-9A1F-A1547416C414}"/>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940D077-DDE1-462C-9532-212CB2F56CAD}"/>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2B12029-16F2-4781-BD2D-B472A319C570}"/>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51A54E1-889A-4E82-9A0D-40735FAE9BF9}"/>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ECA31BA-BD28-44C5-AD9E-EAF2C6EAD0CC}"/>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91D97D8-0243-415E-8946-0BB55743B52E}"/>
              </a:ext>
            </a:extLst>
          </p:cNvPr>
          <p:cNvSpPr>
            <a:spLocks xmlns:a="http://schemas.openxmlformats.org/drawingml/2006/main" noGrp="1"/>
          </p:cNvSpPr>
          <p:nvPr/>
        </p:nvSpPr>
        <p:spPr>
          <a:xfrm xmlns:a="http://schemas.openxmlformats.org/drawingml/2006/main">
            <a:off x="609585" y="1920240"/>
            <a:ext cx="1737317"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960" b="1">
                <a:solidFill>
                  <a:srgbClr val="151312"/>
                </a:solidFill>
                <a:latin typeface="Arial"/>
                <a:ea typeface="Arial"/>
                <a:cs typeface="Arial"/>
              </a:defRPr>
            </a:defPPr>
            <a:lvl1pPr algn="l">
              <a:defRPr sz="3960" b="1">
                <a:solidFill>
                  <a:srgbClr val="151312"/>
                </a:solidFill>
                <a:latin typeface="Arial"/>
                <a:ea typeface="Arial"/>
                <a:cs typeface="Arial"/>
              </a:defRPr>
            </a:lvl1pPr>
            <a:lvl2pPr algn="l">
              <a:defRPr sz="3960" b="1">
                <a:solidFill>
                  <a:srgbClr val="151312"/>
                </a:solidFill>
                <a:latin typeface="Arial"/>
                <a:ea typeface="Arial"/>
                <a:cs typeface="Arial"/>
              </a:defRPr>
            </a:lvl2pPr>
            <a:lvl3pPr algn="l">
              <a:defRPr sz="3960" b="1">
                <a:solidFill>
                  <a:srgbClr val="151312"/>
                </a:solidFill>
                <a:latin typeface="Arial"/>
                <a:ea typeface="Arial"/>
                <a:cs typeface="Arial"/>
              </a:defRPr>
            </a:lvl3pPr>
            <a:lvl4pPr algn="l">
              <a:defRPr sz="3960" b="1">
                <a:solidFill>
                  <a:srgbClr val="151312"/>
                </a:solidFill>
                <a:latin typeface="Arial"/>
                <a:ea typeface="Arial"/>
                <a:cs typeface="Arial"/>
              </a:defRPr>
            </a:lvl4pPr>
            <a:lvl5pPr algn="l">
              <a:defRPr sz="3960" b="1">
                <a:solidFill>
                  <a:srgbClr val="151312"/>
                </a:solidFill>
                <a:latin typeface="Arial"/>
                <a:ea typeface="Arial"/>
                <a:cs typeface="Arial"/>
              </a:defRPr>
            </a:lvl5pPr>
            <a:lvl6pPr algn="l">
              <a:defRPr sz="3960" b="1">
                <a:solidFill>
                  <a:srgbClr val="151312"/>
                </a:solidFill>
                <a:latin typeface="Arial"/>
                <a:ea typeface="Arial"/>
                <a:cs typeface="Arial"/>
              </a:defRPr>
            </a:lvl6pPr>
            <a:lvl7pPr algn="l">
              <a:defRPr sz="3960" b="1">
                <a:solidFill>
                  <a:srgbClr val="151312"/>
                </a:solidFill>
                <a:latin typeface="Arial"/>
                <a:ea typeface="Arial"/>
                <a:cs typeface="Arial"/>
              </a:defRPr>
            </a:lvl7pPr>
            <a:lvl8pPr algn="l">
              <a:defRPr sz="3960" b="1">
                <a:solidFill>
                  <a:srgbClr val="151312"/>
                </a:solidFill>
                <a:latin typeface="Arial"/>
                <a:ea typeface="Arial"/>
                <a:cs typeface="Arial"/>
              </a:defRPr>
            </a:lvl8pPr>
            <a:lvl9pPr algn="l">
              <a:defRPr sz="3960" b="1">
                <a:solidFill>
                  <a:srgbClr val="151312"/>
                </a:solidFill>
                <a:latin typeface="Arial"/>
                <a:ea typeface="Arial"/>
                <a:cs typeface="Arial"/>
              </a:defRPr>
            </a:lvl9pPr>
          </a:lstStyle>
          <a:p xmlns:a="http://schemas.openxmlformats.org/drawingml/2006/main">
            <a:pPr algn="l">
              <a:defRPr sz="3960" b="1">
                <a:solidFill>
                  <a:srgbClr val="151312"/>
                </a:solidFill>
                <a:latin typeface="Arial"/>
                <a:ea typeface="Arial"/>
                <a:cs typeface="Arial"/>
              </a:defRPr>
            </a:pPr>
            <a:r>
              <a:rPr sz="3960" b="1">
                <a:solidFill>
                  <a:srgbClr val="151312"/>
                </a:solidFill>
                <a:latin typeface="Arial"/>
                <a:ea typeface="Arial"/>
                <a:cs typeface="Arial"/>
              </a:rPr>
              <a:t>41</a:t>
            </a:r>
          </a:p>
        </p:txBody>
      </p:sp>
      <p:sp>
        <p:nvSpPr>
          <p:cNvPr id="15" name="">
            <a:extLst xmlns:a="http://schemas.openxmlformats.org/drawingml/2006/main">
              <a:ext uri="{FF2B5EF4-FFF2-40B4-BE49-F238E27FC236}">
                <a16:creationId xmlns:a16="http://schemas.microsoft.com/office/drawing/2014/main" id="{F2747C2A-E476-46FA-BCEE-151037F3C0B2}"/>
              </a:ext>
            </a:extLst>
          </p:cNvPr>
          <p:cNvSpPr>
            <a:spLocks xmlns:a="http://schemas.openxmlformats.org/drawingml/2006/main" noGrp="1"/>
          </p:cNvSpPr>
          <p:nvPr/>
        </p:nvSpPr>
        <p:spPr>
          <a:xfrm xmlns:a="http://schemas.openxmlformats.org/drawingml/2006/main">
            <a:off x="2514537" y="1927860"/>
            <a:ext cx="2133547"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of 247 neutral test sentences Claude read as dovish</a:t>
            </a:r>
          </a:p>
        </p:txBody>
      </p:sp>
      <p:sp>
        <p:nvSpPr>
          <p:cNvPr id="16" name="">
            <a:extLst xmlns:a="http://schemas.openxmlformats.org/drawingml/2006/main">
              <a:ext uri="{FF2B5EF4-FFF2-40B4-BE49-F238E27FC236}">
                <a16:creationId xmlns:a16="http://schemas.microsoft.com/office/drawing/2014/main" id="{D91BDE76-78E6-455A-AE0A-BDA34A22511C}"/>
              </a:ext>
            </a:extLst>
          </p:cNvPr>
          <p:cNvSpPr>
            <a:spLocks xmlns:a="http://schemas.openxmlformats.org/drawingml/2006/main" noGrp="1"/>
          </p:cNvSpPr>
          <p:nvPr/>
        </p:nvSpPr>
        <p:spPr>
          <a:xfrm xmlns:a="http://schemas.openxmlformats.org/drawingml/2006/main">
            <a:off x="4830959" y="2004060"/>
            <a:ext cx="7620" cy="5334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851E58D-F764-4725-BE8D-C78D4C1CA794}"/>
              </a:ext>
            </a:extLst>
          </p:cNvPr>
          <p:cNvSpPr>
            <a:spLocks xmlns:a="http://schemas.openxmlformats.org/drawingml/2006/main" noGrp="1"/>
          </p:cNvSpPr>
          <p:nvPr/>
        </p:nvSpPr>
        <p:spPr>
          <a:xfrm xmlns:a="http://schemas.openxmlformats.org/drawingml/2006/main">
            <a:off x="4968116" y="1920240"/>
            <a:ext cx="2001470"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0">
                <a:solidFill>
                  <a:srgbClr val="45413C"/>
                </a:solidFill>
                <a:latin typeface="Arial"/>
                <a:ea typeface="Arial"/>
                <a:cs typeface="Arial"/>
              </a:defRPr>
            </a:defPPr>
            <a:lvl1pPr algn="l">
              <a:defRPr sz="1140" b="0">
                <a:solidFill>
                  <a:srgbClr val="45413C"/>
                </a:solidFill>
                <a:latin typeface="Arial"/>
                <a:ea typeface="Arial"/>
                <a:cs typeface="Arial"/>
              </a:defRPr>
            </a:lvl1pPr>
            <a:lvl2pPr algn="l">
              <a:defRPr sz="1140" b="0">
                <a:solidFill>
                  <a:srgbClr val="45413C"/>
                </a:solidFill>
                <a:latin typeface="Arial"/>
                <a:ea typeface="Arial"/>
                <a:cs typeface="Arial"/>
              </a:defRPr>
            </a:lvl2pPr>
            <a:lvl3pPr algn="l">
              <a:defRPr sz="1140" b="0">
                <a:solidFill>
                  <a:srgbClr val="45413C"/>
                </a:solidFill>
                <a:latin typeface="Arial"/>
                <a:ea typeface="Arial"/>
                <a:cs typeface="Arial"/>
              </a:defRPr>
            </a:lvl3pPr>
            <a:lvl4pPr algn="l">
              <a:defRPr sz="1140" b="0">
                <a:solidFill>
                  <a:srgbClr val="45413C"/>
                </a:solidFill>
                <a:latin typeface="Arial"/>
                <a:ea typeface="Arial"/>
                <a:cs typeface="Arial"/>
              </a:defRPr>
            </a:lvl4pPr>
            <a:lvl5pPr algn="l">
              <a:defRPr sz="1140" b="0">
                <a:solidFill>
                  <a:srgbClr val="45413C"/>
                </a:solidFill>
                <a:latin typeface="Arial"/>
                <a:ea typeface="Arial"/>
                <a:cs typeface="Arial"/>
              </a:defRPr>
            </a:lvl5pPr>
            <a:lvl6pPr algn="l">
              <a:defRPr sz="1140" b="0">
                <a:solidFill>
                  <a:srgbClr val="45413C"/>
                </a:solidFill>
                <a:latin typeface="Arial"/>
                <a:ea typeface="Arial"/>
                <a:cs typeface="Arial"/>
              </a:defRPr>
            </a:lvl6pPr>
            <a:lvl7pPr algn="l">
              <a:defRPr sz="1140" b="0">
                <a:solidFill>
                  <a:srgbClr val="45413C"/>
                </a:solidFill>
                <a:latin typeface="Arial"/>
                <a:ea typeface="Arial"/>
                <a:cs typeface="Arial"/>
              </a:defRPr>
            </a:lvl7pPr>
            <a:lvl8pPr algn="l">
              <a:defRPr sz="1140" b="0">
                <a:solidFill>
                  <a:srgbClr val="45413C"/>
                </a:solidFill>
                <a:latin typeface="Arial"/>
                <a:ea typeface="Arial"/>
                <a:cs typeface="Arial"/>
              </a:defRPr>
            </a:lvl8pPr>
            <a:lvl9pPr algn="l">
              <a:defRPr sz="1140" b="0">
                <a:solidFill>
                  <a:srgbClr val="45413C"/>
                </a:solidFill>
                <a:latin typeface="Arial"/>
                <a:ea typeface="Arial"/>
                <a:cs typeface="Arial"/>
              </a:defRPr>
            </a:lvl9pPr>
          </a:lstStyle>
          <a:p xmlns:a="http://schemas.openxmlformats.org/drawingml/2006/main">
            <a:pPr algn="l">
              <a:defRPr sz="1140" b="0">
                <a:solidFill>
                  <a:srgbClr val="45413C"/>
                </a:solidFill>
                <a:latin typeface="Arial"/>
                <a:ea typeface="Arial"/>
                <a:cs typeface="Arial"/>
              </a:defRPr>
            </a:pPr>
            <a:r>
              <a:rPr sz="1140" b="0">
                <a:solidFill>
                  <a:srgbClr val="45413C"/>
                </a:solidFill>
                <a:latin typeface="Arial"/>
                <a:ea typeface="Arial"/>
                <a:cs typeface="Arial"/>
              </a:rPr>
              <a:t>Dovish recall: Claude 66% · RoBERTa 73%</a:t>
            </a:r>
          </a:p>
        </p:txBody>
      </p:sp>
      <p:sp>
        <p:nvSpPr>
          <p:cNvPr id="18" name="">
            <a:extLst xmlns:a="http://schemas.openxmlformats.org/drawingml/2006/main">
              <a:ext uri="{FF2B5EF4-FFF2-40B4-BE49-F238E27FC236}">
                <a16:creationId xmlns:a16="http://schemas.microsoft.com/office/drawing/2014/main" id="{D1308C5F-4D2D-4E59-8A5D-37D95366992C}"/>
              </a:ext>
            </a:extLst>
          </p:cNvPr>
          <p:cNvSpPr>
            <a:spLocks xmlns:a="http://schemas.openxmlformats.org/drawingml/2006/main" noGrp="1"/>
          </p:cNvSpPr>
          <p:nvPr/>
        </p:nvSpPr>
        <p:spPr>
          <a:xfrm xmlns:a="http://schemas.openxmlformats.org/drawingml/2006/main">
            <a:off x="7137221" y="2004060"/>
            <a:ext cx="7620" cy="5334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8F8DECA-3AFE-4045-80E2-E2B781A052ED}"/>
              </a:ext>
            </a:extLst>
          </p:cNvPr>
          <p:cNvSpPr>
            <a:spLocks xmlns:a="http://schemas.openxmlformats.org/drawingml/2006/main" noGrp="1"/>
          </p:cNvSpPr>
          <p:nvPr/>
        </p:nvSpPr>
        <p:spPr>
          <a:xfrm xmlns:a="http://schemas.openxmlformats.org/drawingml/2006/main">
            <a:off x="7274378" y="1920240"/>
            <a:ext cx="2001470"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0">
                <a:solidFill>
                  <a:srgbClr val="45413C"/>
                </a:solidFill>
                <a:latin typeface="Arial"/>
                <a:ea typeface="Arial"/>
                <a:cs typeface="Arial"/>
              </a:defRPr>
            </a:defPPr>
            <a:lvl1pPr algn="l">
              <a:defRPr sz="1140" b="0">
                <a:solidFill>
                  <a:srgbClr val="45413C"/>
                </a:solidFill>
                <a:latin typeface="Arial"/>
                <a:ea typeface="Arial"/>
                <a:cs typeface="Arial"/>
              </a:defRPr>
            </a:lvl1pPr>
            <a:lvl2pPr algn="l">
              <a:defRPr sz="1140" b="0">
                <a:solidFill>
                  <a:srgbClr val="45413C"/>
                </a:solidFill>
                <a:latin typeface="Arial"/>
                <a:ea typeface="Arial"/>
                <a:cs typeface="Arial"/>
              </a:defRPr>
            </a:lvl2pPr>
            <a:lvl3pPr algn="l">
              <a:defRPr sz="1140" b="0">
                <a:solidFill>
                  <a:srgbClr val="45413C"/>
                </a:solidFill>
                <a:latin typeface="Arial"/>
                <a:ea typeface="Arial"/>
                <a:cs typeface="Arial"/>
              </a:defRPr>
            </a:lvl3pPr>
            <a:lvl4pPr algn="l">
              <a:defRPr sz="1140" b="0">
                <a:solidFill>
                  <a:srgbClr val="45413C"/>
                </a:solidFill>
                <a:latin typeface="Arial"/>
                <a:ea typeface="Arial"/>
                <a:cs typeface="Arial"/>
              </a:defRPr>
            </a:lvl4pPr>
            <a:lvl5pPr algn="l">
              <a:defRPr sz="1140" b="0">
                <a:solidFill>
                  <a:srgbClr val="45413C"/>
                </a:solidFill>
                <a:latin typeface="Arial"/>
                <a:ea typeface="Arial"/>
                <a:cs typeface="Arial"/>
              </a:defRPr>
            </a:lvl5pPr>
            <a:lvl6pPr algn="l">
              <a:defRPr sz="1140" b="0">
                <a:solidFill>
                  <a:srgbClr val="45413C"/>
                </a:solidFill>
                <a:latin typeface="Arial"/>
                <a:ea typeface="Arial"/>
                <a:cs typeface="Arial"/>
              </a:defRPr>
            </a:lvl6pPr>
            <a:lvl7pPr algn="l">
              <a:defRPr sz="1140" b="0">
                <a:solidFill>
                  <a:srgbClr val="45413C"/>
                </a:solidFill>
                <a:latin typeface="Arial"/>
                <a:ea typeface="Arial"/>
                <a:cs typeface="Arial"/>
              </a:defRPr>
            </a:lvl7pPr>
            <a:lvl8pPr algn="l">
              <a:defRPr sz="1140" b="0">
                <a:solidFill>
                  <a:srgbClr val="45413C"/>
                </a:solidFill>
                <a:latin typeface="Arial"/>
                <a:ea typeface="Arial"/>
                <a:cs typeface="Arial"/>
              </a:defRPr>
            </a:lvl8pPr>
            <a:lvl9pPr algn="l">
              <a:defRPr sz="1140" b="0">
                <a:solidFill>
                  <a:srgbClr val="45413C"/>
                </a:solidFill>
                <a:latin typeface="Arial"/>
                <a:ea typeface="Arial"/>
                <a:cs typeface="Arial"/>
              </a:defRPr>
            </a:lvl9pPr>
          </a:lstStyle>
          <a:p xmlns:a="http://schemas.openxmlformats.org/drawingml/2006/main">
            <a:pPr algn="l">
              <a:defRPr sz="1140" b="0">
                <a:solidFill>
                  <a:srgbClr val="45413C"/>
                </a:solidFill>
                <a:latin typeface="Arial"/>
                <a:ea typeface="Arial"/>
                <a:cs typeface="Arial"/>
              </a:defRPr>
            </a:pPr>
            <a:r>
              <a:rPr sz="1140" b="0">
                <a:solidFill>
                  <a:srgbClr val="45413C"/>
                </a:solidFill>
                <a:latin typeface="Arial"/>
                <a:ea typeface="Arial"/>
                <a:cs typeface="Arial"/>
              </a:rPr>
              <a:t>Hawkish recall: Claude 61% · RoBERTa 77%</a:t>
            </a:r>
          </a:p>
        </p:txBody>
      </p:sp>
      <p:sp>
        <p:nvSpPr>
          <p:cNvPr id="20" name="">
            <a:extLst xmlns:a="http://schemas.openxmlformats.org/drawingml/2006/main">
              <a:ext uri="{FF2B5EF4-FFF2-40B4-BE49-F238E27FC236}">
                <a16:creationId xmlns:a16="http://schemas.microsoft.com/office/drawing/2014/main" id="{ABD25FA0-6B69-4B3B-A14F-C83556ABD602}"/>
              </a:ext>
            </a:extLst>
          </p:cNvPr>
          <p:cNvSpPr>
            <a:spLocks xmlns:a="http://schemas.openxmlformats.org/drawingml/2006/main" noGrp="1"/>
          </p:cNvSpPr>
          <p:nvPr/>
        </p:nvSpPr>
        <p:spPr>
          <a:xfrm xmlns:a="http://schemas.openxmlformats.org/drawingml/2006/main">
            <a:off x="9443484" y="2004060"/>
            <a:ext cx="7620" cy="5334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27BE71E-5F88-4CF2-8A57-A0A18A890589}"/>
              </a:ext>
            </a:extLst>
          </p:cNvPr>
          <p:cNvSpPr>
            <a:spLocks xmlns:a="http://schemas.openxmlformats.org/drawingml/2006/main" noGrp="1"/>
          </p:cNvSpPr>
          <p:nvPr/>
        </p:nvSpPr>
        <p:spPr>
          <a:xfrm xmlns:a="http://schemas.openxmlformats.org/drawingml/2006/main">
            <a:off x="9580640" y="1920240"/>
            <a:ext cx="2001470"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0">
                <a:solidFill>
                  <a:srgbClr val="45413C"/>
                </a:solidFill>
                <a:latin typeface="Arial"/>
                <a:ea typeface="Arial"/>
                <a:cs typeface="Arial"/>
              </a:defRPr>
            </a:defPPr>
            <a:lvl1pPr algn="l">
              <a:defRPr sz="1140" b="0">
                <a:solidFill>
                  <a:srgbClr val="45413C"/>
                </a:solidFill>
                <a:latin typeface="Arial"/>
                <a:ea typeface="Arial"/>
                <a:cs typeface="Arial"/>
              </a:defRPr>
            </a:lvl1pPr>
            <a:lvl2pPr algn="l">
              <a:defRPr sz="1140" b="0">
                <a:solidFill>
                  <a:srgbClr val="45413C"/>
                </a:solidFill>
                <a:latin typeface="Arial"/>
                <a:ea typeface="Arial"/>
                <a:cs typeface="Arial"/>
              </a:defRPr>
            </a:lvl2pPr>
            <a:lvl3pPr algn="l">
              <a:defRPr sz="1140" b="0">
                <a:solidFill>
                  <a:srgbClr val="45413C"/>
                </a:solidFill>
                <a:latin typeface="Arial"/>
                <a:ea typeface="Arial"/>
                <a:cs typeface="Arial"/>
              </a:defRPr>
            </a:lvl3pPr>
            <a:lvl4pPr algn="l">
              <a:defRPr sz="1140" b="0">
                <a:solidFill>
                  <a:srgbClr val="45413C"/>
                </a:solidFill>
                <a:latin typeface="Arial"/>
                <a:ea typeface="Arial"/>
                <a:cs typeface="Arial"/>
              </a:defRPr>
            </a:lvl4pPr>
            <a:lvl5pPr algn="l">
              <a:defRPr sz="1140" b="0">
                <a:solidFill>
                  <a:srgbClr val="45413C"/>
                </a:solidFill>
                <a:latin typeface="Arial"/>
                <a:ea typeface="Arial"/>
                <a:cs typeface="Arial"/>
              </a:defRPr>
            </a:lvl5pPr>
            <a:lvl6pPr algn="l">
              <a:defRPr sz="1140" b="0">
                <a:solidFill>
                  <a:srgbClr val="45413C"/>
                </a:solidFill>
                <a:latin typeface="Arial"/>
                <a:ea typeface="Arial"/>
                <a:cs typeface="Arial"/>
              </a:defRPr>
            </a:lvl6pPr>
            <a:lvl7pPr algn="l">
              <a:defRPr sz="1140" b="0">
                <a:solidFill>
                  <a:srgbClr val="45413C"/>
                </a:solidFill>
                <a:latin typeface="Arial"/>
                <a:ea typeface="Arial"/>
                <a:cs typeface="Arial"/>
              </a:defRPr>
            </a:lvl7pPr>
            <a:lvl8pPr algn="l">
              <a:defRPr sz="1140" b="0">
                <a:solidFill>
                  <a:srgbClr val="45413C"/>
                </a:solidFill>
                <a:latin typeface="Arial"/>
                <a:ea typeface="Arial"/>
                <a:cs typeface="Arial"/>
              </a:defRPr>
            </a:lvl8pPr>
            <a:lvl9pPr algn="l">
              <a:defRPr sz="1140" b="0">
                <a:solidFill>
                  <a:srgbClr val="45413C"/>
                </a:solidFill>
                <a:latin typeface="Arial"/>
                <a:ea typeface="Arial"/>
                <a:cs typeface="Arial"/>
              </a:defRPr>
            </a:lvl9pPr>
          </a:lstStyle>
          <a:p xmlns:a="http://schemas.openxmlformats.org/drawingml/2006/main">
            <a:pPr algn="l">
              <a:defRPr sz="1140" b="0">
                <a:solidFill>
                  <a:srgbClr val="45413C"/>
                </a:solidFill>
                <a:latin typeface="Arial"/>
                <a:ea typeface="Arial"/>
                <a:cs typeface="Arial"/>
              </a:defRPr>
            </a:pPr>
            <a:r>
              <a:rPr sz="1140" b="0">
                <a:solidFill>
                  <a:srgbClr val="45413C"/>
                </a:solidFill>
                <a:latin typeface="Arial"/>
                <a:ea typeface="Arial"/>
                <a:cs typeface="Arial"/>
              </a:rPr>
              <a:t>Neutral recall: Claude 72% · RoBERTa 74%</a:t>
            </a:r>
          </a:p>
        </p:txBody>
      </p:sp>
      <p:sp>
        <p:nvSpPr>
          <p:cNvPr id="22" name="">
            <a:extLst xmlns:a="http://schemas.openxmlformats.org/drawingml/2006/main">
              <a:ext uri="{FF2B5EF4-FFF2-40B4-BE49-F238E27FC236}">
                <a16:creationId xmlns:a16="http://schemas.microsoft.com/office/drawing/2014/main" id="{D06888A2-A5E2-4535-93E4-31DD3F4E14EF}"/>
              </a:ext>
            </a:extLst>
          </p:cNvPr>
          <p:cNvSpPr>
            <a:spLocks xmlns:a="http://schemas.openxmlformats.org/drawingml/2006/main" noGrp="1"/>
          </p:cNvSpPr>
          <p:nvPr/>
        </p:nvSpPr>
        <p:spPr>
          <a:xfrm xmlns:a="http://schemas.openxmlformats.org/drawingml/2006/main">
            <a:off x="609585" y="267462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pic>
        <p:nvPicPr>
          <p:cNvPr id="23" name="">
            <a:extLst xmlns:a="http://schemas.openxmlformats.org/drawingml/2006/main">
              <a:ext uri="{FF2B5EF4-FFF2-40B4-BE49-F238E27FC236}">
                <a16:creationId xmlns:a16="http://schemas.microsoft.com/office/drawing/2014/main" id="{12CB9F8C-3398-4A60-B9EF-60B209DB2D29}"/>
              </a:ext>
            </a:extLst>
          </p:cNvPr>
          <p:cNvPicPr>
            <a:picLocks xmlns:a="http://schemas.openxmlformats.org/drawingml/2006/main" noChangeAspect="1"/>
          </p:cNvPicPr>
          <p:nvPr/>
        </p:nvPicPr>
        <p:blipFill>
          <a:blip xmlns:r="http://schemas.openxmlformats.org/officeDocument/2006/relationships" xmlns:a="http://schemas.openxmlformats.org/drawingml/2006/main" r:embed="Raa8040bcd25640a3"/>
          <a:stretch xmlns:a="http://schemas.openxmlformats.org/drawingml/2006/main"/>
        </p:blipFill>
        <p:spPr>
          <a:xfrm xmlns:a="http://schemas.openxmlformats.org/drawingml/2006/main">
            <a:off x="609585" y="2834682"/>
            <a:ext cx="10972526" cy="3337477"/>
          </a:xfrm>
          <a:prstGeom xmlns:a="http://schemas.openxmlformats.org/drawingml/2006/main" prst="rect">
            <a:avLst/>
          </a:prstGeom>
        </p:spPr>
      </p:pic>
    </p:spTree>
    <p:extLst>
      <p:ext uri="{BB962C8B-B14F-4D97-AF65-F5344CB8AC3E}">
        <p14:creationId xmlns:p14="http://schemas.microsoft.com/office/powerpoint/2010/main" val="1108853659"/>
      </p:ext>
    </p:extLst>
  </p:cSld>
</p:sld>
</file>

<file path=ppt/slides/slide19.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1772100-6090-4FBB-BF75-2408D03771D3}"/>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4E6CA241-75CB-4ACD-A649-DE8B3D9F7ABE}"/>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READERS AND VALIDATION</a:t>
            </a:r>
          </a:p>
        </p:txBody>
      </p:sp>
      <p:sp>
        <p:nvSpPr>
          <p:cNvPr id="3" name="">
            <a:extLst xmlns:a="http://schemas.openxmlformats.org/drawingml/2006/main">
              <a:ext uri="{FF2B5EF4-FFF2-40B4-BE49-F238E27FC236}">
                <a16:creationId xmlns:a16="http://schemas.microsoft.com/office/drawing/2014/main" id="{1A15C18E-ED07-4CC1-B63B-849E83566E18}"/>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19 / 46</a:t>
            </a:r>
          </a:p>
        </p:txBody>
      </p:sp>
      <p:sp>
        <p:nvSpPr>
          <p:cNvPr id="4" name="">
            <a:extLst xmlns:a="http://schemas.openxmlformats.org/drawingml/2006/main">
              <a:ext uri="{FF2B5EF4-FFF2-40B4-BE49-F238E27FC236}">
                <a16:creationId xmlns:a16="http://schemas.microsoft.com/office/drawing/2014/main" id="{BCBFC93E-343B-4A86-B946-10125ECF58EA}"/>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EE657B5-E776-4DBE-A1A4-CAE5DBAD0A0B}"/>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Trained on the labels, RoBERTa beats Claude</a:t>
            </a:r>
          </a:p>
        </p:txBody>
      </p:sp>
      <p:sp>
        <p:nvSpPr>
          <p:cNvPr id="6" name="">
            <a:extLst xmlns:a="http://schemas.openxmlformats.org/drawingml/2006/main">
              <a:ext uri="{FF2B5EF4-FFF2-40B4-BE49-F238E27FC236}">
                <a16:creationId xmlns:a16="http://schemas.microsoft.com/office/drawing/2014/main" id="{6406A2F8-41E1-47A3-8291-F80AD54AF744}"/>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The same 1,984 hand-labeled sentences improve accuracy; Claude needs no task-specific training</a:t>
            </a:r>
          </a:p>
        </p:txBody>
      </p:sp>
      <p:sp>
        <p:nvSpPr>
          <p:cNvPr id="7" name="">
            <a:extLst xmlns:a="http://schemas.openxmlformats.org/drawingml/2006/main">
              <a:ext uri="{FF2B5EF4-FFF2-40B4-BE49-F238E27FC236}">
                <a16:creationId xmlns:a16="http://schemas.microsoft.com/office/drawing/2014/main" id="{D6B55E5E-4F22-4807-A8D5-4E63CED4B1CB}"/>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16723F6-4590-4FFF-B219-9D12F95813B6}"/>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RoBERTa (Liu et al., 2019); Trillion Dollar Words (Shah, Paturi and Chava, 2023).</a:t>
            </a:r>
          </a:p>
        </p:txBody>
      </p:sp>
      <p:sp>
        <p:nvSpPr>
          <p:cNvPr id="9" name="">
            <a:extLst xmlns:a="http://schemas.openxmlformats.org/drawingml/2006/main">
              <a:ext uri="{FF2B5EF4-FFF2-40B4-BE49-F238E27FC236}">
                <a16:creationId xmlns:a16="http://schemas.microsoft.com/office/drawing/2014/main" id="{AA753938-9637-4D76-ACD1-FEFB8CE8586C}"/>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6219CE7-0A0B-4A27-B00E-350BFC8D2747}"/>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938EF4D-CFC2-4A2A-B188-79B707501729}"/>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64CA515-44DB-4D48-A9F4-145DB7D6AE76}"/>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D47ED2D-EFB0-407C-9AD4-ADA4C550C500}"/>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7E707C5-246D-4EFE-9575-2FB0CE6AF7B1}"/>
              </a:ext>
            </a:extLst>
          </p:cNvPr>
          <p:cNvSpPr>
            <a:spLocks xmlns:a="http://schemas.openxmlformats.org/drawingml/2006/main" noGrp="1"/>
          </p:cNvSpPr>
          <p:nvPr/>
        </p:nvSpPr>
        <p:spPr>
          <a:xfrm xmlns:a="http://schemas.openxmlformats.org/drawingml/2006/main">
            <a:off x="8838979" y="1965960"/>
            <a:ext cx="2743131"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4560" b="1">
                <a:solidFill>
                  <a:srgbClr val="151312"/>
                </a:solidFill>
                <a:latin typeface="Arial"/>
                <a:ea typeface="Arial"/>
                <a:cs typeface="Arial"/>
              </a:defRPr>
            </a:defPPr>
            <a:lvl1pPr algn="l">
              <a:defRPr sz="4560" b="1">
                <a:solidFill>
                  <a:srgbClr val="151312"/>
                </a:solidFill>
                <a:latin typeface="Arial"/>
                <a:ea typeface="Arial"/>
                <a:cs typeface="Arial"/>
              </a:defRPr>
            </a:lvl1pPr>
            <a:lvl2pPr algn="l">
              <a:defRPr sz="4560" b="1">
                <a:solidFill>
                  <a:srgbClr val="151312"/>
                </a:solidFill>
                <a:latin typeface="Arial"/>
                <a:ea typeface="Arial"/>
                <a:cs typeface="Arial"/>
              </a:defRPr>
            </a:lvl2pPr>
            <a:lvl3pPr algn="l">
              <a:defRPr sz="4560" b="1">
                <a:solidFill>
                  <a:srgbClr val="151312"/>
                </a:solidFill>
                <a:latin typeface="Arial"/>
                <a:ea typeface="Arial"/>
                <a:cs typeface="Arial"/>
              </a:defRPr>
            </a:lvl3pPr>
            <a:lvl4pPr algn="l">
              <a:defRPr sz="4560" b="1">
                <a:solidFill>
                  <a:srgbClr val="151312"/>
                </a:solidFill>
                <a:latin typeface="Arial"/>
                <a:ea typeface="Arial"/>
                <a:cs typeface="Arial"/>
              </a:defRPr>
            </a:lvl4pPr>
            <a:lvl5pPr algn="l">
              <a:defRPr sz="4560" b="1">
                <a:solidFill>
                  <a:srgbClr val="151312"/>
                </a:solidFill>
                <a:latin typeface="Arial"/>
                <a:ea typeface="Arial"/>
                <a:cs typeface="Arial"/>
              </a:defRPr>
            </a:lvl5pPr>
            <a:lvl6pPr algn="l">
              <a:defRPr sz="4560" b="1">
                <a:solidFill>
                  <a:srgbClr val="151312"/>
                </a:solidFill>
                <a:latin typeface="Arial"/>
                <a:ea typeface="Arial"/>
                <a:cs typeface="Arial"/>
              </a:defRPr>
            </a:lvl6pPr>
            <a:lvl7pPr algn="l">
              <a:defRPr sz="4560" b="1">
                <a:solidFill>
                  <a:srgbClr val="151312"/>
                </a:solidFill>
                <a:latin typeface="Arial"/>
                <a:ea typeface="Arial"/>
                <a:cs typeface="Arial"/>
              </a:defRPr>
            </a:lvl7pPr>
            <a:lvl8pPr algn="l">
              <a:defRPr sz="4560" b="1">
                <a:solidFill>
                  <a:srgbClr val="151312"/>
                </a:solidFill>
                <a:latin typeface="Arial"/>
                <a:ea typeface="Arial"/>
                <a:cs typeface="Arial"/>
              </a:defRPr>
            </a:lvl8pPr>
            <a:lvl9pPr algn="l">
              <a:defRPr sz="4560" b="1">
                <a:solidFill>
                  <a:srgbClr val="151312"/>
                </a:solidFill>
                <a:latin typeface="Arial"/>
                <a:ea typeface="Arial"/>
                <a:cs typeface="Arial"/>
              </a:defRPr>
            </a:lvl9pPr>
          </a:lstStyle>
          <a:p xmlns:a="http://schemas.openxmlformats.org/drawingml/2006/main">
            <a:pPr algn="l">
              <a:defRPr sz="4560" b="1">
                <a:solidFill>
                  <a:srgbClr val="151312"/>
                </a:solidFill>
                <a:latin typeface="Arial"/>
                <a:ea typeface="Arial"/>
                <a:cs typeface="Arial"/>
              </a:defRPr>
            </a:pPr>
            <a:r>
              <a:rPr sz="4560" b="1">
                <a:solidFill>
                  <a:srgbClr val="151312"/>
                </a:solidFill>
                <a:latin typeface="Arial"/>
                <a:ea typeface="Arial"/>
                <a:cs typeface="Arial"/>
              </a:rPr>
              <a:t>0.74</a:t>
            </a:r>
          </a:p>
        </p:txBody>
      </p:sp>
      <p:sp>
        <p:nvSpPr>
          <p:cNvPr id="15" name="">
            <a:extLst xmlns:a="http://schemas.openxmlformats.org/drawingml/2006/main">
              <a:ext uri="{FF2B5EF4-FFF2-40B4-BE49-F238E27FC236}">
                <a16:creationId xmlns:a16="http://schemas.microsoft.com/office/drawing/2014/main" id="{035A59DF-2384-4FEC-9E63-5FB52EF54F4B}"/>
              </a:ext>
            </a:extLst>
          </p:cNvPr>
          <p:cNvSpPr>
            <a:spLocks xmlns:a="http://schemas.openxmlformats.org/drawingml/2006/main" noGrp="1"/>
          </p:cNvSpPr>
          <p:nvPr/>
        </p:nvSpPr>
        <p:spPr>
          <a:xfrm xmlns:a="http://schemas.openxmlformats.org/drawingml/2006/main">
            <a:off x="8838979" y="2781300"/>
            <a:ext cx="2743131"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5997"/>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macro-F1 on the same 496 test sentences; Claude, with no labels, reaches 0.66 and TF-IDF on the same labels 0.58</a:t>
            </a:r>
          </a:p>
        </p:txBody>
      </p:sp>
      <p:sp>
        <p:nvSpPr>
          <p:cNvPr id="16" name="">
            <a:extLst xmlns:a="http://schemas.openxmlformats.org/drawingml/2006/main">
              <a:ext uri="{FF2B5EF4-FFF2-40B4-BE49-F238E27FC236}">
                <a16:creationId xmlns:a16="http://schemas.microsoft.com/office/drawing/2014/main" id="{822924D4-AC0C-4BED-8DF8-8F19F4EB7E14}"/>
              </a:ext>
            </a:extLst>
          </p:cNvPr>
          <p:cNvSpPr>
            <a:spLocks xmlns:a="http://schemas.openxmlformats.org/drawingml/2006/main" noGrp="1"/>
          </p:cNvSpPr>
          <p:nvPr/>
        </p:nvSpPr>
        <p:spPr>
          <a:xfrm xmlns:a="http://schemas.openxmlformats.org/drawingml/2006/main">
            <a:off x="8838979" y="364236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00943D6-B63B-4601-993D-5FE837C37011}"/>
              </a:ext>
            </a:extLst>
          </p:cNvPr>
          <p:cNvSpPr>
            <a:spLocks xmlns:a="http://schemas.openxmlformats.org/drawingml/2006/main" noGrp="1"/>
          </p:cNvSpPr>
          <p:nvPr/>
        </p:nvSpPr>
        <p:spPr>
          <a:xfrm xmlns:a="http://schemas.openxmlformats.org/drawingml/2006/main">
            <a:off x="8838979" y="371856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Best of 9 settings on the same five folds: RoBERTa-large, learning rate 2e-5, 9 epochs; added after the results</a:t>
            </a:r>
          </a:p>
        </p:txBody>
      </p:sp>
      <p:sp>
        <p:nvSpPr>
          <p:cNvPr id="18" name="">
            <a:extLst xmlns:a="http://schemas.openxmlformats.org/drawingml/2006/main">
              <a:ext uri="{FF2B5EF4-FFF2-40B4-BE49-F238E27FC236}">
                <a16:creationId xmlns:a16="http://schemas.microsoft.com/office/drawing/2014/main" id="{7CBC1B16-02C0-41EF-AD29-8362C6E7F7D7}"/>
              </a:ext>
            </a:extLst>
          </p:cNvPr>
          <p:cNvSpPr>
            <a:spLocks xmlns:a="http://schemas.openxmlformats.org/drawingml/2006/main" noGrp="1"/>
          </p:cNvSpPr>
          <p:nvPr/>
        </p:nvSpPr>
        <p:spPr>
          <a:xfrm xmlns:a="http://schemas.openxmlformats.org/drawingml/2006/main">
            <a:off x="8838979" y="448564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0495604-F707-47D3-92AC-AB3BB3482A0F}"/>
              </a:ext>
            </a:extLst>
          </p:cNvPr>
          <p:cNvSpPr>
            <a:spLocks xmlns:a="http://schemas.openxmlformats.org/drawingml/2006/main" noGrp="1"/>
          </p:cNvSpPr>
          <p:nvPr/>
        </p:nvSpPr>
        <p:spPr>
          <a:xfrm xmlns:a="http://schemas.openxmlformats.org/drawingml/2006/main">
            <a:off x="8838979" y="456184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Five seeds averaged; alone 0.71 to 0.74</a:t>
            </a:r>
          </a:p>
        </p:txBody>
      </p:sp>
      <p:sp>
        <p:nvSpPr>
          <p:cNvPr id="20" name="">
            <a:extLst xmlns:a="http://schemas.openxmlformats.org/drawingml/2006/main">
              <a:ext uri="{FF2B5EF4-FFF2-40B4-BE49-F238E27FC236}">
                <a16:creationId xmlns:a16="http://schemas.microsoft.com/office/drawing/2014/main" id="{7F8E272F-9118-478F-A404-4CBD8CCF708D}"/>
              </a:ext>
            </a:extLst>
          </p:cNvPr>
          <p:cNvSpPr>
            <a:spLocks xmlns:a="http://schemas.openxmlformats.org/drawingml/2006/main" noGrp="1"/>
          </p:cNvSpPr>
          <p:nvPr/>
        </p:nvSpPr>
        <p:spPr>
          <a:xfrm xmlns:a="http://schemas.openxmlformats.org/drawingml/2006/main">
            <a:off x="8838979" y="532892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95D25E8-AFA6-4FCC-8020-1CDD7D1AF254}"/>
              </a:ext>
            </a:extLst>
          </p:cNvPr>
          <p:cNvSpPr>
            <a:spLocks xmlns:a="http://schemas.openxmlformats.org/drawingml/2006/main" noGrp="1"/>
          </p:cNvSpPr>
          <p:nvPr/>
        </p:nvSpPr>
        <p:spPr>
          <a:xfrm xmlns:a="http://schemas.openxmlformats.org/drawingml/2006/main">
            <a:off x="8838979" y="540512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Agreement with Claude on documents, r: statements 0.77 · minutes 0.86 · press conferences 0.79 · speeches 0.70</a:t>
            </a:r>
          </a:p>
        </p:txBody>
      </p:sp>
      <p:pic>
        <p:nvPicPr>
          <p:cNvPr id="22" name="">
            <a:extLst xmlns:a="http://schemas.openxmlformats.org/drawingml/2006/main">
              <a:ext uri="{FF2B5EF4-FFF2-40B4-BE49-F238E27FC236}">
                <a16:creationId xmlns:a16="http://schemas.microsoft.com/office/drawing/2014/main" id="{02F9F963-364A-448A-84BE-CB3CDC43D437}"/>
              </a:ext>
            </a:extLst>
          </p:cNvPr>
          <p:cNvPicPr>
            <a:picLocks xmlns:a="http://schemas.openxmlformats.org/drawingml/2006/main" noChangeAspect="1"/>
          </p:cNvPicPr>
          <p:nvPr/>
        </p:nvPicPr>
        <p:blipFill>
          <a:blip xmlns:r="http://schemas.openxmlformats.org/officeDocument/2006/relationships" xmlns:a="http://schemas.openxmlformats.org/drawingml/2006/main" r:embed="Rc2234e094787495a"/>
          <a:stretch xmlns:a="http://schemas.openxmlformats.org/drawingml/2006/main"/>
        </p:blipFill>
        <p:spPr>
          <a:xfrm xmlns:a="http://schemas.openxmlformats.org/drawingml/2006/main">
            <a:off x="609585" y="1920293"/>
            <a:ext cx="7863643" cy="4251854"/>
          </a:xfrm>
          <a:prstGeom xmlns:a="http://schemas.openxmlformats.org/drawingml/2006/main" prst="rect">
            <a:avLst/>
          </a:prstGeom>
        </p:spPr>
      </p:pic>
    </p:spTree>
    <p:extLst>
      <p:ext uri="{BB962C8B-B14F-4D97-AF65-F5344CB8AC3E}">
        <p14:creationId xmlns:p14="http://schemas.microsoft.com/office/powerpoint/2010/main" val="1024725060"/>
      </p:ext>
    </p:extLst>
  </p:cSld>
</p:sld>
</file>

<file path=ppt/slides/slide20.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1FF4137-0970-4AC8-A5A3-F11BA7DB71B4}"/>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B9CCB6BC-4380-45DE-821A-876B06B26049}"/>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READERS AND VALIDATION</a:t>
            </a:r>
          </a:p>
        </p:txBody>
      </p:sp>
      <p:sp>
        <p:nvSpPr>
          <p:cNvPr id="3" name="">
            <a:extLst xmlns:a="http://schemas.openxmlformats.org/drawingml/2006/main">
              <a:ext uri="{FF2B5EF4-FFF2-40B4-BE49-F238E27FC236}">
                <a16:creationId xmlns:a16="http://schemas.microsoft.com/office/drawing/2014/main" id="{D6ADB231-ED31-4BBC-8145-1FB3FE450674}"/>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20 / 46</a:t>
            </a:r>
          </a:p>
        </p:txBody>
      </p:sp>
      <p:sp>
        <p:nvSpPr>
          <p:cNvPr id="4" name="">
            <a:extLst xmlns:a="http://schemas.openxmlformats.org/drawingml/2006/main">
              <a:ext uri="{FF2B5EF4-FFF2-40B4-BE49-F238E27FC236}">
                <a16:creationId xmlns:a16="http://schemas.microsoft.com/office/drawing/2014/main" id="{C065C570-DB75-49A6-9A7F-9EA94C0D69DD}"/>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B69AC0F-F36F-4446-84BF-7D68AAA382E7}"/>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Recognition and score stability</a:t>
            </a:r>
          </a:p>
        </p:txBody>
      </p:sp>
      <p:sp>
        <p:nvSpPr>
          <p:cNvPr id="6" name="">
            <a:extLst xmlns:a="http://schemas.openxmlformats.org/drawingml/2006/main">
              <a:ext uri="{FF2B5EF4-FFF2-40B4-BE49-F238E27FC236}">
                <a16:creationId xmlns:a16="http://schemas.microsoft.com/office/drawing/2014/main" id="{B4116998-884A-4021-AC7E-91567A1DE2AF}"/>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Masked scores track raw scores, a partial reassurance rather than proof against memorization</a:t>
            </a:r>
          </a:p>
        </p:txBody>
      </p:sp>
      <p:sp>
        <p:nvSpPr>
          <p:cNvPr id="7" name="">
            <a:extLst xmlns:a="http://schemas.openxmlformats.org/drawingml/2006/main">
              <a:ext uri="{FF2B5EF4-FFF2-40B4-BE49-F238E27FC236}">
                <a16:creationId xmlns:a16="http://schemas.microsoft.com/office/drawing/2014/main" id="{B31A95CC-E99C-4AB7-B292-78C449D61E19}"/>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E3D15B4-C127-4022-BA4F-29961A6AB5E3}"/>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audit.py: masked and raw readings, month identification.</a:t>
            </a:r>
          </a:p>
        </p:txBody>
      </p:sp>
      <p:sp>
        <p:nvSpPr>
          <p:cNvPr id="9" name="">
            <a:extLst xmlns:a="http://schemas.openxmlformats.org/drawingml/2006/main">
              <a:ext uri="{FF2B5EF4-FFF2-40B4-BE49-F238E27FC236}">
                <a16:creationId xmlns:a16="http://schemas.microsoft.com/office/drawing/2014/main" id="{6C9905D6-6150-4CA1-A37B-9CA4DFBEEC4E}"/>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A3E4E88-334B-4D97-9592-D3FFADB23192}"/>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237C91A-C175-4686-AABC-CEBF4D7583E4}"/>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0A011D8-772E-495E-BF85-54BE27A941AB}"/>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F916D68-0668-4DE0-AF84-8B016BB611D0}"/>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8D8207A-B68A-4995-B74B-DD0BF31EBB4E}"/>
              </a:ext>
            </a:extLst>
          </p:cNvPr>
          <p:cNvSpPr>
            <a:spLocks xmlns:a="http://schemas.openxmlformats.org/drawingml/2006/main" noGrp="1"/>
          </p:cNvSpPr>
          <p:nvPr/>
        </p:nvSpPr>
        <p:spPr>
          <a:xfrm xmlns:a="http://schemas.openxmlformats.org/drawingml/2006/main">
            <a:off x="609585" y="1981200"/>
            <a:ext cx="274313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96491"/>
          </a:bodyPr>
          <a:lstStyle xmlns:a="http://schemas.openxmlformats.org/drawingml/2006/main">
            <a:defPPr algn="l">
              <a:defRPr sz="4560" b="1">
                <a:solidFill>
                  <a:srgbClr val="151312"/>
                </a:solidFill>
                <a:latin typeface="Arial"/>
                <a:ea typeface="Arial"/>
                <a:cs typeface="Arial"/>
              </a:defRPr>
            </a:defPPr>
            <a:lvl1pPr algn="l">
              <a:defRPr sz="4560" b="1">
                <a:solidFill>
                  <a:srgbClr val="151312"/>
                </a:solidFill>
                <a:latin typeface="Arial"/>
                <a:ea typeface="Arial"/>
                <a:cs typeface="Arial"/>
              </a:defRPr>
            </a:lvl1pPr>
            <a:lvl2pPr algn="l">
              <a:defRPr sz="4560" b="1">
                <a:solidFill>
                  <a:srgbClr val="151312"/>
                </a:solidFill>
                <a:latin typeface="Arial"/>
                <a:ea typeface="Arial"/>
                <a:cs typeface="Arial"/>
              </a:defRPr>
            </a:lvl2pPr>
            <a:lvl3pPr algn="l">
              <a:defRPr sz="4560" b="1">
                <a:solidFill>
                  <a:srgbClr val="151312"/>
                </a:solidFill>
                <a:latin typeface="Arial"/>
                <a:ea typeface="Arial"/>
                <a:cs typeface="Arial"/>
              </a:defRPr>
            </a:lvl3pPr>
            <a:lvl4pPr algn="l">
              <a:defRPr sz="4560" b="1">
                <a:solidFill>
                  <a:srgbClr val="151312"/>
                </a:solidFill>
                <a:latin typeface="Arial"/>
                <a:ea typeface="Arial"/>
                <a:cs typeface="Arial"/>
              </a:defRPr>
            </a:lvl4pPr>
            <a:lvl5pPr algn="l">
              <a:defRPr sz="4560" b="1">
                <a:solidFill>
                  <a:srgbClr val="151312"/>
                </a:solidFill>
                <a:latin typeface="Arial"/>
                <a:ea typeface="Arial"/>
                <a:cs typeface="Arial"/>
              </a:defRPr>
            </a:lvl5pPr>
            <a:lvl6pPr algn="l">
              <a:defRPr sz="4560" b="1">
                <a:solidFill>
                  <a:srgbClr val="151312"/>
                </a:solidFill>
                <a:latin typeface="Arial"/>
                <a:ea typeface="Arial"/>
                <a:cs typeface="Arial"/>
              </a:defRPr>
            </a:lvl6pPr>
            <a:lvl7pPr algn="l">
              <a:defRPr sz="4560" b="1">
                <a:solidFill>
                  <a:srgbClr val="151312"/>
                </a:solidFill>
                <a:latin typeface="Arial"/>
                <a:ea typeface="Arial"/>
                <a:cs typeface="Arial"/>
              </a:defRPr>
            </a:lvl7pPr>
            <a:lvl8pPr algn="l">
              <a:defRPr sz="4560" b="1">
                <a:solidFill>
                  <a:srgbClr val="151312"/>
                </a:solidFill>
                <a:latin typeface="Arial"/>
                <a:ea typeface="Arial"/>
                <a:cs typeface="Arial"/>
              </a:defRPr>
            </a:lvl8pPr>
            <a:lvl9pPr algn="l">
              <a:defRPr sz="4560" b="1">
                <a:solidFill>
                  <a:srgbClr val="151312"/>
                </a:solidFill>
                <a:latin typeface="Arial"/>
                <a:ea typeface="Arial"/>
                <a:cs typeface="Arial"/>
              </a:defRPr>
            </a:lvl9pPr>
          </a:lstStyle>
          <a:p xmlns:a="http://schemas.openxmlformats.org/drawingml/2006/main">
            <a:pPr algn="l">
              <a:defRPr sz="4560" b="1">
                <a:solidFill>
                  <a:srgbClr val="151312"/>
                </a:solidFill>
                <a:latin typeface="Arial"/>
                <a:ea typeface="Arial"/>
                <a:cs typeface="Arial"/>
              </a:defRPr>
            </a:pPr>
            <a:r>
              <a:rPr sz="4560" b="1">
                <a:solidFill>
                  <a:srgbClr val="151312"/>
                </a:solidFill>
                <a:latin typeface="Arial"/>
                <a:ea typeface="Arial"/>
                <a:cs typeface="Arial"/>
              </a:rPr>
              <a:t>99%</a:t>
            </a:r>
          </a:p>
        </p:txBody>
      </p:sp>
      <p:sp>
        <p:nvSpPr>
          <p:cNvPr id="15" name="">
            <a:extLst xmlns:a="http://schemas.openxmlformats.org/drawingml/2006/main">
              <a:ext uri="{FF2B5EF4-FFF2-40B4-BE49-F238E27FC236}">
                <a16:creationId xmlns:a16="http://schemas.microsoft.com/office/drawing/2014/main" id="{23377E3B-DCAE-46F6-AA52-0BC2F41E63E8}"/>
              </a:ext>
            </a:extLst>
          </p:cNvPr>
          <p:cNvSpPr>
            <a:spLocks xmlns:a="http://schemas.openxmlformats.org/drawingml/2006/main" noGrp="1"/>
          </p:cNvSpPr>
          <p:nvPr/>
        </p:nvSpPr>
        <p:spPr>
          <a:xfrm xmlns:a="http://schemas.openxmlformats.org/drawingml/2006/main">
            <a:off x="609585" y="2689860"/>
            <a:ext cx="2743131"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565"/>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of masked statements dated to the exact month: Claude recognizes them</a:t>
            </a:r>
          </a:p>
        </p:txBody>
      </p:sp>
      <p:sp>
        <p:nvSpPr>
          <p:cNvPr id="16" name="">
            <a:extLst xmlns:a="http://schemas.openxmlformats.org/drawingml/2006/main">
              <a:ext uri="{FF2B5EF4-FFF2-40B4-BE49-F238E27FC236}">
                <a16:creationId xmlns:a16="http://schemas.microsoft.com/office/drawing/2014/main" id="{38F2564E-2E5C-4D2F-84F7-F0AD74593F6D}"/>
              </a:ext>
            </a:extLst>
          </p:cNvPr>
          <p:cNvSpPr>
            <a:spLocks xmlns:a="http://schemas.openxmlformats.org/drawingml/2006/main" noGrp="1"/>
          </p:cNvSpPr>
          <p:nvPr/>
        </p:nvSpPr>
        <p:spPr>
          <a:xfrm xmlns:a="http://schemas.openxmlformats.org/drawingml/2006/main">
            <a:off x="609585" y="3444240"/>
            <a:ext cx="2743131"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780" b="1">
                <a:solidFill>
                  <a:srgbClr val="55504A"/>
                </a:solidFill>
                <a:latin typeface="Arial"/>
                <a:ea typeface="Arial"/>
                <a:cs typeface="Arial"/>
              </a:defRPr>
            </a:defPPr>
            <a:lvl1pPr algn="l">
              <a:defRPr sz="780" b="1">
                <a:solidFill>
                  <a:srgbClr val="55504A"/>
                </a:solidFill>
                <a:latin typeface="Arial"/>
                <a:ea typeface="Arial"/>
                <a:cs typeface="Arial"/>
              </a:defRPr>
            </a:lvl1pPr>
            <a:lvl2pPr algn="l">
              <a:defRPr sz="780" b="1">
                <a:solidFill>
                  <a:srgbClr val="55504A"/>
                </a:solidFill>
                <a:latin typeface="Arial"/>
                <a:ea typeface="Arial"/>
                <a:cs typeface="Arial"/>
              </a:defRPr>
            </a:lvl2pPr>
            <a:lvl3pPr algn="l">
              <a:defRPr sz="780" b="1">
                <a:solidFill>
                  <a:srgbClr val="55504A"/>
                </a:solidFill>
                <a:latin typeface="Arial"/>
                <a:ea typeface="Arial"/>
                <a:cs typeface="Arial"/>
              </a:defRPr>
            </a:lvl3pPr>
            <a:lvl4pPr algn="l">
              <a:defRPr sz="780" b="1">
                <a:solidFill>
                  <a:srgbClr val="55504A"/>
                </a:solidFill>
                <a:latin typeface="Arial"/>
                <a:ea typeface="Arial"/>
                <a:cs typeface="Arial"/>
              </a:defRPr>
            </a:lvl4pPr>
            <a:lvl5pPr algn="l">
              <a:defRPr sz="780" b="1">
                <a:solidFill>
                  <a:srgbClr val="55504A"/>
                </a:solidFill>
                <a:latin typeface="Arial"/>
                <a:ea typeface="Arial"/>
                <a:cs typeface="Arial"/>
              </a:defRPr>
            </a:lvl5pPr>
            <a:lvl6pPr algn="l">
              <a:defRPr sz="780" b="1">
                <a:solidFill>
                  <a:srgbClr val="55504A"/>
                </a:solidFill>
                <a:latin typeface="Arial"/>
                <a:ea typeface="Arial"/>
                <a:cs typeface="Arial"/>
              </a:defRPr>
            </a:lvl6pPr>
            <a:lvl7pPr algn="l">
              <a:defRPr sz="780" b="1">
                <a:solidFill>
                  <a:srgbClr val="55504A"/>
                </a:solidFill>
                <a:latin typeface="Arial"/>
                <a:ea typeface="Arial"/>
                <a:cs typeface="Arial"/>
              </a:defRPr>
            </a:lvl7pPr>
            <a:lvl8pPr algn="l">
              <a:defRPr sz="780" b="1">
                <a:solidFill>
                  <a:srgbClr val="55504A"/>
                </a:solidFill>
                <a:latin typeface="Arial"/>
                <a:ea typeface="Arial"/>
                <a:cs typeface="Arial"/>
              </a:defRPr>
            </a:lvl8pPr>
            <a:lvl9pPr algn="l">
              <a:defRPr sz="780" b="1">
                <a:solidFill>
                  <a:srgbClr val="55504A"/>
                </a:solidFill>
                <a:latin typeface="Arial"/>
                <a:ea typeface="Arial"/>
                <a:cs typeface="Arial"/>
              </a:defRPr>
            </a:lvl9pPr>
          </a:lstStyle>
          <a:p xmlns:a="http://schemas.openxmlformats.org/drawingml/2006/main">
            <a:pPr algn="l">
              <a:defRPr sz="780" b="1">
                <a:solidFill>
                  <a:srgbClr val="55504A"/>
                </a:solidFill>
                <a:latin typeface="Arial"/>
                <a:ea typeface="Arial"/>
                <a:cs typeface="Arial"/>
              </a:defRPr>
            </a:pPr>
            <a:r>
              <a:rPr sz="780" b="1">
                <a:solidFill>
                  <a:srgbClr val="55504A"/>
                </a:solidFill>
                <a:latin typeface="Arial"/>
                <a:ea typeface="Arial"/>
                <a:cs typeface="Arial"/>
              </a:rPr>
              <a:t>BUT</a:t>
            </a:r>
          </a:p>
        </p:txBody>
      </p:sp>
      <p:sp>
        <p:nvSpPr>
          <p:cNvPr id="17" name="">
            <a:extLst xmlns:a="http://schemas.openxmlformats.org/drawingml/2006/main">
              <a:ext uri="{FF2B5EF4-FFF2-40B4-BE49-F238E27FC236}">
                <a16:creationId xmlns:a16="http://schemas.microsoft.com/office/drawing/2014/main" id="{E09A98F7-9984-4452-8371-98D879E65470}"/>
              </a:ext>
            </a:extLst>
          </p:cNvPr>
          <p:cNvSpPr>
            <a:spLocks xmlns:a="http://schemas.openxmlformats.org/drawingml/2006/main" noGrp="1"/>
          </p:cNvSpPr>
          <p:nvPr/>
        </p:nvSpPr>
        <p:spPr>
          <a:xfrm xmlns:a="http://schemas.openxmlformats.org/drawingml/2006/main">
            <a:off x="609585" y="3733800"/>
            <a:ext cx="2743131" cy="670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96491"/>
          </a:bodyPr>
          <a:lstStyle xmlns:a="http://schemas.openxmlformats.org/drawingml/2006/main">
            <a:defPPr algn="l">
              <a:defRPr sz="4560" b="1">
                <a:solidFill>
                  <a:srgbClr val="151312"/>
                </a:solidFill>
                <a:latin typeface="Arial"/>
                <a:ea typeface="Arial"/>
                <a:cs typeface="Arial"/>
              </a:defRPr>
            </a:defPPr>
            <a:lvl1pPr algn="l">
              <a:defRPr sz="4560" b="1">
                <a:solidFill>
                  <a:srgbClr val="151312"/>
                </a:solidFill>
                <a:latin typeface="Arial"/>
                <a:ea typeface="Arial"/>
                <a:cs typeface="Arial"/>
              </a:defRPr>
            </a:lvl1pPr>
            <a:lvl2pPr algn="l">
              <a:defRPr sz="4560" b="1">
                <a:solidFill>
                  <a:srgbClr val="151312"/>
                </a:solidFill>
                <a:latin typeface="Arial"/>
                <a:ea typeface="Arial"/>
                <a:cs typeface="Arial"/>
              </a:defRPr>
            </a:lvl2pPr>
            <a:lvl3pPr algn="l">
              <a:defRPr sz="4560" b="1">
                <a:solidFill>
                  <a:srgbClr val="151312"/>
                </a:solidFill>
                <a:latin typeface="Arial"/>
                <a:ea typeface="Arial"/>
                <a:cs typeface="Arial"/>
              </a:defRPr>
            </a:lvl3pPr>
            <a:lvl4pPr algn="l">
              <a:defRPr sz="4560" b="1">
                <a:solidFill>
                  <a:srgbClr val="151312"/>
                </a:solidFill>
                <a:latin typeface="Arial"/>
                <a:ea typeface="Arial"/>
                <a:cs typeface="Arial"/>
              </a:defRPr>
            </a:lvl4pPr>
            <a:lvl5pPr algn="l">
              <a:defRPr sz="4560" b="1">
                <a:solidFill>
                  <a:srgbClr val="151312"/>
                </a:solidFill>
                <a:latin typeface="Arial"/>
                <a:ea typeface="Arial"/>
                <a:cs typeface="Arial"/>
              </a:defRPr>
            </a:lvl5pPr>
            <a:lvl6pPr algn="l">
              <a:defRPr sz="4560" b="1">
                <a:solidFill>
                  <a:srgbClr val="151312"/>
                </a:solidFill>
                <a:latin typeface="Arial"/>
                <a:ea typeface="Arial"/>
                <a:cs typeface="Arial"/>
              </a:defRPr>
            </a:lvl6pPr>
            <a:lvl7pPr algn="l">
              <a:defRPr sz="4560" b="1">
                <a:solidFill>
                  <a:srgbClr val="151312"/>
                </a:solidFill>
                <a:latin typeface="Arial"/>
                <a:ea typeface="Arial"/>
                <a:cs typeface="Arial"/>
              </a:defRPr>
            </a:lvl7pPr>
            <a:lvl8pPr algn="l">
              <a:defRPr sz="4560" b="1">
                <a:solidFill>
                  <a:srgbClr val="151312"/>
                </a:solidFill>
                <a:latin typeface="Arial"/>
                <a:ea typeface="Arial"/>
                <a:cs typeface="Arial"/>
              </a:defRPr>
            </a:lvl8pPr>
            <a:lvl9pPr algn="l">
              <a:defRPr sz="4560" b="1">
                <a:solidFill>
                  <a:srgbClr val="151312"/>
                </a:solidFill>
                <a:latin typeface="Arial"/>
                <a:ea typeface="Arial"/>
                <a:cs typeface="Arial"/>
              </a:defRPr>
            </a:lvl9pPr>
          </a:lstStyle>
          <a:p xmlns:a="http://schemas.openxmlformats.org/drawingml/2006/main">
            <a:pPr algn="l">
              <a:defRPr sz="4560" b="1">
                <a:solidFill>
                  <a:srgbClr val="151312"/>
                </a:solidFill>
                <a:latin typeface="Arial"/>
                <a:ea typeface="Arial"/>
                <a:cs typeface="Arial"/>
              </a:defRPr>
            </a:pPr>
            <a:r>
              <a:rPr sz="4560" b="1">
                <a:solidFill>
                  <a:srgbClr val="151312"/>
                </a:solidFill>
                <a:latin typeface="Arial"/>
                <a:ea typeface="Arial"/>
                <a:cs typeface="Arial"/>
              </a:rPr>
              <a:t>r = 0.99</a:t>
            </a:r>
          </a:p>
        </p:txBody>
      </p:sp>
      <p:sp>
        <p:nvSpPr>
          <p:cNvPr id="18" name="">
            <a:extLst xmlns:a="http://schemas.openxmlformats.org/drawingml/2006/main">
              <a:ext uri="{FF2B5EF4-FFF2-40B4-BE49-F238E27FC236}">
                <a16:creationId xmlns:a16="http://schemas.microsoft.com/office/drawing/2014/main" id="{17C37F53-8FDC-4666-AA72-2D01AFF611A3}"/>
              </a:ext>
            </a:extLst>
          </p:cNvPr>
          <p:cNvSpPr>
            <a:spLocks xmlns:a="http://schemas.openxmlformats.org/drawingml/2006/main" noGrp="1"/>
          </p:cNvSpPr>
          <p:nvPr/>
        </p:nvSpPr>
        <p:spPr>
          <a:xfrm xmlns:a="http://schemas.openxmlformats.org/drawingml/2006/main">
            <a:off x="609585" y="4442460"/>
            <a:ext cx="2743131"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3434"/>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between its scores with and without dates, names and rates, on 60 documents</a:t>
            </a:r>
          </a:p>
        </p:txBody>
      </p:sp>
      <p:sp>
        <p:nvSpPr>
          <p:cNvPr id="19" name="">
            <a:extLst xmlns:a="http://schemas.openxmlformats.org/drawingml/2006/main">
              <a:ext uri="{FF2B5EF4-FFF2-40B4-BE49-F238E27FC236}">
                <a16:creationId xmlns:a16="http://schemas.microsoft.com/office/drawing/2014/main" id="{2983D659-B134-4EF8-A558-CC18068FE20A}"/>
              </a:ext>
            </a:extLst>
          </p:cNvPr>
          <p:cNvSpPr>
            <a:spLocks xmlns:a="http://schemas.openxmlformats.org/drawingml/2006/main" noGrp="1"/>
          </p:cNvSpPr>
          <p:nvPr/>
        </p:nvSpPr>
        <p:spPr>
          <a:xfrm xmlns:a="http://schemas.openxmlformats.org/drawingml/2006/main">
            <a:off x="609585" y="519684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D67F60A-60B2-45FE-A289-205A3D891780}"/>
              </a:ext>
            </a:extLst>
          </p:cNvPr>
          <p:cNvSpPr>
            <a:spLocks xmlns:a="http://schemas.openxmlformats.org/drawingml/2006/main" noGrp="1"/>
          </p:cNvSpPr>
          <p:nvPr/>
        </p:nvSpPr>
        <p:spPr>
          <a:xfrm xmlns:a="http://schemas.openxmlformats.org/drawingml/2006/main">
            <a:off x="609585" y="5288280"/>
            <a:ext cx="2743131"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Same overall stance on 93% of masked documents</a:t>
            </a:r>
          </a:p>
        </p:txBody>
      </p:sp>
      <p:pic>
        <p:nvPicPr>
          <p:cNvPr id="21" name="">
            <a:extLst xmlns:a="http://schemas.openxmlformats.org/drawingml/2006/main">
              <a:ext uri="{FF2B5EF4-FFF2-40B4-BE49-F238E27FC236}">
                <a16:creationId xmlns:a16="http://schemas.microsoft.com/office/drawing/2014/main" id="{87288839-5BB4-429B-A8E9-D077A53F4D4F}"/>
              </a:ext>
            </a:extLst>
          </p:cNvPr>
          <p:cNvPicPr>
            <a:picLocks xmlns:a="http://schemas.openxmlformats.org/drawingml/2006/main" noChangeAspect="1"/>
          </p:cNvPicPr>
          <p:nvPr/>
        </p:nvPicPr>
        <p:blipFill>
          <a:blip xmlns:r="http://schemas.openxmlformats.org/officeDocument/2006/relationships" xmlns:a="http://schemas.openxmlformats.org/drawingml/2006/main" r:embed="Rfd1fa149474a4bb3"/>
          <a:stretch xmlns:a="http://schemas.openxmlformats.org/drawingml/2006/main"/>
        </p:blipFill>
        <p:spPr>
          <a:xfrm xmlns:a="http://schemas.openxmlformats.org/drawingml/2006/main">
            <a:off x="3718467" y="1920293"/>
            <a:ext cx="7863643" cy="4251854"/>
          </a:xfrm>
          <a:prstGeom xmlns:a="http://schemas.openxmlformats.org/drawingml/2006/main" prst="rect">
            <a:avLst/>
          </a:prstGeom>
        </p:spPr>
      </p:pic>
    </p:spTree>
    <p:extLst>
      <p:ext uri="{BB962C8B-B14F-4D97-AF65-F5344CB8AC3E}">
        <p14:creationId xmlns:p14="http://schemas.microsoft.com/office/powerpoint/2010/main" val="853868955"/>
      </p:ext>
    </p:extLst>
  </p:cSld>
</p:sld>
</file>

<file path=ppt/slides/slide21.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A5E5F59A-7F7F-4A13-B9B8-3757754C8046}"/>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118864A5-27EC-4E4D-9C1C-2E626B7E091B}"/>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READERS AND VALIDATION</a:t>
            </a:r>
          </a:p>
        </p:txBody>
      </p:sp>
      <p:sp>
        <p:nvSpPr>
          <p:cNvPr id="3" name="">
            <a:extLst xmlns:a="http://schemas.openxmlformats.org/drawingml/2006/main">
              <a:ext uri="{FF2B5EF4-FFF2-40B4-BE49-F238E27FC236}">
                <a16:creationId xmlns:a16="http://schemas.microsoft.com/office/drawing/2014/main" id="{69D1ECF7-ED2F-4D88-9AD2-60CDB0A0286A}"/>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21 / 46</a:t>
            </a:r>
          </a:p>
        </p:txBody>
      </p:sp>
      <p:sp>
        <p:nvSpPr>
          <p:cNvPr id="4" name="">
            <a:extLst xmlns:a="http://schemas.openxmlformats.org/drawingml/2006/main">
              <a:ext uri="{FF2B5EF4-FFF2-40B4-BE49-F238E27FC236}">
                <a16:creationId xmlns:a16="http://schemas.microsoft.com/office/drawing/2014/main" id="{0C8C3763-BB87-4A74-8B31-022A85F1404A}"/>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76279BB-EEA6-4B06-8AAD-28E41BCDE0E8}"/>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Stable scores under masking and re-reading</a:t>
            </a:r>
          </a:p>
        </p:txBody>
      </p:sp>
      <p:sp>
        <p:nvSpPr>
          <p:cNvPr id="6" name="">
            <a:extLst xmlns:a="http://schemas.openxmlformats.org/drawingml/2006/main">
              <a:ext uri="{FF2B5EF4-FFF2-40B4-BE49-F238E27FC236}">
                <a16:creationId xmlns:a16="http://schemas.microsoft.com/office/drawing/2014/main" id="{C4DD97C8-CAB8-4B74-9972-252ACFE9FE88}"/>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Masking dates and names barely moves scores; it cannot rule out contamination</a:t>
            </a:r>
          </a:p>
        </p:txBody>
      </p:sp>
      <p:sp>
        <p:nvSpPr>
          <p:cNvPr id="7" name="">
            <a:extLst xmlns:a="http://schemas.openxmlformats.org/drawingml/2006/main">
              <a:ext uri="{FF2B5EF4-FFF2-40B4-BE49-F238E27FC236}">
                <a16:creationId xmlns:a16="http://schemas.microsoft.com/office/drawing/2014/main" id="{811FD25E-F435-45D7-9DEB-48B183B59F91}"/>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292AD5C-0C8E-42BB-B994-634950AAAA10}"/>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audit.py.</a:t>
            </a:r>
          </a:p>
        </p:txBody>
      </p:sp>
      <p:sp>
        <p:nvSpPr>
          <p:cNvPr id="9" name="">
            <a:extLst xmlns:a="http://schemas.openxmlformats.org/drawingml/2006/main">
              <a:ext uri="{FF2B5EF4-FFF2-40B4-BE49-F238E27FC236}">
                <a16:creationId xmlns:a16="http://schemas.microsoft.com/office/drawing/2014/main" id="{544D57F2-0191-42FB-8146-15334492F09E}"/>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F0C287B-CCB4-43CC-A2F5-A0618B870183}"/>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861CCC9-A404-4D87-9685-C2CD6BD40471}"/>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58AB12A-4B48-42C1-BA25-9558D5D397BF}"/>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3EDCF26-DA6E-45F2-B630-4F64119047C6}"/>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A87907C-BA91-4ED2-BA15-1B64869DBDD3}"/>
              </a:ext>
            </a:extLst>
          </p:cNvPr>
          <p:cNvSpPr>
            <a:spLocks xmlns:a="http://schemas.openxmlformats.org/drawingml/2006/main" noGrp="1"/>
          </p:cNvSpPr>
          <p:nvPr/>
        </p:nvSpPr>
        <p:spPr>
          <a:xfrm xmlns:a="http://schemas.openxmlformats.org/drawingml/2006/main">
            <a:off x="8838979" y="1965960"/>
            <a:ext cx="2743131"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4560" b="1">
                <a:solidFill>
                  <a:srgbClr val="151312"/>
                </a:solidFill>
                <a:latin typeface="Arial"/>
                <a:ea typeface="Arial"/>
                <a:cs typeface="Arial"/>
              </a:defRPr>
            </a:defPPr>
            <a:lvl1pPr algn="l">
              <a:defRPr sz="4560" b="1">
                <a:solidFill>
                  <a:srgbClr val="151312"/>
                </a:solidFill>
                <a:latin typeface="Arial"/>
                <a:ea typeface="Arial"/>
                <a:cs typeface="Arial"/>
              </a:defRPr>
            </a:lvl1pPr>
            <a:lvl2pPr algn="l">
              <a:defRPr sz="4560" b="1">
                <a:solidFill>
                  <a:srgbClr val="151312"/>
                </a:solidFill>
                <a:latin typeface="Arial"/>
                <a:ea typeface="Arial"/>
                <a:cs typeface="Arial"/>
              </a:defRPr>
            </a:lvl2pPr>
            <a:lvl3pPr algn="l">
              <a:defRPr sz="4560" b="1">
                <a:solidFill>
                  <a:srgbClr val="151312"/>
                </a:solidFill>
                <a:latin typeface="Arial"/>
                <a:ea typeface="Arial"/>
                <a:cs typeface="Arial"/>
              </a:defRPr>
            </a:lvl3pPr>
            <a:lvl4pPr algn="l">
              <a:defRPr sz="4560" b="1">
                <a:solidFill>
                  <a:srgbClr val="151312"/>
                </a:solidFill>
                <a:latin typeface="Arial"/>
                <a:ea typeface="Arial"/>
                <a:cs typeface="Arial"/>
              </a:defRPr>
            </a:lvl4pPr>
            <a:lvl5pPr algn="l">
              <a:defRPr sz="4560" b="1">
                <a:solidFill>
                  <a:srgbClr val="151312"/>
                </a:solidFill>
                <a:latin typeface="Arial"/>
                <a:ea typeface="Arial"/>
                <a:cs typeface="Arial"/>
              </a:defRPr>
            </a:lvl5pPr>
            <a:lvl6pPr algn="l">
              <a:defRPr sz="4560" b="1">
                <a:solidFill>
                  <a:srgbClr val="151312"/>
                </a:solidFill>
                <a:latin typeface="Arial"/>
                <a:ea typeface="Arial"/>
                <a:cs typeface="Arial"/>
              </a:defRPr>
            </a:lvl6pPr>
            <a:lvl7pPr algn="l">
              <a:defRPr sz="4560" b="1">
                <a:solidFill>
                  <a:srgbClr val="151312"/>
                </a:solidFill>
                <a:latin typeface="Arial"/>
                <a:ea typeface="Arial"/>
                <a:cs typeface="Arial"/>
              </a:defRPr>
            </a:lvl7pPr>
            <a:lvl8pPr algn="l">
              <a:defRPr sz="4560" b="1">
                <a:solidFill>
                  <a:srgbClr val="151312"/>
                </a:solidFill>
                <a:latin typeface="Arial"/>
                <a:ea typeface="Arial"/>
                <a:cs typeface="Arial"/>
              </a:defRPr>
            </a:lvl8pPr>
            <a:lvl9pPr algn="l">
              <a:defRPr sz="4560" b="1">
                <a:solidFill>
                  <a:srgbClr val="151312"/>
                </a:solidFill>
                <a:latin typeface="Arial"/>
                <a:ea typeface="Arial"/>
                <a:cs typeface="Arial"/>
              </a:defRPr>
            </a:lvl9pPr>
          </a:lstStyle>
          <a:p xmlns:a="http://schemas.openxmlformats.org/drawingml/2006/main">
            <a:pPr algn="l">
              <a:defRPr sz="4560" b="1">
                <a:solidFill>
                  <a:srgbClr val="151312"/>
                </a:solidFill>
                <a:latin typeface="Arial"/>
                <a:ea typeface="Arial"/>
                <a:cs typeface="Arial"/>
              </a:defRPr>
            </a:pPr>
            <a:r>
              <a:rPr sz="4560" b="1">
                <a:solidFill>
                  <a:srgbClr val="151312"/>
                </a:solidFill>
                <a:latin typeface="Arial"/>
                <a:ea typeface="Arial"/>
                <a:cs typeface="Arial"/>
              </a:rPr>
              <a:t>0.996</a:t>
            </a:r>
          </a:p>
        </p:txBody>
      </p:sp>
      <p:sp>
        <p:nvSpPr>
          <p:cNvPr id="15" name="">
            <a:extLst xmlns:a="http://schemas.openxmlformats.org/drawingml/2006/main">
              <a:ext uri="{FF2B5EF4-FFF2-40B4-BE49-F238E27FC236}">
                <a16:creationId xmlns:a16="http://schemas.microsoft.com/office/drawing/2014/main" id="{888DB069-9C3F-4F68-A154-252D12AC836C}"/>
              </a:ext>
            </a:extLst>
          </p:cNvPr>
          <p:cNvSpPr>
            <a:spLocks xmlns:a="http://schemas.openxmlformats.org/drawingml/2006/main" noGrp="1"/>
          </p:cNvSpPr>
          <p:nvPr/>
        </p:nvSpPr>
        <p:spPr>
          <a:xfrm xmlns:a="http://schemas.openxmlformats.org/drawingml/2006/main">
            <a:off x="8838979" y="2781300"/>
            <a:ext cx="2743131"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correlation between two separate batches on 152 documents</a:t>
            </a:r>
          </a:p>
        </p:txBody>
      </p:sp>
      <p:sp>
        <p:nvSpPr>
          <p:cNvPr id="16" name="">
            <a:extLst xmlns:a="http://schemas.openxmlformats.org/drawingml/2006/main">
              <a:ext uri="{FF2B5EF4-FFF2-40B4-BE49-F238E27FC236}">
                <a16:creationId xmlns:a16="http://schemas.microsoft.com/office/drawing/2014/main" id="{30170327-DB84-4DAF-AA7E-7A8F4E6F3FF2}"/>
              </a:ext>
            </a:extLst>
          </p:cNvPr>
          <p:cNvSpPr>
            <a:spLocks xmlns:a="http://schemas.openxmlformats.org/drawingml/2006/main" noGrp="1"/>
          </p:cNvSpPr>
          <p:nvPr/>
        </p:nvSpPr>
        <p:spPr>
          <a:xfrm xmlns:a="http://schemas.openxmlformats.org/drawingml/2006/main">
            <a:off x="8838979" y="364236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4D7C352-E5AC-4F45-A623-1929619FAE68}"/>
              </a:ext>
            </a:extLst>
          </p:cNvPr>
          <p:cNvSpPr>
            <a:spLocks xmlns:a="http://schemas.openxmlformats.org/drawingml/2006/main" noGrp="1"/>
          </p:cNvSpPr>
          <p:nvPr/>
        </p:nvSpPr>
        <p:spPr>
          <a:xfrm xmlns:a="http://schemas.openxmlformats.org/drawingml/2006/main">
            <a:off x="8838979" y="371856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Same stance on 94.7% of 152 repeated documents</a:t>
            </a:r>
          </a:p>
        </p:txBody>
      </p:sp>
      <p:sp>
        <p:nvSpPr>
          <p:cNvPr id="18" name="">
            <a:extLst xmlns:a="http://schemas.openxmlformats.org/drawingml/2006/main">
              <a:ext uri="{FF2B5EF4-FFF2-40B4-BE49-F238E27FC236}">
                <a16:creationId xmlns:a16="http://schemas.microsoft.com/office/drawing/2014/main" id="{CC88E63C-C925-4C18-8257-612DF3E12BDE}"/>
              </a:ext>
            </a:extLst>
          </p:cNvPr>
          <p:cNvSpPr>
            <a:spLocks xmlns:a="http://schemas.openxmlformats.org/drawingml/2006/main" noGrp="1"/>
          </p:cNvSpPr>
          <p:nvPr/>
        </p:nvSpPr>
        <p:spPr>
          <a:xfrm xmlns:a="http://schemas.openxmlformats.org/drawingml/2006/main">
            <a:off x="8838979" y="448564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121B225-9173-479B-9613-0406377E5EDC}"/>
              </a:ext>
            </a:extLst>
          </p:cNvPr>
          <p:cNvSpPr>
            <a:spLocks xmlns:a="http://schemas.openxmlformats.org/drawingml/2006/main" noGrp="1"/>
          </p:cNvSpPr>
          <p:nvPr/>
        </p:nvSpPr>
        <p:spPr>
          <a:xfrm xmlns:a="http://schemas.openxmlformats.org/drawingml/2006/main">
            <a:off x="8838979" y="456184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Mean change 0.023 on a scale of −1 to +1</a:t>
            </a:r>
          </a:p>
        </p:txBody>
      </p:sp>
      <p:sp>
        <p:nvSpPr>
          <p:cNvPr id="20" name="">
            <a:extLst xmlns:a="http://schemas.openxmlformats.org/drawingml/2006/main">
              <a:ext uri="{FF2B5EF4-FFF2-40B4-BE49-F238E27FC236}">
                <a16:creationId xmlns:a16="http://schemas.microsoft.com/office/drawing/2014/main" id="{AC72C2FC-33CD-41FF-9408-DBB0C7D99B18}"/>
              </a:ext>
            </a:extLst>
          </p:cNvPr>
          <p:cNvSpPr>
            <a:spLocks xmlns:a="http://schemas.openxmlformats.org/drawingml/2006/main" noGrp="1"/>
          </p:cNvSpPr>
          <p:nvPr/>
        </p:nvSpPr>
        <p:spPr>
          <a:xfrm xmlns:a="http://schemas.openxmlformats.org/drawingml/2006/main">
            <a:off x="8838979" y="532892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902DE3F-DB09-4F77-9FDD-DE4E138E4709}"/>
              </a:ext>
            </a:extLst>
          </p:cNvPr>
          <p:cNvSpPr>
            <a:spLocks xmlns:a="http://schemas.openxmlformats.org/drawingml/2006/main" noGrp="1"/>
          </p:cNvSpPr>
          <p:nvPr/>
        </p:nvSpPr>
        <p:spPr>
          <a:xfrm xmlns:a="http://schemas.openxmlformats.org/drawingml/2006/main">
            <a:off x="8838979" y="540512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Drift flag: mean change above 0.10 or stance agreement below 75%</a:t>
            </a:r>
          </a:p>
        </p:txBody>
      </p:sp>
      <p:sp>
        <p:nvSpPr>
          <p:cNvPr id="22" name="">
            <a:extLst xmlns:a="http://schemas.openxmlformats.org/drawingml/2006/main">
              <a:ext uri="{FF2B5EF4-FFF2-40B4-BE49-F238E27FC236}">
                <a16:creationId xmlns:a16="http://schemas.microsoft.com/office/drawing/2014/main" id="{569859F6-9455-4CC3-9B70-8615E82B4E0F}"/>
              </a:ext>
            </a:extLst>
          </p:cNvPr>
          <p:cNvSpPr>
            <a:spLocks xmlns:a="http://schemas.openxmlformats.org/drawingml/2006/main" noGrp="1"/>
          </p:cNvSpPr>
          <p:nvPr/>
        </p:nvSpPr>
        <p:spPr>
          <a:xfrm xmlns:a="http://schemas.openxmlformats.org/drawingml/2006/main">
            <a:off x="609585" y="1920240"/>
            <a:ext cx="3779425"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E5FAA7B-9136-4817-9D88-96526A341F38}"/>
              </a:ext>
            </a:extLst>
          </p:cNvPr>
          <p:cNvSpPr>
            <a:spLocks xmlns:a="http://schemas.openxmlformats.org/drawingml/2006/main" noGrp="1"/>
          </p:cNvSpPr>
          <p:nvPr/>
        </p:nvSpPr>
        <p:spPr>
          <a:xfrm xmlns:a="http://schemas.openxmlformats.org/drawingml/2006/main">
            <a:off x="609585" y="2087880"/>
            <a:ext cx="37794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2640" b="1">
                <a:solidFill>
                  <a:srgbClr val="151312"/>
                </a:solidFill>
                <a:latin typeface="Arial"/>
                <a:ea typeface="Arial"/>
                <a:cs typeface="Arial"/>
              </a:defRPr>
            </a:defPPr>
            <a:lvl1pPr algn="l">
              <a:defRPr sz="2640" b="1">
                <a:solidFill>
                  <a:srgbClr val="151312"/>
                </a:solidFill>
                <a:latin typeface="Arial"/>
                <a:ea typeface="Arial"/>
                <a:cs typeface="Arial"/>
              </a:defRPr>
            </a:lvl1pPr>
            <a:lvl2pPr algn="l">
              <a:defRPr sz="2640" b="1">
                <a:solidFill>
                  <a:srgbClr val="151312"/>
                </a:solidFill>
                <a:latin typeface="Arial"/>
                <a:ea typeface="Arial"/>
                <a:cs typeface="Arial"/>
              </a:defRPr>
            </a:lvl2pPr>
            <a:lvl3pPr algn="l">
              <a:defRPr sz="2640" b="1">
                <a:solidFill>
                  <a:srgbClr val="151312"/>
                </a:solidFill>
                <a:latin typeface="Arial"/>
                <a:ea typeface="Arial"/>
                <a:cs typeface="Arial"/>
              </a:defRPr>
            </a:lvl3pPr>
            <a:lvl4pPr algn="l">
              <a:defRPr sz="2640" b="1">
                <a:solidFill>
                  <a:srgbClr val="151312"/>
                </a:solidFill>
                <a:latin typeface="Arial"/>
                <a:ea typeface="Arial"/>
                <a:cs typeface="Arial"/>
              </a:defRPr>
            </a:lvl4pPr>
            <a:lvl5pPr algn="l">
              <a:defRPr sz="2640" b="1">
                <a:solidFill>
                  <a:srgbClr val="151312"/>
                </a:solidFill>
                <a:latin typeface="Arial"/>
                <a:ea typeface="Arial"/>
                <a:cs typeface="Arial"/>
              </a:defRPr>
            </a:lvl5pPr>
            <a:lvl6pPr algn="l">
              <a:defRPr sz="2640" b="1">
                <a:solidFill>
                  <a:srgbClr val="151312"/>
                </a:solidFill>
                <a:latin typeface="Arial"/>
                <a:ea typeface="Arial"/>
                <a:cs typeface="Arial"/>
              </a:defRPr>
            </a:lvl6pPr>
            <a:lvl7pPr algn="l">
              <a:defRPr sz="2640" b="1">
                <a:solidFill>
                  <a:srgbClr val="151312"/>
                </a:solidFill>
                <a:latin typeface="Arial"/>
                <a:ea typeface="Arial"/>
                <a:cs typeface="Arial"/>
              </a:defRPr>
            </a:lvl7pPr>
            <a:lvl8pPr algn="l">
              <a:defRPr sz="2640" b="1">
                <a:solidFill>
                  <a:srgbClr val="151312"/>
                </a:solidFill>
                <a:latin typeface="Arial"/>
                <a:ea typeface="Arial"/>
                <a:cs typeface="Arial"/>
              </a:defRPr>
            </a:lvl8pPr>
            <a:lvl9pPr algn="l">
              <a:defRPr sz="2640" b="1">
                <a:solidFill>
                  <a:srgbClr val="151312"/>
                </a:solidFill>
                <a:latin typeface="Arial"/>
                <a:ea typeface="Arial"/>
                <a:cs typeface="Arial"/>
              </a:defRPr>
            </a:lvl9pPr>
          </a:lstStyle>
          <a:p xmlns:a="http://schemas.openxmlformats.org/drawingml/2006/main">
            <a:pPr algn="l">
              <a:defRPr sz="2640" b="1">
                <a:solidFill>
                  <a:srgbClr val="151312"/>
                </a:solidFill>
                <a:latin typeface="Arial"/>
                <a:ea typeface="Arial"/>
                <a:cs typeface="Arial"/>
              </a:defRPr>
            </a:pPr>
            <a:r>
              <a:rPr sz="2640" b="1">
                <a:solidFill>
                  <a:srgbClr val="151312"/>
                </a:solidFill>
                <a:latin typeface="Arial"/>
                <a:ea typeface="Arial"/>
                <a:cs typeface="Arial"/>
              </a:rPr>
              <a:t>100%</a:t>
            </a:r>
          </a:p>
        </p:txBody>
      </p:sp>
      <p:sp>
        <p:nvSpPr>
          <p:cNvPr id="24" name="">
            <a:extLst xmlns:a="http://schemas.openxmlformats.org/drawingml/2006/main">
              <a:ext uri="{FF2B5EF4-FFF2-40B4-BE49-F238E27FC236}">
                <a16:creationId xmlns:a16="http://schemas.microsoft.com/office/drawing/2014/main" id="{F45A7B5C-7D54-4AE7-A50C-8A38070B470B}"/>
              </a:ext>
            </a:extLst>
          </p:cNvPr>
          <p:cNvSpPr>
            <a:spLocks xmlns:a="http://schemas.openxmlformats.org/drawingml/2006/main" noGrp="1"/>
          </p:cNvSpPr>
          <p:nvPr/>
        </p:nvSpPr>
        <p:spPr>
          <a:xfrm xmlns:a="http://schemas.openxmlformats.org/drawingml/2006/main">
            <a:off x="609585" y="2758440"/>
            <a:ext cx="37794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152 repeated documents: stance within one step on the five-point scale</a:t>
            </a:r>
          </a:p>
        </p:txBody>
      </p:sp>
      <p:sp>
        <p:nvSpPr>
          <p:cNvPr id="25" name="">
            <a:extLst xmlns:a="http://schemas.openxmlformats.org/drawingml/2006/main">
              <a:ext uri="{FF2B5EF4-FFF2-40B4-BE49-F238E27FC236}">
                <a16:creationId xmlns:a16="http://schemas.microsoft.com/office/drawing/2014/main" id="{086845CA-FEEA-49CF-AF36-7B778BA2A0A2}"/>
              </a:ext>
            </a:extLst>
          </p:cNvPr>
          <p:cNvSpPr>
            <a:spLocks xmlns:a="http://schemas.openxmlformats.org/drawingml/2006/main" noGrp="1"/>
          </p:cNvSpPr>
          <p:nvPr/>
        </p:nvSpPr>
        <p:spPr>
          <a:xfrm xmlns:a="http://schemas.openxmlformats.org/drawingml/2006/main">
            <a:off x="4693803" y="1920240"/>
            <a:ext cx="3779425"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8E4C318-0DC5-4953-89A2-B9994BFAB3BC}"/>
              </a:ext>
            </a:extLst>
          </p:cNvPr>
          <p:cNvSpPr>
            <a:spLocks xmlns:a="http://schemas.openxmlformats.org/drawingml/2006/main" noGrp="1"/>
          </p:cNvSpPr>
          <p:nvPr/>
        </p:nvSpPr>
        <p:spPr>
          <a:xfrm xmlns:a="http://schemas.openxmlformats.org/drawingml/2006/main">
            <a:off x="4693803" y="2087880"/>
            <a:ext cx="37794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2640" b="1">
                <a:solidFill>
                  <a:srgbClr val="151312"/>
                </a:solidFill>
                <a:latin typeface="Arial"/>
                <a:ea typeface="Arial"/>
                <a:cs typeface="Arial"/>
              </a:defRPr>
            </a:defPPr>
            <a:lvl1pPr algn="l">
              <a:defRPr sz="2640" b="1">
                <a:solidFill>
                  <a:srgbClr val="151312"/>
                </a:solidFill>
                <a:latin typeface="Arial"/>
                <a:ea typeface="Arial"/>
                <a:cs typeface="Arial"/>
              </a:defRPr>
            </a:lvl1pPr>
            <a:lvl2pPr algn="l">
              <a:defRPr sz="2640" b="1">
                <a:solidFill>
                  <a:srgbClr val="151312"/>
                </a:solidFill>
                <a:latin typeface="Arial"/>
                <a:ea typeface="Arial"/>
                <a:cs typeface="Arial"/>
              </a:defRPr>
            </a:lvl2pPr>
            <a:lvl3pPr algn="l">
              <a:defRPr sz="2640" b="1">
                <a:solidFill>
                  <a:srgbClr val="151312"/>
                </a:solidFill>
                <a:latin typeface="Arial"/>
                <a:ea typeface="Arial"/>
                <a:cs typeface="Arial"/>
              </a:defRPr>
            </a:lvl3pPr>
            <a:lvl4pPr algn="l">
              <a:defRPr sz="2640" b="1">
                <a:solidFill>
                  <a:srgbClr val="151312"/>
                </a:solidFill>
                <a:latin typeface="Arial"/>
                <a:ea typeface="Arial"/>
                <a:cs typeface="Arial"/>
              </a:defRPr>
            </a:lvl4pPr>
            <a:lvl5pPr algn="l">
              <a:defRPr sz="2640" b="1">
                <a:solidFill>
                  <a:srgbClr val="151312"/>
                </a:solidFill>
                <a:latin typeface="Arial"/>
                <a:ea typeface="Arial"/>
                <a:cs typeface="Arial"/>
              </a:defRPr>
            </a:lvl5pPr>
            <a:lvl6pPr algn="l">
              <a:defRPr sz="2640" b="1">
                <a:solidFill>
                  <a:srgbClr val="151312"/>
                </a:solidFill>
                <a:latin typeface="Arial"/>
                <a:ea typeface="Arial"/>
                <a:cs typeface="Arial"/>
              </a:defRPr>
            </a:lvl6pPr>
            <a:lvl7pPr algn="l">
              <a:defRPr sz="2640" b="1">
                <a:solidFill>
                  <a:srgbClr val="151312"/>
                </a:solidFill>
                <a:latin typeface="Arial"/>
                <a:ea typeface="Arial"/>
                <a:cs typeface="Arial"/>
              </a:defRPr>
            </a:lvl7pPr>
            <a:lvl8pPr algn="l">
              <a:defRPr sz="2640" b="1">
                <a:solidFill>
                  <a:srgbClr val="151312"/>
                </a:solidFill>
                <a:latin typeface="Arial"/>
                <a:ea typeface="Arial"/>
                <a:cs typeface="Arial"/>
              </a:defRPr>
            </a:lvl8pPr>
            <a:lvl9pPr algn="l">
              <a:defRPr sz="2640" b="1">
                <a:solidFill>
                  <a:srgbClr val="151312"/>
                </a:solidFill>
                <a:latin typeface="Arial"/>
                <a:ea typeface="Arial"/>
                <a:cs typeface="Arial"/>
              </a:defRPr>
            </a:lvl9pPr>
          </a:lstStyle>
          <a:p xmlns:a="http://schemas.openxmlformats.org/drawingml/2006/main">
            <a:pPr algn="l">
              <a:defRPr sz="2640" b="1">
                <a:solidFill>
                  <a:srgbClr val="151312"/>
                </a:solidFill>
                <a:latin typeface="Arial"/>
                <a:ea typeface="Arial"/>
                <a:cs typeface="Arial"/>
              </a:defRPr>
            </a:pPr>
            <a:r>
              <a:rPr sz="2640" b="1">
                <a:solidFill>
                  <a:srgbClr val="151312"/>
                </a:solidFill>
                <a:latin typeface="Arial"/>
                <a:ea typeface="Arial"/>
                <a:cs typeface="Arial"/>
              </a:rPr>
              <a:t>99%</a:t>
            </a:r>
          </a:p>
        </p:txBody>
      </p:sp>
      <p:sp>
        <p:nvSpPr>
          <p:cNvPr id="27" name="">
            <a:extLst xmlns:a="http://schemas.openxmlformats.org/drawingml/2006/main">
              <a:ext uri="{FF2B5EF4-FFF2-40B4-BE49-F238E27FC236}">
                <a16:creationId xmlns:a16="http://schemas.microsoft.com/office/drawing/2014/main" id="{6F770536-3297-4099-8171-7C2E08D0BCCB}"/>
              </a:ext>
            </a:extLst>
          </p:cNvPr>
          <p:cNvSpPr>
            <a:spLocks xmlns:a="http://schemas.openxmlformats.org/drawingml/2006/main" noGrp="1"/>
          </p:cNvSpPr>
          <p:nvPr/>
        </p:nvSpPr>
        <p:spPr>
          <a:xfrm xmlns:a="http://schemas.openxmlformats.org/drawingml/2006/main">
            <a:off x="4693803" y="2758440"/>
            <a:ext cx="37794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of 149 masked statements dated to the exact month</a:t>
            </a:r>
          </a:p>
        </p:txBody>
      </p:sp>
      <p:sp>
        <p:nvSpPr>
          <p:cNvPr id="28" name="">
            <a:extLst xmlns:a="http://schemas.openxmlformats.org/drawingml/2006/main">
              <a:ext uri="{FF2B5EF4-FFF2-40B4-BE49-F238E27FC236}">
                <a16:creationId xmlns:a16="http://schemas.microsoft.com/office/drawing/2014/main" id="{5AC6D4AE-23C1-4A36-9CF9-3B93FEDEEF54}"/>
              </a:ext>
            </a:extLst>
          </p:cNvPr>
          <p:cNvSpPr>
            <a:spLocks xmlns:a="http://schemas.openxmlformats.org/drawingml/2006/main" noGrp="1"/>
          </p:cNvSpPr>
          <p:nvPr/>
        </p:nvSpPr>
        <p:spPr>
          <a:xfrm xmlns:a="http://schemas.openxmlformats.org/drawingml/2006/main">
            <a:off x="609585" y="4152900"/>
            <a:ext cx="3779425"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511A927D-EC25-46F5-B7E4-ED7A1B89EF00}"/>
              </a:ext>
            </a:extLst>
          </p:cNvPr>
          <p:cNvSpPr>
            <a:spLocks xmlns:a="http://schemas.openxmlformats.org/drawingml/2006/main" noGrp="1"/>
          </p:cNvSpPr>
          <p:nvPr/>
        </p:nvSpPr>
        <p:spPr>
          <a:xfrm xmlns:a="http://schemas.openxmlformats.org/drawingml/2006/main">
            <a:off x="609585" y="4320540"/>
            <a:ext cx="37794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2640" b="1">
                <a:solidFill>
                  <a:srgbClr val="151312"/>
                </a:solidFill>
                <a:latin typeface="Arial"/>
                <a:ea typeface="Arial"/>
                <a:cs typeface="Arial"/>
              </a:defRPr>
            </a:defPPr>
            <a:lvl1pPr algn="l">
              <a:defRPr sz="2640" b="1">
                <a:solidFill>
                  <a:srgbClr val="151312"/>
                </a:solidFill>
                <a:latin typeface="Arial"/>
                <a:ea typeface="Arial"/>
                <a:cs typeface="Arial"/>
              </a:defRPr>
            </a:lvl1pPr>
            <a:lvl2pPr algn="l">
              <a:defRPr sz="2640" b="1">
                <a:solidFill>
                  <a:srgbClr val="151312"/>
                </a:solidFill>
                <a:latin typeface="Arial"/>
                <a:ea typeface="Arial"/>
                <a:cs typeface="Arial"/>
              </a:defRPr>
            </a:lvl2pPr>
            <a:lvl3pPr algn="l">
              <a:defRPr sz="2640" b="1">
                <a:solidFill>
                  <a:srgbClr val="151312"/>
                </a:solidFill>
                <a:latin typeface="Arial"/>
                <a:ea typeface="Arial"/>
                <a:cs typeface="Arial"/>
              </a:defRPr>
            </a:lvl3pPr>
            <a:lvl4pPr algn="l">
              <a:defRPr sz="2640" b="1">
                <a:solidFill>
                  <a:srgbClr val="151312"/>
                </a:solidFill>
                <a:latin typeface="Arial"/>
                <a:ea typeface="Arial"/>
                <a:cs typeface="Arial"/>
              </a:defRPr>
            </a:lvl4pPr>
            <a:lvl5pPr algn="l">
              <a:defRPr sz="2640" b="1">
                <a:solidFill>
                  <a:srgbClr val="151312"/>
                </a:solidFill>
                <a:latin typeface="Arial"/>
                <a:ea typeface="Arial"/>
                <a:cs typeface="Arial"/>
              </a:defRPr>
            </a:lvl5pPr>
            <a:lvl6pPr algn="l">
              <a:defRPr sz="2640" b="1">
                <a:solidFill>
                  <a:srgbClr val="151312"/>
                </a:solidFill>
                <a:latin typeface="Arial"/>
                <a:ea typeface="Arial"/>
                <a:cs typeface="Arial"/>
              </a:defRPr>
            </a:lvl6pPr>
            <a:lvl7pPr algn="l">
              <a:defRPr sz="2640" b="1">
                <a:solidFill>
                  <a:srgbClr val="151312"/>
                </a:solidFill>
                <a:latin typeface="Arial"/>
                <a:ea typeface="Arial"/>
                <a:cs typeface="Arial"/>
              </a:defRPr>
            </a:lvl7pPr>
            <a:lvl8pPr algn="l">
              <a:defRPr sz="2640" b="1">
                <a:solidFill>
                  <a:srgbClr val="151312"/>
                </a:solidFill>
                <a:latin typeface="Arial"/>
                <a:ea typeface="Arial"/>
                <a:cs typeface="Arial"/>
              </a:defRPr>
            </a:lvl8pPr>
            <a:lvl9pPr algn="l">
              <a:defRPr sz="2640" b="1">
                <a:solidFill>
                  <a:srgbClr val="151312"/>
                </a:solidFill>
                <a:latin typeface="Arial"/>
                <a:ea typeface="Arial"/>
                <a:cs typeface="Arial"/>
              </a:defRPr>
            </a:lvl9pPr>
          </a:lstStyle>
          <a:p xmlns:a="http://schemas.openxmlformats.org/drawingml/2006/main">
            <a:pPr algn="l">
              <a:defRPr sz="2640" b="1">
                <a:solidFill>
                  <a:srgbClr val="151312"/>
                </a:solidFill>
                <a:latin typeface="Arial"/>
                <a:ea typeface="Arial"/>
                <a:cs typeface="Arial"/>
              </a:defRPr>
            </a:pPr>
            <a:r>
              <a:rPr sz="2640" b="1">
                <a:solidFill>
                  <a:srgbClr val="151312"/>
                </a:solidFill>
                <a:latin typeface="Arial"/>
                <a:ea typeface="Arial"/>
                <a:cs typeface="Arial"/>
              </a:rPr>
              <a:t>r = 0.99</a:t>
            </a:r>
          </a:p>
        </p:txBody>
      </p:sp>
      <p:sp>
        <p:nvSpPr>
          <p:cNvPr id="30" name="">
            <a:extLst xmlns:a="http://schemas.openxmlformats.org/drawingml/2006/main">
              <a:ext uri="{FF2B5EF4-FFF2-40B4-BE49-F238E27FC236}">
                <a16:creationId xmlns:a16="http://schemas.microsoft.com/office/drawing/2014/main" id="{824A5BB4-8DF0-4443-B7F2-A12B554D149C}"/>
              </a:ext>
            </a:extLst>
          </p:cNvPr>
          <p:cNvSpPr>
            <a:spLocks xmlns:a="http://schemas.openxmlformats.org/drawingml/2006/main" noGrp="1"/>
          </p:cNvSpPr>
          <p:nvPr/>
        </p:nvSpPr>
        <p:spPr>
          <a:xfrm xmlns:a="http://schemas.openxmlformats.org/drawingml/2006/main">
            <a:off x="609585" y="4991100"/>
            <a:ext cx="37794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masked against raw scores on 60 documents</a:t>
            </a:r>
          </a:p>
        </p:txBody>
      </p:sp>
      <p:sp>
        <p:nvSpPr>
          <p:cNvPr id="31" name="">
            <a:extLst xmlns:a="http://schemas.openxmlformats.org/drawingml/2006/main">
              <a:ext uri="{FF2B5EF4-FFF2-40B4-BE49-F238E27FC236}">
                <a16:creationId xmlns:a16="http://schemas.microsoft.com/office/drawing/2014/main" id="{B14733E7-19E9-4315-8EFD-5FB4468F52FE}"/>
              </a:ext>
            </a:extLst>
          </p:cNvPr>
          <p:cNvSpPr>
            <a:spLocks xmlns:a="http://schemas.openxmlformats.org/drawingml/2006/main" noGrp="1"/>
          </p:cNvSpPr>
          <p:nvPr/>
        </p:nvSpPr>
        <p:spPr>
          <a:xfrm xmlns:a="http://schemas.openxmlformats.org/drawingml/2006/main">
            <a:off x="4693803" y="4152900"/>
            <a:ext cx="3779425"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10F0308-0497-457D-A733-7A5987004BFC}"/>
              </a:ext>
            </a:extLst>
          </p:cNvPr>
          <p:cNvSpPr>
            <a:spLocks xmlns:a="http://schemas.openxmlformats.org/drawingml/2006/main" noGrp="1"/>
          </p:cNvSpPr>
          <p:nvPr/>
        </p:nvSpPr>
        <p:spPr>
          <a:xfrm xmlns:a="http://schemas.openxmlformats.org/drawingml/2006/main">
            <a:off x="4693803" y="4320540"/>
            <a:ext cx="37794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2640" b="1">
                <a:solidFill>
                  <a:srgbClr val="151312"/>
                </a:solidFill>
                <a:latin typeface="Arial"/>
                <a:ea typeface="Arial"/>
                <a:cs typeface="Arial"/>
              </a:defRPr>
            </a:defPPr>
            <a:lvl1pPr algn="l">
              <a:defRPr sz="2640" b="1">
                <a:solidFill>
                  <a:srgbClr val="151312"/>
                </a:solidFill>
                <a:latin typeface="Arial"/>
                <a:ea typeface="Arial"/>
                <a:cs typeface="Arial"/>
              </a:defRPr>
            </a:lvl1pPr>
            <a:lvl2pPr algn="l">
              <a:defRPr sz="2640" b="1">
                <a:solidFill>
                  <a:srgbClr val="151312"/>
                </a:solidFill>
                <a:latin typeface="Arial"/>
                <a:ea typeface="Arial"/>
                <a:cs typeface="Arial"/>
              </a:defRPr>
            </a:lvl2pPr>
            <a:lvl3pPr algn="l">
              <a:defRPr sz="2640" b="1">
                <a:solidFill>
                  <a:srgbClr val="151312"/>
                </a:solidFill>
                <a:latin typeface="Arial"/>
                <a:ea typeface="Arial"/>
                <a:cs typeface="Arial"/>
              </a:defRPr>
            </a:lvl3pPr>
            <a:lvl4pPr algn="l">
              <a:defRPr sz="2640" b="1">
                <a:solidFill>
                  <a:srgbClr val="151312"/>
                </a:solidFill>
                <a:latin typeface="Arial"/>
                <a:ea typeface="Arial"/>
                <a:cs typeface="Arial"/>
              </a:defRPr>
            </a:lvl4pPr>
            <a:lvl5pPr algn="l">
              <a:defRPr sz="2640" b="1">
                <a:solidFill>
                  <a:srgbClr val="151312"/>
                </a:solidFill>
                <a:latin typeface="Arial"/>
                <a:ea typeface="Arial"/>
                <a:cs typeface="Arial"/>
              </a:defRPr>
            </a:lvl5pPr>
            <a:lvl6pPr algn="l">
              <a:defRPr sz="2640" b="1">
                <a:solidFill>
                  <a:srgbClr val="151312"/>
                </a:solidFill>
                <a:latin typeface="Arial"/>
                <a:ea typeface="Arial"/>
                <a:cs typeface="Arial"/>
              </a:defRPr>
            </a:lvl6pPr>
            <a:lvl7pPr algn="l">
              <a:defRPr sz="2640" b="1">
                <a:solidFill>
                  <a:srgbClr val="151312"/>
                </a:solidFill>
                <a:latin typeface="Arial"/>
                <a:ea typeface="Arial"/>
                <a:cs typeface="Arial"/>
              </a:defRPr>
            </a:lvl7pPr>
            <a:lvl8pPr algn="l">
              <a:defRPr sz="2640" b="1">
                <a:solidFill>
                  <a:srgbClr val="151312"/>
                </a:solidFill>
                <a:latin typeface="Arial"/>
                <a:ea typeface="Arial"/>
                <a:cs typeface="Arial"/>
              </a:defRPr>
            </a:lvl8pPr>
            <a:lvl9pPr algn="l">
              <a:defRPr sz="2640" b="1">
                <a:solidFill>
                  <a:srgbClr val="151312"/>
                </a:solidFill>
                <a:latin typeface="Arial"/>
                <a:ea typeface="Arial"/>
                <a:cs typeface="Arial"/>
              </a:defRPr>
            </a:lvl9pPr>
          </a:lstStyle>
          <a:p xmlns:a="http://schemas.openxmlformats.org/drawingml/2006/main">
            <a:pPr algn="l">
              <a:defRPr sz="2640" b="1">
                <a:solidFill>
                  <a:srgbClr val="151312"/>
                </a:solidFill>
                <a:latin typeface="Arial"/>
                <a:ea typeface="Arial"/>
                <a:cs typeface="Arial"/>
              </a:defRPr>
            </a:pPr>
            <a:r>
              <a:rPr sz="2640" b="1">
                <a:solidFill>
                  <a:srgbClr val="151312"/>
                </a:solidFill>
                <a:latin typeface="Arial"/>
                <a:ea typeface="Arial"/>
                <a:cs typeface="Arial"/>
              </a:rPr>
              <a:t>100%</a:t>
            </a:r>
          </a:p>
        </p:txBody>
      </p:sp>
      <p:sp>
        <p:nvSpPr>
          <p:cNvPr id="33" name="">
            <a:extLst xmlns:a="http://schemas.openxmlformats.org/drawingml/2006/main">
              <a:ext uri="{FF2B5EF4-FFF2-40B4-BE49-F238E27FC236}">
                <a16:creationId xmlns:a16="http://schemas.microsoft.com/office/drawing/2014/main" id="{6700C2C4-0279-4885-A56A-3F563EBA6993}"/>
              </a:ext>
            </a:extLst>
          </p:cNvPr>
          <p:cNvSpPr>
            <a:spLocks xmlns:a="http://schemas.openxmlformats.org/drawingml/2006/main" noGrp="1"/>
          </p:cNvSpPr>
          <p:nvPr/>
        </p:nvSpPr>
        <p:spPr>
          <a:xfrm xmlns:a="http://schemas.openxmlformats.org/drawingml/2006/main">
            <a:off x="4693803" y="4991100"/>
            <a:ext cx="37794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same stance on the 8 anchors re-read in 2026-10; mean change 0.025</a:t>
            </a:r>
          </a:p>
        </p:txBody>
      </p:sp>
    </p:spTree>
    <p:extLst>
      <p:ext uri="{BB962C8B-B14F-4D97-AF65-F5344CB8AC3E}">
        <p14:creationId xmlns:p14="http://schemas.microsoft.com/office/powerpoint/2010/main" val="352163893"/>
      </p:ext>
    </p:extLst>
  </p:cSld>
</p:sld>
</file>

<file path=ppt/slides/slide22.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C4F0AB2-D38D-401C-B082-4542AC6CC426}"/>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2A682B23-F92C-432D-A185-17479C484EA6}"/>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INDEX, YIELDS AND DURATION</a:t>
            </a:r>
          </a:p>
        </p:txBody>
      </p:sp>
      <p:sp>
        <p:nvSpPr>
          <p:cNvPr id="3" name="">
            <a:extLst xmlns:a="http://schemas.openxmlformats.org/drawingml/2006/main">
              <a:ext uri="{FF2B5EF4-FFF2-40B4-BE49-F238E27FC236}">
                <a16:creationId xmlns:a16="http://schemas.microsoft.com/office/drawing/2014/main" id="{F958E49E-8231-4F73-B2B6-82F3F8977FDB}"/>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22 / 46</a:t>
            </a:r>
          </a:p>
        </p:txBody>
      </p:sp>
      <p:sp>
        <p:nvSpPr>
          <p:cNvPr id="4" name="">
            <a:extLst xmlns:a="http://schemas.openxmlformats.org/drawingml/2006/main">
              <a:ext uri="{FF2B5EF4-FFF2-40B4-BE49-F238E27FC236}">
                <a16:creationId xmlns:a16="http://schemas.microsoft.com/office/drawing/2014/main" id="{ADA6CC03-F08C-4593-90F5-8B47EB188CB9}"/>
              </a:ext>
            </a:extLst>
          </p:cNvPr>
          <p:cNvSpPr>
            <a:spLocks xmlns:a="http://schemas.openxmlformats.org/drawingml/2006/main" noGrp="1"/>
          </p:cNvSpPr>
          <p:nvPr/>
        </p:nvSpPr>
        <p:spPr>
          <a:xfrm xmlns:a="http://schemas.openxmlformats.org/drawingml/2006/main">
            <a:off x="609585" y="556260"/>
            <a:ext cx="10972526" cy="2286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434AD21-B11A-43D9-8707-0DB3209E2466}"/>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Fed language is running hawkish</a:t>
            </a:r>
          </a:p>
        </p:txBody>
      </p:sp>
      <p:sp>
        <p:nvSpPr>
          <p:cNvPr id="6" name="">
            <a:extLst xmlns:a="http://schemas.openxmlformats.org/drawingml/2006/main">
              <a:ext uri="{FF2B5EF4-FFF2-40B4-BE49-F238E27FC236}">
                <a16:creationId xmlns:a16="http://schemas.microsoft.com/office/drawing/2014/main" id="{DDC6D84E-A350-41E2-94D5-1B51BC29521E}"/>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Into the 28 October decision; the latest minutes against every set since 2009</a:t>
            </a:r>
          </a:p>
        </p:txBody>
      </p:sp>
      <p:sp>
        <p:nvSpPr>
          <p:cNvPr id="7" name="">
            <a:extLst xmlns:a="http://schemas.openxmlformats.org/drawingml/2006/main">
              <a:ext uri="{FF2B5EF4-FFF2-40B4-BE49-F238E27FC236}">
                <a16:creationId xmlns:a16="http://schemas.microsoft.com/office/drawing/2014/main" id="{6CCC4D63-E652-4AAE-BF1B-0B2F01D27C86}"/>
              </a:ext>
            </a:extLst>
          </p:cNvPr>
          <p:cNvSpPr>
            <a:spLocks xmlns:a="http://schemas.openxmlformats.org/drawingml/2006/main" noGrp="1"/>
          </p:cNvSpPr>
          <p:nvPr/>
        </p:nvSpPr>
        <p:spPr>
          <a:xfrm xmlns:a="http://schemas.openxmlformats.org/drawingml/2006/main">
            <a:off x="609585" y="5928360"/>
            <a:ext cx="22859" cy="28956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4309F9D-47FA-4A2E-9B78-F9166C7007F8}"/>
              </a:ext>
            </a:extLst>
          </p:cNvPr>
          <p:cNvSpPr>
            <a:spLocks xmlns:a="http://schemas.openxmlformats.org/drawingml/2006/main" noGrp="1"/>
          </p:cNvSpPr>
          <p:nvPr/>
        </p:nvSpPr>
        <p:spPr>
          <a:xfrm xmlns:a="http://schemas.openxmlformats.org/drawingml/2006/main">
            <a:off x="769601" y="5920740"/>
            <a:ext cx="1066773"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00" b="1">
                <a:solidFill>
                  <a:srgbClr val="151312"/>
                </a:solidFill>
                <a:latin typeface="Arial"/>
                <a:ea typeface="Arial"/>
                <a:cs typeface="Arial"/>
              </a:defRPr>
            </a:defPPr>
            <a:lvl1pPr algn="l">
              <a:defRPr sz="900" b="1">
                <a:solidFill>
                  <a:srgbClr val="151312"/>
                </a:solidFill>
                <a:latin typeface="Arial"/>
                <a:ea typeface="Arial"/>
                <a:cs typeface="Arial"/>
              </a:defRPr>
            </a:lvl1pPr>
            <a:lvl2pPr algn="l">
              <a:defRPr sz="900" b="1">
                <a:solidFill>
                  <a:srgbClr val="151312"/>
                </a:solidFill>
                <a:latin typeface="Arial"/>
                <a:ea typeface="Arial"/>
                <a:cs typeface="Arial"/>
              </a:defRPr>
            </a:lvl2pPr>
            <a:lvl3pPr algn="l">
              <a:defRPr sz="900" b="1">
                <a:solidFill>
                  <a:srgbClr val="151312"/>
                </a:solidFill>
                <a:latin typeface="Arial"/>
                <a:ea typeface="Arial"/>
                <a:cs typeface="Arial"/>
              </a:defRPr>
            </a:lvl3pPr>
            <a:lvl4pPr algn="l">
              <a:defRPr sz="900" b="1">
                <a:solidFill>
                  <a:srgbClr val="151312"/>
                </a:solidFill>
                <a:latin typeface="Arial"/>
                <a:ea typeface="Arial"/>
                <a:cs typeface="Arial"/>
              </a:defRPr>
            </a:lvl4pPr>
            <a:lvl5pPr algn="l">
              <a:defRPr sz="900" b="1">
                <a:solidFill>
                  <a:srgbClr val="151312"/>
                </a:solidFill>
                <a:latin typeface="Arial"/>
                <a:ea typeface="Arial"/>
                <a:cs typeface="Arial"/>
              </a:defRPr>
            </a:lvl5pPr>
            <a:lvl6pPr algn="l">
              <a:defRPr sz="900" b="1">
                <a:solidFill>
                  <a:srgbClr val="151312"/>
                </a:solidFill>
                <a:latin typeface="Arial"/>
                <a:ea typeface="Arial"/>
                <a:cs typeface="Arial"/>
              </a:defRPr>
            </a:lvl6pPr>
            <a:lvl7pPr algn="l">
              <a:defRPr sz="900" b="1">
                <a:solidFill>
                  <a:srgbClr val="151312"/>
                </a:solidFill>
                <a:latin typeface="Arial"/>
                <a:ea typeface="Arial"/>
                <a:cs typeface="Arial"/>
              </a:defRPr>
            </a:lvl7pPr>
            <a:lvl8pPr algn="l">
              <a:defRPr sz="900" b="1">
                <a:solidFill>
                  <a:srgbClr val="151312"/>
                </a:solidFill>
                <a:latin typeface="Arial"/>
                <a:ea typeface="Arial"/>
                <a:cs typeface="Arial"/>
              </a:defRPr>
            </a:lvl8pPr>
            <a:lvl9pPr algn="l">
              <a:defRPr sz="900" b="1">
                <a:solidFill>
                  <a:srgbClr val="151312"/>
                </a:solidFill>
                <a:latin typeface="Arial"/>
                <a:ea typeface="Arial"/>
                <a:cs typeface="Arial"/>
              </a:defRPr>
            </a:lvl9pPr>
          </a:lstStyle>
          <a:p xmlns:a="http://schemas.openxmlformats.org/drawingml/2006/main">
            <a:pPr algn="l">
              <a:defRPr sz="900" b="1">
                <a:solidFill>
                  <a:srgbClr val="151312"/>
                </a:solidFill>
                <a:latin typeface="Arial"/>
                <a:ea typeface="Arial"/>
                <a:cs typeface="Arial"/>
              </a:defRPr>
            </a:pPr>
            <a:r>
              <a:rPr sz="900" b="1">
                <a:solidFill>
                  <a:srgbClr val="151312"/>
                </a:solidFill>
                <a:latin typeface="Arial"/>
                <a:ea typeface="Arial"/>
                <a:cs typeface="Arial"/>
              </a:rPr>
              <a:t>For the desk</a:t>
            </a:r>
          </a:p>
        </p:txBody>
      </p:sp>
      <p:sp>
        <p:nvSpPr>
          <p:cNvPr id="9" name="">
            <a:extLst xmlns:a="http://schemas.openxmlformats.org/drawingml/2006/main">
              <a:ext uri="{FF2B5EF4-FFF2-40B4-BE49-F238E27FC236}">
                <a16:creationId xmlns:a16="http://schemas.microsoft.com/office/drawing/2014/main" id="{C891A0FF-1274-4D1C-845A-D9B2F7B7A553}"/>
              </a:ext>
            </a:extLst>
          </p:cNvPr>
          <p:cNvSpPr>
            <a:spLocks xmlns:a="http://schemas.openxmlformats.org/drawingml/2006/main" noGrp="1"/>
          </p:cNvSpPr>
          <p:nvPr/>
        </p:nvSpPr>
        <p:spPr>
          <a:xfrm xmlns:a="http://schemas.openxmlformats.org/drawingml/2006/main">
            <a:off x="1950671" y="5913120"/>
            <a:ext cx="9631439"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0">
                <a:solidFill>
                  <a:srgbClr val="45413C"/>
                </a:solidFill>
                <a:latin typeface="Arial"/>
                <a:ea typeface="Arial"/>
                <a:cs typeface="Arial"/>
              </a:defRPr>
            </a:defPPr>
            <a:lvl1pPr algn="l">
              <a:defRPr sz="1260" b="0">
                <a:solidFill>
                  <a:srgbClr val="45413C"/>
                </a:solidFill>
                <a:latin typeface="Arial"/>
                <a:ea typeface="Arial"/>
                <a:cs typeface="Arial"/>
              </a:defRPr>
            </a:lvl1pPr>
            <a:lvl2pPr algn="l">
              <a:defRPr sz="1260" b="0">
                <a:solidFill>
                  <a:srgbClr val="45413C"/>
                </a:solidFill>
                <a:latin typeface="Arial"/>
                <a:ea typeface="Arial"/>
                <a:cs typeface="Arial"/>
              </a:defRPr>
            </a:lvl2pPr>
            <a:lvl3pPr algn="l">
              <a:defRPr sz="1260" b="0">
                <a:solidFill>
                  <a:srgbClr val="45413C"/>
                </a:solidFill>
                <a:latin typeface="Arial"/>
                <a:ea typeface="Arial"/>
                <a:cs typeface="Arial"/>
              </a:defRPr>
            </a:lvl3pPr>
            <a:lvl4pPr algn="l">
              <a:defRPr sz="1260" b="0">
                <a:solidFill>
                  <a:srgbClr val="45413C"/>
                </a:solidFill>
                <a:latin typeface="Arial"/>
                <a:ea typeface="Arial"/>
                <a:cs typeface="Arial"/>
              </a:defRPr>
            </a:lvl4pPr>
            <a:lvl5pPr algn="l">
              <a:defRPr sz="1260" b="0">
                <a:solidFill>
                  <a:srgbClr val="45413C"/>
                </a:solidFill>
                <a:latin typeface="Arial"/>
                <a:ea typeface="Arial"/>
                <a:cs typeface="Arial"/>
              </a:defRPr>
            </a:lvl5pPr>
            <a:lvl6pPr algn="l">
              <a:defRPr sz="1260" b="0">
                <a:solidFill>
                  <a:srgbClr val="45413C"/>
                </a:solidFill>
                <a:latin typeface="Arial"/>
                <a:ea typeface="Arial"/>
                <a:cs typeface="Arial"/>
              </a:defRPr>
            </a:lvl6pPr>
            <a:lvl7pPr algn="l">
              <a:defRPr sz="1260" b="0">
                <a:solidFill>
                  <a:srgbClr val="45413C"/>
                </a:solidFill>
                <a:latin typeface="Arial"/>
                <a:ea typeface="Arial"/>
                <a:cs typeface="Arial"/>
              </a:defRPr>
            </a:lvl7pPr>
            <a:lvl8pPr algn="l">
              <a:defRPr sz="1260" b="0">
                <a:solidFill>
                  <a:srgbClr val="45413C"/>
                </a:solidFill>
                <a:latin typeface="Arial"/>
                <a:ea typeface="Arial"/>
                <a:cs typeface="Arial"/>
              </a:defRPr>
            </a:lvl8pPr>
            <a:lvl9pPr algn="l">
              <a:defRPr sz="1260" b="0">
                <a:solidFill>
                  <a:srgbClr val="45413C"/>
                </a:solidFill>
                <a:latin typeface="Arial"/>
                <a:ea typeface="Arial"/>
                <a:cs typeface="Arial"/>
              </a:defRPr>
            </a:lvl9pPr>
          </a:lstStyle>
          <a:p xmlns:a="http://schemas.openxmlformats.org/drawingml/2006/main">
            <a:pPr algn="l">
              <a:defRPr sz="1260" b="0">
                <a:solidFill>
                  <a:srgbClr val="45413C"/>
                </a:solidFill>
                <a:latin typeface="Arial"/>
                <a:ea typeface="Arial"/>
                <a:cs typeface="Arial"/>
              </a:defRPr>
            </a:pPr>
            <a:r>
              <a:rPr sz="1260" b="0">
                <a:solidFill>
                  <a:srgbClr val="45413C"/>
                </a:solidFill>
                <a:latin typeface="Arial"/>
                <a:ea typeface="Arial"/>
                <a:cs typeface="Arial"/>
              </a:rPr>
              <a:t>Words lean hawkish and the 2-year sits +81 bp over the overnight rate: language and pricing point the same way.</a:t>
            </a:r>
          </a:p>
        </p:txBody>
      </p:sp>
      <p:sp>
        <p:nvSpPr>
          <p:cNvPr id="10" name="">
            <a:extLst xmlns:a="http://schemas.openxmlformats.org/drawingml/2006/main">
              <a:ext uri="{FF2B5EF4-FFF2-40B4-BE49-F238E27FC236}">
                <a16:creationId xmlns:a16="http://schemas.microsoft.com/office/drawing/2014/main" id="{4DAD266D-192D-4CD8-B0F5-3B1C6E8C385A}"/>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BAB536E-A428-4073-B483-21179B8244DF}"/>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FOMC minutes since 2009, scored by Claude Opus 5.5.</a:t>
            </a:r>
          </a:p>
        </p:txBody>
      </p:sp>
      <p:sp>
        <p:nvSpPr>
          <p:cNvPr id="12" name="">
            <a:extLst xmlns:a="http://schemas.openxmlformats.org/drawingml/2006/main">
              <a:ext uri="{FF2B5EF4-FFF2-40B4-BE49-F238E27FC236}">
                <a16:creationId xmlns:a16="http://schemas.microsoft.com/office/drawing/2014/main" id="{631C0140-0054-43F3-9726-7D5136CF40BC}"/>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95DA5D1-5787-4C24-903C-A018879323F7}"/>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103AE7A-FCCB-4DA6-9D33-3EF7A08E5D6F}"/>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6048AC7-2EA6-40B8-9AC0-2A6C0115F9CA}"/>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E937CD2-1594-4AB7-8E9E-2F6417C435CB}"/>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9FF0F7B-E19E-4240-AA3C-D5338431CCCA}"/>
              </a:ext>
            </a:extLst>
          </p:cNvPr>
          <p:cNvSpPr>
            <a:spLocks xmlns:a="http://schemas.openxmlformats.org/drawingml/2006/main" noGrp="1"/>
          </p:cNvSpPr>
          <p:nvPr/>
        </p:nvSpPr>
        <p:spPr>
          <a:xfrm xmlns:a="http://schemas.openxmlformats.org/drawingml/2006/main">
            <a:off x="609585" y="1920240"/>
            <a:ext cx="1737317"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960" b="1">
                <a:solidFill>
                  <a:srgbClr val="151312"/>
                </a:solidFill>
                <a:latin typeface="Arial"/>
                <a:ea typeface="Arial"/>
                <a:cs typeface="Arial"/>
              </a:defRPr>
            </a:defPPr>
            <a:lvl1pPr algn="l">
              <a:defRPr sz="3960" b="1">
                <a:solidFill>
                  <a:srgbClr val="151312"/>
                </a:solidFill>
                <a:latin typeface="Arial"/>
                <a:ea typeface="Arial"/>
                <a:cs typeface="Arial"/>
              </a:defRPr>
            </a:lvl1pPr>
            <a:lvl2pPr algn="l">
              <a:defRPr sz="3960" b="1">
                <a:solidFill>
                  <a:srgbClr val="151312"/>
                </a:solidFill>
                <a:latin typeface="Arial"/>
                <a:ea typeface="Arial"/>
                <a:cs typeface="Arial"/>
              </a:defRPr>
            </a:lvl2pPr>
            <a:lvl3pPr algn="l">
              <a:defRPr sz="3960" b="1">
                <a:solidFill>
                  <a:srgbClr val="151312"/>
                </a:solidFill>
                <a:latin typeface="Arial"/>
                <a:ea typeface="Arial"/>
                <a:cs typeface="Arial"/>
              </a:defRPr>
            </a:lvl3pPr>
            <a:lvl4pPr algn="l">
              <a:defRPr sz="3960" b="1">
                <a:solidFill>
                  <a:srgbClr val="151312"/>
                </a:solidFill>
                <a:latin typeface="Arial"/>
                <a:ea typeface="Arial"/>
                <a:cs typeface="Arial"/>
              </a:defRPr>
            </a:lvl4pPr>
            <a:lvl5pPr algn="l">
              <a:defRPr sz="3960" b="1">
                <a:solidFill>
                  <a:srgbClr val="151312"/>
                </a:solidFill>
                <a:latin typeface="Arial"/>
                <a:ea typeface="Arial"/>
                <a:cs typeface="Arial"/>
              </a:defRPr>
            </a:lvl5pPr>
            <a:lvl6pPr algn="l">
              <a:defRPr sz="3960" b="1">
                <a:solidFill>
                  <a:srgbClr val="151312"/>
                </a:solidFill>
                <a:latin typeface="Arial"/>
                <a:ea typeface="Arial"/>
                <a:cs typeface="Arial"/>
              </a:defRPr>
            </a:lvl6pPr>
            <a:lvl7pPr algn="l">
              <a:defRPr sz="3960" b="1">
                <a:solidFill>
                  <a:srgbClr val="151312"/>
                </a:solidFill>
                <a:latin typeface="Arial"/>
                <a:ea typeface="Arial"/>
                <a:cs typeface="Arial"/>
              </a:defRPr>
            </a:lvl7pPr>
            <a:lvl8pPr algn="l">
              <a:defRPr sz="3960" b="1">
                <a:solidFill>
                  <a:srgbClr val="151312"/>
                </a:solidFill>
                <a:latin typeface="Arial"/>
                <a:ea typeface="Arial"/>
                <a:cs typeface="Arial"/>
              </a:defRPr>
            </a:lvl8pPr>
            <a:lvl9pPr algn="l">
              <a:defRPr sz="3960" b="1">
                <a:solidFill>
                  <a:srgbClr val="151312"/>
                </a:solidFill>
                <a:latin typeface="Arial"/>
                <a:ea typeface="Arial"/>
                <a:cs typeface="Arial"/>
              </a:defRPr>
            </a:lvl9pPr>
          </a:lstStyle>
          <a:p xmlns:a="http://schemas.openxmlformats.org/drawingml/2006/main">
            <a:pPr algn="l">
              <a:defRPr sz="3960" b="1">
                <a:solidFill>
                  <a:srgbClr val="151312"/>
                </a:solidFill>
                <a:latin typeface="Arial"/>
                <a:ea typeface="Arial"/>
                <a:cs typeface="Arial"/>
              </a:defRPr>
            </a:pPr>
            <a:r>
              <a:rPr sz="3960" b="1">
                <a:solidFill>
                  <a:srgbClr val="151312"/>
                </a:solidFill>
                <a:latin typeface="Arial"/>
                <a:ea typeface="Arial"/>
                <a:cs typeface="Arial"/>
              </a:rPr>
              <a:t>96th</a:t>
            </a:r>
          </a:p>
        </p:txBody>
      </p:sp>
      <p:sp>
        <p:nvSpPr>
          <p:cNvPr id="18" name="">
            <a:extLst xmlns:a="http://schemas.openxmlformats.org/drawingml/2006/main">
              <a:ext uri="{FF2B5EF4-FFF2-40B4-BE49-F238E27FC236}">
                <a16:creationId xmlns:a16="http://schemas.microsoft.com/office/drawing/2014/main" id="{EF31C2A8-1065-4ADC-A7B7-2D3CD4EAAD06}"/>
              </a:ext>
            </a:extLst>
          </p:cNvPr>
          <p:cNvSpPr>
            <a:spLocks xmlns:a="http://schemas.openxmlformats.org/drawingml/2006/main" noGrp="1"/>
          </p:cNvSpPr>
          <p:nvPr/>
        </p:nvSpPr>
        <p:spPr>
          <a:xfrm xmlns:a="http://schemas.openxmlformats.org/drawingml/2006/main">
            <a:off x="2514537" y="1927860"/>
            <a:ext cx="2133547"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percentile: the latest minutes against every set since 2009</a:t>
            </a:r>
          </a:p>
        </p:txBody>
      </p:sp>
      <p:sp>
        <p:nvSpPr>
          <p:cNvPr id="19" name="">
            <a:extLst xmlns:a="http://schemas.openxmlformats.org/drawingml/2006/main">
              <a:ext uri="{FF2B5EF4-FFF2-40B4-BE49-F238E27FC236}">
                <a16:creationId xmlns:a16="http://schemas.microsoft.com/office/drawing/2014/main" id="{EFD67773-33E6-40B6-A115-33482B498E2E}"/>
              </a:ext>
            </a:extLst>
          </p:cNvPr>
          <p:cNvSpPr>
            <a:spLocks xmlns:a="http://schemas.openxmlformats.org/drawingml/2006/main" noGrp="1"/>
          </p:cNvSpPr>
          <p:nvPr/>
        </p:nvSpPr>
        <p:spPr>
          <a:xfrm xmlns:a="http://schemas.openxmlformats.org/drawingml/2006/main">
            <a:off x="4830959" y="2004060"/>
            <a:ext cx="7620" cy="5334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DBE7753-C545-44D3-AF6F-E8067ABD9D8F}"/>
              </a:ext>
            </a:extLst>
          </p:cNvPr>
          <p:cNvSpPr>
            <a:spLocks xmlns:a="http://schemas.openxmlformats.org/drawingml/2006/main" noGrp="1"/>
          </p:cNvSpPr>
          <p:nvPr/>
        </p:nvSpPr>
        <p:spPr>
          <a:xfrm xmlns:a="http://schemas.openxmlformats.org/drawingml/2006/main">
            <a:off x="4968116" y="1920240"/>
            <a:ext cx="2001470"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0">
                <a:solidFill>
                  <a:srgbClr val="45413C"/>
                </a:solidFill>
                <a:latin typeface="Arial"/>
                <a:ea typeface="Arial"/>
                <a:cs typeface="Arial"/>
              </a:defRPr>
            </a:defPPr>
            <a:lvl1pPr algn="l">
              <a:defRPr sz="1140" b="0">
                <a:solidFill>
                  <a:srgbClr val="45413C"/>
                </a:solidFill>
                <a:latin typeface="Arial"/>
                <a:ea typeface="Arial"/>
                <a:cs typeface="Arial"/>
              </a:defRPr>
            </a:lvl1pPr>
            <a:lvl2pPr algn="l">
              <a:defRPr sz="1140" b="0">
                <a:solidFill>
                  <a:srgbClr val="45413C"/>
                </a:solidFill>
                <a:latin typeface="Arial"/>
                <a:ea typeface="Arial"/>
                <a:cs typeface="Arial"/>
              </a:defRPr>
            </a:lvl2pPr>
            <a:lvl3pPr algn="l">
              <a:defRPr sz="1140" b="0">
                <a:solidFill>
                  <a:srgbClr val="45413C"/>
                </a:solidFill>
                <a:latin typeface="Arial"/>
                <a:ea typeface="Arial"/>
                <a:cs typeface="Arial"/>
              </a:defRPr>
            </a:lvl3pPr>
            <a:lvl4pPr algn="l">
              <a:defRPr sz="1140" b="0">
                <a:solidFill>
                  <a:srgbClr val="45413C"/>
                </a:solidFill>
                <a:latin typeface="Arial"/>
                <a:ea typeface="Arial"/>
                <a:cs typeface="Arial"/>
              </a:defRPr>
            </a:lvl4pPr>
            <a:lvl5pPr algn="l">
              <a:defRPr sz="1140" b="0">
                <a:solidFill>
                  <a:srgbClr val="45413C"/>
                </a:solidFill>
                <a:latin typeface="Arial"/>
                <a:ea typeface="Arial"/>
                <a:cs typeface="Arial"/>
              </a:defRPr>
            </a:lvl5pPr>
            <a:lvl6pPr algn="l">
              <a:defRPr sz="1140" b="0">
                <a:solidFill>
                  <a:srgbClr val="45413C"/>
                </a:solidFill>
                <a:latin typeface="Arial"/>
                <a:ea typeface="Arial"/>
                <a:cs typeface="Arial"/>
              </a:defRPr>
            </a:lvl6pPr>
            <a:lvl7pPr algn="l">
              <a:defRPr sz="1140" b="0">
                <a:solidFill>
                  <a:srgbClr val="45413C"/>
                </a:solidFill>
                <a:latin typeface="Arial"/>
                <a:ea typeface="Arial"/>
                <a:cs typeface="Arial"/>
              </a:defRPr>
            </a:lvl7pPr>
            <a:lvl8pPr algn="l">
              <a:defRPr sz="1140" b="0">
                <a:solidFill>
                  <a:srgbClr val="45413C"/>
                </a:solidFill>
                <a:latin typeface="Arial"/>
                <a:ea typeface="Arial"/>
                <a:cs typeface="Arial"/>
              </a:defRPr>
            </a:lvl8pPr>
            <a:lvl9pPr algn="l">
              <a:defRPr sz="1140" b="0">
                <a:solidFill>
                  <a:srgbClr val="45413C"/>
                </a:solidFill>
                <a:latin typeface="Arial"/>
                <a:ea typeface="Arial"/>
                <a:cs typeface="Arial"/>
              </a:defRPr>
            </a:lvl9pPr>
          </a:lstStyle>
          <a:p xmlns:a="http://schemas.openxmlformats.org/drawingml/2006/main">
            <a:pPr algn="l">
              <a:defRPr sz="1140" b="0">
                <a:solidFill>
                  <a:srgbClr val="45413C"/>
                </a:solidFill>
                <a:latin typeface="Arial"/>
                <a:ea typeface="Arial"/>
                <a:cs typeface="Arial"/>
              </a:defRPr>
            </a:pPr>
            <a:r>
              <a:rPr sz="1140" b="0">
                <a:solidFill>
                  <a:srgbClr val="45413C"/>
                </a:solidFill>
                <a:latin typeface="Arial"/>
                <a:ea typeface="Arial"/>
                <a:cs typeface="Arial"/>
              </a:rPr>
              <a:t>Statement 95th</a:t>
            </a:r>
          </a:p>
        </p:txBody>
      </p:sp>
      <p:sp>
        <p:nvSpPr>
          <p:cNvPr id="21" name="">
            <a:extLst xmlns:a="http://schemas.openxmlformats.org/drawingml/2006/main">
              <a:ext uri="{FF2B5EF4-FFF2-40B4-BE49-F238E27FC236}">
                <a16:creationId xmlns:a16="http://schemas.microsoft.com/office/drawing/2014/main" id="{773C067D-BC69-42FE-98CC-D9498D119919}"/>
              </a:ext>
            </a:extLst>
          </p:cNvPr>
          <p:cNvSpPr>
            <a:spLocks xmlns:a="http://schemas.openxmlformats.org/drawingml/2006/main" noGrp="1"/>
          </p:cNvSpPr>
          <p:nvPr/>
        </p:nvSpPr>
        <p:spPr>
          <a:xfrm xmlns:a="http://schemas.openxmlformats.org/drawingml/2006/main">
            <a:off x="7137221" y="2004060"/>
            <a:ext cx="7620" cy="5334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AE07CAE-4DDF-46B6-975C-3358C3C9E70E}"/>
              </a:ext>
            </a:extLst>
          </p:cNvPr>
          <p:cNvSpPr>
            <a:spLocks xmlns:a="http://schemas.openxmlformats.org/drawingml/2006/main" noGrp="1"/>
          </p:cNvSpPr>
          <p:nvPr/>
        </p:nvSpPr>
        <p:spPr>
          <a:xfrm xmlns:a="http://schemas.openxmlformats.org/drawingml/2006/main">
            <a:off x="7274378" y="1920240"/>
            <a:ext cx="2001470"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0">
                <a:solidFill>
                  <a:srgbClr val="45413C"/>
                </a:solidFill>
                <a:latin typeface="Arial"/>
                <a:ea typeface="Arial"/>
                <a:cs typeface="Arial"/>
              </a:defRPr>
            </a:defPPr>
            <a:lvl1pPr algn="l">
              <a:defRPr sz="1140" b="0">
                <a:solidFill>
                  <a:srgbClr val="45413C"/>
                </a:solidFill>
                <a:latin typeface="Arial"/>
                <a:ea typeface="Arial"/>
                <a:cs typeface="Arial"/>
              </a:defRPr>
            </a:lvl1pPr>
            <a:lvl2pPr algn="l">
              <a:defRPr sz="1140" b="0">
                <a:solidFill>
                  <a:srgbClr val="45413C"/>
                </a:solidFill>
                <a:latin typeface="Arial"/>
                <a:ea typeface="Arial"/>
                <a:cs typeface="Arial"/>
              </a:defRPr>
            </a:lvl2pPr>
            <a:lvl3pPr algn="l">
              <a:defRPr sz="1140" b="0">
                <a:solidFill>
                  <a:srgbClr val="45413C"/>
                </a:solidFill>
                <a:latin typeface="Arial"/>
                <a:ea typeface="Arial"/>
                <a:cs typeface="Arial"/>
              </a:defRPr>
            </a:lvl3pPr>
            <a:lvl4pPr algn="l">
              <a:defRPr sz="1140" b="0">
                <a:solidFill>
                  <a:srgbClr val="45413C"/>
                </a:solidFill>
                <a:latin typeface="Arial"/>
                <a:ea typeface="Arial"/>
                <a:cs typeface="Arial"/>
              </a:defRPr>
            </a:lvl4pPr>
            <a:lvl5pPr algn="l">
              <a:defRPr sz="1140" b="0">
                <a:solidFill>
                  <a:srgbClr val="45413C"/>
                </a:solidFill>
                <a:latin typeface="Arial"/>
                <a:ea typeface="Arial"/>
                <a:cs typeface="Arial"/>
              </a:defRPr>
            </a:lvl5pPr>
            <a:lvl6pPr algn="l">
              <a:defRPr sz="1140" b="0">
                <a:solidFill>
                  <a:srgbClr val="45413C"/>
                </a:solidFill>
                <a:latin typeface="Arial"/>
                <a:ea typeface="Arial"/>
                <a:cs typeface="Arial"/>
              </a:defRPr>
            </a:lvl6pPr>
            <a:lvl7pPr algn="l">
              <a:defRPr sz="1140" b="0">
                <a:solidFill>
                  <a:srgbClr val="45413C"/>
                </a:solidFill>
                <a:latin typeface="Arial"/>
                <a:ea typeface="Arial"/>
                <a:cs typeface="Arial"/>
              </a:defRPr>
            </a:lvl7pPr>
            <a:lvl8pPr algn="l">
              <a:defRPr sz="1140" b="0">
                <a:solidFill>
                  <a:srgbClr val="45413C"/>
                </a:solidFill>
                <a:latin typeface="Arial"/>
                <a:ea typeface="Arial"/>
                <a:cs typeface="Arial"/>
              </a:defRPr>
            </a:lvl8pPr>
            <a:lvl9pPr algn="l">
              <a:defRPr sz="1140" b="0">
                <a:solidFill>
                  <a:srgbClr val="45413C"/>
                </a:solidFill>
                <a:latin typeface="Arial"/>
                <a:ea typeface="Arial"/>
                <a:cs typeface="Arial"/>
              </a:defRPr>
            </a:lvl9pPr>
          </a:lstStyle>
          <a:p xmlns:a="http://schemas.openxmlformats.org/drawingml/2006/main">
            <a:pPr algn="l">
              <a:defRPr sz="1140" b="0">
                <a:solidFill>
                  <a:srgbClr val="45413C"/>
                </a:solidFill>
                <a:latin typeface="Arial"/>
                <a:ea typeface="Arial"/>
                <a:cs typeface="Arial"/>
              </a:defRPr>
            </a:pPr>
            <a:r>
              <a:rPr sz="1140" b="0">
                <a:solidFill>
                  <a:srgbClr val="45413C"/>
                </a:solidFill>
                <a:latin typeface="Arial"/>
                <a:ea typeface="Arial"/>
                <a:cs typeface="Arial"/>
              </a:rPr>
              <a:t>Press conference 95th</a:t>
            </a:r>
          </a:p>
        </p:txBody>
      </p:sp>
      <p:sp>
        <p:nvSpPr>
          <p:cNvPr id="23" name="">
            <a:extLst xmlns:a="http://schemas.openxmlformats.org/drawingml/2006/main">
              <a:ext uri="{FF2B5EF4-FFF2-40B4-BE49-F238E27FC236}">
                <a16:creationId xmlns:a16="http://schemas.microsoft.com/office/drawing/2014/main" id="{BEB5BA6A-8801-4E78-BEF9-4628D988EA0C}"/>
              </a:ext>
            </a:extLst>
          </p:cNvPr>
          <p:cNvSpPr>
            <a:spLocks xmlns:a="http://schemas.openxmlformats.org/drawingml/2006/main" noGrp="1"/>
          </p:cNvSpPr>
          <p:nvPr/>
        </p:nvSpPr>
        <p:spPr>
          <a:xfrm xmlns:a="http://schemas.openxmlformats.org/drawingml/2006/main">
            <a:off x="9443484" y="2004060"/>
            <a:ext cx="7620" cy="5334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E1EA7F2-0B4A-41F9-87E7-EC1A2B111564}"/>
              </a:ext>
            </a:extLst>
          </p:cNvPr>
          <p:cNvSpPr>
            <a:spLocks xmlns:a="http://schemas.openxmlformats.org/drawingml/2006/main" noGrp="1"/>
          </p:cNvSpPr>
          <p:nvPr/>
        </p:nvSpPr>
        <p:spPr>
          <a:xfrm xmlns:a="http://schemas.openxmlformats.org/drawingml/2006/main">
            <a:off x="9580640" y="1920240"/>
            <a:ext cx="2001470"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0">
                <a:solidFill>
                  <a:srgbClr val="45413C"/>
                </a:solidFill>
                <a:latin typeface="Arial"/>
                <a:ea typeface="Arial"/>
                <a:cs typeface="Arial"/>
              </a:defRPr>
            </a:defPPr>
            <a:lvl1pPr algn="l">
              <a:defRPr sz="1140" b="0">
                <a:solidFill>
                  <a:srgbClr val="45413C"/>
                </a:solidFill>
                <a:latin typeface="Arial"/>
                <a:ea typeface="Arial"/>
                <a:cs typeface="Arial"/>
              </a:defRPr>
            </a:lvl1pPr>
            <a:lvl2pPr algn="l">
              <a:defRPr sz="1140" b="0">
                <a:solidFill>
                  <a:srgbClr val="45413C"/>
                </a:solidFill>
                <a:latin typeface="Arial"/>
                <a:ea typeface="Arial"/>
                <a:cs typeface="Arial"/>
              </a:defRPr>
            </a:lvl2pPr>
            <a:lvl3pPr algn="l">
              <a:defRPr sz="1140" b="0">
                <a:solidFill>
                  <a:srgbClr val="45413C"/>
                </a:solidFill>
                <a:latin typeface="Arial"/>
                <a:ea typeface="Arial"/>
                <a:cs typeface="Arial"/>
              </a:defRPr>
            </a:lvl3pPr>
            <a:lvl4pPr algn="l">
              <a:defRPr sz="1140" b="0">
                <a:solidFill>
                  <a:srgbClr val="45413C"/>
                </a:solidFill>
                <a:latin typeface="Arial"/>
                <a:ea typeface="Arial"/>
                <a:cs typeface="Arial"/>
              </a:defRPr>
            </a:lvl4pPr>
            <a:lvl5pPr algn="l">
              <a:defRPr sz="1140" b="0">
                <a:solidFill>
                  <a:srgbClr val="45413C"/>
                </a:solidFill>
                <a:latin typeface="Arial"/>
                <a:ea typeface="Arial"/>
                <a:cs typeface="Arial"/>
              </a:defRPr>
            </a:lvl5pPr>
            <a:lvl6pPr algn="l">
              <a:defRPr sz="1140" b="0">
                <a:solidFill>
                  <a:srgbClr val="45413C"/>
                </a:solidFill>
                <a:latin typeface="Arial"/>
                <a:ea typeface="Arial"/>
                <a:cs typeface="Arial"/>
              </a:defRPr>
            </a:lvl6pPr>
            <a:lvl7pPr algn="l">
              <a:defRPr sz="1140" b="0">
                <a:solidFill>
                  <a:srgbClr val="45413C"/>
                </a:solidFill>
                <a:latin typeface="Arial"/>
                <a:ea typeface="Arial"/>
                <a:cs typeface="Arial"/>
              </a:defRPr>
            </a:lvl7pPr>
            <a:lvl8pPr algn="l">
              <a:defRPr sz="1140" b="0">
                <a:solidFill>
                  <a:srgbClr val="45413C"/>
                </a:solidFill>
                <a:latin typeface="Arial"/>
                <a:ea typeface="Arial"/>
                <a:cs typeface="Arial"/>
              </a:defRPr>
            </a:lvl8pPr>
            <a:lvl9pPr algn="l">
              <a:defRPr sz="1140" b="0">
                <a:solidFill>
                  <a:srgbClr val="45413C"/>
                </a:solidFill>
                <a:latin typeface="Arial"/>
                <a:ea typeface="Arial"/>
                <a:cs typeface="Arial"/>
              </a:defRPr>
            </a:lvl9pPr>
          </a:lstStyle>
          <a:p xmlns:a="http://schemas.openxmlformats.org/drawingml/2006/main">
            <a:pPr algn="l">
              <a:defRPr sz="1140" b="0">
                <a:solidFill>
                  <a:srgbClr val="45413C"/>
                </a:solidFill>
                <a:latin typeface="Arial"/>
                <a:ea typeface="Arial"/>
                <a:cs typeface="Arial"/>
              </a:defRPr>
            </a:pPr>
            <a:r>
              <a:rPr sz="1140" b="0">
                <a:solidFill>
                  <a:srgbClr val="45413C"/>
                </a:solidFill>
                <a:latin typeface="Arial"/>
                <a:ea typeface="Arial"/>
                <a:cs typeface="Arial"/>
              </a:rPr>
              <a:t>Last 25 speeches 90th</a:t>
            </a:r>
          </a:p>
        </p:txBody>
      </p:sp>
      <p:sp>
        <p:nvSpPr>
          <p:cNvPr id="25" name="">
            <a:extLst xmlns:a="http://schemas.openxmlformats.org/drawingml/2006/main">
              <a:ext uri="{FF2B5EF4-FFF2-40B4-BE49-F238E27FC236}">
                <a16:creationId xmlns:a16="http://schemas.microsoft.com/office/drawing/2014/main" id="{87417021-3082-4D33-B999-D640AC314AA6}"/>
              </a:ext>
            </a:extLst>
          </p:cNvPr>
          <p:cNvSpPr>
            <a:spLocks xmlns:a="http://schemas.openxmlformats.org/drawingml/2006/main" noGrp="1"/>
          </p:cNvSpPr>
          <p:nvPr/>
        </p:nvSpPr>
        <p:spPr>
          <a:xfrm xmlns:a="http://schemas.openxmlformats.org/drawingml/2006/main">
            <a:off x="609585" y="267462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pic>
        <p:nvPicPr>
          <p:cNvPr id="26" name="">
            <a:extLst xmlns:a="http://schemas.openxmlformats.org/drawingml/2006/main">
              <a:ext uri="{FF2B5EF4-FFF2-40B4-BE49-F238E27FC236}">
                <a16:creationId xmlns:a16="http://schemas.microsoft.com/office/drawing/2014/main" id="{D70F69D6-3EC9-47BE-97E0-C4BC33D3DE9F}"/>
              </a:ext>
            </a:extLst>
          </p:cNvPr>
          <p:cNvPicPr>
            <a:picLocks xmlns:a="http://schemas.openxmlformats.org/drawingml/2006/main" noChangeAspect="1"/>
          </p:cNvPicPr>
          <p:nvPr/>
        </p:nvPicPr>
        <p:blipFill>
          <a:blip xmlns:r="http://schemas.openxmlformats.org/officeDocument/2006/relationships" xmlns:a="http://schemas.openxmlformats.org/drawingml/2006/main" r:embed="Rd49230494b834360"/>
          <a:stretch xmlns:a="http://schemas.openxmlformats.org/drawingml/2006/main"/>
        </p:blipFill>
        <p:spPr>
          <a:xfrm xmlns:a="http://schemas.openxmlformats.org/drawingml/2006/main">
            <a:off x="609585" y="2834676"/>
            <a:ext cx="10972526" cy="2895528"/>
          </a:xfrm>
          <a:prstGeom xmlns:a="http://schemas.openxmlformats.org/drawingml/2006/main" prst="rect">
            <a:avLst/>
          </a:prstGeom>
        </p:spPr>
      </p:pic>
    </p:spTree>
    <p:extLst>
      <p:ext uri="{BB962C8B-B14F-4D97-AF65-F5344CB8AC3E}">
        <p14:creationId xmlns:p14="http://schemas.microsoft.com/office/powerpoint/2010/main" val="179680089"/>
      </p:ext>
    </p:extLst>
  </p:cSld>
</p:sld>
</file>

<file path=ppt/slides/slide23.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E46A6E7-ECAC-49B5-A40A-3FDC7D9E3FC0}"/>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342D310A-6A8F-485D-82CE-79D4AFCFEB0A}"/>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INDEX, YIELDS AND DURATION</a:t>
            </a:r>
          </a:p>
        </p:txBody>
      </p:sp>
      <p:sp>
        <p:nvSpPr>
          <p:cNvPr id="3" name="">
            <a:extLst xmlns:a="http://schemas.openxmlformats.org/drawingml/2006/main">
              <a:ext uri="{FF2B5EF4-FFF2-40B4-BE49-F238E27FC236}">
                <a16:creationId xmlns:a16="http://schemas.microsoft.com/office/drawing/2014/main" id="{21CD1C37-399B-41E7-B06F-984659EFDC0B}"/>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23 / 46</a:t>
            </a:r>
          </a:p>
        </p:txBody>
      </p:sp>
      <p:sp>
        <p:nvSpPr>
          <p:cNvPr id="4" name="">
            <a:extLst xmlns:a="http://schemas.openxmlformats.org/drawingml/2006/main">
              <a:ext uri="{FF2B5EF4-FFF2-40B4-BE49-F238E27FC236}">
                <a16:creationId xmlns:a16="http://schemas.microsoft.com/office/drawing/2014/main" id="{2045DB24-93DD-4DF3-8487-E3F41BDD26BA}"/>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A678633-9F56-4704-91B0-D4E680165250}"/>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The September hike rewrote 35% of the statement</a:t>
            </a:r>
          </a:p>
        </p:txBody>
      </p:sp>
      <p:sp>
        <p:nvSpPr>
          <p:cNvPr id="6" name="">
            <a:extLst xmlns:a="http://schemas.openxmlformats.org/drawingml/2006/main">
              <a:ext uri="{FF2B5EF4-FFF2-40B4-BE49-F238E27FC236}">
                <a16:creationId xmlns:a16="http://schemas.microsoft.com/office/drawing/2014/main" id="{CE2B454C-E88C-4687-88AD-F74A6A6E2BB7}"/>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A word-level redline of every decision against the one before</a:t>
            </a:r>
          </a:p>
        </p:txBody>
      </p:sp>
      <p:sp>
        <p:nvSpPr>
          <p:cNvPr id="7" name="">
            <a:extLst xmlns:a="http://schemas.openxmlformats.org/drawingml/2006/main">
              <a:ext uri="{FF2B5EF4-FFF2-40B4-BE49-F238E27FC236}">
                <a16:creationId xmlns:a16="http://schemas.microsoft.com/office/drawing/2014/main" id="{3109FFEA-8F5C-423E-9914-79A945D39B3F}"/>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993D7D7-D65B-4A21-ACBE-C2246915DA37}"/>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FOMC statements since 2009 (21 hikes, 11 cuts, 111 holds).</a:t>
            </a:r>
          </a:p>
        </p:txBody>
      </p:sp>
      <p:sp>
        <p:nvSpPr>
          <p:cNvPr id="9" name="">
            <a:extLst xmlns:a="http://schemas.openxmlformats.org/drawingml/2006/main">
              <a:ext uri="{FF2B5EF4-FFF2-40B4-BE49-F238E27FC236}">
                <a16:creationId xmlns:a16="http://schemas.microsoft.com/office/drawing/2014/main" id="{657BDB8C-DC13-4EDD-A790-33A46E6E7647}"/>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5492D7E-D48D-48E3-B916-0002D8EFF54E}"/>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56D1B31-CB5C-424E-8397-6ABD634ACBEA}"/>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D538207-B844-4C93-9D82-438108F89B4D}"/>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3736C9A-6BBA-4E84-9FC1-FAB3C0F330B8}"/>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1C26999-0F5E-47EF-A7EE-E57F65ABC7DD}"/>
              </a:ext>
            </a:extLst>
          </p:cNvPr>
          <p:cNvSpPr>
            <a:spLocks xmlns:a="http://schemas.openxmlformats.org/drawingml/2006/main" noGrp="1"/>
          </p:cNvSpPr>
          <p:nvPr/>
        </p:nvSpPr>
        <p:spPr>
          <a:xfrm xmlns:a="http://schemas.openxmlformats.org/drawingml/2006/main">
            <a:off x="609585" y="1965960"/>
            <a:ext cx="2743131"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4560" b="1">
                <a:solidFill>
                  <a:srgbClr val="151312"/>
                </a:solidFill>
                <a:latin typeface="Arial"/>
                <a:ea typeface="Arial"/>
                <a:cs typeface="Arial"/>
              </a:defRPr>
            </a:defPPr>
            <a:lvl1pPr algn="l">
              <a:defRPr sz="4560" b="1">
                <a:solidFill>
                  <a:srgbClr val="151312"/>
                </a:solidFill>
                <a:latin typeface="Arial"/>
                <a:ea typeface="Arial"/>
                <a:cs typeface="Arial"/>
              </a:defRPr>
            </a:lvl1pPr>
            <a:lvl2pPr algn="l">
              <a:defRPr sz="4560" b="1">
                <a:solidFill>
                  <a:srgbClr val="151312"/>
                </a:solidFill>
                <a:latin typeface="Arial"/>
                <a:ea typeface="Arial"/>
                <a:cs typeface="Arial"/>
              </a:defRPr>
            </a:lvl2pPr>
            <a:lvl3pPr algn="l">
              <a:defRPr sz="4560" b="1">
                <a:solidFill>
                  <a:srgbClr val="151312"/>
                </a:solidFill>
                <a:latin typeface="Arial"/>
                <a:ea typeface="Arial"/>
                <a:cs typeface="Arial"/>
              </a:defRPr>
            </a:lvl3pPr>
            <a:lvl4pPr algn="l">
              <a:defRPr sz="4560" b="1">
                <a:solidFill>
                  <a:srgbClr val="151312"/>
                </a:solidFill>
                <a:latin typeface="Arial"/>
                <a:ea typeface="Arial"/>
                <a:cs typeface="Arial"/>
              </a:defRPr>
            </a:lvl4pPr>
            <a:lvl5pPr algn="l">
              <a:defRPr sz="4560" b="1">
                <a:solidFill>
                  <a:srgbClr val="151312"/>
                </a:solidFill>
                <a:latin typeface="Arial"/>
                <a:ea typeface="Arial"/>
                <a:cs typeface="Arial"/>
              </a:defRPr>
            </a:lvl5pPr>
            <a:lvl6pPr algn="l">
              <a:defRPr sz="4560" b="1">
                <a:solidFill>
                  <a:srgbClr val="151312"/>
                </a:solidFill>
                <a:latin typeface="Arial"/>
                <a:ea typeface="Arial"/>
                <a:cs typeface="Arial"/>
              </a:defRPr>
            </a:lvl6pPr>
            <a:lvl7pPr algn="l">
              <a:defRPr sz="4560" b="1">
                <a:solidFill>
                  <a:srgbClr val="151312"/>
                </a:solidFill>
                <a:latin typeface="Arial"/>
                <a:ea typeface="Arial"/>
                <a:cs typeface="Arial"/>
              </a:defRPr>
            </a:lvl7pPr>
            <a:lvl8pPr algn="l">
              <a:defRPr sz="4560" b="1">
                <a:solidFill>
                  <a:srgbClr val="151312"/>
                </a:solidFill>
                <a:latin typeface="Arial"/>
                <a:ea typeface="Arial"/>
                <a:cs typeface="Arial"/>
              </a:defRPr>
            </a:lvl8pPr>
            <a:lvl9pPr algn="l">
              <a:defRPr sz="4560" b="1">
                <a:solidFill>
                  <a:srgbClr val="151312"/>
                </a:solidFill>
                <a:latin typeface="Arial"/>
                <a:ea typeface="Arial"/>
                <a:cs typeface="Arial"/>
              </a:defRPr>
            </a:lvl9pPr>
          </a:lstStyle>
          <a:p xmlns:a="http://schemas.openxmlformats.org/drawingml/2006/main">
            <a:pPr algn="l">
              <a:defRPr sz="4560" b="1">
                <a:solidFill>
                  <a:srgbClr val="151312"/>
                </a:solidFill>
                <a:latin typeface="Arial"/>
                <a:ea typeface="Arial"/>
                <a:cs typeface="Arial"/>
              </a:defRPr>
            </a:pPr>
            <a:r>
              <a:rPr sz="4560" b="1">
                <a:solidFill>
                  <a:srgbClr val="151312"/>
                </a:solidFill>
                <a:latin typeface="Arial"/>
                <a:ea typeface="Arial"/>
                <a:cs typeface="Arial"/>
              </a:rPr>
              <a:t>35%</a:t>
            </a:r>
          </a:p>
        </p:txBody>
      </p:sp>
      <p:sp>
        <p:nvSpPr>
          <p:cNvPr id="15" name="">
            <a:extLst xmlns:a="http://schemas.openxmlformats.org/drawingml/2006/main">
              <a:ext uri="{FF2B5EF4-FFF2-40B4-BE49-F238E27FC236}">
                <a16:creationId xmlns:a16="http://schemas.microsoft.com/office/drawing/2014/main" id="{D95C54BB-162F-4D33-A575-999ABBEBD49B}"/>
              </a:ext>
            </a:extLst>
          </p:cNvPr>
          <p:cNvSpPr>
            <a:spLocks xmlns:a="http://schemas.openxmlformats.org/drawingml/2006/main" noGrp="1"/>
          </p:cNvSpPr>
          <p:nvPr/>
        </p:nvSpPr>
        <p:spPr>
          <a:xfrm xmlns:a="http://schemas.openxmlformats.org/drawingml/2006/main">
            <a:off x="609585" y="2781300"/>
            <a:ext cx="2743131"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of the wording changed against the previous decision (median since 2009: 14%)</a:t>
            </a:r>
          </a:p>
        </p:txBody>
      </p:sp>
      <p:sp>
        <p:nvSpPr>
          <p:cNvPr id="16" name="">
            <a:extLst xmlns:a="http://schemas.openxmlformats.org/drawingml/2006/main">
              <a:ext uri="{FF2B5EF4-FFF2-40B4-BE49-F238E27FC236}">
                <a16:creationId xmlns:a16="http://schemas.microsoft.com/office/drawing/2014/main" id="{81C36910-F417-4CBB-B65D-37281DD80D7E}"/>
              </a:ext>
            </a:extLst>
          </p:cNvPr>
          <p:cNvSpPr>
            <a:spLocks xmlns:a="http://schemas.openxmlformats.org/drawingml/2006/main" noGrp="1"/>
          </p:cNvSpPr>
          <p:nvPr/>
        </p:nvSpPr>
        <p:spPr>
          <a:xfrm xmlns:a="http://schemas.openxmlformats.org/drawingml/2006/main">
            <a:off x="609585" y="364236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126C8FD-5648-4FFB-AFFD-7F3CD636EC4A}"/>
              </a:ext>
            </a:extLst>
          </p:cNvPr>
          <p:cNvSpPr>
            <a:spLocks xmlns:a="http://schemas.openxmlformats.org/drawingml/2006/main" noGrp="1"/>
          </p:cNvSpPr>
          <p:nvPr/>
        </p:nvSpPr>
        <p:spPr>
          <a:xfrm xmlns:a="http://schemas.openxmlformats.org/drawingml/2006/main">
            <a:off x="609585" y="371856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+25 bp to 3.75–4.00%</a:t>
            </a:r>
          </a:p>
        </p:txBody>
      </p:sp>
      <p:sp>
        <p:nvSpPr>
          <p:cNvPr id="18" name="">
            <a:extLst xmlns:a="http://schemas.openxmlformats.org/drawingml/2006/main">
              <a:ext uri="{FF2B5EF4-FFF2-40B4-BE49-F238E27FC236}">
                <a16:creationId xmlns:a16="http://schemas.microsoft.com/office/drawing/2014/main" id="{CDFBCE62-B617-4EE8-B34C-577844DE14B7}"/>
              </a:ext>
            </a:extLst>
          </p:cNvPr>
          <p:cNvSpPr>
            <a:spLocks xmlns:a="http://schemas.openxmlformats.org/drawingml/2006/main" noGrp="1"/>
          </p:cNvSpPr>
          <p:nvPr/>
        </p:nvSpPr>
        <p:spPr>
          <a:xfrm xmlns:a="http://schemas.openxmlformats.org/drawingml/2006/main">
            <a:off x="609585" y="448564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890FA06-3326-4FBC-9967-0C386CD6DB8D}"/>
              </a:ext>
            </a:extLst>
          </p:cNvPr>
          <p:cNvSpPr>
            <a:spLocks xmlns:a="http://schemas.openxmlformats.org/drawingml/2006/main" noGrp="1"/>
          </p:cNvSpPr>
          <p:nvPr/>
        </p:nvSpPr>
        <p:spPr>
          <a:xfrm xmlns:a="http://schemas.openxmlformats.org/drawingml/2006/main">
            <a:off x="609585" y="456184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Vote 12–0</a:t>
            </a:r>
          </a:p>
        </p:txBody>
      </p:sp>
      <p:sp>
        <p:nvSpPr>
          <p:cNvPr id="20" name="">
            <a:extLst xmlns:a="http://schemas.openxmlformats.org/drawingml/2006/main">
              <a:ext uri="{FF2B5EF4-FFF2-40B4-BE49-F238E27FC236}">
                <a16:creationId xmlns:a16="http://schemas.microsoft.com/office/drawing/2014/main" id="{F3303F3A-566E-4659-B23A-3A3FC82025E9}"/>
              </a:ext>
            </a:extLst>
          </p:cNvPr>
          <p:cNvSpPr>
            <a:spLocks xmlns:a="http://schemas.openxmlformats.org/drawingml/2006/main" noGrp="1"/>
          </p:cNvSpPr>
          <p:nvPr/>
        </p:nvSpPr>
        <p:spPr>
          <a:xfrm xmlns:a="http://schemas.openxmlformats.org/drawingml/2006/main">
            <a:off x="609585" y="532892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0FBE710-6A34-4997-B40E-ED1C5C5EE8C9}"/>
              </a:ext>
            </a:extLst>
          </p:cNvPr>
          <p:cNvSpPr>
            <a:spLocks xmlns:a="http://schemas.openxmlformats.org/drawingml/2006/main" noGrp="1"/>
          </p:cNvSpPr>
          <p:nvPr/>
        </p:nvSpPr>
        <p:spPr>
          <a:xfrm xmlns:a="http://schemas.openxmlformats.org/drawingml/2006/main">
            <a:off x="609585" y="540512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3 dissents at the previous meeting wanted a hike</a:t>
            </a:r>
          </a:p>
        </p:txBody>
      </p:sp>
      <p:pic>
        <p:nvPicPr>
          <p:cNvPr id="22" name="">
            <a:extLst xmlns:a="http://schemas.openxmlformats.org/drawingml/2006/main">
              <a:ext uri="{FF2B5EF4-FFF2-40B4-BE49-F238E27FC236}">
                <a16:creationId xmlns:a16="http://schemas.microsoft.com/office/drawing/2014/main" id="{388EDD20-46DD-45C0-8CF1-62315C4E4E1E}"/>
              </a:ext>
            </a:extLst>
          </p:cNvPr>
          <p:cNvPicPr>
            <a:picLocks xmlns:a="http://schemas.openxmlformats.org/drawingml/2006/main" noChangeAspect="1"/>
          </p:cNvPicPr>
          <p:nvPr/>
        </p:nvPicPr>
        <p:blipFill>
          <a:blip xmlns:r="http://schemas.openxmlformats.org/officeDocument/2006/relationships" xmlns:a="http://schemas.openxmlformats.org/drawingml/2006/main" r:embed="Re99939642c984a71"/>
          <a:stretch xmlns:a="http://schemas.openxmlformats.org/drawingml/2006/main"/>
        </p:blipFill>
        <p:spPr>
          <a:xfrm xmlns:a="http://schemas.openxmlformats.org/drawingml/2006/main">
            <a:off x="3718467" y="1920293"/>
            <a:ext cx="7863643" cy="4251854"/>
          </a:xfrm>
          <a:prstGeom xmlns:a="http://schemas.openxmlformats.org/drawingml/2006/main" prst="rect">
            <a:avLst/>
          </a:prstGeom>
        </p:spPr>
      </p:pic>
    </p:spTree>
    <p:extLst>
      <p:ext uri="{BB962C8B-B14F-4D97-AF65-F5344CB8AC3E}">
        <p14:creationId xmlns:p14="http://schemas.microsoft.com/office/powerpoint/2010/main" val="1074010044"/>
      </p:ext>
    </p:extLst>
  </p:cSld>
</p:sld>
</file>

<file path=ppt/slides/slide24.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45DE8B26-6E86-434E-A1C3-8FCBB7104277}"/>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85A0DFED-23EC-4811-A1BB-4F2E05EDFB65}"/>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INDEX, YIELDS AND DURATION</a:t>
            </a:r>
          </a:p>
        </p:txBody>
      </p:sp>
      <p:sp>
        <p:nvSpPr>
          <p:cNvPr id="3" name="">
            <a:extLst xmlns:a="http://schemas.openxmlformats.org/drawingml/2006/main">
              <a:ext uri="{FF2B5EF4-FFF2-40B4-BE49-F238E27FC236}">
                <a16:creationId xmlns:a16="http://schemas.microsoft.com/office/drawing/2014/main" id="{97663124-1DAF-475F-87C3-FAAF3A342AE1}"/>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24 / 46</a:t>
            </a:r>
          </a:p>
        </p:txBody>
      </p:sp>
      <p:sp>
        <p:nvSpPr>
          <p:cNvPr id="4" name="">
            <a:extLst xmlns:a="http://schemas.openxmlformats.org/drawingml/2006/main">
              <a:ext uri="{FF2B5EF4-FFF2-40B4-BE49-F238E27FC236}">
                <a16:creationId xmlns:a16="http://schemas.microsoft.com/office/drawing/2014/main" id="{5F3C089B-4262-49BE-AA87-DF78625912EE}"/>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9260066-5A83-48CF-85D1-6DC99F8B4539}"/>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1,213 regressions, one FDR family</a:t>
            </a:r>
          </a:p>
        </p:txBody>
      </p:sp>
      <p:sp>
        <p:nvSpPr>
          <p:cNvPr id="6" name="">
            <a:extLst xmlns:a="http://schemas.openxmlformats.org/drawingml/2006/main">
              <a:ext uri="{FF2B5EF4-FFF2-40B4-BE49-F238E27FC236}">
                <a16:creationId xmlns:a16="http://schemas.microsoft.com/office/drawing/2014/main" id="{8BD063A3-D85A-4027-9D93-45068FD393B7}"/>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Exploratory main-grid tests share one BH adjustment; diagnostics are separate</a:t>
            </a:r>
          </a:p>
        </p:txBody>
      </p:sp>
      <p:sp>
        <p:nvSpPr>
          <p:cNvPr id="7" name="">
            <a:extLst xmlns:a="http://schemas.openxmlformats.org/drawingml/2006/main">
              <a:ext uri="{FF2B5EF4-FFF2-40B4-BE49-F238E27FC236}">
                <a16:creationId xmlns:a16="http://schemas.microsoft.com/office/drawing/2014/main" id="{694E2D4B-4E77-4F0A-A987-024EF1F10788}"/>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BE87313-3CFD-4AF6-886B-9B8F37922059}"/>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evaluate/event_study.py.</a:t>
            </a:r>
          </a:p>
        </p:txBody>
      </p:sp>
      <p:sp>
        <p:nvSpPr>
          <p:cNvPr id="9" name="">
            <a:extLst xmlns:a="http://schemas.openxmlformats.org/drawingml/2006/main">
              <a:ext uri="{FF2B5EF4-FFF2-40B4-BE49-F238E27FC236}">
                <a16:creationId xmlns:a16="http://schemas.microsoft.com/office/drawing/2014/main" id="{7484D4BD-8EA3-4A33-A7C0-17C7810876A6}"/>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BC49D48-3D2F-41B3-BDE1-69A60629F10D}"/>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96D8B50-3226-477A-AD43-9BA3131ED0EC}"/>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8710512-7E26-4831-BAA3-6CE4FC40C0C8}"/>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38F5BBB-31EB-49F0-B0E7-0CA0AA75CEA2}"/>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416ED40-606E-44C6-A102-36BEC27FA6CD}"/>
              </a:ext>
            </a:extLst>
          </p:cNvPr>
          <p:cNvSpPr>
            <a:spLocks xmlns:a="http://schemas.openxmlformats.org/drawingml/2006/main" noGrp="1"/>
          </p:cNvSpPr>
          <p:nvPr/>
        </p:nvSpPr>
        <p:spPr>
          <a:xfrm xmlns:a="http://schemas.openxmlformats.org/drawingml/2006/main">
            <a:off x="609585" y="1965960"/>
            <a:ext cx="2743131"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4560" b="1">
                <a:solidFill>
                  <a:srgbClr val="151312"/>
                </a:solidFill>
                <a:latin typeface="Arial"/>
                <a:ea typeface="Arial"/>
                <a:cs typeface="Arial"/>
              </a:defRPr>
            </a:defPPr>
            <a:lvl1pPr algn="l">
              <a:defRPr sz="4560" b="1">
                <a:solidFill>
                  <a:srgbClr val="151312"/>
                </a:solidFill>
                <a:latin typeface="Arial"/>
                <a:ea typeface="Arial"/>
                <a:cs typeface="Arial"/>
              </a:defRPr>
            </a:lvl1pPr>
            <a:lvl2pPr algn="l">
              <a:defRPr sz="4560" b="1">
                <a:solidFill>
                  <a:srgbClr val="151312"/>
                </a:solidFill>
                <a:latin typeface="Arial"/>
                <a:ea typeface="Arial"/>
                <a:cs typeface="Arial"/>
              </a:defRPr>
            </a:lvl2pPr>
            <a:lvl3pPr algn="l">
              <a:defRPr sz="4560" b="1">
                <a:solidFill>
                  <a:srgbClr val="151312"/>
                </a:solidFill>
                <a:latin typeface="Arial"/>
                <a:ea typeface="Arial"/>
                <a:cs typeface="Arial"/>
              </a:defRPr>
            </a:lvl3pPr>
            <a:lvl4pPr algn="l">
              <a:defRPr sz="4560" b="1">
                <a:solidFill>
                  <a:srgbClr val="151312"/>
                </a:solidFill>
                <a:latin typeface="Arial"/>
                <a:ea typeface="Arial"/>
                <a:cs typeface="Arial"/>
              </a:defRPr>
            </a:lvl4pPr>
            <a:lvl5pPr algn="l">
              <a:defRPr sz="4560" b="1">
                <a:solidFill>
                  <a:srgbClr val="151312"/>
                </a:solidFill>
                <a:latin typeface="Arial"/>
                <a:ea typeface="Arial"/>
                <a:cs typeface="Arial"/>
              </a:defRPr>
            </a:lvl5pPr>
            <a:lvl6pPr algn="l">
              <a:defRPr sz="4560" b="1">
                <a:solidFill>
                  <a:srgbClr val="151312"/>
                </a:solidFill>
                <a:latin typeface="Arial"/>
                <a:ea typeface="Arial"/>
                <a:cs typeface="Arial"/>
              </a:defRPr>
            </a:lvl6pPr>
            <a:lvl7pPr algn="l">
              <a:defRPr sz="4560" b="1">
                <a:solidFill>
                  <a:srgbClr val="151312"/>
                </a:solidFill>
                <a:latin typeface="Arial"/>
                <a:ea typeface="Arial"/>
                <a:cs typeface="Arial"/>
              </a:defRPr>
            </a:lvl7pPr>
            <a:lvl8pPr algn="l">
              <a:defRPr sz="4560" b="1">
                <a:solidFill>
                  <a:srgbClr val="151312"/>
                </a:solidFill>
                <a:latin typeface="Arial"/>
                <a:ea typeface="Arial"/>
                <a:cs typeface="Arial"/>
              </a:defRPr>
            </a:lvl8pPr>
            <a:lvl9pPr algn="l">
              <a:defRPr sz="4560" b="1">
                <a:solidFill>
                  <a:srgbClr val="151312"/>
                </a:solidFill>
                <a:latin typeface="Arial"/>
                <a:ea typeface="Arial"/>
                <a:cs typeface="Arial"/>
              </a:defRPr>
            </a:lvl9pPr>
          </a:lstStyle>
          <a:p xmlns:a="http://schemas.openxmlformats.org/drawingml/2006/main">
            <a:pPr algn="l">
              <a:defRPr sz="4560" b="1">
                <a:solidFill>
                  <a:srgbClr val="151312"/>
                </a:solidFill>
                <a:latin typeface="Arial"/>
                <a:ea typeface="Arial"/>
                <a:cs typeface="Arial"/>
              </a:defRPr>
            </a:pPr>
            <a:r>
              <a:rPr sz="4560" b="1">
                <a:solidFill>
                  <a:srgbClr val="151312"/>
                </a:solidFill>
                <a:latin typeface="Arial"/>
                <a:ea typeface="Arial"/>
                <a:cs typeface="Arial"/>
              </a:rPr>
              <a:t>26 / 198</a:t>
            </a:r>
          </a:p>
        </p:txBody>
      </p:sp>
      <p:sp>
        <p:nvSpPr>
          <p:cNvPr id="15" name="">
            <a:extLst xmlns:a="http://schemas.openxmlformats.org/drawingml/2006/main">
              <a:ext uri="{FF2B5EF4-FFF2-40B4-BE49-F238E27FC236}">
                <a16:creationId xmlns:a16="http://schemas.microsoft.com/office/drawing/2014/main" id="{776E78DA-EC6E-45E9-85E8-D929634C3715}"/>
              </a:ext>
            </a:extLst>
          </p:cNvPr>
          <p:cNvSpPr>
            <a:spLocks xmlns:a="http://schemas.openxmlformats.org/drawingml/2006/main" noGrp="1"/>
          </p:cNvSpPr>
          <p:nvPr/>
        </p:nvSpPr>
        <p:spPr>
          <a:xfrm xmlns:a="http://schemas.openxmlformats.org/drawingml/2006/main">
            <a:off x="609585" y="2781300"/>
            <a:ext cx="2743131"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main tests survive q &lt; 0.10, 16 of them on Claude's reading</a:t>
            </a:r>
          </a:p>
        </p:txBody>
      </p:sp>
      <p:sp>
        <p:nvSpPr>
          <p:cNvPr id="16" name="">
            <a:extLst xmlns:a="http://schemas.openxmlformats.org/drawingml/2006/main">
              <a:ext uri="{FF2B5EF4-FFF2-40B4-BE49-F238E27FC236}">
                <a16:creationId xmlns:a16="http://schemas.microsoft.com/office/drawing/2014/main" id="{67FD6F27-E525-4E98-86D4-808FC9F205A1}"/>
              </a:ext>
            </a:extLst>
          </p:cNvPr>
          <p:cNvSpPr>
            <a:spLocks xmlns:a="http://schemas.openxmlformats.org/drawingml/2006/main" noGrp="1"/>
          </p:cNvSpPr>
          <p:nvPr/>
        </p:nvSpPr>
        <p:spPr>
          <a:xfrm xmlns:a="http://schemas.openxmlformats.org/drawingml/2006/main">
            <a:off x="609585" y="364236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B664639-47E9-4142-A58C-6BED4120153E}"/>
              </a:ext>
            </a:extLst>
          </p:cNvPr>
          <p:cNvSpPr>
            <a:spLocks xmlns:a="http://schemas.openxmlformats.org/drawingml/2006/main" noGrp="1"/>
          </p:cNvSpPr>
          <p:nvPr/>
        </p:nvSpPr>
        <p:spPr>
          <a:xfrm xmlns:a="http://schemas.openxmlformats.org/drawingml/2006/main">
            <a:off x="609585" y="371856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β in basis points per standard deviation of tone</a:t>
            </a:r>
          </a:p>
        </p:txBody>
      </p:sp>
      <p:sp>
        <p:nvSpPr>
          <p:cNvPr id="18" name="">
            <a:extLst xmlns:a="http://schemas.openxmlformats.org/drawingml/2006/main">
              <a:ext uri="{FF2B5EF4-FFF2-40B4-BE49-F238E27FC236}">
                <a16:creationId xmlns:a16="http://schemas.microsoft.com/office/drawing/2014/main" id="{0FDDEAE0-14BD-4AEB-BEC2-E546C6DAFD2E}"/>
              </a:ext>
            </a:extLst>
          </p:cNvPr>
          <p:cNvSpPr>
            <a:spLocks xmlns:a="http://schemas.openxmlformats.org/drawingml/2006/main" noGrp="1"/>
          </p:cNvSpPr>
          <p:nvPr/>
        </p:nvSpPr>
        <p:spPr>
          <a:xfrm xmlns:a="http://schemas.openxmlformats.org/drawingml/2006/main">
            <a:off x="609585" y="448564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2B1CD12-B96B-4B68-AF03-7B23542660EF}"/>
              </a:ext>
            </a:extLst>
          </p:cNvPr>
          <p:cNvSpPr>
            <a:spLocks xmlns:a="http://schemas.openxmlformats.org/drawingml/2006/main" noGrp="1"/>
          </p:cNvSpPr>
          <p:nvPr/>
        </p:nvSpPr>
        <p:spPr>
          <a:xfrm xmlns:a="http://schemas.openxmlformats.org/drawingml/2006/main">
            <a:off x="609585" y="456184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Statements are compared decision with decision</a:t>
            </a:r>
          </a:p>
        </p:txBody>
      </p:sp>
      <p:sp>
        <p:nvSpPr>
          <p:cNvPr id="20" name="">
            <a:extLst xmlns:a="http://schemas.openxmlformats.org/drawingml/2006/main">
              <a:ext uri="{FF2B5EF4-FFF2-40B4-BE49-F238E27FC236}">
                <a16:creationId xmlns:a16="http://schemas.microsoft.com/office/drawing/2014/main" id="{DE14EC57-4417-406F-BA00-9D2B71B187FD}"/>
              </a:ext>
            </a:extLst>
          </p:cNvPr>
          <p:cNvSpPr>
            <a:spLocks xmlns:a="http://schemas.openxmlformats.org/drawingml/2006/main" noGrp="1"/>
          </p:cNvSpPr>
          <p:nvPr/>
        </p:nvSpPr>
        <p:spPr>
          <a:xfrm xmlns:a="http://schemas.openxmlformats.org/drawingml/2006/main">
            <a:off x="609585" y="532892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F067117-78E1-4225-9E06-6E3A9B0FEC32}"/>
              </a:ext>
            </a:extLst>
          </p:cNvPr>
          <p:cNvSpPr>
            <a:spLocks xmlns:a="http://schemas.openxmlformats.org/drawingml/2006/main" noGrp="1"/>
          </p:cNvSpPr>
          <p:nvPr/>
        </p:nvSpPr>
        <p:spPr>
          <a:xfrm xmlns:a="http://schemas.openxmlformats.org/drawingml/2006/main">
            <a:off x="609585" y="540512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Controls and split samples are exploratory diagnostics outside the main family</a:t>
            </a:r>
          </a:p>
        </p:txBody>
      </p:sp>
      <p:sp>
        <p:nvSpPr>
          <p:cNvPr id="22" name="">
            <a:extLst xmlns:a="http://schemas.openxmlformats.org/drawingml/2006/main">
              <a:ext uri="{FF2B5EF4-FFF2-40B4-BE49-F238E27FC236}">
                <a16:creationId xmlns:a16="http://schemas.microsoft.com/office/drawing/2014/main" id="{A6F107E2-A8D8-4168-B940-2E9C3ADA277B}"/>
              </a:ext>
            </a:extLst>
          </p:cNvPr>
          <p:cNvSpPr>
            <a:spLocks xmlns:a="http://schemas.openxmlformats.org/drawingml/2006/main" noGrp="1"/>
          </p:cNvSpPr>
          <p:nvPr/>
        </p:nvSpPr>
        <p:spPr>
          <a:xfrm xmlns:a="http://schemas.openxmlformats.org/drawingml/2006/main">
            <a:off x="3718467" y="1920240"/>
            <a:ext cx="7863643" cy="4251960"/>
          </a:xfrm>
          <a:prstGeom xmlns:a="http://schemas.openxmlformats.org/drawingml/2006/main" prst="rect">
            <a:avLst/>
          </a:prstGeom>
          <a:solidFill xmlns:a="http://schemas.openxmlformats.org/drawingml/2006/main">
            <a:srgbClr val="F3F0E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806036D-A379-4E9D-ACDD-8676DB565404}"/>
              </a:ext>
            </a:extLst>
          </p:cNvPr>
          <p:cNvSpPr>
            <a:spLocks xmlns:a="http://schemas.openxmlformats.org/drawingml/2006/main" noGrp="1"/>
          </p:cNvSpPr>
          <p:nvPr/>
        </p:nvSpPr>
        <p:spPr>
          <a:xfrm xmlns:a="http://schemas.openxmlformats.org/drawingml/2006/main">
            <a:off x="3718467" y="1920240"/>
            <a:ext cx="22859" cy="425196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8E2251B-1E2D-40FA-8517-AD90F15EDFA1}"/>
              </a:ext>
            </a:extLst>
          </p:cNvPr>
          <p:cNvSpPr>
            <a:spLocks xmlns:a="http://schemas.openxmlformats.org/drawingml/2006/main" noGrp="1"/>
          </p:cNvSpPr>
          <p:nvPr/>
        </p:nvSpPr>
        <p:spPr>
          <a:xfrm xmlns:a="http://schemas.openxmlformats.org/drawingml/2006/main">
            <a:off x="3947061" y="2453640"/>
            <a:ext cx="4107077"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Δy = α + β · tone_z + γ' · controls + ε</a:t>
            </a:r>
          </a:p>
        </p:txBody>
      </p:sp>
      <p:sp>
        <p:nvSpPr>
          <p:cNvPr id="25" name="">
            <a:extLst xmlns:a="http://schemas.openxmlformats.org/drawingml/2006/main">
              <a:ext uri="{FF2B5EF4-FFF2-40B4-BE49-F238E27FC236}">
                <a16:creationId xmlns:a16="http://schemas.microsoft.com/office/drawing/2014/main" id="{4F453359-C0C7-4C83-95A4-CA8A89C0A52F}"/>
              </a:ext>
            </a:extLst>
          </p:cNvPr>
          <p:cNvSpPr>
            <a:spLocks xmlns:a="http://schemas.openxmlformats.org/drawingml/2006/main" noGrp="1"/>
          </p:cNvSpPr>
          <p:nvPr/>
        </p:nvSpPr>
        <p:spPr>
          <a:xfrm xmlns:a="http://schemas.openxmlformats.org/drawingml/2006/main">
            <a:off x="8054139" y="2453640"/>
            <a:ext cx="3299377"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55504A"/>
                </a:solidFill>
                <a:latin typeface="Arial"/>
                <a:ea typeface="Arial"/>
                <a:cs typeface="Arial"/>
              </a:defRPr>
            </a:defPPr>
            <a:lvl1pPr algn="l">
              <a:defRPr sz="1200" b="0">
                <a:solidFill>
                  <a:srgbClr val="55504A"/>
                </a:solidFill>
                <a:latin typeface="Arial"/>
                <a:ea typeface="Arial"/>
                <a:cs typeface="Arial"/>
              </a:defRPr>
            </a:lvl1pPr>
            <a:lvl2pPr algn="l">
              <a:defRPr sz="1200" b="0">
                <a:solidFill>
                  <a:srgbClr val="55504A"/>
                </a:solidFill>
                <a:latin typeface="Arial"/>
                <a:ea typeface="Arial"/>
                <a:cs typeface="Arial"/>
              </a:defRPr>
            </a:lvl2pPr>
            <a:lvl3pPr algn="l">
              <a:defRPr sz="1200" b="0">
                <a:solidFill>
                  <a:srgbClr val="55504A"/>
                </a:solidFill>
                <a:latin typeface="Arial"/>
                <a:ea typeface="Arial"/>
                <a:cs typeface="Arial"/>
              </a:defRPr>
            </a:lvl3pPr>
            <a:lvl4pPr algn="l">
              <a:defRPr sz="1200" b="0">
                <a:solidFill>
                  <a:srgbClr val="55504A"/>
                </a:solidFill>
                <a:latin typeface="Arial"/>
                <a:ea typeface="Arial"/>
                <a:cs typeface="Arial"/>
              </a:defRPr>
            </a:lvl4pPr>
            <a:lvl5pPr algn="l">
              <a:defRPr sz="1200" b="0">
                <a:solidFill>
                  <a:srgbClr val="55504A"/>
                </a:solidFill>
                <a:latin typeface="Arial"/>
                <a:ea typeface="Arial"/>
                <a:cs typeface="Arial"/>
              </a:defRPr>
            </a:lvl5pPr>
            <a:lvl6pPr algn="l">
              <a:defRPr sz="1200" b="0">
                <a:solidFill>
                  <a:srgbClr val="55504A"/>
                </a:solidFill>
                <a:latin typeface="Arial"/>
                <a:ea typeface="Arial"/>
                <a:cs typeface="Arial"/>
              </a:defRPr>
            </a:lvl6pPr>
            <a:lvl7pPr algn="l">
              <a:defRPr sz="1200" b="0">
                <a:solidFill>
                  <a:srgbClr val="55504A"/>
                </a:solidFill>
                <a:latin typeface="Arial"/>
                <a:ea typeface="Arial"/>
                <a:cs typeface="Arial"/>
              </a:defRPr>
            </a:lvl7pPr>
            <a:lvl8pPr algn="l">
              <a:defRPr sz="1200" b="0">
                <a:solidFill>
                  <a:srgbClr val="55504A"/>
                </a:solidFill>
                <a:latin typeface="Arial"/>
                <a:ea typeface="Arial"/>
                <a:cs typeface="Arial"/>
              </a:defRPr>
            </a:lvl8pPr>
            <a:lvl9pPr algn="l">
              <a:defRPr sz="1200" b="0">
                <a:solidFill>
                  <a:srgbClr val="55504A"/>
                </a:solidFill>
                <a:latin typeface="Arial"/>
                <a:ea typeface="Arial"/>
                <a:cs typeface="Arial"/>
              </a:defRPr>
            </a:lvl9pPr>
          </a:lstStyle>
          <a:p xmlns:a="http://schemas.openxmlformats.org/drawingml/2006/main">
            <a:pPr algn="l">
              <a:defRPr sz="1200" b="0">
                <a:solidFill>
                  <a:srgbClr val="55504A"/>
                </a:solidFill>
                <a:latin typeface="Arial"/>
                <a:ea typeface="Arial"/>
                <a:cs typeface="Arial"/>
              </a:defRPr>
            </a:pPr>
            <a:r>
              <a:rPr sz="1200" b="0">
                <a:solidFill>
                  <a:srgbClr val="55504A"/>
                </a:solidFill>
                <a:latin typeface="Arial"/>
                <a:ea typeface="Arial"/>
                <a:cs typeface="Arial"/>
              </a:rPr>
              <a:t># OLS, HC1 errors</a:t>
            </a:r>
          </a:p>
        </p:txBody>
      </p:sp>
      <p:sp>
        <p:nvSpPr>
          <p:cNvPr id="26" name="">
            <a:extLst xmlns:a="http://schemas.openxmlformats.org/drawingml/2006/main">
              <a:ext uri="{FF2B5EF4-FFF2-40B4-BE49-F238E27FC236}">
                <a16:creationId xmlns:a16="http://schemas.microsoft.com/office/drawing/2014/main" id="{928DEB57-F891-4403-87E1-888F15F37F58}"/>
              </a:ext>
            </a:extLst>
          </p:cNvPr>
          <p:cNvSpPr>
            <a:spLocks xmlns:a="http://schemas.openxmlformats.org/drawingml/2006/main" noGrp="1"/>
          </p:cNvSpPr>
          <p:nvPr/>
        </p:nvSpPr>
        <p:spPr>
          <a:xfrm xmlns:a="http://schemas.openxmlformats.org/drawingml/2006/main">
            <a:off x="3947061" y="3032760"/>
            <a:ext cx="838179"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tone_z</a:t>
            </a:r>
          </a:p>
        </p:txBody>
      </p:sp>
      <p:sp>
        <p:nvSpPr>
          <p:cNvPr id="27" name="">
            <a:extLst xmlns:a="http://schemas.openxmlformats.org/drawingml/2006/main">
              <a:ext uri="{FF2B5EF4-FFF2-40B4-BE49-F238E27FC236}">
                <a16:creationId xmlns:a16="http://schemas.microsoft.com/office/drawing/2014/main" id="{3F33D567-CB5D-4F7B-B17B-E339300B8190}"/>
              </a:ext>
            </a:extLst>
          </p:cNvPr>
          <p:cNvSpPr>
            <a:spLocks xmlns:a="http://schemas.openxmlformats.org/drawingml/2006/main" noGrp="1"/>
          </p:cNvSpPr>
          <p:nvPr/>
        </p:nvSpPr>
        <p:spPr>
          <a:xfrm xmlns:a="http://schemas.openxmlformats.org/drawingml/2006/main">
            <a:off x="4785240" y="3032760"/>
            <a:ext cx="6568276"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a reader's score (level) or its change since the</a:t>
            </a:r>
          </a:p>
        </p:txBody>
      </p:sp>
      <p:sp>
        <p:nvSpPr>
          <p:cNvPr id="28" name="">
            <a:extLst xmlns:a="http://schemas.openxmlformats.org/drawingml/2006/main">
              <a:ext uri="{FF2B5EF4-FFF2-40B4-BE49-F238E27FC236}">
                <a16:creationId xmlns:a16="http://schemas.microsoft.com/office/drawing/2014/main" id="{C4343093-EB7B-4AC0-A8FC-4A0C7FB8D3DD}"/>
              </a:ext>
            </a:extLst>
          </p:cNvPr>
          <p:cNvSpPr>
            <a:spLocks xmlns:a="http://schemas.openxmlformats.org/drawingml/2006/main" noGrp="1"/>
          </p:cNvSpPr>
          <p:nvPr/>
        </p:nvSpPr>
        <p:spPr>
          <a:xfrm xmlns:a="http://schemas.openxmlformats.org/drawingml/2006/main">
            <a:off x="4785240" y="3322320"/>
            <a:ext cx="6568276"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previous document of the type (shift), standardized</a:t>
            </a:r>
          </a:p>
        </p:txBody>
      </p:sp>
      <p:sp>
        <p:nvSpPr>
          <p:cNvPr id="29" name="">
            <a:extLst xmlns:a="http://schemas.openxmlformats.org/drawingml/2006/main">
              <a:ext uri="{FF2B5EF4-FFF2-40B4-BE49-F238E27FC236}">
                <a16:creationId xmlns:a16="http://schemas.microsoft.com/office/drawing/2014/main" id="{543DD6F3-567E-48F7-9B80-7246D6688680}"/>
              </a:ext>
            </a:extLst>
          </p:cNvPr>
          <p:cNvSpPr>
            <a:spLocks xmlns:a="http://schemas.openxmlformats.org/drawingml/2006/main" noGrp="1"/>
          </p:cNvSpPr>
          <p:nvPr/>
        </p:nvSpPr>
        <p:spPr>
          <a:xfrm xmlns:a="http://schemas.openxmlformats.org/drawingml/2006/main">
            <a:off x="3947061" y="3611880"/>
            <a:ext cx="838179"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groups</a:t>
            </a:r>
          </a:p>
        </p:txBody>
      </p:sp>
      <p:sp>
        <p:nvSpPr>
          <p:cNvPr id="30" name="">
            <a:extLst xmlns:a="http://schemas.openxmlformats.org/drawingml/2006/main">
              <a:ext uri="{FF2B5EF4-FFF2-40B4-BE49-F238E27FC236}">
                <a16:creationId xmlns:a16="http://schemas.microsoft.com/office/drawing/2014/main" id="{2A8B953E-3F15-472B-A648-47DEBD22EDCA}"/>
              </a:ext>
            </a:extLst>
          </p:cNvPr>
          <p:cNvSpPr>
            <a:spLocks xmlns:a="http://schemas.openxmlformats.org/drawingml/2006/main" noGrp="1"/>
          </p:cNvSpPr>
          <p:nvPr/>
        </p:nvSpPr>
        <p:spPr>
          <a:xfrm xmlns:a="http://schemas.openxmlformats.org/drawingml/2006/main">
            <a:off x="4785240" y="3611880"/>
            <a:ext cx="6568276"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statements, minutes, press conferences, speeches</a:t>
            </a:r>
          </a:p>
        </p:txBody>
      </p:sp>
      <p:sp>
        <p:nvSpPr>
          <p:cNvPr id="31" name="">
            <a:extLst xmlns:a="http://schemas.openxmlformats.org/drawingml/2006/main">
              <a:ext uri="{FF2B5EF4-FFF2-40B4-BE49-F238E27FC236}">
                <a16:creationId xmlns:a16="http://schemas.microsoft.com/office/drawing/2014/main" id="{7FCE4F28-2F55-40C1-9FD6-4744BE32A81A}"/>
              </a:ext>
            </a:extLst>
          </p:cNvPr>
          <p:cNvSpPr>
            <a:spLocks xmlns:a="http://schemas.openxmlformats.org/drawingml/2006/main" noGrp="1"/>
          </p:cNvSpPr>
          <p:nvPr/>
        </p:nvSpPr>
        <p:spPr>
          <a:xfrm xmlns:a="http://schemas.openxmlformats.org/drawingml/2006/main">
            <a:off x="4785240" y="3901440"/>
            <a:ext cx="6568276"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(and the Chair's against other members')</a:t>
            </a:r>
          </a:p>
        </p:txBody>
      </p:sp>
      <p:sp>
        <p:nvSpPr>
          <p:cNvPr id="32" name="">
            <a:extLst xmlns:a="http://schemas.openxmlformats.org/drawingml/2006/main">
              <a:ext uri="{FF2B5EF4-FFF2-40B4-BE49-F238E27FC236}">
                <a16:creationId xmlns:a16="http://schemas.microsoft.com/office/drawing/2014/main" id="{B3C8AD38-4662-44B6-B085-993B23575BBF}"/>
              </a:ext>
            </a:extLst>
          </p:cNvPr>
          <p:cNvSpPr>
            <a:spLocks xmlns:a="http://schemas.openxmlformats.org/drawingml/2006/main" noGrp="1"/>
          </p:cNvSpPr>
          <p:nvPr/>
        </p:nvSpPr>
        <p:spPr>
          <a:xfrm xmlns:a="http://schemas.openxmlformats.org/drawingml/2006/main">
            <a:off x="3947061" y="4191000"/>
            <a:ext cx="838179"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y</a:t>
            </a:r>
          </a:p>
        </p:txBody>
      </p:sp>
      <p:sp>
        <p:nvSpPr>
          <p:cNvPr id="33" name="">
            <a:extLst xmlns:a="http://schemas.openxmlformats.org/drawingml/2006/main">
              <a:ext uri="{FF2B5EF4-FFF2-40B4-BE49-F238E27FC236}">
                <a16:creationId xmlns:a16="http://schemas.microsoft.com/office/drawing/2014/main" id="{6A7EFDDA-EBED-4693-83EC-FDF9D0F824A7}"/>
              </a:ext>
            </a:extLst>
          </p:cNvPr>
          <p:cNvSpPr>
            <a:spLocks xmlns:a="http://schemas.openxmlformats.org/drawingml/2006/main" noGrp="1"/>
          </p:cNvSpPr>
          <p:nvPr/>
        </p:nvSpPr>
        <p:spPr>
          <a:xfrm xmlns:a="http://schemas.openxmlformats.org/drawingml/2006/main">
            <a:off x="4785240" y="4191000"/>
            <a:ext cx="6568276"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3m, 2y, 5y, 10y, 30y and 2s10s over the window;</a:t>
            </a:r>
          </a:p>
        </p:txBody>
      </p:sp>
      <p:sp>
        <p:nvSpPr>
          <p:cNvPr id="34" name="">
            <a:extLst xmlns:a="http://schemas.openxmlformats.org/drawingml/2006/main">
              <a:ext uri="{FF2B5EF4-FFF2-40B4-BE49-F238E27FC236}">
                <a16:creationId xmlns:a16="http://schemas.microsoft.com/office/drawing/2014/main" id="{4316A60E-8932-4624-B39B-F5F5EA885E16}"/>
              </a:ext>
            </a:extLst>
          </p:cNvPr>
          <p:cNvSpPr>
            <a:spLocks xmlns:a="http://schemas.openxmlformats.org/drawingml/2006/main" noGrp="1"/>
          </p:cNvSpPr>
          <p:nvPr/>
        </p:nvSpPr>
        <p:spPr>
          <a:xfrm xmlns:a="http://schemas.openxmlformats.org/drawingml/2006/main">
            <a:off x="4785240" y="4480560"/>
            <a:ext cx="6568276"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the day before (placebo); 5 and 20 days after (drift)</a:t>
            </a:r>
          </a:p>
        </p:txBody>
      </p:sp>
      <p:sp>
        <p:nvSpPr>
          <p:cNvPr id="35" name="">
            <a:extLst xmlns:a="http://schemas.openxmlformats.org/drawingml/2006/main">
              <a:ext uri="{FF2B5EF4-FFF2-40B4-BE49-F238E27FC236}">
                <a16:creationId xmlns:a16="http://schemas.microsoft.com/office/drawing/2014/main" id="{A8DF619F-AD32-4C9F-B9EB-18C5C6F1EEE4}"/>
              </a:ext>
            </a:extLst>
          </p:cNvPr>
          <p:cNvSpPr>
            <a:spLocks xmlns:a="http://schemas.openxmlformats.org/drawingml/2006/main" noGrp="1"/>
          </p:cNvSpPr>
          <p:nvPr/>
        </p:nvSpPr>
        <p:spPr>
          <a:xfrm xmlns:a="http://schemas.openxmlformats.org/drawingml/2006/main">
            <a:off x="3947061" y="4770120"/>
            <a:ext cx="838179"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controls</a:t>
            </a:r>
          </a:p>
        </p:txBody>
      </p:sp>
      <p:sp>
        <p:nvSpPr>
          <p:cNvPr id="36" name="">
            <a:extLst xmlns:a="http://schemas.openxmlformats.org/drawingml/2006/main">
              <a:ext uri="{FF2B5EF4-FFF2-40B4-BE49-F238E27FC236}">
                <a16:creationId xmlns:a16="http://schemas.microsoft.com/office/drawing/2014/main" id="{8CB50D88-D0E0-4153-8D29-1B47982F7847}"/>
              </a:ext>
            </a:extLst>
          </p:cNvPr>
          <p:cNvSpPr>
            <a:spLocks xmlns:a="http://schemas.openxmlformats.org/drawingml/2006/main" noGrp="1"/>
          </p:cNvSpPr>
          <p:nvPr/>
        </p:nvSpPr>
        <p:spPr>
          <a:xfrm xmlns:a="http://schemas.openxmlformats.org/drawingml/2006/main">
            <a:off x="4785240" y="4770120"/>
            <a:ext cx="6568276"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3-month bill (the surprise), the announced move,</a:t>
            </a:r>
          </a:p>
        </p:txBody>
      </p:sp>
      <p:sp>
        <p:nvSpPr>
          <p:cNvPr id="37" name="">
            <a:extLst xmlns:a="http://schemas.openxmlformats.org/drawingml/2006/main">
              <a:ext uri="{FF2B5EF4-FFF2-40B4-BE49-F238E27FC236}">
                <a16:creationId xmlns:a16="http://schemas.microsoft.com/office/drawing/2014/main" id="{93ECC510-C5D3-491F-9377-762E9C051014}"/>
              </a:ext>
            </a:extLst>
          </p:cNvPr>
          <p:cNvSpPr>
            <a:spLocks xmlns:a="http://schemas.openxmlformats.org/drawingml/2006/main" noGrp="1"/>
          </p:cNvSpPr>
          <p:nvPr/>
        </p:nvSpPr>
        <p:spPr>
          <a:xfrm xmlns:a="http://schemas.openxmlformats.org/drawingml/2006/main">
            <a:off x="4785240" y="5059680"/>
            <a:ext cx="6568276"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TF-IDF tone of the same document; split samples</a:t>
            </a:r>
          </a:p>
        </p:txBody>
      </p:sp>
      <p:sp>
        <p:nvSpPr>
          <p:cNvPr id="38" name="">
            <a:extLst xmlns:a="http://schemas.openxmlformats.org/drawingml/2006/main">
              <a:ext uri="{FF2B5EF4-FFF2-40B4-BE49-F238E27FC236}">
                <a16:creationId xmlns:a16="http://schemas.microsoft.com/office/drawing/2014/main" id="{2E2CD411-DAB8-4272-98A9-3B469B1D838F}"/>
              </a:ext>
            </a:extLst>
          </p:cNvPr>
          <p:cNvSpPr>
            <a:spLocks xmlns:a="http://schemas.openxmlformats.org/drawingml/2006/main" noGrp="1"/>
          </p:cNvSpPr>
          <p:nvPr/>
        </p:nvSpPr>
        <p:spPr>
          <a:xfrm xmlns:a="http://schemas.openxmlformats.org/drawingml/2006/main">
            <a:off x="3947061" y="5349240"/>
            <a:ext cx="838179"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family</a:t>
            </a:r>
          </a:p>
        </p:txBody>
      </p:sp>
      <p:sp>
        <p:nvSpPr>
          <p:cNvPr id="39" name="">
            <a:extLst xmlns:a="http://schemas.openxmlformats.org/drawingml/2006/main">
              <a:ext uri="{FF2B5EF4-FFF2-40B4-BE49-F238E27FC236}">
                <a16:creationId xmlns:a16="http://schemas.microsoft.com/office/drawing/2014/main" id="{774AC7DF-266F-483A-BB10-A838904BA6F0}"/>
              </a:ext>
            </a:extLst>
          </p:cNvPr>
          <p:cNvSpPr>
            <a:spLocks xmlns:a="http://schemas.openxmlformats.org/drawingml/2006/main" noGrp="1"/>
          </p:cNvSpPr>
          <p:nvPr/>
        </p:nvSpPr>
        <p:spPr>
          <a:xfrm xmlns:a="http://schemas.openxmlformats.org/drawingml/2006/main">
            <a:off x="4785240" y="5349240"/>
            <a:ext cx="6568276"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Benjamini-Hochberg q over the 198 main tests</a:t>
            </a:r>
          </a:p>
        </p:txBody>
      </p:sp>
    </p:spTree>
    <p:extLst>
      <p:ext uri="{BB962C8B-B14F-4D97-AF65-F5344CB8AC3E}">
        <p14:creationId xmlns:p14="http://schemas.microsoft.com/office/powerpoint/2010/main" val="1137271314"/>
      </p:ext>
    </p:extLst>
  </p:cSld>
</p:sld>
</file>

<file path=ppt/slides/slide25.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C9E970C-C6E4-4F7A-A85A-848E38AE7E64}"/>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B513170D-EF17-45FC-9BD5-31AF47FBFB6E}"/>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INDEX, YIELDS AND DURATION</a:t>
            </a:r>
          </a:p>
        </p:txBody>
      </p:sp>
      <p:sp>
        <p:nvSpPr>
          <p:cNvPr id="3" name="">
            <a:extLst xmlns:a="http://schemas.openxmlformats.org/drawingml/2006/main">
              <a:ext uri="{FF2B5EF4-FFF2-40B4-BE49-F238E27FC236}">
                <a16:creationId xmlns:a16="http://schemas.microsoft.com/office/drawing/2014/main" id="{08F827FF-86E9-4888-B105-CA3DABDD68CE}"/>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25 / 46</a:t>
            </a:r>
          </a:p>
        </p:txBody>
      </p:sp>
      <p:sp>
        <p:nvSpPr>
          <p:cNvPr id="4" name="">
            <a:extLst xmlns:a="http://schemas.openxmlformats.org/drawingml/2006/main">
              <a:ext uri="{FF2B5EF4-FFF2-40B4-BE49-F238E27FC236}">
                <a16:creationId xmlns:a16="http://schemas.microsoft.com/office/drawing/2014/main" id="{AC5422EF-DDDA-4D17-8035-872CF2D4AF22}"/>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0ECEE60-A33A-4D5F-AE0C-E95093FC588E}"/>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Tone and 2-year release-window yield changes</a:t>
            </a:r>
          </a:p>
        </p:txBody>
      </p:sp>
      <p:sp>
        <p:nvSpPr>
          <p:cNvPr id="6" name="">
            <a:extLst xmlns:a="http://schemas.openxmlformats.org/drawingml/2006/main">
              <a:ext uri="{FF2B5EF4-FFF2-40B4-BE49-F238E27FC236}">
                <a16:creationId xmlns:a16="http://schemas.microsoft.com/office/drawing/2014/main" id="{29902231-E85A-42C0-A333-662FA5C764F9}"/>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Press conferences: change in the level score between releases</a:t>
            </a:r>
          </a:p>
        </p:txBody>
      </p:sp>
      <p:sp>
        <p:nvSpPr>
          <p:cNvPr id="7" name="">
            <a:extLst xmlns:a="http://schemas.openxmlformats.org/drawingml/2006/main">
              <a:ext uri="{FF2B5EF4-FFF2-40B4-BE49-F238E27FC236}">
                <a16:creationId xmlns:a16="http://schemas.microsoft.com/office/drawing/2014/main" id="{89B90D2B-6524-41D8-B8F9-82F1ADA51B6A}"/>
              </a:ext>
            </a:extLst>
          </p:cNvPr>
          <p:cNvSpPr>
            <a:spLocks xmlns:a="http://schemas.openxmlformats.org/drawingml/2006/main" noGrp="1"/>
          </p:cNvSpPr>
          <p:nvPr/>
        </p:nvSpPr>
        <p:spPr>
          <a:xfrm xmlns:a="http://schemas.openxmlformats.org/drawingml/2006/main">
            <a:off x="609585" y="5928360"/>
            <a:ext cx="22859" cy="28956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35033DD-D4D7-45B9-AB3B-058B2702A362}"/>
              </a:ext>
            </a:extLst>
          </p:cNvPr>
          <p:cNvSpPr>
            <a:spLocks xmlns:a="http://schemas.openxmlformats.org/drawingml/2006/main" noGrp="1"/>
          </p:cNvSpPr>
          <p:nvPr/>
        </p:nvSpPr>
        <p:spPr>
          <a:xfrm xmlns:a="http://schemas.openxmlformats.org/drawingml/2006/main">
            <a:off x="769601" y="5920740"/>
            <a:ext cx="1066773"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00" b="1">
                <a:solidFill>
                  <a:srgbClr val="151312"/>
                </a:solidFill>
                <a:latin typeface="Arial"/>
                <a:ea typeface="Arial"/>
                <a:cs typeface="Arial"/>
              </a:defRPr>
            </a:defPPr>
            <a:lvl1pPr algn="l">
              <a:defRPr sz="900" b="1">
                <a:solidFill>
                  <a:srgbClr val="151312"/>
                </a:solidFill>
                <a:latin typeface="Arial"/>
                <a:ea typeface="Arial"/>
                <a:cs typeface="Arial"/>
              </a:defRPr>
            </a:lvl1pPr>
            <a:lvl2pPr algn="l">
              <a:defRPr sz="900" b="1">
                <a:solidFill>
                  <a:srgbClr val="151312"/>
                </a:solidFill>
                <a:latin typeface="Arial"/>
                <a:ea typeface="Arial"/>
                <a:cs typeface="Arial"/>
              </a:defRPr>
            </a:lvl2pPr>
            <a:lvl3pPr algn="l">
              <a:defRPr sz="900" b="1">
                <a:solidFill>
                  <a:srgbClr val="151312"/>
                </a:solidFill>
                <a:latin typeface="Arial"/>
                <a:ea typeface="Arial"/>
                <a:cs typeface="Arial"/>
              </a:defRPr>
            </a:lvl3pPr>
            <a:lvl4pPr algn="l">
              <a:defRPr sz="900" b="1">
                <a:solidFill>
                  <a:srgbClr val="151312"/>
                </a:solidFill>
                <a:latin typeface="Arial"/>
                <a:ea typeface="Arial"/>
                <a:cs typeface="Arial"/>
              </a:defRPr>
            </a:lvl4pPr>
            <a:lvl5pPr algn="l">
              <a:defRPr sz="900" b="1">
                <a:solidFill>
                  <a:srgbClr val="151312"/>
                </a:solidFill>
                <a:latin typeface="Arial"/>
                <a:ea typeface="Arial"/>
                <a:cs typeface="Arial"/>
              </a:defRPr>
            </a:lvl5pPr>
            <a:lvl6pPr algn="l">
              <a:defRPr sz="900" b="1">
                <a:solidFill>
                  <a:srgbClr val="151312"/>
                </a:solidFill>
                <a:latin typeface="Arial"/>
                <a:ea typeface="Arial"/>
                <a:cs typeface="Arial"/>
              </a:defRPr>
            </a:lvl6pPr>
            <a:lvl7pPr algn="l">
              <a:defRPr sz="900" b="1">
                <a:solidFill>
                  <a:srgbClr val="151312"/>
                </a:solidFill>
                <a:latin typeface="Arial"/>
                <a:ea typeface="Arial"/>
                <a:cs typeface="Arial"/>
              </a:defRPr>
            </a:lvl7pPr>
            <a:lvl8pPr algn="l">
              <a:defRPr sz="900" b="1">
                <a:solidFill>
                  <a:srgbClr val="151312"/>
                </a:solidFill>
                <a:latin typeface="Arial"/>
                <a:ea typeface="Arial"/>
                <a:cs typeface="Arial"/>
              </a:defRPr>
            </a:lvl8pPr>
            <a:lvl9pPr algn="l">
              <a:defRPr sz="900" b="1">
                <a:solidFill>
                  <a:srgbClr val="151312"/>
                </a:solidFill>
                <a:latin typeface="Arial"/>
                <a:ea typeface="Arial"/>
                <a:cs typeface="Arial"/>
              </a:defRPr>
            </a:lvl9pPr>
          </a:lstStyle>
          <a:p xmlns:a="http://schemas.openxmlformats.org/drawingml/2006/main">
            <a:pPr algn="l">
              <a:defRPr sz="900" b="1">
                <a:solidFill>
                  <a:srgbClr val="151312"/>
                </a:solidFill>
                <a:latin typeface="Arial"/>
                <a:ea typeface="Arial"/>
                <a:cs typeface="Arial"/>
              </a:defRPr>
            </a:pPr>
            <a:r>
              <a:rPr sz="900" b="1">
                <a:solidFill>
                  <a:srgbClr val="151312"/>
                </a:solidFill>
                <a:latin typeface="Arial"/>
                <a:ea typeface="Arial"/>
                <a:cs typeface="Arial"/>
              </a:rPr>
              <a:t>For the desk</a:t>
            </a:r>
          </a:p>
        </p:txBody>
      </p:sp>
      <p:sp>
        <p:nvSpPr>
          <p:cNvPr id="9" name="">
            <a:extLst xmlns:a="http://schemas.openxmlformats.org/drawingml/2006/main">
              <a:ext uri="{FF2B5EF4-FFF2-40B4-BE49-F238E27FC236}">
                <a16:creationId xmlns:a16="http://schemas.microsoft.com/office/drawing/2014/main" id="{15D6FEE4-30D6-4164-86CC-65712F756027}"/>
              </a:ext>
            </a:extLst>
          </p:cNvPr>
          <p:cNvSpPr>
            <a:spLocks xmlns:a="http://schemas.openxmlformats.org/drawingml/2006/main" noGrp="1"/>
          </p:cNvSpPr>
          <p:nvPr/>
        </p:nvSpPr>
        <p:spPr>
          <a:xfrm xmlns:a="http://schemas.openxmlformats.org/drawingml/2006/main">
            <a:off x="1950671" y="5913120"/>
            <a:ext cx="9631439"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0">
                <a:solidFill>
                  <a:srgbClr val="45413C"/>
                </a:solidFill>
                <a:latin typeface="Arial"/>
                <a:ea typeface="Arial"/>
                <a:cs typeface="Arial"/>
              </a:defRPr>
            </a:defPPr>
            <a:lvl1pPr algn="l">
              <a:defRPr sz="1260" b="0">
                <a:solidFill>
                  <a:srgbClr val="45413C"/>
                </a:solidFill>
                <a:latin typeface="Arial"/>
                <a:ea typeface="Arial"/>
                <a:cs typeface="Arial"/>
              </a:defRPr>
            </a:lvl1pPr>
            <a:lvl2pPr algn="l">
              <a:defRPr sz="1260" b="0">
                <a:solidFill>
                  <a:srgbClr val="45413C"/>
                </a:solidFill>
                <a:latin typeface="Arial"/>
                <a:ea typeface="Arial"/>
                <a:cs typeface="Arial"/>
              </a:defRPr>
            </a:lvl2pPr>
            <a:lvl3pPr algn="l">
              <a:defRPr sz="1260" b="0">
                <a:solidFill>
                  <a:srgbClr val="45413C"/>
                </a:solidFill>
                <a:latin typeface="Arial"/>
                <a:ea typeface="Arial"/>
                <a:cs typeface="Arial"/>
              </a:defRPr>
            </a:lvl3pPr>
            <a:lvl4pPr algn="l">
              <a:defRPr sz="1260" b="0">
                <a:solidFill>
                  <a:srgbClr val="45413C"/>
                </a:solidFill>
                <a:latin typeface="Arial"/>
                <a:ea typeface="Arial"/>
                <a:cs typeface="Arial"/>
              </a:defRPr>
            </a:lvl4pPr>
            <a:lvl5pPr algn="l">
              <a:defRPr sz="1260" b="0">
                <a:solidFill>
                  <a:srgbClr val="45413C"/>
                </a:solidFill>
                <a:latin typeface="Arial"/>
                <a:ea typeface="Arial"/>
                <a:cs typeface="Arial"/>
              </a:defRPr>
            </a:lvl5pPr>
            <a:lvl6pPr algn="l">
              <a:defRPr sz="1260" b="0">
                <a:solidFill>
                  <a:srgbClr val="45413C"/>
                </a:solidFill>
                <a:latin typeface="Arial"/>
                <a:ea typeface="Arial"/>
                <a:cs typeface="Arial"/>
              </a:defRPr>
            </a:lvl6pPr>
            <a:lvl7pPr algn="l">
              <a:defRPr sz="1260" b="0">
                <a:solidFill>
                  <a:srgbClr val="45413C"/>
                </a:solidFill>
                <a:latin typeface="Arial"/>
                <a:ea typeface="Arial"/>
                <a:cs typeface="Arial"/>
              </a:defRPr>
            </a:lvl7pPr>
            <a:lvl8pPr algn="l">
              <a:defRPr sz="1260" b="0">
                <a:solidFill>
                  <a:srgbClr val="45413C"/>
                </a:solidFill>
                <a:latin typeface="Arial"/>
                <a:ea typeface="Arial"/>
                <a:cs typeface="Arial"/>
              </a:defRPr>
            </a:lvl8pPr>
            <a:lvl9pPr algn="l">
              <a:defRPr sz="1260" b="0">
                <a:solidFill>
                  <a:srgbClr val="45413C"/>
                </a:solidFill>
                <a:latin typeface="Arial"/>
                <a:ea typeface="Arial"/>
                <a:cs typeface="Arial"/>
              </a:defRPr>
            </a:lvl9pPr>
          </a:lstStyle>
          <a:p xmlns:a="http://schemas.openxmlformats.org/drawingml/2006/main">
            <a:pPr algn="l">
              <a:defRPr sz="1260" b="0">
                <a:solidFill>
                  <a:srgbClr val="45413C"/>
                </a:solidFill>
                <a:latin typeface="Arial"/>
                <a:ea typeface="Arial"/>
                <a:cs typeface="Arial"/>
              </a:defRPr>
            </a:pPr>
            <a:r>
              <a:rPr sz="1260" b="0">
                <a:solidFill>
                  <a:srgbClr val="45413C"/>
                </a:solidFill>
                <a:latin typeface="Arial"/>
                <a:ea typeface="Arial"/>
                <a:cs typeface="Arial"/>
              </a:rPr>
              <a:t>No detectable five-day drift (t = 0.37); this does not establish full pricing.</a:t>
            </a:r>
          </a:p>
        </p:txBody>
      </p:sp>
      <p:sp>
        <p:nvSpPr>
          <p:cNvPr id="10" name="">
            <a:extLst xmlns:a="http://schemas.openxmlformats.org/drawingml/2006/main">
              <a:ext uri="{FF2B5EF4-FFF2-40B4-BE49-F238E27FC236}">
                <a16:creationId xmlns:a16="http://schemas.microsoft.com/office/drawing/2014/main" id="{EFA9FD6A-D0AB-4694-BC4B-C9F12044EF5C}"/>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712FD61-8211-4700-B363-3717D9F10404}"/>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Treasury par yields; 94 release windows; evaluate/event_study.py.</a:t>
            </a:r>
          </a:p>
        </p:txBody>
      </p:sp>
      <p:sp>
        <p:nvSpPr>
          <p:cNvPr id="12" name="">
            <a:extLst xmlns:a="http://schemas.openxmlformats.org/drawingml/2006/main">
              <a:ext uri="{FF2B5EF4-FFF2-40B4-BE49-F238E27FC236}">
                <a16:creationId xmlns:a16="http://schemas.microsoft.com/office/drawing/2014/main" id="{F928BCA4-44FB-4500-80B5-B535ADCD7E99}"/>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4482803-B801-4293-BA78-FF8B3346852C}"/>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3916141-976C-4829-A5CA-8AA28A08B04C}"/>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B1E2FBE-EFF2-4476-8473-558721E21BEE}"/>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5B2CB84-AAF6-44BF-AA93-62DB22804952}"/>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7A53103-4213-4A07-8943-895831A482E8}"/>
              </a:ext>
            </a:extLst>
          </p:cNvPr>
          <p:cNvSpPr>
            <a:spLocks xmlns:a="http://schemas.openxmlformats.org/drawingml/2006/main" noGrp="1"/>
          </p:cNvSpPr>
          <p:nvPr/>
        </p:nvSpPr>
        <p:spPr>
          <a:xfrm xmlns:a="http://schemas.openxmlformats.org/drawingml/2006/main">
            <a:off x="609585" y="1965960"/>
            <a:ext cx="2743131"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4560" b="1">
                <a:solidFill>
                  <a:srgbClr val="151312"/>
                </a:solidFill>
                <a:latin typeface="Arial"/>
                <a:ea typeface="Arial"/>
                <a:cs typeface="Arial"/>
              </a:defRPr>
            </a:defPPr>
            <a:lvl1pPr algn="l">
              <a:defRPr sz="4560" b="1">
                <a:solidFill>
                  <a:srgbClr val="151312"/>
                </a:solidFill>
                <a:latin typeface="Arial"/>
                <a:ea typeface="Arial"/>
                <a:cs typeface="Arial"/>
              </a:defRPr>
            </a:lvl1pPr>
            <a:lvl2pPr algn="l">
              <a:defRPr sz="4560" b="1">
                <a:solidFill>
                  <a:srgbClr val="151312"/>
                </a:solidFill>
                <a:latin typeface="Arial"/>
                <a:ea typeface="Arial"/>
                <a:cs typeface="Arial"/>
              </a:defRPr>
            </a:lvl2pPr>
            <a:lvl3pPr algn="l">
              <a:defRPr sz="4560" b="1">
                <a:solidFill>
                  <a:srgbClr val="151312"/>
                </a:solidFill>
                <a:latin typeface="Arial"/>
                <a:ea typeface="Arial"/>
                <a:cs typeface="Arial"/>
              </a:defRPr>
            </a:lvl3pPr>
            <a:lvl4pPr algn="l">
              <a:defRPr sz="4560" b="1">
                <a:solidFill>
                  <a:srgbClr val="151312"/>
                </a:solidFill>
                <a:latin typeface="Arial"/>
                <a:ea typeface="Arial"/>
                <a:cs typeface="Arial"/>
              </a:defRPr>
            </a:lvl4pPr>
            <a:lvl5pPr algn="l">
              <a:defRPr sz="4560" b="1">
                <a:solidFill>
                  <a:srgbClr val="151312"/>
                </a:solidFill>
                <a:latin typeface="Arial"/>
                <a:ea typeface="Arial"/>
                <a:cs typeface="Arial"/>
              </a:defRPr>
            </a:lvl5pPr>
            <a:lvl6pPr algn="l">
              <a:defRPr sz="4560" b="1">
                <a:solidFill>
                  <a:srgbClr val="151312"/>
                </a:solidFill>
                <a:latin typeface="Arial"/>
                <a:ea typeface="Arial"/>
                <a:cs typeface="Arial"/>
              </a:defRPr>
            </a:lvl6pPr>
            <a:lvl7pPr algn="l">
              <a:defRPr sz="4560" b="1">
                <a:solidFill>
                  <a:srgbClr val="151312"/>
                </a:solidFill>
                <a:latin typeface="Arial"/>
                <a:ea typeface="Arial"/>
                <a:cs typeface="Arial"/>
              </a:defRPr>
            </a:lvl7pPr>
            <a:lvl8pPr algn="l">
              <a:defRPr sz="4560" b="1">
                <a:solidFill>
                  <a:srgbClr val="151312"/>
                </a:solidFill>
                <a:latin typeface="Arial"/>
                <a:ea typeface="Arial"/>
                <a:cs typeface="Arial"/>
              </a:defRPr>
            </a:lvl8pPr>
            <a:lvl9pPr algn="l">
              <a:defRPr sz="4560" b="1">
                <a:solidFill>
                  <a:srgbClr val="151312"/>
                </a:solidFill>
                <a:latin typeface="Arial"/>
                <a:ea typeface="Arial"/>
                <a:cs typeface="Arial"/>
              </a:defRPr>
            </a:lvl9pPr>
          </a:lstStyle>
          <a:p xmlns:a="http://schemas.openxmlformats.org/drawingml/2006/main">
            <a:pPr algn="l">
              <a:defRPr sz="4560" b="1">
                <a:solidFill>
                  <a:srgbClr val="151312"/>
                </a:solidFill>
                <a:latin typeface="Arial"/>
                <a:ea typeface="Arial"/>
                <a:cs typeface="Arial"/>
              </a:defRPr>
            </a:pPr>
            <a:r>
              <a:rPr sz="4560" b="1">
                <a:solidFill>
                  <a:srgbClr val="151312"/>
                </a:solidFill>
                <a:latin typeface="Arial"/>
                <a:ea typeface="Arial"/>
                <a:cs typeface="Arial"/>
              </a:rPr>
              <a:t>+3.9 bp</a:t>
            </a:r>
          </a:p>
        </p:txBody>
      </p:sp>
      <p:sp>
        <p:nvSpPr>
          <p:cNvPr id="18" name="">
            <a:extLst xmlns:a="http://schemas.openxmlformats.org/drawingml/2006/main">
              <a:ext uri="{FF2B5EF4-FFF2-40B4-BE49-F238E27FC236}">
                <a16:creationId xmlns:a16="http://schemas.microsoft.com/office/drawing/2014/main" id="{D2EBDDA3-EE88-4529-A244-3349F5BFD5BE}"/>
              </a:ext>
            </a:extLst>
          </p:cNvPr>
          <p:cNvSpPr>
            <a:spLocks xmlns:a="http://schemas.openxmlformats.org/drawingml/2006/main" noGrp="1"/>
          </p:cNvSpPr>
          <p:nvPr/>
        </p:nvSpPr>
        <p:spPr>
          <a:xfrm xmlns:a="http://schemas.openxmlformats.org/drawingml/2006/main">
            <a:off x="609585" y="2781300"/>
            <a:ext cx="2743131"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Associated 2-year move per SD of score change (t = 3.90, q = 0.007; Claude Opus 5.5)</a:t>
            </a:r>
          </a:p>
        </p:txBody>
      </p:sp>
      <p:sp>
        <p:nvSpPr>
          <p:cNvPr id="19" name="">
            <a:extLst xmlns:a="http://schemas.openxmlformats.org/drawingml/2006/main">
              <a:ext uri="{FF2B5EF4-FFF2-40B4-BE49-F238E27FC236}">
                <a16:creationId xmlns:a16="http://schemas.microsoft.com/office/drawing/2014/main" id="{5077E623-38CA-413C-84D6-B801396B6E1A}"/>
              </a:ext>
            </a:extLst>
          </p:cNvPr>
          <p:cNvSpPr>
            <a:spLocks xmlns:a="http://schemas.openxmlformats.org/drawingml/2006/main" noGrp="1"/>
          </p:cNvSpPr>
          <p:nvPr/>
        </p:nvSpPr>
        <p:spPr>
          <a:xfrm xmlns:a="http://schemas.openxmlformats.org/drawingml/2006/main">
            <a:off x="609585" y="364236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5783DD2-DA08-4B76-B7B2-B1857FC1FFC2}"/>
              </a:ext>
            </a:extLst>
          </p:cNvPr>
          <p:cNvSpPr>
            <a:spLocks xmlns:a="http://schemas.openxmlformats.org/drawingml/2006/main" noGrp="1"/>
          </p:cNvSpPr>
          <p:nvPr/>
        </p:nvSpPr>
        <p:spPr>
          <a:xfrm xmlns:a="http://schemas.openxmlformats.org/drawingml/2006/main">
            <a:off x="609585" y="3718560"/>
            <a:ext cx="2743131" cy="566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Day before: t = 1.71 (placebo)</a:t>
            </a:r>
          </a:p>
        </p:txBody>
      </p:sp>
      <p:sp>
        <p:nvSpPr>
          <p:cNvPr id="21" name="">
            <a:extLst xmlns:a="http://schemas.openxmlformats.org/drawingml/2006/main">
              <a:ext uri="{FF2B5EF4-FFF2-40B4-BE49-F238E27FC236}">
                <a16:creationId xmlns:a16="http://schemas.microsoft.com/office/drawing/2014/main" id="{10C02DEA-9DDC-440B-A275-5C005C4C202A}"/>
              </a:ext>
            </a:extLst>
          </p:cNvPr>
          <p:cNvSpPr>
            <a:spLocks xmlns:a="http://schemas.openxmlformats.org/drawingml/2006/main" noGrp="1"/>
          </p:cNvSpPr>
          <p:nvPr/>
        </p:nvSpPr>
        <p:spPr>
          <a:xfrm xmlns:a="http://schemas.openxmlformats.org/drawingml/2006/main">
            <a:off x="609585" y="433832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F8B4414-A430-4C7E-A391-803705AE1FE1}"/>
              </a:ext>
            </a:extLst>
          </p:cNvPr>
          <p:cNvSpPr>
            <a:spLocks xmlns:a="http://schemas.openxmlformats.org/drawingml/2006/main" noGrp="1"/>
          </p:cNvSpPr>
          <p:nvPr/>
        </p:nvSpPr>
        <p:spPr>
          <a:xfrm xmlns:a="http://schemas.openxmlformats.org/drawingml/2006/main">
            <a:off x="609585" y="4414520"/>
            <a:ext cx="2743131" cy="566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3-month bill as a surprise control: t = 3.20</a:t>
            </a:r>
          </a:p>
        </p:txBody>
      </p:sp>
      <p:sp>
        <p:nvSpPr>
          <p:cNvPr id="23" name="">
            <a:extLst xmlns:a="http://schemas.openxmlformats.org/drawingml/2006/main">
              <a:ext uri="{FF2B5EF4-FFF2-40B4-BE49-F238E27FC236}">
                <a16:creationId xmlns:a16="http://schemas.microsoft.com/office/drawing/2014/main" id="{75D338A1-E5EC-4CC9-A21E-1462BBA01D34}"/>
              </a:ext>
            </a:extLst>
          </p:cNvPr>
          <p:cNvSpPr>
            <a:spLocks xmlns:a="http://schemas.openxmlformats.org/drawingml/2006/main" noGrp="1"/>
          </p:cNvSpPr>
          <p:nvPr/>
        </p:nvSpPr>
        <p:spPr>
          <a:xfrm xmlns:a="http://schemas.openxmlformats.org/drawingml/2006/main">
            <a:off x="609585" y="503428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3CFAAA1-D27E-49F2-BDC8-622C3D9F0077}"/>
              </a:ext>
            </a:extLst>
          </p:cNvPr>
          <p:cNvSpPr>
            <a:spLocks xmlns:a="http://schemas.openxmlformats.org/drawingml/2006/main" noGrp="1"/>
          </p:cNvSpPr>
          <p:nvPr/>
        </p:nvSpPr>
        <p:spPr>
          <a:xfrm xmlns:a="http://schemas.openxmlformats.org/drawingml/2006/main">
            <a:off x="609585" y="5110480"/>
            <a:ext cx="2743131" cy="566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TF-IDF tone as a control: t = 3.57</a:t>
            </a:r>
          </a:p>
        </p:txBody>
      </p:sp>
      <p:pic>
        <p:nvPicPr>
          <p:cNvPr id="25" name="">
            <a:extLst xmlns:a="http://schemas.openxmlformats.org/drawingml/2006/main">
              <a:ext uri="{FF2B5EF4-FFF2-40B4-BE49-F238E27FC236}">
                <a16:creationId xmlns:a16="http://schemas.microsoft.com/office/drawing/2014/main" id="{DE25BAAC-424E-4DFE-98AD-999E80DEDE85}"/>
              </a:ext>
            </a:extLst>
          </p:cNvPr>
          <p:cNvPicPr>
            <a:picLocks xmlns:a="http://schemas.openxmlformats.org/drawingml/2006/main" noChangeAspect="1"/>
          </p:cNvPicPr>
          <p:nvPr/>
        </p:nvPicPr>
        <p:blipFill>
          <a:blip xmlns:r="http://schemas.openxmlformats.org/officeDocument/2006/relationships" xmlns:a="http://schemas.openxmlformats.org/drawingml/2006/main" r:embed="Reb9635e1452a4cc2"/>
          <a:stretch xmlns:a="http://schemas.openxmlformats.org/drawingml/2006/main"/>
        </p:blipFill>
        <p:spPr>
          <a:xfrm xmlns:a="http://schemas.openxmlformats.org/drawingml/2006/main">
            <a:off x="3718467" y="1920288"/>
            <a:ext cx="7863643" cy="3809905"/>
          </a:xfrm>
          <a:prstGeom xmlns:a="http://schemas.openxmlformats.org/drawingml/2006/main" prst="rect">
            <a:avLst/>
          </a:prstGeom>
        </p:spPr>
      </p:pic>
    </p:spTree>
    <p:extLst>
      <p:ext uri="{BB962C8B-B14F-4D97-AF65-F5344CB8AC3E}">
        <p14:creationId xmlns:p14="http://schemas.microsoft.com/office/powerpoint/2010/main" val="797130328"/>
      </p:ext>
    </p:extLst>
  </p:cSld>
</p:sld>
</file>

<file path=ppt/slides/slide26.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4AF645D-8E0A-4430-B9EE-A40700CEFA5F}"/>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E08A80FD-0BF6-4A5B-818E-189CC68A8C67}"/>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INDEX, YIELDS AND DURATION</a:t>
            </a:r>
          </a:p>
        </p:txBody>
      </p:sp>
      <p:sp>
        <p:nvSpPr>
          <p:cNvPr id="3" name="">
            <a:extLst xmlns:a="http://schemas.openxmlformats.org/drawingml/2006/main">
              <a:ext uri="{FF2B5EF4-FFF2-40B4-BE49-F238E27FC236}">
                <a16:creationId xmlns:a16="http://schemas.microsoft.com/office/drawing/2014/main" id="{9AADCA75-0F1D-4432-9F21-1EBB961E3193}"/>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26 / 46</a:t>
            </a:r>
          </a:p>
        </p:txBody>
      </p:sp>
      <p:sp>
        <p:nvSpPr>
          <p:cNvPr id="4" name="">
            <a:extLst xmlns:a="http://schemas.openxmlformats.org/drawingml/2006/main">
              <a:ext uri="{FF2B5EF4-FFF2-40B4-BE49-F238E27FC236}">
                <a16:creationId xmlns:a16="http://schemas.microsoft.com/office/drawing/2014/main" id="{0434FB9E-C715-4A28-B6C1-513B730AC943}"/>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F6EC8BD-57E8-4C98-AEA1-A65EA18B9441}"/>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Statement tone shifts across the curve</a:t>
            </a:r>
          </a:p>
        </p:txBody>
      </p:sp>
      <p:sp>
        <p:nvSpPr>
          <p:cNvPr id="6" name="">
            <a:extLst xmlns:a="http://schemas.openxmlformats.org/drawingml/2006/main">
              <a:ext uri="{FF2B5EF4-FFF2-40B4-BE49-F238E27FC236}">
                <a16:creationId xmlns:a16="http://schemas.microsoft.com/office/drawing/2014/main" id="{A389AF7A-8AD9-4C03-9C84-D4BB27E9FD63}"/>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Level-score changes between policy decisions; statement and conference windows overlap</a:t>
            </a:r>
          </a:p>
        </p:txBody>
      </p:sp>
      <p:sp>
        <p:nvSpPr>
          <p:cNvPr id="7" name="">
            <a:extLst xmlns:a="http://schemas.openxmlformats.org/drawingml/2006/main">
              <a:ext uri="{FF2B5EF4-FFF2-40B4-BE49-F238E27FC236}">
                <a16:creationId xmlns:a16="http://schemas.microsoft.com/office/drawing/2014/main" id="{BEA65075-EB12-487F-8803-0C95BEE02206}"/>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4FC3FF8-EA10-46E7-B6CB-DAACCC5EDFA6}"/>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FOMC statements and Treasury par yields; evaluate/event_study.py.</a:t>
            </a:r>
          </a:p>
        </p:txBody>
      </p:sp>
      <p:sp>
        <p:nvSpPr>
          <p:cNvPr id="9" name="">
            <a:extLst xmlns:a="http://schemas.openxmlformats.org/drawingml/2006/main">
              <a:ext uri="{FF2B5EF4-FFF2-40B4-BE49-F238E27FC236}">
                <a16:creationId xmlns:a16="http://schemas.microsoft.com/office/drawing/2014/main" id="{D106483C-86DE-411C-B8C2-3D5CECA08BC7}"/>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1EEC983-E301-4805-A7DC-15F4ABDAB0C8}"/>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6615474-B8A8-4A4B-83BB-DCCEF7C81811}"/>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9F2827E-0A5D-4A6A-8BA8-5CA68F20C2F9}"/>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8FD3B7A-071B-4A89-9769-C846EB4A2584}"/>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83D9EF3-9083-4D24-A205-EE0127F1CC8D}"/>
              </a:ext>
            </a:extLst>
          </p:cNvPr>
          <p:cNvSpPr>
            <a:spLocks xmlns:a="http://schemas.openxmlformats.org/drawingml/2006/main" noGrp="1"/>
          </p:cNvSpPr>
          <p:nvPr/>
        </p:nvSpPr>
        <p:spPr>
          <a:xfrm xmlns:a="http://schemas.openxmlformats.org/drawingml/2006/main">
            <a:off x="8838979" y="1965960"/>
            <a:ext cx="2743131"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4560" b="1">
                <a:solidFill>
                  <a:srgbClr val="151312"/>
                </a:solidFill>
                <a:latin typeface="Arial"/>
                <a:ea typeface="Arial"/>
                <a:cs typeface="Arial"/>
              </a:defRPr>
            </a:defPPr>
            <a:lvl1pPr algn="l">
              <a:defRPr sz="4560" b="1">
                <a:solidFill>
                  <a:srgbClr val="151312"/>
                </a:solidFill>
                <a:latin typeface="Arial"/>
                <a:ea typeface="Arial"/>
                <a:cs typeface="Arial"/>
              </a:defRPr>
            </a:lvl1pPr>
            <a:lvl2pPr algn="l">
              <a:defRPr sz="4560" b="1">
                <a:solidFill>
                  <a:srgbClr val="151312"/>
                </a:solidFill>
                <a:latin typeface="Arial"/>
                <a:ea typeface="Arial"/>
                <a:cs typeface="Arial"/>
              </a:defRPr>
            </a:lvl2pPr>
            <a:lvl3pPr algn="l">
              <a:defRPr sz="4560" b="1">
                <a:solidFill>
                  <a:srgbClr val="151312"/>
                </a:solidFill>
                <a:latin typeface="Arial"/>
                <a:ea typeface="Arial"/>
                <a:cs typeface="Arial"/>
              </a:defRPr>
            </a:lvl3pPr>
            <a:lvl4pPr algn="l">
              <a:defRPr sz="4560" b="1">
                <a:solidFill>
                  <a:srgbClr val="151312"/>
                </a:solidFill>
                <a:latin typeface="Arial"/>
                <a:ea typeface="Arial"/>
                <a:cs typeface="Arial"/>
              </a:defRPr>
            </a:lvl4pPr>
            <a:lvl5pPr algn="l">
              <a:defRPr sz="4560" b="1">
                <a:solidFill>
                  <a:srgbClr val="151312"/>
                </a:solidFill>
                <a:latin typeface="Arial"/>
                <a:ea typeface="Arial"/>
                <a:cs typeface="Arial"/>
              </a:defRPr>
            </a:lvl5pPr>
            <a:lvl6pPr algn="l">
              <a:defRPr sz="4560" b="1">
                <a:solidFill>
                  <a:srgbClr val="151312"/>
                </a:solidFill>
                <a:latin typeface="Arial"/>
                <a:ea typeface="Arial"/>
                <a:cs typeface="Arial"/>
              </a:defRPr>
            </a:lvl6pPr>
            <a:lvl7pPr algn="l">
              <a:defRPr sz="4560" b="1">
                <a:solidFill>
                  <a:srgbClr val="151312"/>
                </a:solidFill>
                <a:latin typeface="Arial"/>
                <a:ea typeface="Arial"/>
                <a:cs typeface="Arial"/>
              </a:defRPr>
            </a:lvl7pPr>
            <a:lvl8pPr algn="l">
              <a:defRPr sz="4560" b="1">
                <a:solidFill>
                  <a:srgbClr val="151312"/>
                </a:solidFill>
                <a:latin typeface="Arial"/>
                <a:ea typeface="Arial"/>
                <a:cs typeface="Arial"/>
              </a:defRPr>
            </a:lvl8pPr>
            <a:lvl9pPr algn="l">
              <a:defRPr sz="4560" b="1">
                <a:solidFill>
                  <a:srgbClr val="151312"/>
                </a:solidFill>
                <a:latin typeface="Arial"/>
                <a:ea typeface="Arial"/>
                <a:cs typeface="Arial"/>
              </a:defRPr>
            </a:lvl9pPr>
          </a:lstStyle>
          <a:p xmlns:a="http://schemas.openxmlformats.org/drawingml/2006/main">
            <a:pPr algn="l">
              <a:defRPr sz="4560" b="1">
                <a:solidFill>
                  <a:srgbClr val="151312"/>
                </a:solidFill>
                <a:latin typeface="Arial"/>
                <a:ea typeface="Arial"/>
                <a:cs typeface="Arial"/>
              </a:defRPr>
            </a:pPr>
            <a:r>
              <a:rPr sz="4560" b="1">
                <a:solidFill>
                  <a:srgbClr val="151312"/>
                </a:solidFill>
                <a:latin typeface="Arial"/>
                <a:ea typeface="Arial"/>
                <a:cs typeface="Arial"/>
              </a:rPr>
              <a:t>+1.8 bp</a:t>
            </a:r>
          </a:p>
        </p:txBody>
      </p:sp>
      <p:sp>
        <p:nvSpPr>
          <p:cNvPr id="15" name="">
            <a:extLst xmlns:a="http://schemas.openxmlformats.org/drawingml/2006/main">
              <a:ext uri="{FF2B5EF4-FFF2-40B4-BE49-F238E27FC236}">
                <a16:creationId xmlns:a16="http://schemas.microsoft.com/office/drawing/2014/main" id="{8C8D2803-49BF-4779-A1E6-3DF564B2503F}"/>
              </a:ext>
            </a:extLst>
          </p:cNvPr>
          <p:cNvSpPr>
            <a:spLocks xmlns:a="http://schemas.openxmlformats.org/drawingml/2006/main" noGrp="1"/>
          </p:cNvSpPr>
          <p:nvPr/>
        </p:nvSpPr>
        <p:spPr>
          <a:xfrm xmlns:a="http://schemas.openxmlformats.org/drawingml/2006/main">
            <a:off x="8838979" y="2781300"/>
            <a:ext cx="2743131"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5-year move per standard deviation of the statement-to-statement shift in Claude’s score (t = 3.15)</a:t>
            </a:r>
          </a:p>
        </p:txBody>
      </p:sp>
      <p:sp>
        <p:nvSpPr>
          <p:cNvPr id="16" name="">
            <a:extLst xmlns:a="http://schemas.openxmlformats.org/drawingml/2006/main">
              <a:ext uri="{FF2B5EF4-FFF2-40B4-BE49-F238E27FC236}">
                <a16:creationId xmlns:a16="http://schemas.microsoft.com/office/drawing/2014/main" id="{B2019B8A-C67B-44B5-A8AA-EC3D69B52888}"/>
              </a:ext>
            </a:extLst>
          </p:cNvPr>
          <p:cNvSpPr>
            <a:spLocks xmlns:a="http://schemas.openxmlformats.org/drawingml/2006/main" noGrp="1"/>
          </p:cNvSpPr>
          <p:nvPr/>
        </p:nvSpPr>
        <p:spPr>
          <a:xfrm xmlns:a="http://schemas.openxmlformats.org/drawingml/2006/main">
            <a:off x="8838979" y="364236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09196C1-9266-46D6-BFA2-E3CCA8F854A5}"/>
              </a:ext>
            </a:extLst>
          </p:cNvPr>
          <p:cNvSpPr>
            <a:spLocks xmlns:a="http://schemas.openxmlformats.org/drawingml/2006/main" noGrp="1"/>
          </p:cNvSpPr>
          <p:nvPr/>
        </p:nvSpPr>
        <p:spPr>
          <a:xfrm xmlns:a="http://schemas.openxmlformats.org/drawingml/2006/main">
            <a:off x="8838979" y="3718560"/>
            <a:ext cx="2743131"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2-year: t = 2.94</a:t>
            </a:r>
          </a:p>
        </p:txBody>
      </p:sp>
      <p:sp>
        <p:nvSpPr>
          <p:cNvPr id="18" name="">
            <a:extLst xmlns:a="http://schemas.openxmlformats.org/drawingml/2006/main">
              <a:ext uri="{FF2B5EF4-FFF2-40B4-BE49-F238E27FC236}">
                <a16:creationId xmlns:a16="http://schemas.microsoft.com/office/drawing/2014/main" id="{0AB5F9FB-4EA8-4734-A406-A4467711F599}"/>
              </a:ext>
            </a:extLst>
          </p:cNvPr>
          <p:cNvSpPr>
            <a:spLocks xmlns:a="http://schemas.openxmlformats.org/drawingml/2006/main" noGrp="1"/>
          </p:cNvSpPr>
          <p:nvPr/>
        </p:nvSpPr>
        <p:spPr>
          <a:xfrm xmlns:a="http://schemas.openxmlformats.org/drawingml/2006/main">
            <a:off x="8838979" y="427482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49ADE81-7263-41C2-ADBA-C4FC0799F012}"/>
              </a:ext>
            </a:extLst>
          </p:cNvPr>
          <p:cNvSpPr>
            <a:spLocks xmlns:a="http://schemas.openxmlformats.org/drawingml/2006/main" noGrp="1"/>
          </p:cNvSpPr>
          <p:nvPr/>
        </p:nvSpPr>
        <p:spPr>
          <a:xfrm xmlns:a="http://schemas.openxmlformats.org/drawingml/2006/main">
            <a:off x="8838979" y="4351020"/>
            <a:ext cx="2743131"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10-year: t = 2.22</a:t>
            </a:r>
          </a:p>
        </p:txBody>
      </p:sp>
      <p:sp>
        <p:nvSpPr>
          <p:cNvPr id="20" name="">
            <a:extLst xmlns:a="http://schemas.openxmlformats.org/drawingml/2006/main">
              <a:ext uri="{FF2B5EF4-FFF2-40B4-BE49-F238E27FC236}">
                <a16:creationId xmlns:a16="http://schemas.microsoft.com/office/drawing/2014/main" id="{BD69741E-65A4-40A5-B613-EFF822022FB8}"/>
              </a:ext>
            </a:extLst>
          </p:cNvPr>
          <p:cNvSpPr>
            <a:spLocks xmlns:a="http://schemas.openxmlformats.org/drawingml/2006/main" noGrp="1"/>
          </p:cNvSpPr>
          <p:nvPr/>
        </p:nvSpPr>
        <p:spPr>
          <a:xfrm xmlns:a="http://schemas.openxmlformats.org/drawingml/2006/main">
            <a:off x="8838979" y="490728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AD9134E-094D-4B38-A4D4-640D0D6B34D5}"/>
              </a:ext>
            </a:extLst>
          </p:cNvPr>
          <p:cNvSpPr>
            <a:spLocks xmlns:a="http://schemas.openxmlformats.org/drawingml/2006/main" noGrp="1"/>
          </p:cNvSpPr>
          <p:nvPr/>
        </p:nvSpPr>
        <p:spPr>
          <a:xfrm xmlns:a="http://schemas.openxmlformats.org/drawingml/2006/main">
            <a:off x="8838979" y="4983480"/>
            <a:ext cx="2743131"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Meetings without a press conference: t = 1.91 (n = 46)</a:t>
            </a:r>
          </a:p>
        </p:txBody>
      </p:sp>
      <p:sp>
        <p:nvSpPr>
          <p:cNvPr id="22" name="">
            <a:extLst xmlns:a="http://schemas.openxmlformats.org/drawingml/2006/main">
              <a:ext uri="{FF2B5EF4-FFF2-40B4-BE49-F238E27FC236}">
                <a16:creationId xmlns:a16="http://schemas.microsoft.com/office/drawing/2014/main" id="{28BF1167-CB16-4511-9D31-147C2A49E431}"/>
              </a:ext>
            </a:extLst>
          </p:cNvPr>
          <p:cNvSpPr>
            <a:spLocks xmlns:a="http://schemas.openxmlformats.org/drawingml/2006/main" noGrp="1"/>
          </p:cNvSpPr>
          <p:nvPr/>
        </p:nvSpPr>
        <p:spPr>
          <a:xfrm xmlns:a="http://schemas.openxmlformats.org/drawingml/2006/main">
            <a:off x="8838979" y="553974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C5E82A3-4F89-4F6C-B2C6-E44788CCFD7D}"/>
              </a:ext>
            </a:extLst>
          </p:cNvPr>
          <p:cNvSpPr>
            <a:spLocks xmlns:a="http://schemas.openxmlformats.org/drawingml/2006/main" noGrp="1"/>
          </p:cNvSpPr>
          <p:nvPr/>
        </p:nvSpPr>
        <p:spPr>
          <a:xfrm xmlns:a="http://schemas.openxmlformats.org/drawingml/2006/main">
            <a:off x="8838979" y="5615940"/>
            <a:ext cx="2743131"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Press conference’s tone as a control: t = 0.01</a:t>
            </a:r>
          </a:p>
        </p:txBody>
      </p:sp>
      <p:pic>
        <p:nvPicPr>
          <p:cNvPr id="24" name="">
            <a:extLst xmlns:a="http://schemas.openxmlformats.org/drawingml/2006/main">
              <a:ext uri="{FF2B5EF4-FFF2-40B4-BE49-F238E27FC236}">
                <a16:creationId xmlns:a16="http://schemas.microsoft.com/office/drawing/2014/main" id="{FE068610-F0D6-4D8F-9FBD-F8D006861AF4}"/>
              </a:ext>
            </a:extLst>
          </p:cNvPr>
          <p:cNvPicPr>
            <a:picLocks xmlns:a="http://schemas.openxmlformats.org/drawingml/2006/main" noChangeAspect="1"/>
          </p:cNvPicPr>
          <p:nvPr/>
        </p:nvPicPr>
        <p:blipFill>
          <a:blip xmlns:r="http://schemas.openxmlformats.org/officeDocument/2006/relationships" xmlns:a="http://schemas.openxmlformats.org/drawingml/2006/main" r:embed="R709aa77b6b11449c"/>
          <a:stretch xmlns:a="http://schemas.openxmlformats.org/drawingml/2006/main"/>
        </p:blipFill>
        <p:spPr>
          <a:xfrm xmlns:a="http://schemas.openxmlformats.org/drawingml/2006/main">
            <a:off x="609585" y="1920293"/>
            <a:ext cx="7863643" cy="4251854"/>
          </a:xfrm>
          <a:prstGeom xmlns:a="http://schemas.openxmlformats.org/drawingml/2006/main" prst="rect">
            <a:avLst/>
          </a:prstGeom>
        </p:spPr>
      </p:pic>
    </p:spTree>
    <p:extLst>
      <p:ext uri="{BB962C8B-B14F-4D97-AF65-F5344CB8AC3E}">
        <p14:creationId xmlns:p14="http://schemas.microsoft.com/office/powerpoint/2010/main" val="1932369213"/>
      </p:ext>
    </p:extLst>
  </p:cSld>
</p:sld>
</file>

<file path=ppt/slides/slide27.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9AA4FCA-C134-48F9-8001-4734B35B55FA}"/>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D007F549-92D7-4651-AB7B-C128EF2BE45D}"/>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INDEX, YIELDS AND DURATION</a:t>
            </a:r>
          </a:p>
        </p:txBody>
      </p:sp>
      <p:sp>
        <p:nvSpPr>
          <p:cNvPr id="3" name="">
            <a:extLst xmlns:a="http://schemas.openxmlformats.org/drawingml/2006/main">
              <a:ext uri="{FF2B5EF4-FFF2-40B4-BE49-F238E27FC236}">
                <a16:creationId xmlns:a16="http://schemas.microsoft.com/office/drawing/2014/main" id="{E495476A-A778-4772-8C8B-FCFC1DC937BE}"/>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27 / 46</a:t>
            </a:r>
          </a:p>
        </p:txBody>
      </p:sp>
      <p:sp>
        <p:nvSpPr>
          <p:cNvPr id="4" name="">
            <a:extLst xmlns:a="http://schemas.openxmlformats.org/drawingml/2006/main">
              <a:ext uri="{FF2B5EF4-FFF2-40B4-BE49-F238E27FC236}">
                <a16:creationId xmlns:a16="http://schemas.microsoft.com/office/drawing/2014/main" id="{6B020831-2089-4C37-9CAA-9F835C7F09FF}"/>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0830BED-B65F-4C26-AFD5-0537CBE71E9C}"/>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The press-conference association across checks</a:t>
            </a:r>
          </a:p>
        </p:txBody>
      </p:sp>
      <p:sp>
        <p:nvSpPr>
          <p:cNvPr id="6" name="">
            <a:extLst xmlns:a="http://schemas.openxmlformats.org/drawingml/2006/main">
              <a:ext uri="{FF2B5EF4-FFF2-40B4-BE49-F238E27FC236}">
                <a16:creationId xmlns:a16="http://schemas.microsoft.com/office/drawing/2014/main" id="{BC63B424-2BD8-4157-9D70-C017CBA05D56}"/>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The association survives controls and sample splits; no significant later drift</a:t>
            </a:r>
          </a:p>
        </p:txBody>
      </p:sp>
      <p:sp>
        <p:nvSpPr>
          <p:cNvPr id="7" name="">
            <a:extLst xmlns:a="http://schemas.openxmlformats.org/drawingml/2006/main">
              <a:ext uri="{FF2B5EF4-FFF2-40B4-BE49-F238E27FC236}">
                <a16:creationId xmlns:a16="http://schemas.microsoft.com/office/drawing/2014/main" id="{6BCA03E5-CCAE-4FEC-96DD-004E465EA229}"/>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B78CA72-51A9-48DD-B706-401395B76212}"/>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Stored event-study estimates; evaluate/event_study.py.</a:t>
            </a:r>
          </a:p>
        </p:txBody>
      </p:sp>
      <p:sp>
        <p:nvSpPr>
          <p:cNvPr id="9" name="">
            <a:extLst xmlns:a="http://schemas.openxmlformats.org/drawingml/2006/main">
              <a:ext uri="{FF2B5EF4-FFF2-40B4-BE49-F238E27FC236}">
                <a16:creationId xmlns:a16="http://schemas.microsoft.com/office/drawing/2014/main" id="{8AEA9F9D-B391-4994-ABF1-796DA9B05AC8}"/>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B46D10A-BB67-4490-AF3D-D5C1AD4B7908}"/>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A8D683B-F812-46F2-8DF5-5E638DD76368}"/>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BD57890-59A1-4B9A-A2F8-B0434D4F2547}"/>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2BE6E36-AE9B-4BA3-AEFA-522F5D8C69C0}"/>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A2ED135-296B-46CD-AB17-09FD907F36D0}"/>
              </a:ext>
            </a:extLst>
          </p:cNvPr>
          <p:cNvSpPr>
            <a:spLocks xmlns:a="http://schemas.openxmlformats.org/drawingml/2006/main" noGrp="1"/>
          </p:cNvSpPr>
          <p:nvPr/>
        </p:nvSpPr>
        <p:spPr>
          <a:xfrm xmlns:a="http://schemas.openxmlformats.org/drawingml/2006/main">
            <a:off x="609585" y="1920240"/>
            <a:ext cx="1737317"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960" b="1">
                <a:solidFill>
                  <a:srgbClr val="151312"/>
                </a:solidFill>
                <a:latin typeface="Arial"/>
                <a:ea typeface="Arial"/>
                <a:cs typeface="Arial"/>
              </a:defRPr>
            </a:defPPr>
            <a:lvl1pPr algn="l">
              <a:defRPr sz="3960" b="1">
                <a:solidFill>
                  <a:srgbClr val="151312"/>
                </a:solidFill>
                <a:latin typeface="Arial"/>
                <a:ea typeface="Arial"/>
                <a:cs typeface="Arial"/>
              </a:defRPr>
            </a:lvl1pPr>
            <a:lvl2pPr algn="l">
              <a:defRPr sz="3960" b="1">
                <a:solidFill>
                  <a:srgbClr val="151312"/>
                </a:solidFill>
                <a:latin typeface="Arial"/>
                <a:ea typeface="Arial"/>
                <a:cs typeface="Arial"/>
              </a:defRPr>
            </a:lvl2pPr>
            <a:lvl3pPr algn="l">
              <a:defRPr sz="3960" b="1">
                <a:solidFill>
                  <a:srgbClr val="151312"/>
                </a:solidFill>
                <a:latin typeface="Arial"/>
                <a:ea typeface="Arial"/>
                <a:cs typeface="Arial"/>
              </a:defRPr>
            </a:lvl3pPr>
            <a:lvl4pPr algn="l">
              <a:defRPr sz="3960" b="1">
                <a:solidFill>
                  <a:srgbClr val="151312"/>
                </a:solidFill>
                <a:latin typeface="Arial"/>
                <a:ea typeface="Arial"/>
                <a:cs typeface="Arial"/>
              </a:defRPr>
            </a:lvl4pPr>
            <a:lvl5pPr algn="l">
              <a:defRPr sz="3960" b="1">
                <a:solidFill>
                  <a:srgbClr val="151312"/>
                </a:solidFill>
                <a:latin typeface="Arial"/>
                <a:ea typeface="Arial"/>
                <a:cs typeface="Arial"/>
              </a:defRPr>
            </a:lvl5pPr>
            <a:lvl6pPr algn="l">
              <a:defRPr sz="3960" b="1">
                <a:solidFill>
                  <a:srgbClr val="151312"/>
                </a:solidFill>
                <a:latin typeface="Arial"/>
                <a:ea typeface="Arial"/>
                <a:cs typeface="Arial"/>
              </a:defRPr>
            </a:lvl6pPr>
            <a:lvl7pPr algn="l">
              <a:defRPr sz="3960" b="1">
                <a:solidFill>
                  <a:srgbClr val="151312"/>
                </a:solidFill>
                <a:latin typeface="Arial"/>
                <a:ea typeface="Arial"/>
                <a:cs typeface="Arial"/>
              </a:defRPr>
            </a:lvl7pPr>
            <a:lvl8pPr algn="l">
              <a:defRPr sz="3960" b="1">
                <a:solidFill>
                  <a:srgbClr val="151312"/>
                </a:solidFill>
                <a:latin typeface="Arial"/>
                <a:ea typeface="Arial"/>
                <a:cs typeface="Arial"/>
              </a:defRPr>
            </a:lvl8pPr>
            <a:lvl9pPr algn="l">
              <a:defRPr sz="3960" b="1">
                <a:solidFill>
                  <a:srgbClr val="151312"/>
                </a:solidFill>
                <a:latin typeface="Arial"/>
                <a:ea typeface="Arial"/>
                <a:cs typeface="Arial"/>
              </a:defRPr>
            </a:lvl9pPr>
          </a:lstStyle>
          <a:p xmlns:a="http://schemas.openxmlformats.org/drawingml/2006/main">
            <a:pPr algn="l">
              <a:defRPr sz="3960" b="1">
                <a:solidFill>
                  <a:srgbClr val="151312"/>
                </a:solidFill>
                <a:latin typeface="Arial"/>
                <a:ea typeface="Arial"/>
                <a:cs typeface="Arial"/>
              </a:defRPr>
            </a:pPr>
            <a:r>
              <a:rPr sz="3960" b="1">
                <a:solidFill>
                  <a:srgbClr val="151312"/>
                </a:solidFill>
                <a:latin typeface="Arial"/>
                <a:ea typeface="Arial"/>
                <a:cs typeface="Arial"/>
              </a:rPr>
              <a:t>t = 3.90</a:t>
            </a:r>
          </a:p>
        </p:txBody>
      </p:sp>
      <p:sp>
        <p:nvSpPr>
          <p:cNvPr id="15" name="">
            <a:extLst xmlns:a="http://schemas.openxmlformats.org/drawingml/2006/main">
              <a:ext uri="{FF2B5EF4-FFF2-40B4-BE49-F238E27FC236}">
                <a16:creationId xmlns:a16="http://schemas.microsoft.com/office/drawing/2014/main" id="{BDD90113-4C96-486B-8EC9-6A81FA1B380F}"/>
              </a:ext>
            </a:extLst>
          </p:cNvPr>
          <p:cNvSpPr>
            <a:spLocks xmlns:a="http://schemas.openxmlformats.org/drawingml/2006/main" noGrp="1"/>
          </p:cNvSpPr>
          <p:nvPr/>
        </p:nvSpPr>
        <p:spPr>
          <a:xfrm xmlns:a="http://schemas.openxmlformats.org/drawingml/2006/main">
            <a:off x="2514537" y="1927860"/>
            <a:ext cx="2133547"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+3.87 bp on the 2-year per standard deviation of Claude Opus 5.5's shift</a:t>
            </a:r>
          </a:p>
        </p:txBody>
      </p:sp>
      <p:sp>
        <p:nvSpPr>
          <p:cNvPr id="16" name="">
            <a:extLst xmlns:a="http://schemas.openxmlformats.org/drawingml/2006/main">
              <a:ext uri="{FF2B5EF4-FFF2-40B4-BE49-F238E27FC236}">
                <a16:creationId xmlns:a16="http://schemas.microsoft.com/office/drawing/2014/main" id="{78300AAE-C246-4C44-B3A5-FDD704613BC2}"/>
              </a:ext>
            </a:extLst>
          </p:cNvPr>
          <p:cNvSpPr>
            <a:spLocks xmlns:a="http://schemas.openxmlformats.org/drawingml/2006/main" noGrp="1"/>
          </p:cNvSpPr>
          <p:nvPr/>
        </p:nvSpPr>
        <p:spPr>
          <a:xfrm xmlns:a="http://schemas.openxmlformats.org/drawingml/2006/main">
            <a:off x="4830959" y="2004060"/>
            <a:ext cx="7620" cy="5334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C761416-8C85-44B8-8B60-9F016590D238}"/>
              </a:ext>
            </a:extLst>
          </p:cNvPr>
          <p:cNvSpPr>
            <a:spLocks xmlns:a="http://schemas.openxmlformats.org/drawingml/2006/main" noGrp="1"/>
          </p:cNvSpPr>
          <p:nvPr/>
        </p:nvSpPr>
        <p:spPr>
          <a:xfrm xmlns:a="http://schemas.openxmlformats.org/drawingml/2006/main">
            <a:off x="4968116" y="1920240"/>
            <a:ext cx="2001470"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0">
                <a:solidFill>
                  <a:srgbClr val="45413C"/>
                </a:solidFill>
                <a:latin typeface="Arial"/>
                <a:ea typeface="Arial"/>
                <a:cs typeface="Arial"/>
              </a:defRPr>
            </a:defPPr>
            <a:lvl1pPr algn="l">
              <a:defRPr sz="1140" b="0">
                <a:solidFill>
                  <a:srgbClr val="45413C"/>
                </a:solidFill>
                <a:latin typeface="Arial"/>
                <a:ea typeface="Arial"/>
                <a:cs typeface="Arial"/>
              </a:defRPr>
            </a:lvl1pPr>
            <a:lvl2pPr algn="l">
              <a:defRPr sz="1140" b="0">
                <a:solidFill>
                  <a:srgbClr val="45413C"/>
                </a:solidFill>
                <a:latin typeface="Arial"/>
                <a:ea typeface="Arial"/>
                <a:cs typeface="Arial"/>
              </a:defRPr>
            </a:lvl2pPr>
            <a:lvl3pPr algn="l">
              <a:defRPr sz="1140" b="0">
                <a:solidFill>
                  <a:srgbClr val="45413C"/>
                </a:solidFill>
                <a:latin typeface="Arial"/>
                <a:ea typeface="Arial"/>
                <a:cs typeface="Arial"/>
              </a:defRPr>
            </a:lvl3pPr>
            <a:lvl4pPr algn="l">
              <a:defRPr sz="1140" b="0">
                <a:solidFill>
                  <a:srgbClr val="45413C"/>
                </a:solidFill>
                <a:latin typeface="Arial"/>
                <a:ea typeface="Arial"/>
                <a:cs typeface="Arial"/>
              </a:defRPr>
            </a:lvl4pPr>
            <a:lvl5pPr algn="l">
              <a:defRPr sz="1140" b="0">
                <a:solidFill>
                  <a:srgbClr val="45413C"/>
                </a:solidFill>
                <a:latin typeface="Arial"/>
                <a:ea typeface="Arial"/>
                <a:cs typeface="Arial"/>
              </a:defRPr>
            </a:lvl5pPr>
            <a:lvl6pPr algn="l">
              <a:defRPr sz="1140" b="0">
                <a:solidFill>
                  <a:srgbClr val="45413C"/>
                </a:solidFill>
                <a:latin typeface="Arial"/>
                <a:ea typeface="Arial"/>
                <a:cs typeface="Arial"/>
              </a:defRPr>
            </a:lvl6pPr>
            <a:lvl7pPr algn="l">
              <a:defRPr sz="1140" b="0">
                <a:solidFill>
                  <a:srgbClr val="45413C"/>
                </a:solidFill>
                <a:latin typeface="Arial"/>
                <a:ea typeface="Arial"/>
                <a:cs typeface="Arial"/>
              </a:defRPr>
            </a:lvl7pPr>
            <a:lvl8pPr algn="l">
              <a:defRPr sz="1140" b="0">
                <a:solidFill>
                  <a:srgbClr val="45413C"/>
                </a:solidFill>
                <a:latin typeface="Arial"/>
                <a:ea typeface="Arial"/>
                <a:cs typeface="Arial"/>
              </a:defRPr>
            </a:lvl8pPr>
            <a:lvl9pPr algn="l">
              <a:defRPr sz="1140" b="0">
                <a:solidFill>
                  <a:srgbClr val="45413C"/>
                </a:solidFill>
                <a:latin typeface="Arial"/>
                <a:ea typeface="Arial"/>
                <a:cs typeface="Arial"/>
              </a:defRPr>
            </a:lvl9pPr>
          </a:lstStyle>
          <a:p xmlns:a="http://schemas.openxmlformats.org/drawingml/2006/main">
            <a:pPr algn="l">
              <a:defRPr sz="1140" b="0">
                <a:solidFill>
                  <a:srgbClr val="45413C"/>
                </a:solidFill>
                <a:latin typeface="Arial"/>
                <a:ea typeface="Arial"/>
                <a:cs typeface="Arial"/>
              </a:defRPr>
            </a:pPr>
            <a:r>
              <a:rPr sz="1140" b="0">
                <a:solidFill>
                  <a:srgbClr val="45413C"/>
                </a:solidFill>
                <a:latin typeface="Arial"/>
                <a:ea typeface="Arial"/>
                <a:cs typeface="Arial"/>
              </a:rPr>
              <a:t>3-month bill control: t = 3.20</a:t>
            </a:r>
          </a:p>
        </p:txBody>
      </p:sp>
      <p:sp>
        <p:nvSpPr>
          <p:cNvPr id="18" name="">
            <a:extLst xmlns:a="http://schemas.openxmlformats.org/drawingml/2006/main">
              <a:ext uri="{FF2B5EF4-FFF2-40B4-BE49-F238E27FC236}">
                <a16:creationId xmlns:a16="http://schemas.microsoft.com/office/drawing/2014/main" id="{5FC00EFB-8088-4CFA-9A07-1AE03AC46F26}"/>
              </a:ext>
            </a:extLst>
          </p:cNvPr>
          <p:cNvSpPr>
            <a:spLocks xmlns:a="http://schemas.openxmlformats.org/drawingml/2006/main" noGrp="1"/>
          </p:cNvSpPr>
          <p:nvPr/>
        </p:nvSpPr>
        <p:spPr>
          <a:xfrm xmlns:a="http://schemas.openxmlformats.org/drawingml/2006/main">
            <a:off x="7137221" y="2004060"/>
            <a:ext cx="7620" cy="5334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2CDD3BB-B4D4-41A2-B48A-FBB51D223E3E}"/>
              </a:ext>
            </a:extLst>
          </p:cNvPr>
          <p:cNvSpPr>
            <a:spLocks xmlns:a="http://schemas.openxmlformats.org/drawingml/2006/main" noGrp="1"/>
          </p:cNvSpPr>
          <p:nvPr/>
        </p:nvSpPr>
        <p:spPr>
          <a:xfrm xmlns:a="http://schemas.openxmlformats.org/drawingml/2006/main">
            <a:off x="7274378" y="1920240"/>
            <a:ext cx="2001470"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0">
                <a:solidFill>
                  <a:srgbClr val="45413C"/>
                </a:solidFill>
                <a:latin typeface="Arial"/>
                <a:ea typeface="Arial"/>
                <a:cs typeface="Arial"/>
              </a:defRPr>
            </a:defPPr>
            <a:lvl1pPr algn="l">
              <a:defRPr sz="1140" b="0">
                <a:solidFill>
                  <a:srgbClr val="45413C"/>
                </a:solidFill>
                <a:latin typeface="Arial"/>
                <a:ea typeface="Arial"/>
                <a:cs typeface="Arial"/>
              </a:defRPr>
            </a:lvl1pPr>
            <a:lvl2pPr algn="l">
              <a:defRPr sz="1140" b="0">
                <a:solidFill>
                  <a:srgbClr val="45413C"/>
                </a:solidFill>
                <a:latin typeface="Arial"/>
                <a:ea typeface="Arial"/>
                <a:cs typeface="Arial"/>
              </a:defRPr>
            </a:lvl2pPr>
            <a:lvl3pPr algn="l">
              <a:defRPr sz="1140" b="0">
                <a:solidFill>
                  <a:srgbClr val="45413C"/>
                </a:solidFill>
                <a:latin typeface="Arial"/>
                <a:ea typeface="Arial"/>
                <a:cs typeface="Arial"/>
              </a:defRPr>
            </a:lvl3pPr>
            <a:lvl4pPr algn="l">
              <a:defRPr sz="1140" b="0">
                <a:solidFill>
                  <a:srgbClr val="45413C"/>
                </a:solidFill>
                <a:latin typeface="Arial"/>
                <a:ea typeface="Arial"/>
                <a:cs typeface="Arial"/>
              </a:defRPr>
            </a:lvl4pPr>
            <a:lvl5pPr algn="l">
              <a:defRPr sz="1140" b="0">
                <a:solidFill>
                  <a:srgbClr val="45413C"/>
                </a:solidFill>
                <a:latin typeface="Arial"/>
                <a:ea typeface="Arial"/>
                <a:cs typeface="Arial"/>
              </a:defRPr>
            </a:lvl5pPr>
            <a:lvl6pPr algn="l">
              <a:defRPr sz="1140" b="0">
                <a:solidFill>
                  <a:srgbClr val="45413C"/>
                </a:solidFill>
                <a:latin typeface="Arial"/>
                <a:ea typeface="Arial"/>
                <a:cs typeface="Arial"/>
              </a:defRPr>
            </a:lvl6pPr>
            <a:lvl7pPr algn="l">
              <a:defRPr sz="1140" b="0">
                <a:solidFill>
                  <a:srgbClr val="45413C"/>
                </a:solidFill>
                <a:latin typeface="Arial"/>
                <a:ea typeface="Arial"/>
                <a:cs typeface="Arial"/>
              </a:defRPr>
            </a:lvl7pPr>
            <a:lvl8pPr algn="l">
              <a:defRPr sz="1140" b="0">
                <a:solidFill>
                  <a:srgbClr val="45413C"/>
                </a:solidFill>
                <a:latin typeface="Arial"/>
                <a:ea typeface="Arial"/>
                <a:cs typeface="Arial"/>
              </a:defRPr>
            </a:lvl8pPr>
            <a:lvl9pPr algn="l">
              <a:defRPr sz="1140" b="0">
                <a:solidFill>
                  <a:srgbClr val="45413C"/>
                </a:solidFill>
                <a:latin typeface="Arial"/>
                <a:ea typeface="Arial"/>
                <a:cs typeface="Arial"/>
              </a:defRPr>
            </a:lvl9pPr>
          </a:lstStyle>
          <a:p xmlns:a="http://schemas.openxmlformats.org/drawingml/2006/main">
            <a:pPr algn="l">
              <a:defRPr sz="1140" b="0">
                <a:solidFill>
                  <a:srgbClr val="45413C"/>
                </a:solidFill>
                <a:latin typeface="Arial"/>
                <a:ea typeface="Arial"/>
                <a:cs typeface="Arial"/>
              </a:defRPr>
            </a:pPr>
            <a:r>
              <a:rPr sz="1140" b="0">
                <a:solidFill>
                  <a:srgbClr val="45413C"/>
                </a:solidFill>
                <a:latin typeface="Arial"/>
                <a:ea typeface="Arial"/>
                <a:cs typeface="Arial"/>
              </a:rPr>
              <a:t>Announced move control: t = 3.88</a:t>
            </a:r>
          </a:p>
        </p:txBody>
      </p:sp>
      <p:sp>
        <p:nvSpPr>
          <p:cNvPr id="20" name="">
            <a:extLst xmlns:a="http://schemas.openxmlformats.org/drawingml/2006/main">
              <a:ext uri="{FF2B5EF4-FFF2-40B4-BE49-F238E27FC236}">
                <a16:creationId xmlns:a16="http://schemas.microsoft.com/office/drawing/2014/main" id="{53E58B52-0D70-4326-8D00-D72A4852505D}"/>
              </a:ext>
            </a:extLst>
          </p:cNvPr>
          <p:cNvSpPr>
            <a:spLocks xmlns:a="http://schemas.openxmlformats.org/drawingml/2006/main" noGrp="1"/>
          </p:cNvSpPr>
          <p:nvPr/>
        </p:nvSpPr>
        <p:spPr>
          <a:xfrm xmlns:a="http://schemas.openxmlformats.org/drawingml/2006/main">
            <a:off x="9443484" y="2004060"/>
            <a:ext cx="7620" cy="5334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E3A7317-EBE9-412D-B64B-BA4670723672}"/>
              </a:ext>
            </a:extLst>
          </p:cNvPr>
          <p:cNvSpPr>
            <a:spLocks xmlns:a="http://schemas.openxmlformats.org/drawingml/2006/main" noGrp="1"/>
          </p:cNvSpPr>
          <p:nvPr/>
        </p:nvSpPr>
        <p:spPr>
          <a:xfrm xmlns:a="http://schemas.openxmlformats.org/drawingml/2006/main">
            <a:off x="9580640" y="1920240"/>
            <a:ext cx="2001470"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0">
                <a:solidFill>
                  <a:srgbClr val="45413C"/>
                </a:solidFill>
                <a:latin typeface="Arial"/>
                <a:ea typeface="Arial"/>
                <a:cs typeface="Arial"/>
              </a:defRPr>
            </a:defPPr>
            <a:lvl1pPr algn="l">
              <a:defRPr sz="1140" b="0">
                <a:solidFill>
                  <a:srgbClr val="45413C"/>
                </a:solidFill>
                <a:latin typeface="Arial"/>
                <a:ea typeface="Arial"/>
                <a:cs typeface="Arial"/>
              </a:defRPr>
            </a:lvl1pPr>
            <a:lvl2pPr algn="l">
              <a:defRPr sz="1140" b="0">
                <a:solidFill>
                  <a:srgbClr val="45413C"/>
                </a:solidFill>
                <a:latin typeface="Arial"/>
                <a:ea typeface="Arial"/>
                <a:cs typeface="Arial"/>
              </a:defRPr>
            </a:lvl2pPr>
            <a:lvl3pPr algn="l">
              <a:defRPr sz="1140" b="0">
                <a:solidFill>
                  <a:srgbClr val="45413C"/>
                </a:solidFill>
                <a:latin typeface="Arial"/>
                <a:ea typeface="Arial"/>
                <a:cs typeface="Arial"/>
              </a:defRPr>
            </a:lvl3pPr>
            <a:lvl4pPr algn="l">
              <a:defRPr sz="1140" b="0">
                <a:solidFill>
                  <a:srgbClr val="45413C"/>
                </a:solidFill>
                <a:latin typeface="Arial"/>
                <a:ea typeface="Arial"/>
                <a:cs typeface="Arial"/>
              </a:defRPr>
            </a:lvl4pPr>
            <a:lvl5pPr algn="l">
              <a:defRPr sz="1140" b="0">
                <a:solidFill>
                  <a:srgbClr val="45413C"/>
                </a:solidFill>
                <a:latin typeface="Arial"/>
                <a:ea typeface="Arial"/>
                <a:cs typeface="Arial"/>
              </a:defRPr>
            </a:lvl5pPr>
            <a:lvl6pPr algn="l">
              <a:defRPr sz="1140" b="0">
                <a:solidFill>
                  <a:srgbClr val="45413C"/>
                </a:solidFill>
                <a:latin typeface="Arial"/>
                <a:ea typeface="Arial"/>
                <a:cs typeface="Arial"/>
              </a:defRPr>
            </a:lvl6pPr>
            <a:lvl7pPr algn="l">
              <a:defRPr sz="1140" b="0">
                <a:solidFill>
                  <a:srgbClr val="45413C"/>
                </a:solidFill>
                <a:latin typeface="Arial"/>
                <a:ea typeface="Arial"/>
                <a:cs typeface="Arial"/>
              </a:defRPr>
            </a:lvl7pPr>
            <a:lvl8pPr algn="l">
              <a:defRPr sz="1140" b="0">
                <a:solidFill>
                  <a:srgbClr val="45413C"/>
                </a:solidFill>
                <a:latin typeface="Arial"/>
                <a:ea typeface="Arial"/>
                <a:cs typeface="Arial"/>
              </a:defRPr>
            </a:lvl8pPr>
            <a:lvl9pPr algn="l">
              <a:defRPr sz="1140" b="0">
                <a:solidFill>
                  <a:srgbClr val="45413C"/>
                </a:solidFill>
                <a:latin typeface="Arial"/>
                <a:ea typeface="Arial"/>
                <a:cs typeface="Arial"/>
              </a:defRPr>
            </a:lvl9pPr>
          </a:lstStyle>
          <a:p xmlns:a="http://schemas.openxmlformats.org/drawingml/2006/main">
            <a:pPr algn="l">
              <a:defRPr sz="1140" b="0">
                <a:solidFill>
                  <a:srgbClr val="45413C"/>
                </a:solidFill>
                <a:latin typeface="Arial"/>
                <a:ea typeface="Arial"/>
                <a:cs typeface="Arial"/>
              </a:defRPr>
            </a:pPr>
            <a:r>
              <a:rPr sz="1140" b="0">
                <a:solidFill>
                  <a:srgbClr val="45413C"/>
                </a:solidFill>
                <a:latin typeface="Arial"/>
                <a:ea typeface="Arial"/>
                <a:cs typeface="Arial"/>
              </a:rPr>
              <a:t>TF-IDF tone control: t = 3.57</a:t>
            </a:r>
          </a:p>
        </p:txBody>
      </p:sp>
      <p:sp>
        <p:nvSpPr>
          <p:cNvPr id="22" name="">
            <a:extLst xmlns:a="http://schemas.openxmlformats.org/drawingml/2006/main">
              <a:ext uri="{FF2B5EF4-FFF2-40B4-BE49-F238E27FC236}">
                <a16:creationId xmlns:a16="http://schemas.microsoft.com/office/drawing/2014/main" id="{E58DF79E-3E5D-426D-80E3-61A7056BFD67}"/>
              </a:ext>
            </a:extLst>
          </p:cNvPr>
          <p:cNvSpPr>
            <a:spLocks xmlns:a="http://schemas.openxmlformats.org/drawingml/2006/main" noGrp="1"/>
          </p:cNvSpPr>
          <p:nvPr/>
        </p:nvSpPr>
        <p:spPr>
          <a:xfrm xmlns:a="http://schemas.openxmlformats.org/drawingml/2006/main">
            <a:off x="609585" y="267462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pic>
        <p:nvPicPr>
          <p:cNvPr id="23" name="">
            <a:extLst xmlns:a="http://schemas.openxmlformats.org/drawingml/2006/main">
              <a:ext uri="{FF2B5EF4-FFF2-40B4-BE49-F238E27FC236}">
                <a16:creationId xmlns:a16="http://schemas.microsoft.com/office/drawing/2014/main" id="{10BABB77-6364-44B8-82DD-826FB2FC004B}"/>
              </a:ext>
            </a:extLst>
          </p:cNvPr>
          <p:cNvPicPr>
            <a:picLocks xmlns:a="http://schemas.openxmlformats.org/drawingml/2006/main" noChangeAspect="1"/>
          </p:cNvPicPr>
          <p:nvPr/>
        </p:nvPicPr>
        <p:blipFill>
          <a:blip xmlns:r="http://schemas.openxmlformats.org/officeDocument/2006/relationships" xmlns:a="http://schemas.openxmlformats.org/drawingml/2006/main" r:embed="Rbde4c09b75ad4350"/>
          <a:stretch xmlns:a="http://schemas.openxmlformats.org/drawingml/2006/main"/>
        </p:blipFill>
        <p:spPr>
          <a:xfrm xmlns:a="http://schemas.openxmlformats.org/drawingml/2006/main">
            <a:off x="609585" y="2834682"/>
            <a:ext cx="10972526" cy="3337477"/>
          </a:xfrm>
          <a:prstGeom xmlns:a="http://schemas.openxmlformats.org/drawingml/2006/main" prst="rect">
            <a:avLst/>
          </a:prstGeom>
        </p:spPr>
      </p:pic>
    </p:spTree>
    <p:extLst>
      <p:ext uri="{BB962C8B-B14F-4D97-AF65-F5344CB8AC3E}">
        <p14:creationId xmlns:p14="http://schemas.microsoft.com/office/powerpoint/2010/main" val="253315239"/>
      </p:ext>
    </p:extLst>
  </p:cSld>
</p:sld>
</file>

<file path=ppt/slides/slide28.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9CA247B-6375-4F3D-92DF-42A0D88B1DBF}"/>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F18B4D33-906C-4978-8C2A-66DA07DA7F6A}"/>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INDEX, YIELDS AND DURATION</a:t>
            </a:r>
          </a:p>
        </p:txBody>
      </p:sp>
      <p:sp>
        <p:nvSpPr>
          <p:cNvPr id="3" name="">
            <a:extLst xmlns:a="http://schemas.openxmlformats.org/drawingml/2006/main">
              <a:ext uri="{FF2B5EF4-FFF2-40B4-BE49-F238E27FC236}">
                <a16:creationId xmlns:a16="http://schemas.microsoft.com/office/drawing/2014/main" id="{F83E8DE9-BDE2-4DE0-B196-A8940FB45EFF}"/>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28 / 46</a:t>
            </a:r>
          </a:p>
        </p:txBody>
      </p:sp>
      <p:sp>
        <p:nvSpPr>
          <p:cNvPr id="4" name="">
            <a:extLst xmlns:a="http://schemas.openxmlformats.org/drawingml/2006/main">
              <a:ext uri="{FF2B5EF4-FFF2-40B4-BE49-F238E27FC236}">
                <a16:creationId xmlns:a16="http://schemas.microsoft.com/office/drawing/2014/main" id="{8A5AD0C1-4581-4983-B707-37E5ADAC32B7}"/>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061E232-FD72-4DE2-A575-34F69A814566}"/>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Claude accounts for 16 of 26 surviving tests</a:t>
            </a:r>
          </a:p>
        </p:txBody>
      </p:sp>
      <p:sp>
        <p:nvSpPr>
          <p:cNvPr id="6" name="">
            <a:extLst xmlns:a="http://schemas.openxmlformats.org/drawingml/2006/main">
              <a:ext uri="{FF2B5EF4-FFF2-40B4-BE49-F238E27FC236}">
                <a16:creationId xmlns:a16="http://schemas.microsoft.com/office/drawing/2014/main" id="{614DAD91-E043-41DD-8631-536E3C726157}"/>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Exploratory release-window associations; BH adjustment across 198 tests</a:t>
            </a:r>
          </a:p>
        </p:txBody>
      </p:sp>
      <p:sp>
        <p:nvSpPr>
          <p:cNvPr id="7" name="">
            <a:extLst xmlns:a="http://schemas.openxmlformats.org/drawingml/2006/main">
              <a:ext uri="{FF2B5EF4-FFF2-40B4-BE49-F238E27FC236}">
                <a16:creationId xmlns:a16="http://schemas.microsoft.com/office/drawing/2014/main" id="{82EA7BAA-7A0C-4C44-B8CF-1A346627EB69}"/>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ECCB76C-A1F3-48CB-A5BB-D45CD3C8859C}"/>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Benjamini and Hochberg (1995); evaluate/event_study.py.</a:t>
            </a:r>
          </a:p>
        </p:txBody>
      </p:sp>
      <p:sp>
        <p:nvSpPr>
          <p:cNvPr id="9" name="">
            <a:extLst xmlns:a="http://schemas.openxmlformats.org/drawingml/2006/main">
              <a:ext uri="{FF2B5EF4-FFF2-40B4-BE49-F238E27FC236}">
                <a16:creationId xmlns:a16="http://schemas.microsoft.com/office/drawing/2014/main" id="{EF8E5234-2B42-445F-AE7A-682B245C76F4}"/>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C529452-27C2-430B-B87D-313723C5006E}"/>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6E33BE4-16F7-468C-838A-986308538D94}"/>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87CFBBD-A4BE-4603-9384-09543A021A86}"/>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26E6283-6922-4417-9993-69BAF4EE3D10}"/>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00841EB-49ED-4904-97BA-ECC6F10CE556}"/>
              </a:ext>
            </a:extLst>
          </p:cNvPr>
          <p:cNvSpPr>
            <a:spLocks xmlns:a="http://schemas.openxmlformats.org/drawingml/2006/main" noGrp="1"/>
          </p:cNvSpPr>
          <p:nvPr/>
        </p:nvSpPr>
        <p:spPr>
          <a:xfrm xmlns:a="http://schemas.openxmlformats.org/drawingml/2006/main">
            <a:off x="609585" y="1965960"/>
            <a:ext cx="2743131"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4560" b="1">
                <a:solidFill>
                  <a:srgbClr val="151312"/>
                </a:solidFill>
                <a:latin typeface="Arial"/>
                <a:ea typeface="Arial"/>
                <a:cs typeface="Arial"/>
              </a:defRPr>
            </a:defPPr>
            <a:lvl1pPr algn="l">
              <a:defRPr sz="4560" b="1">
                <a:solidFill>
                  <a:srgbClr val="151312"/>
                </a:solidFill>
                <a:latin typeface="Arial"/>
                <a:ea typeface="Arial"/>
                <a:cs typeface="Arial"/>
              </a:defRPr>
            </a:lvl1pPr>
            <a:lvl2pPr algn="l">
              <a:defRPr sz="4560" b="1">
                <a:solidFill>
                  <a:srgbClr val="151312"/>
                </a:solidFill>
                <a:latin typeface="Arial"/>
                <a:ea typeface="Arial"/>
                <a:cs typeface="Arial"/>
              </a:defRPr>
            </a:lvl2pPr>
            <a:lvl3pPr algn="l">
              <a:defRPr sz="4560" b="1">
                <a:solidFill>
                  <a:srgbClr val="151312"/>
                </a:solidFill>
                <a:latin typeface="Arial"/>
                <a:ea typeface="Arial"/>
                <a:cs typeface="Arial"/>
              </a:defRPr>
            </a:lvl3pPr>
            <a:lvl4pPr algn="l">
              <a:defRPr sz="4560" b="1">
                <a:solidFill>
                  <a:srgbClr val="151312"/>
                </a:solidFill>
                <a:latin typeface="Arial"/>
                <a:ea typeface="Arial"/>
                <a:cs typeface="Arial"/>
              </a:defRPr>
            </a:lvl4pPr>
            <a:lvl5pPr algn="l">
              <a:defRPr sz="4560" b="1">
                <a:solidFill>
                  <a:srgbClr val="151312"/>
                </a:solidFill>
                <a:latin typeface="Arial"/>
                <a:ea typeface="Arial"/>
                <a:cs typeface="Arial"/>
              </a:defRPr>
            </a:lvl5pPr>
            <a:lvl6pPr algn="l">
              <a:defRPr sz="4560" b="1">
                <a:solidFill>
                  <a:srgbClr val="151312"/>
                </a:solidFill>
                <a:latin typeface="Arial"/>
                <a:ea typeface="Arial"/>
                <a:cs typeface="Arial"/>
              </a:defRPr>
            </a:lvl6pPr>
            <a:lvl7pPr algn="l">
              <a:defRPr sz="4560" b="1">
                <a:solidFill>
                  <a:srgbClr val="151312"/>
                </a:solidFill>
                <a:latin typeface="Arial"/>
                <a:ea typeface="Arial"/>
                <a:cs typeface="Arial"/>
              </a:defRPr>
            </a:lvl7pPr>
            <a:lvl8pPr algn="l">
              <a:defRPr sz="4560" b="1">
                <a:solidFill>
                  <a:srgbClr val="151312"/>
                </a:solidFill>
                <a:latin typeface="Arial"/>
                <a:ea typeface="Arial"/>
                <a:cs typeface="Arial"/>
              </a:defRPr>
            </a:lvl8pPr>
            <a:lvl9pPr algn="l">
              <a:defRPr sz="4560" b="1">
                <a:solidFill>
                  <a:srgbClr val="151312"/>
                </a:solidFill>
                <a:latin typeface="Arial"/>
                <a:ea typeface="Arial"/>
                <a:cs typeface="Arial"/>
              </a:defRPr>
            </a:lvl9pPr>
          </a:lstStyle>
          <a:p xmlns:a="http://schemas.openxmlformats.org/drawingml/2006/main">
            <a:pPr algn="l">
              <a:defRPr sz="4560" b="1">
                <a:solidFill>
                  <a:srgbClr val="151312"/>
                </a:solidFill>
                <a:latin typeface="Arial"/>
                <a:ea typeface="Arial"/>
                <a:cs typeface="Arial"/>
              </a:defRPr>
            </a:pPr>
            <a:r>
              <a:rPr sz="4560" b="1">
                <a:solidFill>
                  <a:srgbClr val="151312"/>
                </a:solidFill>
                <a:latin typeface="Arial"/>
                <a:ea typeface="Arial"/>
                <a:cs typeface="Arial"/>
              </a:rPr>
              <a:t>26 / 198</a:t>
            </a:r>
          </a:p>
        </p:txBody>
      </p:sp>
      <p:sp>
        <p:nvSpPr>
          <p:cNvPr id="15" name="">
            <a:extLst xmlns:a="http://schemas.openxmlformats.org/drawingml/2006/main">
              <a:ext uri="{FF2B5EF4-FFF2-40B4-BE49-F238E27FC236}">
                <a16:creationId xmlns:a16="http://schemas.microsoft.com/office/drawing/2014/main" id="{1016AF6E-F002-468C-84B3-2BF8A45758FD}"/>
              </a:ext>
            </a:extLst>
          </p:cNvPr>
          <p:cNvSpPr>
            <a:spLocks xmlns:a="http://schemas.openxmlformats.org/drawingml/2006/main" noGrp="1"/>
          </p:cNvSpPr>
          <p:nvPr/>
        </p:nvSpPr>
        <p:spPr>
          <a:xfrm xmlns:a="http://schemas.openxmlformats.org/drawingml/2006/main">
            <a:off x="609585" y="2781300"/>
            <a:ext cx="2743131"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main release-window tests with Benjamini-Hochberg q below 0.10</a:t>
            </a:r>
          </a:p>
        </p:txBody>
      </p:sp>
      <p:sp>
        <p:nvSpPr>
          <p:cNvPr id="16" name="">
            <a:extLst xmlns:a="http://schemas.openxmlformats.org/drawingml/2006/main">
              <a:ext uri="{FF2B5EF4-FFF2-40B4-BE49-F238E27FC236}">
                <a16:creationId xmlns:a16="http://schemas.microsoft.com/office/drawing/2014/main" id="{3B6E667A-B3CA-4ADB-8EED-77E5CFC765B9}"/>
              </a:ext>
            </a:extLst>
          </p:cNvPr>
          <p:cNvSpPr>
            <a:spLocks xmlns:a="http://schemas.openxmlformats.org/drawingml/2006/main" noGrp="1"/>
          </p:cNvSpPr>
          <p:nvPr/>
        </p:nvSpPr>
        <p:spPr>
          <a:xfrm xmlns:a="http://schemas.openxmlformats.org/drawingml/2006/main">
            <a:off x="609585" y="364236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6B91523-53FD-4A3F-91C1-47F48087B8E3}"/>
              </a:ext>
            </a:extLst>
          </p:cNvPr>
          <p:cNvSpPr>
            <a:spLocks xmlns:a="http://schemas.openxmlformats.org/drawingml/2006/main" noGrp="1"/>
          </p:cNvSpPr>
          <p:nvPr/>
        </p:nvSpPr>
        <p:spPr>
          <a:xfrm xmlns:a="http://schemas.openxmlformats.org/drawingml/2006/main">
            <a:off x="609585" y="371856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Claude: 16 of 54 tests</a:t>
            </a:r>
          </a:p>
        </p:txBody>
      </p:sp>
      <p:sp>
        <p:nvSpPr>
          <p:cNvPr id="18" name="">
            <a:extLst xmlns:a="http://schemas.openxmlformats.org/drawingml/2006/main">
              <a:ext uri="{FF2B5EF4-FFF2-40B4-BE49-F238E27FC236}">
                <a16:creationId xmlns:a16="http://schemas.microsoft.com/office/drawing/2014/main" id="{5011D66C-184E-49F9-A79D-468AB6BB0E44}"/>
              </a:ext>
            </a:extLst>
          </p:cNvPr>
          <p:cNvSpPr>
            <a:spLocks xmlns:a="http://schemas.openxmlformats.org/drawingml/2006/main" noGrp="1"/>
          </p:cNvSpPr>
          <p:nvPr/>
        </p:nvSpPr>
        <p:spPr>
          <a:xfrm xmlns:a="http://schemas.openxmlformats.org/drawingml/2006/main">
            <a:off x="609585" y="448564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05E6E78-87C7-4D65-80CF-ADAD3F430E87}"/>
              </a:ext>
            </a:extLst>
          </p:cNvPr>
          <p:cNvSpPr>
            <a:spLocks xmlns:a="http://schemas.openxmlformats.org/drawingml/2006/main" noGrp="1"/>
          </p:cNvSpPr>
          <p:nvPr/>
        </p:nvSpPr>
        <p:spPr>
          <a:xfrm xmlns:a="http://schemas.openxmlformats.org/drawingml/2006/main">
            <a:off x="609585" y="456184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Dictionary, TF-IDF and embeddings: 10 of 144</a:t>
            </a:r>
          </a:p>
        </p:txBody>
      </p:sp>
      <p:sp>
        <p:nvSpPr>
          <p:cNvPr id="20" name="">
            <a:extLst xmlns:a="http://schemas.openxmlformats.org/drawingml/2006/main">
              <a:ext uri="{FF2B5EF4-FFF2-40B4-BE49-F238E27FC236}">
                <a16:creationId xmlns:a16="http://schemas.microsoft.com/office/drawing/2014/main" id="{7D8BA912-EE33-4442-92C0-323C26AAA148}"/>
              </a:ext>
            </a:extLst>
          </p:cNvPr>
          <p:cNvSpPr>
            <a:spLocks xmlns:a="http://schemas.openxmlformats.org/drawingml/2006/main" noGrp="1"/>
          </p:cNvSpPr>
          <p:nvPr/>
        </p:nvSpPr>
        <p:spPr>
          <a:xfrm xmlns:a="http://schemas.openxmlformats.org/drawingml/2006/main">
            <a:off x="609585" y="532892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06A810E-7887-4E52-90C8-F3A6C8033CA0}"/>
              </a:ext>
            </a:extLst>
          </p:cNvPr>
          <p:cNvSpPr>
            <a:spLocks xmlns:a="http://schemas.openxmlformats.org/drawingml/2006/main" noGrp="1"/>
          </p:cNvSpPr>
          <p:nvPr/>
        </p:nvSpPr>
        <p:spPr>
          <a:xfrm xmlns:a="http://schemas.openxmlformats.org/drawingml/2006/main">
            <a:off x="609585" y="540512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Placebo, drift, controls and split samples are separate diagnostics</a:t>
            </a:r>
          </a:p>
        </p:txBody>
      </p:sp>
      <p:pic>
        <p:nvPicPr>
          <p:cNvPr id="22" name="">
            <a:extLst xmlns:a="http://schemas.openxmlformats.org/drawingml/2006/main">
              <a:ext uri="{FF2B5EF4-FFF2-40B4-BE49-F238E27FC236}">
                <a16:creationId xmlns:a16="http://schemas.microsoft.com/office/drawing/2014/main" id="{54BA6A39-A7A1-408D-AD55-35B770CD5041}"/>
              </a:ext>
            </a:extLst>
          </p:cNvPr>
          <p:cNvPicPr>
            <a:picLocks xmlns:a="http://schemas.openxmlformats.org/drawingml/2006/main" noChangeAspect="1"/>
          </p:cNvPicPr>
          <p:nvPr/>
        </p:nvPicPr>
        <p:blipFill>
          <a:blip xmlns:r="http://schemas.openxmlformats.org/officeDocument/2006/relationships" xmlns:a="http://schemas.openxmlformats.org/drawingml/2006/main" r:embed="Rf0fc88fa003b42fa"/>
          <a:stretch xmlns:a="http://schemas.openxmlformats.org/drawingml/2006/main"/>
        </p:blipFill>
        <p:spPr>
          <a:xfrm xmlns:a="http://schemas.openxmlformats.org/drawingml/2006/main">
            <a:off x="3718467" y="1920293"/>
            <a:ext cx="7863643" cy="4251854"/>
          </a:xfrm>
          <a:prstGeom xmlns:a="http://schemas.openxmlformats.org/drawingml/2006/main" prst="rect">
            <a:avLst/>
          </a:prstGeom>
        </p:spPr>
      </p:pic>
    </p:spTree>
    <p:extLst>
      <p:ext uri="{BB962C8B-B14F-4D97-AF65-F5344CB8AC3E}">
        <p14:creationId xmlns:p14="http://schemas.microsoft.com/office/powerpoint/2010/main" val="1549152320"/>
      </p:ext>
    </p:extLst>
  </p:cSld>
</p:sld>
</file>

<file path=ppt/slides/slide29.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F5C8C353-C6CE-4F73-8905-F7F12B54F725}"/>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4824C11D-9A38-4C89-B336-C173D6F37E16}"/>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INDEX, YIELDS AND DURATION</a:t>
            </a:r>
          </a:p>
        </p:txBody>
      </p:sp>
      <p:sp>
        <p:nvSpPr>
          <p:cNvPr id="3" name="">
            <a:extLst xmlns:a="http://schemas.openxmlformats.org/drawingml/2006/main">
              <a:ext uri="{FF2B5EF4-FFF2-40B4-BE49-F238E27FC236}">
                <a16:creationId xmlns:a16="http://schemas.microsoft.com/office/drawing/2014/main" id="{68EF6EC2-3567-412C-BD0A-59A85B263D1F}"/>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29 / 46</a:t>
            </a:r>
          </a:p>
        </p:txBody>
      </p:sp>
      <p:sp>
        <p:nvSpPr>
          <p:cNvPr id="4" name="">
            <a:extLst xmlns:a="http://schemas.openxmlformats.org/drawingml/2006/main">
              <a:ext uri="{FF2B5EF4-FFF2-40B4-BE49-F238E27FC236}">
                <a16:creationId xmlns:a16="http://schemas.microsoft.com/office/drawing/2014/main" id="{EB9FD5A0-88BB-44BC-A267-A19743355660}"/>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430D431-6CAD-4ECB-992A-0859322C1A5A}"/>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A trade fixed in advance</a:t>
            </a:r>
          </a:p>
        </p:txBody>
      </p:sp>
      <p:sp>
        <p:nvSpPr>
          <p:cNvPr id="6" name="">
            <a:extLst xmlns:a="http://schemas.openxmlformats.org/drawingml/2006/main">
              <a:ext uri="{FF2B5EF4-FFF2-40B4-BE49-F238E27FC236}">
                <a16:creationId xmlns:a16="http://schemas.microsoft.com/office/drawing/2014/main" id="{D74B4615-3259-4FAC-9F9D-6262875C395B}"/>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Standardize, cap, hold five days, pay costs: the code is the pre-registration</a:t>
            </a:r>
          </a:p>
        </p:txBody>
      </p:sp>
      <p:sp>
        <p:nvSpPr>
          <p:cNvPr id="7" name="">
            <a:extLst xmlns:a="http://schemas.openxmlformats.org/drawingml/2006/main">
              <a:ext uri="{FF2B5EF4-FFF2-40B4-BE49-F238E27FC236}">
                <a16:creationId xmlns:a16="http://schemas.microsoft.com/office/drawing/2014/main" id="{0AEDA43A-730E-4BDC-AED0-2631C5AE7AA9}"/>
              </a:ext>
            </a:extLst>
          </p:cNvPr>
          <p:cNvSpPr>
            <a:spLocks xmlns:a="http://schemas.openxmlformats.org/drawingml/2006/main" noGrp="1"/>
          </p:cNvSpPr>
          <p:nvPr/>
        </p:nvSpPr>
        <p:spPr>
          <a:xfrm xmlns:a="http://schemas.openxmlformats.org/drawingml/2006/main">
            <a:off x="609585" y="5928360"/>
            <a:ext cx="22859" cy="28956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A902D13-0C49-436C-9918-19C113C029B1}"/>
              </a:ext>
            </a:extLst>
          </p:cNvPr>
          <p:cNvSpPr>
            <a:spLocks xmlns:a="http://schemas.openxmlformats.org/drawingml/2006/main" noGrp="1"/>
          </p:cNvSpPr>
          <p:nvPr/>
        </p:nvSpPr>
        <p:spPr>
          <a:xfrm xmlns:a="http://schemas.openxmlformats.org/drawingml/2006/main">
            <a:off x="769601" y="5920740"/>
            <a:ext cx="1066773"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00" b="1">
                <a:solidFill>
                  <a:srgbClr val="151312"/>
                </a:solidFill>
                <a:latin typeface="Arial"/>
                <a:ea typeface="Arial"/>
                <a:cs typeface="Arial"/>
              </a:defRPr>
            </a:defPPr>
            <a:lvl1pPr algn="l">
              <a:defRPr sz="900" b="1">
                <a:solidFill>
                  <a:srgbClr val="151312"/>
                </a:solidFill>
                <a:latin typeface="Arial"/>
                <a:ea typeface="Arial"/>
                <a:cs typeface="Arial"/>
              </a:defRPr>
            </a:lvl1pPr>
            <a:lvl2pPr algn="l">
              <a:defRPr sz="900" b="1">
                <a:solidFill>
                  <a:srgbClr val="151312"/>
                </a:solidFill>
                <a:latin typeface="Arial"/>
                <a:ea typeface="Arial"/>
                <a:cs typeface="Arial"/>
              </a:defRPr>
            </a:lvl2pPr>
            <a:lvl3pPr algn="l">
              <a:defRPr sz="900" b="1">
                <a:solidFill>
                  <a:srgbClr val="151312"/>
                </a:solidFill>
                <a:latin typeface="Arial"/>
                <a:ea typeface="Arial"/>
                <a:cs typeface="Arial"/>
              </a:defRPr>
            </a:lvl3pPr>
            <a:lvl4pPr algn="l">
              <a:defRPr sz="900" b="1">
                <a:solidFill>
                  <a:srgbClr val="151312"/>
                </a:solidFill>
                <a:latin typeface="Arial"/>
                <a:ea typeface="Arial"/>
                <a:cs typeface="Arial"/>
              </a:defRPr>
            </a:lvl4pPr>
            <a:lvl5pPr algn="l">
              <a:defRPr sz="900" b="1">
                <a:solidFill>
                  <a:srgbClr val="151312"/>
                </a:solidFill>
                <a:latin typeface="Arial"/>
                <a:ea typeface="Arial"/>
                <a:cs typeface="Arial"/>
              </a:defRPr>
            </a:lvl5pPr>
            <a:lvl6pPr algn="l">
              <a:defRPr sz="900" b="1">
                <a:solidFill>
                  <a:srgbClr val="151312"/>
                </a:solidFill>
                <a:latin typeface="Arial"/>
                <a:ea typeface="Arial"/>
                <a:cs typeface="Arial"/>
              </a:defRPr>
            </a:lvl6pPr>
            <a:lvl7pPr algn="l">
              <a:defRPr sz="900" b="1">
                <a:solidFill>
                  <a:srgbClr val="151312"/>
                </a:solidFill>
                <a:latin typeface="Arial"/>
                <a:ea typeface="Arial"/>
                <a:cs typeface="Arial"/>
              </a:defRPr>
            </a:lvl7pPr>
            <a:lvl8pPr algn="l">
              <a:defRPr sz="900" b="1">
                <a:solidFill>
                  <a:srgbClr val="151312"/>
                </a:solidFill>
                <a:latin typeface="Arial"/>
                <a:ea typeface="Arial"/>
                <a:cs typeface="Arial"/>
              </a:defRPr>
            </a:lvl8pPr>
            <a:lvl9pPr algn="l">
              <a:defRPr sz="900" b="1">
                <a:solidFill>
                  <a:srgbClr val="151312"/>
                </a:solidFill>
                <a:latin typeface="Arial"/>
                <a:ea typeface="Arial"/>
                <a:cs typeface="Arial"/>
              </a:defRPr>
            </a:lvl9pPr>
          </a:lstStyle>
          <a:p xmlns:a="http://schemas.openxmlformats.org/drawingml/2006/main">
            <a:pPr algn="l">
              <a:defRPr sz="900" b="1">
                <a:solidFill>
                  <a:srgbClr val="151312"/>
                </a:solidFill>
                <a:latin typeface="Arial"/>
                <a:ea typeface="Arial"/>
                <a:cs typeface="Arial"/>
              </a:defRPr>
            </a:pPr>
            <a:r>
              <a:rPr sz="900" b="1">
                <a:solidFill>
                  <a:srgbClr val="151312"/>
                </a:solidFill>
                <a:latin typeface="Arial"/>
                <a:ea typeface="Arial"/>
                <a:cs typeface="Arial"/>
              </a:rPr>
              <a:t>For the desk</a:t>
            </a:r>
          </a:p>
        </p:txBody>
      </p:sp>
      <p:sp>
        <p:nvSpPr>
          <p:cNvPr id="9" name="">
            <a:extLst xmlns:a="http://schemas.openxmlformats.org/drawingml/2006/main">
              <a:ext uri="{FF2B5EF4-FFF2-40B4-BE49-F238E27FC236}">
                <a16:creationId xmlns:a16="http://schemas.microsoft.com/office/drawing/2014/main" id="{B6776D77-4987-4911-B999-F576041B8E6E}"/>
              </a:ext>
            </a:extLst>
          </p:cNvPr>
          <p:cNvSpPr>
            <a:spLocks xmlns:a="http://schemas.openxmlformats.org/drawingml/2006/main" noGrp="1"/>
          </p:cNvSpPr>
          <p:nvPr/>
        </p:nvSpPr>
        <p:spPr>
          <a:xfrm xmlns:a="http://schemas.openxmlformats.org/drawingml/2006/main">
            <a:off x="1950671" y="5913120"/>
            <a:ext cx="9631439"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0">
                <a:solidFill>
                  <a:srgbClr val="45413C"/>
                </a:solidFill>
                <a:latin typeface="Arial"/>
                <a:ea typeface="Arial"/>
                <a:cs typeface="Arial"/>
              </a:defRPr>
            </a:defPPr>
            <a:lvl1pPr algn="l">
              <a:defRPr sz="1260" b="0">
                <a:solidFill>
                  <a:srgbClr val="45413C"/>
                </a:solidFill>
                <a:latin typeface="Arial"/>
                <a:ea typeface="Arial"/>
                <a:cs typeface="Arial"/>
              </a:defRPr>
            </a:lvl1pPr>
            <a:lvl2pPr algn="l">
              <a:defRPr sz="1260" b="0">
                <a:solidFill>
                  <a:srgbClr val="45413C"/>
                </a:solidFill>
                <a:latin typeface="Arial"/>
                <a:ea typeface="Arial"/>
                <a:cs typeface="Arial"/>
              </a:defRPr>
            </a:lvl2pPr>
            <a:lvl3pPr algn="l">
              <a:defRPr sz="1260" b="0">
                <a:solidFill>
                  <a:srgbClr val="45413C"/>
                </a:solidFill>
                <a:latin typeface="Arial"/>
                <a:ea typeface="Arial"/>
                <a:cs typeface="Arial"/>
              </a:defRPr>
            </a:lvl3pPr>
            <a:lvl4pPr algn="l">
              <a:defRPr sz="1260" b="0">
                <a:solidFill>
                  <a:srgbClr val="45413C"/>
                </a:solidFill>
                <a:latin typeface="Arial"/>
                <a:ea typeface="Arial"/>
                <a:cs typeface="Arial"/>
              </a:defRPr>
            </a:lvl4pPr>
            <a:lvl5pPr algn="l">
              <a:defRPr sz="1260" b="0">
                <a:solidFill>
                  <a:srgbClr val="45413C"/>
                </a:solidFill>
                <a:latin typeface="Arial"/>
                <a:ea typeface="Arial"/>
                <a:cs typeface="Arial"/>
              </a:defRPr>
            </a:lvl5pPr>
            <a:lvl6pPr algn="l">
              <a:defRPr sz="1260" b="0">
                <a:solidFill>
                  <a:srgbClr val="45413C"/>
                </a:solidFill>
                <a:latin typeface="Arial"/>
                <a:ea typeface="Arial"/>
                <a:cs typeface="Arial"/>
              </a:defRPr>
            </a:lvl6pPr>
            <a:lvl7pPr algn="l">
              <a:defRPr sz="1260" b="0">
                <a:solidFill>
                  <a:srgbClr val="45413C"/>
                </a:solidFill>
                <a:latin typeface="Arial"/>
                <a:ea typeface="Arial"/>
                <a:cs typeface="Arial"/>
              </a:defRPr>
            </a:lvl7pPr>
            <a:lvl8pPr algn="l">
              <a:defRPr sz="1260" b="0">
                <a:solidFill>
                  <a:srgbClr val="45413C"/>
                </a:solidFill>
                <a:latin typeface="Arial"/>
                <a:ea typeface="Arial"/>
                <a:cs typeface="Arial"/>
              </a:defRPr>
            </a:lvl8pPr>
            <a:lvl9pPr algn="l">
              <a:defRPr sz="1260" b="0">
                <a:solidFill>
                  <a:srgbClr val="45413C"/>
                </a:solidFill>
                <a:latin typeface="Arial"/>
                <a:ea typeface="Arial"/>
                <a:cs typeface="Arial"/>
              </a:defRPr>
            </a:lvl9pPr>
          </a:lstStyle>
          <a:p xmlns:a="http://schemas.openxmlformats.org/drawingml/2006/main">
            <a:pPr algn="l">
              <a:defRPr sz="1260" b="0">
                <a:solidFill>
                  <a:srgbClr val="45413C"/>
                </a:solidFill>
                <a:latin typeface="Arial"/>
                <a:ea typeface="Arial"/>
                <a:cs typeface="Arial"/>
              </a:defRPr>
            </a:pPr>
            <a:r>
              <a:rPr sz="1260" b="0">
                <a:solidFill>
                  <a:srgbClr val="45413C"/>
                </a:solidFill>
                <a:latin typeface="Arial"/>
                <a:ea typeface="Arial"/>
                <a:cs typeface="Arial"/>
              </a:rPr>
              <a:t>Every parameter was written down before the first run; the code is the pre-registration.</a:t>
            </a:r>
          </a:p>
        </p:txBody>
      </p:sp>
      <p:sp>
        <p:nvSpPr>
          <p:cNvPr id="10" name="">
            <a:extLst xmlns:a="http://schemas.openxmlformats.org/drawingml/2006/main">
              <a:ext uri="{FF2B5EF4-FFF2-40B4-BE49-F238E27FC236}">
                <a16:creationId xmlns:a16="http://schemas.microsoft.com/office/drawing/2014/main" id="{9939ACA9-7DE9-439D-B4AD-4B4E872D1787}"/>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127A7C1-45C4-41F6-A578-6B80F1CA0E03}"/>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Bailey and López de Prado (2012, 2014); evaluate/backtest.py.</a:t>
            </a:r>
          </a:p>
        </p:txBody>
      </p:sp>
      <p:sp>
        <p:nvSpPr>
          <p:cNvPr id="12" name="">
            <a:extLst xmlns:a="http://schemas.openxmlformats.org/drawingml/2006/main">
              <a:ext uri="{FF2B5EF4-FFF2-40B4-BE49-F238E27FC236}">
                <a16:creationId xmlns:a16="http://schemas.microsoft.com/office/drawing/2014/main" id="{CBF530EE-D0C0-4C8E-98AD-DBA5238DEC38}"/>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D0CC24B-0763-45F7-A372-8D98A5BEEF00}"/>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4A222DE-A057-43F1-AD98-0B3957DA310B}"/>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300D7BD-C58A-4AD5-AA96-2DB990C02B76}"/>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07260A6-2D04-4B7F-947F-D3ED30A2BB4B}"/>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FB76952-73C7-4ED0-8AB7-D982446304B5}"/>
              </a:ext>
            </a:extLst>
          </p:cNvPr>
          <p:cNvSpPr>
            <a:spLocks xmlns:a="http://schemas.openxmlformats.org/drawingml/2006/main" noGrp="1"/>
          </p:cNvSpPr>
          <p:nvPr/>
        </p:nvSpPr>
        <p:spPr>
          <a:xfrm xmlns:a="http://schemas.openxmlformats.org/drawingml/2006/main">
            <a:off x="8838979" y="1965960"/>
            <a:ext cx="2743131"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4560" b="1">
                <a:solidFill>
                  <a:srgbClr val="151312"/>
                </a:solidFill>
                <a:latin typeface="Arial"/>
                <a:ea typeface="Arial"/>
                <a:cs typeface="Arial"/>
              </a:defRPr>
            </a:defPPr>
            <a:lvl1pPr algn="l">
              <a:defRPr sz="4560" b="1">
                <a:solidFill>
                  <a:srgbClr val="151312"/>
                </a:solidFill>
                <a:latin typeface="Arial"/>
                <a:ea typeface="Arial"/>
                <a:cs typeface="Arial"/>
              </a:defRPr>
            </a:lvl1pPr>
            <a:lvl2pPr algn="l">
              <a:defRPr sz="4560" b="1">
                <a:solidFill>
                  <a:srgbClr val="151312"/>
                </a:solidFill>
                <a:latin typeface="Arial"/>
                <a:ea typeface="Arial"/>
                <a:cs typeface="Arial"/>
              </a:defRPr>
            </a:lvl2pPr>
            <a:lvl3pPr algn="l">
              <a:defRPr sz="4560" b="1">
                <a:solidFill>
                  <a:srgbClr val="151312"/>
                </a:solidFill>
                <a:latin typeface="Arial"/>
                <a:ea typeface="Arial"/>
                <a:cs typeface="Arial"/>
              </a:defRPr>
            </a:lvl3pPr>
            <a:lvl4pPr algn="l">
              <a:defRPr sz="4560" b="1">
                <a:solidFill>
                  <a:srgbClr val="151312"/>
                </a:solidFill>
                <a:latin typeface="Arial"/>
                <a:ea typeface="Arial"/>
                <a:cs typeface="Arial"/>
              </a:defRPr>
            </a:lvl4pPr>
            <a:lvl5pPr algn="l">
              <a:defRPr sz="4560" b="1">
                <a:solidFill>
                  <a:srgbClr val="151312"/>
                </a:solidFill>
                <a:latin typeface="Arial"/>
                <a:ea typeface="Arial"/>
                <a:cs typeface="Arial"/>
              </a:defRPr>
            </a:lvl5pPr>
            <a:lvl6pPr algn="l">
              <a:defRPr sz="4560" b="1">
                <a:solidFill>
                  <a:srgbClr val="151312"/>
                </a:solidFill>
                <a:latin typeface="Arial"/>
                <a:ea typeface="Arial"/>
                <a:cs typeface="Arial"/>
              </a:defRPr>
            </a:lvl6pPr>
            <a:lvl7pPr algn="l">
              <a:defRPr sz="4560" b="1">
                <a:solidFill>
                  <a:srgbClr val="151312"/>
                </a:solidFill>
                <a:latin typeface="Arial"/>
                <a:ea typeface="Arial"/>
                <a:cs typeface="Arial"/>
              </a:defRPr>
            </a:lvl7pPr>
            <a:lvl8pPr algn="l">
              <a:defRPr sz="4560" b="1">
                <a:solidFill>
                  <a:srgbClr val="151312"/>
                </a:solidFill>
                <a:latin typeface="Arial"/>
                <a:ea typeface="Arial"/>
                <a:cs typeface="Arial"/>
              </a:defRPr>
            </a:lvl8pPr>
            <a:lvl9pPr algn="l">
              <a:defRPr sz="4560" b="1">
                <a:solidFill>
                  <a:srgbClr val="151312"/>
                </a:solidFill>
                <a:latin typeface="Arial"/>
                <a:ea typeface="Arial"/>
                <a:cs typeface="Arial"/>
              </a:defRPr>
            </a:lvl9pPr>
          </a:lstStyle>
          <a:p xmlns:a="http://schemas.openxmlformats.org/drawingml/2006/main">
            <a:pPr algn="l">
              <a:defRPr sz="4560" b="1">
                <a:solidFill>
                  <a:srgbClr val="151312"/>
                </a:solidFill>
                <a:latin typeface="Arial"/>
                <a:ea typeface="Arial"/>
                <a:cs typeface="Arial"/>
              </a:defRPr>
            </a:pPr>
            <a:r>
              <a:rPr sz="4560" b="1">
                <a:solidFill>
                  <a:srgbClr val="151312"/>
                </a:solidFill>
                <a:latin typeface="Arial"/>
                <a:ea typeface="Arial"/>
                <a:cs typeface="Arial"/>
              </a:rPr>
              <a:t>−0.18</a:t>
            </a:r>
          </a:p>
        </p:txBody>
      </p:sp>
      <p:sp>
        <p:nvSpPr>
          <p:cNvPr id="18" name="">
            <a:extLst xmlns:a="http://schemas.openxmlformats.org/drawingml/2006/main">
              <a:ext uri="{FF2B5EF4-FFF2-40B4-BE49-F238E27FC236}">
                <a16:creationId xmlns:a16="http://schemas.microsoft.com/office/drawing/2014/main" id="{EB6DE543-D0A5-4C35-87E5-29DA234B6DBA}"/>
              </a:ext>
            </a:extLst>
          </p:cNvPr>
          <p:cNvSpPr>
            <a:spLocks xmlns:a="http://schemas.openxmlformats.org/drawingml/2006/main" noGrp="1"/>
          </p:cNvSpPr>
          <p:nvPr/>
        </p:nvSpPr>
        <p:spPr>
          <a:xfrm xmlns:a="http://schemas.openxmlformats.org/drawingml/2006/main">
            <a:off x="8838979" y="2781300"/>
            <a:ext cx="2743131"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Sharpe of the pre-registered tilt: Claude on minutes and speeches, next-day entry</a:t>
            </a:r>
          </a:p>
        </p:txBody>
      </p:sp>
      <p:sp>
        <p:nvSpPr>
          <p:cNvPr id="19" name="">
            <a:extLst xmlns:a="http://schemas.openxmlformats.org/drawingml/2006/main">
              <a:ext uri="{FF2B5EF4-FFF2-40B4-BE49-F238E27FC236}">
                <a16:creationId xmlns:a16="http://schemas.microsoft.com/office/drawing/2014/main" id="{EF321AA2-1345-481F-9040-C5BB0AC7A67D}"/>
              </a:ext>
            </a:extLst>
          </p:cNvPr>
          <p:cNvSpPr>
            <a:spLocks xmlns:a="http://schemas.openxmlformats.org/drawingml/2006/main" noGrp="1"/>
          </p:cNvSpPr>
          <p:nvPr/>
        </p:nvSpPr>
        <p:spPr>
          <a:xfrm xmlns:a="http://schemas.openxmlformats.org/drawingml/2006/main">
            <a:off x="8838979" y="364236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5A2C895-F64E-4787-BDCE-61A0193A30C3}"/>
              </a:ext>
            </a:extLst>
          </p:cNvPr>
          <p:cNvSpPr>
            <a:spLocks xmlns:a="http://schemas.openxmlformats.org/drawingml/2006/main" noGrp="1"/>
          </p:cNvSpPr>
          <p:nvPr/>
        </p:nvSpPr>
        <p:spPr>
          <a:xfrm xmlns:a="http://schemas.openxmlformats.org/drawingml/2006/main">
            <a:off x="8838979" y="3718560"/>
            <a:ext cx="2743131" cy="566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Newey-West t = −0.79; hit rate 51%</a:t>
            </a:r>
          </a:p>
        </p:txBody>
      </p:sp>
      <p:sp>
        <p:nvSpPr>
          <p:cNvPr id="21" name="">
            <a:extLst xmlns:a="http://schemas.openxmlformats.org/drawingml/2006/main">
              <a:ext uri="{FF2B5EF4-FFF2-40B4-BE49-F238E27FC236}">
                <a16:creationId xmlns:a16="http://schemas.microsoft.com/office/drawing/2014/main" id="{1637AE3F-A634-48CD-BF7B-AFBEFE6453BD}"/>
              </a:ext>
            </a:extLst>
          </p:cNvPr>
          <p:cNvSpPr>
            <a:spLocks xmlns:a="http://schemas.openxmlformats.org/drawingml/2006/main" noGrp="1"/>
          </p:cNvSpPr>
          <p:nvPr/>
        </p:nvSpPr>
        <p:spPr>
          <a:xfrm xmlns:a="http://schemas.openxmlformats.org/drawingml/2006/main">
            <a:off x="8838979" y="433832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3CDF376-7F38-43E2-AD3C-F1339919CAEC}"/>
              </a:ext>
            </a:extLst>
          </p:cNvPr>
          <p:cNvSpPr>
            <a:spLocks xmlns:a="http://schemas.openxmlformats.org/drawingml/2006/main" noGrp="1"/>
          </p:cNvSpPr>
          <p:nvPr/>
        </p:nvSpPr>
        <p:spPr>
          <a:xfrm xmlns:a="http://schemas.openxmlformats.org/drawingml/2006/main">
            <a:off x="8838979" y="4414520"/>
            <a:ext cx="2743131" cy="566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Shuffled-score placebo p = 0.28 (500 draws)</a:t>
            </a:r>
          </a:p>
        </p:txBody>
      </p:sp>
      <p:sp>
        <p:nvSpPr>
          <p:cNvPr id="23" name="">
            <a:extLst xmlns:a="http://schemas.openxmlformats.org/drawingml/2006/main">
              <a:ext uri="{FF2B5EF4-FFF2-40B4-BE49-F238E27FC236}">
                <a16:creationId xmlns:a16="http://schemas.microsoft.com/office/drawing/2014/main" id="{80887280-D857-43F0-A9AF-B834866EDBC4}"/>
              </a:ext>
            </a:extLst>
          </p:cNvPr>
          <p:cNvSpPr>
            <a:spLocks xmlns:a="http://schemas.openxmlformats.org/drawingml/2006/main" noGrp="1"/>
          </p:cNvSpPr>
          <p:nvPr/>
        </p:nvSpPr>
        <p:spPr>
          <a:xfrm xmlns:a="http://schemas.openxmlformats.org/drawingml/2006/main">
            <a:off x="8838979" y="503428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94C0149-22DF-4E49-9FAE-075369029CBF}"/>
              </a:ext>
            </a:extLst>
          </p:cNvPr>
          <p:cNvSpPr>
            <a:spLocks xmlns:a="http://schemas.openxmlformats.org/drawingml/2006/main" noGrp="1"/>
          </p:cNvSpPr>
          <p:nvPr/>
        </p:nvSpPr>
        <p:spPr>
          <a:xfrm xmlns:a="http://schemas.openxmlformats.org/drawingml/2006/main">
            <a:off x="8838979" y="5110480"/>
            <a:ext cx="2743131" cy="566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Probabilistic Sharpe 22%; −10 bp a year on AGG</a:t>
            </a:r>
          </a:p>
        </p:txBody>
      </p:sp>
      <p:sp>
        <p:nvSpPr>
          <p:cNvPr id="25" name="">
            <a:extLst xmlns:a="http://schemas.openxmlformats.org/drawingml/2006/main">
              <a:ext uri="{FF2B5EF4-FFF2-40B4-BE49-F238E27FC236}">
                <a16:creationId xmlns:a16="http://schemas.microsoft.com/office/drawing/2014/main" id="{FDC54C9E-BDA0-4073-B640-4F142AE7F5E4}"/>
              </a:ext>
            </a:extLst>
          </p:cNvPr>
          <p:cNvSpPr>
            <a:spLocks xmlns:a="http://schemas.openxmlformats.org/drawingml/2006/main" noGrp="1"/>
          </p:cNvSpPr>
          <p:nvPr/>
        </p:nvSpPr>
        <p:spPr>
          <a:xfrm xmlns:a="http://schemas.openxmlformats.org/drawingml/2006/main">
            <a:off x="609585" y="1920240"/>
            <a:ext cx="7863643" cy="3810000"/>
          </a:xfrm>
          <a:prstGeom xmlns:a="http://schemas.openxmlformats.org/drawingml/2006/main" prst="rect">
            <a:avLst/>
          </a:prstGeom>
          <a:solidFill xmlns:a="http://schemas.openxmlformats.org/drawingml/2006/main">
            <a:srgbClr val="F3F0E9"/>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F3B598D-18BD-4A5D-85C3-A9F7C0C2D2C3}"/>
              </a:ext>
            </a:extLst>
          </p:cNvPr>
          <p:cNvSpPr>
            <a:spLocks xmlns:a="http://schemas.openxmlformats.org/drawingml/2006/main" noGrp="1"/>
          </p:cNvSpPr>
          <p:nvPr/>
        </p:nvSpPr>
        <p:spPr>
          <a:xfrm xmlns:a="http://schemas.openxmlformats.org/drawingml/2006/main">
            <a:off x="609585" y="1920240"/>
            <a:ext cx="22859" cy="381000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728A648-1320-4577-9817-F9B5252335FF}"/>
              </a:ext>
            </a:extLst>
          </p:cNvPr>
          <p:cNvSpPr>
            <a:spLocks xmlns:a="http://schemas.openxmlformats.org/drawingml/2006/main" noGrp="1"/>
          </p:cNvSpPr>
          <p:nvPr/>
        </p:nvSpPr>
        <p:spPr>
          <a:xfrm xmlns:a="http://schemas.openxmlformats.org/drawingml/2006/main">
            <a:off x="838179" y="2377440"/>
            <a:ext cx="439206"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z_i</a:t>
            </a:r>
          </a:p>
        </p:txBody>
      </p:sp>
      <p:sp>
        <p:nvSpPr>
          <p:cNvPr id="28" name="">
            <a:extLst xmlns:a="http://schemas.openxmlformats.org/drawingml/2006/main">
              <a:ext uri="{FF2B5EF4-FFF2-40B4-BE49-F238E27FC236}">
                <a16:creationId xmlns:a16="http://schemas.microsoft.com/office/drawing/2014/main" id="{0BDB4295-74B5-48A1-B378-E9CA01A604BD}"/>
              </a:ext>
            </a:extLst>
          </p:cNvPr>
          <p:cNvSpPr>
            <a:spLocks xmlns:a="http://schemas.openxmlformats.org/drawingml/2006/main" noGrp="1"/>
          </p:cNvSpPr>
          <p:nvPr/>
        </p:nvSpPr>
        <p:spPr>
          <a:xfrm xmlns:a="http://schemas.openxmlformats.org/drawingml/2006/main">
            <a:off x="1277385" y="2377440"/>
            <a:ext cx="3101262"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 (s_i − mean_earlier) / sd_earlier</a:t>
            </a:r>
          </a:p>
        </p:txBody>
      </p:sp>
      <p:sp>
        <p:nvSpPr>
          <p:cNvPr id="29" name="">
            <a:extLst xmlns:a="http://schemas.openxmlformats.org/drawingml/2006/main">
              <a:ext uri="{FF2B5EF4-FFF2-40B4-BE49-F238E27FC236}">
                <a16:creationId xmlns:a16="http://schemas.microsoft.com/office/drawing/2014/main" id="{501DC272-9460-454F-A9A4-C7625EFF3DB7}"/>
              </a:ext>
            </a:extLst>
          </p:cNvPr>
          <p:cNvSpPr>
            <a:spLocks xmlns:a="http://schemas.openxmlformats.org/drawingml/2006/main" noGrp="1"/>
          </p:cNvSpPr>
          <p:nvPr/>
        </p:nvSpPr>
        <p:spPr>
          <a:xfrm xmlns:a="http://schemas.openxmlformats.org/drawingml/2006/main">
            <a:off x="4378647" y="2377440"/>
            <a:ext cx="3865986"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55504A"/>
                </a:solidFill>
                <a:latin typeface="Arial"/>
                <a:ea typeface="Arial"/>
                <a:cs typeface="Arial"/>
              </a:defRPr>
            </a:defPPr>
            <a:lvl1pPr algn="l">
              <a:defRPr sz="1200" b="0">
                <a:solidFill>
                  <a:srgbClr val="55504A"/>
                </a:solidFill>
                <a:latin typeface="Arial"/>
                <a:ea typeface="Arial"/>
                <a:cs typeface="Arial"/>
              </a:defRPr>
            </a:lvl1pPr>
            <a:lvl2pPr algn="l">
              <a:defRPr sz="1200" b="0">
                <a:solidFill>
                  <a:srgbClr val="55504A"/>
                </a:solidFill>
                <a:latin typeface="Arial"/>
                <a:ea typeface="Arial"/>
                <a:cs typeface="Arial"/>
              </a:defRPr>
            </a:lvl2pPr>
            <a:lvl3pPr algn="l">
              <a:defRPr sz="1200" b="0">
                <a:solidFill>
                  <a:srgbClr val="55504A"/>
                </a:solidFill>
                <a:latin typeface="Arial"/>
                <a:ea typeface="Arial"/>
                <a:cs typeface="Arial"/>
              </a:defRPr>
            </a:lvl3pPr>
            <a:lvl4pPr algn="l">
              <a:defRPr sz="1200" b="0">
                <a:solidFill>
                  <a:srgbClr val="55504A"/>
                </a:solidFill>
                <a:latin typeface="Arial"/>
                <a:ea typeface="Arial"/>
                <a:cs typeface="Arial"/>
              </a:defRPr>
            </a:lvl4pPr>
            <a:lvl5pPr algn="l">
              <a:defRPr sz="1200" b="0">
                <a:solidFill>
                  <a:srgbClr val="55504A"/>
                </a:solidFill>
                <a:latin typeface="Arial"/>
                <a:ea typeface="Arial"/>
                <a:cs typeface="Arial"/>
              </a:defRPr>
            </a:lvl5pPr>
            <a:lvl6pPr algn="l">
              <a:defRPr sz="1200" b="0">
                <a:solidFill>
                  <a:srgbClr val="55504A"/>
                </a:solidFill>
                <a:latin typeface="Arial"/>
                <a:ea typeface="Arial"/>
                <a:cs typeface="Arial"/>
              </a:defRPr>
            </a:lvl6pPr>
            <a:lvl7pPr algn="l">
              <a:defRPr sz="1200" b="0">
                <a:solidFill>
                  <a:srgbClr val="55504A"/>
                </a:solidFill>
                <a:latin typeface="Arial"/>
                <a:ea typeface="Arial"/>
                <a:cs typeface="Arial"/>
              </a:defRPr>
            </a:lvl7pPr>
            <a:lvl8pPr algn="l">
              <a:defRPr sz="1200" b="0">
                <a:solidFill>
                  <a:srgbClr val="55504A"/>
                </a:solidFill>
                <a:latin typeface="Arial"/>
                <a:ea typeface="Arial"/>
                <a:cs typeface="Arial"/>
              </a:defRPr>
            </a:lvl8pPr>
            <a:lvl9pPr algn="l">
              <a:defRPr sz="1200" b="0">
                <a:solidFill>
                  <a:srgbClr val="55504A"/>
                </a:solidFill>
                <a:latin typeface="Arial"/>
                <a:ea typeface="Arial"/>
                <a:cs typeface="Arial"/>
              </a:defRPr>
            </a:lvl9pPr>
          </a:lstStyle>
          <a:p xmlns:a="http://schemas.openxmlformats.org/drawingml/2006/main">
            <a:pPr algn="l">
              <a:defRPr sz="1200" b="0">
                <a:solidFill>
                  <a:srgbClr val="55504A"/>
                </a:solidFill>
                <a:latin typeface="Arial"/>
                <a:ea typeface="Arial"/>
                <a:cs typeface="Arial"/>
              </a:defRPr>
            </a:pPr>
            <a:r>
              <a:rPr sz="1200" b="0">
                <a:solidFill>
                  <a:srgbClr val="55504A"/>
                </a:solidFill>
                <a:latin typeface="Arial"/>
                <a:ea typeface="Arial"/>
                <a:cs typeface="Arial"/>
              </a:rPr>
              <a:t># same type, ≥ 12 earlier</a:t>
            </a:r>
          </a:p>
        </p:txBody>
      </p:sp>
      <p:sp>
        <p:nvSpPr>
          <p:cNvPr id="30" name="">
            <a:extLst xmlns:a="http://schemas.openxmlformats.org/drawingml/2006/main">
              <a:ext uri="{FF2B5EF4-FFF2-40B4-BE49-F238E27FC236}">
                <a16:creationId xmlns:a16="http://schemas.microsoft.com/office/drawing/2014/main" id="{AA2BEB37-A530-466A-804F-13C5F6143EAA}"/>
              </a:ext>
            </a:extLst>
          </p:cNvPr>
          <p:cNvSpPr>
            <a:spLocks xmlns:a="http://schemas.openxmlformats.org/drawingml/2006/main" noGrp="1"/>
          </p:cNvSpPr>
          <p:nvPr/>
        </p:nvSpPr>
        <p:spPr>
          <a:xfrm xmlns:a="http://schemas.openxmlformats.org/drawingml/2006/main">
            <a:off x="838179" y="2667000"/>
            <a:ext cx="439206"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θ_i</a:t>
            </a:r>
          </a:p>
        </p:txBody>
      </p:sp>
      <p:sp>
        <p:nvSpPr>
          <p:cNvPr id="31" name="">
            <a:extLst xmlns:a="http://schemas.openxmlformats.org/drawingml/2006/main">
              <a:ext uri="{FF2B5EF4-FFF2-40B4-BE49-F238E27FC236}">
                <a16:creationId xmlns:a16="http://schemas.microsoft.com/office/drawing/2014/main" id="{DEF4F30F-BF38-4C0F-9CEC-8731BEB7E7CF}"/>
              </a:ext>
            </a:extLst>
          </p:cNvPr>
          <p:cNvSpPr>
            <a:spLocks xmlns:a="http://schemas.openxmlformats.org/drawingml/2006/main" noGrp="1"/>
          </p:cNvSpPr>
          <p:nvPr/>
        </p:nvSpPr>
        <p:spPr>
          <a:xfrm xmlns:a="http://schemas.openxmlformats.org/drawingml/2006/main">
            <a:off x="1277385" y="2667000"/>
            <a:ext cx="3101262"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 −clip(z_i, −2, 2) / 2</a:t>
            </a:r>
          </a:p>
        </p:txBody>
      </p:sp>
      <p:sp>
        <p:nvSpPr>
          <p:cNvPr id="32" name="">
            <a:extLst xmlns:a="http://schemas.openxmlformats.org/drawingml/2006/main">
              <a:ext uri="{FF2B5EF4-FFF2-40B4-BE49-F238E27FC236}">
                <a16:creationId xmlns:a16="http://schemas.microsoft.com/office/drawing/2014/main" id="{A28F10E8-B32E-4995-B7F3-F692F759B768}"/>
              </a:ext>
            </a:extLst>
          </p:cNvPr>
          <p:cNvSpPr>
            <a:spLocks xmlns:a="http://schemas.openxmlformats.org/drawingml/2006/main" noGrp="1"/>
          </p:cNvSpPr>
          <p:nvPr/>
        </p:nvSpPr>
        <p:spPr>
          <a:xfrm xmlns:a="http://schemas.openxmlformats.org/drawingml/2006/main">
            <a:off x="4378647" y="2667000"/>
            <a:ext cx="3865986"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55504A"/>
                </a:solidFill>
                <a:latin typeface="Arial"/>
                <a:ea typeface="Arial"/>
                <a:cs typeface="Arial"/>
              </a:defRPr>
            </a:defPPr>
            <a:lvl1pPr algn="l">
              <a:defRPr sz="1200" b="0">
                <a:solidFill>
                  <a:srgbClr val="55504A"/>
                </a:solidFill>
                <a:latin typeface="Arial"/>
                <a:ea typeface="Arial"/>
                <a:cs typeface="Arial"/>
              </a:defRPr>
            </a:lvl1pPr>
            <a:lvl2pPr algn="l">
              <a:defRPr sz="1200" b="0">
                <a:solidFill>
                  <a:srgbClr val="55504A"/>
                </a:solidFill>
                <a:latin typeface="Arial"/>
                <a:ea typeface="Arial"/>
                <a:cs typeface="Arial"/>
              </a:defRPr>
            </a:lvl2pPr>
            <a:lvl3pPr algn="l">
              <a:defRPr sz="1200" b="0">
                <a:solidFill>
                  <a:srgbClr val="55504A"/>
                </a:solidFill>
                <a:latin typeface="Arial"/>
                <a:ea typeface="Arial"/>
                <a:cs typeface="Arial"/>
              </a:defRPr>
            </a:lvl3pPr>
            <a:lvl4pPr algn="l">
              <a:defRPr sz="1200" b="0">
                <a:solidFill>
                  <a:srgbClr val="55504A"/>
                </a:solidFill>
                <a:latin typeface="Arial"/>
                <a:ea typeface="Arial"/>
                <a:cs typeface="Arial"/>
              </a:defRPr>
            </a:lvl4pPr>
            <a:lvl5pPr algn="l">
              <a:defRPr sz="1200" b="0">
                <a:solidFill>
                  <a:srgbClr val="55504A"/>
                </a:solidFill>
                <a:latin typeface="Arial"/>
                <a:ea typeface="Arial"/>
                <a:cs typeface="Arial"/>
              </a:defRPr>
            </a:lvl5pPr>
            <a:lvl6pPr algn="l">
              <a:defRPr sz="1200" b="0">
                <a:solidFill>
                  <a:srgbClr val="55504A"/>
                </a:solidFill>
                <a:latin typeface="Arial"/>
                <a:ea typeface="Arial"/>
                <a:cs typeface="Arial"/>
              </a:defRPr>
            </a:lvl6pPr>
            <a:lvl7pPr algn="l">
              <a:defRPr sz="1200" b="0">
                <a:solidFill>
                  <a:srgbClr val="55504A"/>
                </a:solidFill>
                <a:latin typeface="Arial"/>
                <a:ea typeface="Arial"/>
                <a:cs typeface="Arial"/>
              </a:defRPr>
            </a:lvl7pPr>
            <a:lvl8pPr algn="l">
              <a:defRPr sz="1200" b="0">
                <a:solidFill>
                  <a:srgbClr val="55504A"/>
                </a:solidFill>
                <a:latin typeface="Arial"/>
                <a:ea typeface="Arial"/>
                <a:cs typeface="Arial"/>
              </a:defRPr>
            </a:lvl8pPr>
            <a:lvl9pPr algn="l">
              <a:defRPr sz="1200" b="0">
                <a:solidFill>
                  <a:srgbClr val="55504A"/>
                </a:solidFill>
                <a:latin typeface="Arial"/>
                <a:ea typeface="Arial"/>
                <a:cs typeface="Arial"/>
              </a:defRPr>
            </a:lvl9pPr>
          </a:lstStyle>
          <a:p xmlns:a="http://schemas.openxmlformats.org/drawingml/2006/main">
            <a:pPr algn="l">
              <a:defRPr sz="1200" b="0">
                <a:solidFill>
                  <a:srgbClr val="55504A"/>
                </a:solidFill>
                <a:latin typeface="Arial"/>
                <a:ea typeface="Arial"/>
                <a:cs typeface="Arial"/>
              </a:defRPr>
            </a:pPr>
            <a:r>
              <a:rPr sz="1200" b="0">
                <a:solidFill>
                  <a:srgbClr val="55504A"/>
                </a:solidFill>
                <a:latin typeface="Arial"/>
                <a:ea typeface="Arial"/>
                <a:cs typeface="Arial"/>
              </a:rPr>
              <a:t># hawkish → shorter</a:t>
            </a:r>
          </a:p>
        </p:txBody>
      </p:sp>
      <p:sp>
        <p:nvSpPr>
          <p:cNvPr id="33" name="">
            <a:extLst xmlns:a="http://schemas.openxmlformats.org/drawingml/2006/main">
              <a:ext uri="{FF2B5EF4-FFF2-40B4-BE49-F238E27FC236}">
                <a16:creationId xmlns:a16="http://schemas.microsoft.com/office/drawing/2014/main" id="{9D7AF880-B3D9-48D2-A137-81F228F07B8A}"/>
              </a:ext>
            </a:extLst>
          </p:cNvPr>
          <p:cNvSpPr>
            <a:spLocks xmlns:a="http://schemas.openxmlformats.org/drawingml/2006/main" noGrp="1"/>
          </p:cNvSpPr>
          <p:nvPr/>
        </p:nvSpPr>
        <p:spPr>
          <a:xfrm xmlns:a="http://schemas.openxmlformats.org/drawingml/2006/main">
            <a:off x="838179" y="2956560"/>
            <a:ext cx="3540468"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pos_t = clip(Σ θ_i over open trades, −1, 1)</a:t>
            </a:r>
          </a:p>
        </p:txBody>
      </p:sp>
      <p:sp>
        <p:nvSpPr>
          <p:cNvPr id="34" name="">
            <a:extLst xmlns:a="http://schemas.openxmlformats.org/drawingml/2006/main">
              <a:ext uri="{FF2B5EF4-FFF2-40B4-BE49-F238E27FC236}">
                <a16:creationId xmlns:a16="http://schemas.microsoft.com/office/drawing/2014/main" id="{7F91C3F6-AD1A-4C47-843B-527745B927F2}"/>
              </a:ext>
            </a:extLst>
          </p:cNvPr>
          <p:cNvSpPr>
            <a:spLocks xmlns:a="http://schemas.openxmlformats.org/drawingml/2006/main" noGrp="1"/>
          </p:cNvSpPr>
          <p:nvPr/>
        </p:nvSpPr>
        <p:spPr>
          <a:xfrm xmlns:a="http://schemas.openxmlformats.org/drawingml/2006/main">
            <a:off x="4378647" y="2956560"/>
            <a:ext cx="3865986"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55504A"/>
                </a:solidFill>
                <a:latin typeface="Arial"/>
                <a:ea typeface="Arial"/>
                <a:cs typeface="Arial"/>
              </a:defRPr>
            </a:defPPr>
            <a:lvl1pPr algn="l">
              <a:defRPr sz="1200" b="0">
                <a:solidFill>
                  <a:srgbClr val="55504A"/>
                </a:solidFill>
                <a:latin typeface="Arial"/>
                <a:ea typeface="Arial"/>
                <a:cs typeface="Arial"/>
              </a:defRPr>
            </a:lvl1pPr>
            <a:lvl2pPr algn="l">
              <a:defRPr sz="1200" b="0">
                <a:solidFill>
                  <a:srgbClr val="55504A"/>
                </a:solidFill>
                <a:latin typeface="Arial"/>
                <a:ea typeface="Arial"/>
                <a:cs typeface="Arial"/>
              </a:defRPr>
            </a:lvl2pPr>
            <a:lvl3pPr algn="l">
              <a:defRPr sz="1200" b="0">
                <a:solidFill>
                  <a:srgbClr val="55504A"/>
                </a:solidFill>
                <a:latin typeface="Arial"/>
                <a:ea typeface="Arial"/>
                <a:cs typeface="Arial"/>
              </a:defRPr>
            </a:lvl3pPr>
            <a:lvl4pPr algn="l">
              <a:defRPr sz="1200" b="0">
                <a:solidFill>
                  <a:srgbClr val="55504A"/>
                </a:solidFill>
                <a:latin typeface="Arial"/>
                <a:ea typeface="Arial"/>
                <a:cs typeface="Arial"/>
              </a:defRPr>
            </a:lvl4pPr>
            <a:lvl5pPr algn="l">
              <a:defRPr sz="1200" b="0">
                <a:solidFill>
                  <a:srgbClr val="55504A"/>
                </a:solidFill>
                <a:latin typeface="Arial"/>
                <a:ea typeface="Arial"/>
                <a:cs typeface="Arial"/>
              </a:defRPr>
            </a:lvl5pPr>
            <a:lvl6pPr algn="l">
              <a:defRPr sz="1200" b="0">
                <a:solidFill>
                  <a:srgbClr val="55504A"/>
                </a:solidFill>
                <a:latin typeface="Arial"/>
                <a:ea typeface="Arial"/>
                <a:cs typeface="Arial"/>
              </a:defRPr>
            </a:lvl6pPr>
            <a:lvl7pPr algn="l">
              <a:defRPr sz="1200" b="0">
                <a:solidFill>
                  <a:srgbClr val="55504A"/>
                </a:solidFill>
                <a:latin typeface="Arial"/>
                <a:ea typeface="Arial"/>
                <a:cs typeface="Arial"/>
              </a:defRPr>
            </a:lvl7pPr>
            <a:lvl8pPr algn="l">
              <a:defRPr sz="1200" b="0">
                <a:solidFill>
                  <a:srgbClr val="55504A"/>
                </a:solidFill>
                <a:latin typeface="Arial"/>
                <a:ea typeface="Arial"/>
                <a:cs typeface="Arial"/>
              </a:defRPr>
            </a:lvl8pPr>
            <a:lvl9pPr algn="l">
              <a:defRPr sz="1200" b="0">
                <a:solidFill>
                  <a:srgbClr val="55504A"/>
                </a:solidFill>
                <a:latin typeface="Arial"/>
                <a:ea typeface="Arial"/>
                <a:cs typeface="Arial"/>
              </a:defRPr>
            </a:lvl9pPr>
          </a:lstStyle>
          <a:p xmlns:a="http://schemas.openxmlformats.org/drawingml/2006/main">
            <a:pPr algn="l">
              <a:defRPr sz="1200" b="0">
                <a:solidFill>
                  <a:srgbClr val="55504A"/>
                </a:solidFill>
                <a:latin typeface="Arial"/>
                <a:ea typeface="Arial"/>
                <a:cs typeface="Arial"/>
              </a:defRPr>
            </a:pPr>
            <a:r>
              <a:rPr sz="1200" b="0">
                <a:solidFill>
                  <a:srgbClr val="55504A"/>
                </a:solidFill>
                <a:latin typeface="Arial"/>
                <a:ea typeface="Arial"/>
                <a:cs typeface="Arial"/>
              </a:rPr>
              <a:t># each held 5 days</a:t>
            </a:r>
          </a:p>
        </p:txBody>
      </p:sp>
      <p:sp>
        <p:nvSpPr>
          <p:cNvPr id="35" name="">
            <a:extLst xmlns:a="http://schemas.openxmlformats.org/drawingml/2006/main">
              <a:ext uri="{FF2B5EF4-FFF2-40B4-BE49-F238E27FC236}">
                <a16:creationId xmlns:a16="http://schemas.microsoft.com/office/drawing/2014/main" id="{53862D56-5116-4939-BE68-02B07442FD8B}"/>
              </a:ext>
            </a:extLst>
          </p:cNvPr>
          <p:cNvSpPr>
            <a:spLocks xmlns:a="http://schemas.openxmlformats.org/drawingml/2006/main" noGrp="1"/>
          </p:cNvSpPr>
          <p:nvPr/>
        </p:nvSpPr>
        <p:spPr>
          <a:xfrm xmlns:a="http://schemas.openxmlformats.org/drawingml/2006/main">
            <a:off x="838179" y="3246120"/>
            <a:ext cx="439206"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r_t</a:t>
            </a:r>
          </a:p>
        </p:txBody>
      </p:sp>
      <p:sp>
        <p:nvSpPr>
          <p:cNvPr id="36" name="">
            <a:extLst xmlns:a="http://schemas.openxmlformats.org/drawingml/2006/main">
              <a:ext uri="{FF2B5EF4-FFF2-40B4-BE49-F238E27FC236}">
                <a16:creationId xmlns:a16="http://schemas.microsoft.com/office/drawing/2014/main" id="{03994CCF-8680-4251-9A1F-B7317A2BF954}"/>
              </a:ext>
            </a:extLst>
          </p:cNvPr>
          <p:cNvSpPr>
            <a:spLocks xmlns:a="http://schemas.openxmlformats.org/drawingml/2006/main" noGrp="1"/>
          </p:cNvSpPr>
          <p:nvPr/>
        </p:nvSpPr>
        <p:spPr>
          <a:xfrm xmlns:a="http://schemas.openxmlformats.org/drawingml/2006/main">
            <a:off x="1277385" y="3246120"/>
            <a:ext cx="6967249"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 pos_(t−1) · (r_IEF − r_SHY) − 2 × 1 bp × |Δpos_t|</a:t>
            </a:r>
          </a:p>
        </p:txBody>
      </p:sp>
      <p:sp>
        <p:nvSpPr>
          <p:cNvPr id="37" name="">
            <a:extLst xmlns:a="http://schemas.openxmlformats.org/drawingml/2006/main">
              <a:ext uri="{FF2B5EF4-FFF2-40B4-BE49-F238E27FC236}">
                <a16:creationId xmlns:a16="http://schemas.microsoft.com/office/drawing/2014/main" id="{57A36C08-7BAF-4BEF-91C9-1C42069702F7}"/>
              </a:ext>
            </a:extLst>
          </p:cNvPr>
          <p:cNvSpPr>
            <a:spLocks xmlns:a="http://schemas.openxmlformats.org/drawingml/2006/main" noGrp="1"/>
          </p:cNvSpPr>
          <p:nvPr/>
        </p:nvSpPr>
        <p:spPr>
          <a:xfrm xmlns:a="http://schemas.openxmlformats.org/drawingml/2006/main">
            <a:off x="838179" y="3535680"/>
            <a:ext cx="3540468"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tilt = 0.192 of the portfolio per unit</a:t>
            </a:r>
          </a:p>
        </p:txBody>
      </p:sp>
      <p:sp>
        <p:nvSpPr>
          <p:cNvPr id="38" name="">
            <a:extLst xmlns:a="http://schemas.openxmlformats.org/drawingml/2006/main">
              <a:ext uri="{FF2B5EF4-FFF2-40B4-BE49-F238E27FC236}">
                <a16:creationId xmlns:a16="http://schemas.microsoft.com/office/drawing/2014/main" id="{13B38571-07D0-43D0-B7FC-BFCAD0FCA835}"/>
              </a:ext>
            </a:extLst>
          </p:cNvPr>
          <p:cNvSpPr>
            <a:spLocks xmlns:a="http://schemas.openxmlformats.org/drawingml/2006/main" noGrp="1"/>
          </p:cNvSpPr>
          <p:nvPr/>
        </p:nvSpPr>
        <p:spPr>
          <a:xfrm xmlns:a="http://schemas.openxmlformats.org/drawingml/2006/main">
            <a:off x="4378647" y="3535680"/>
            <a:ext cx="3865986"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55504A"/>
                </a:solidFill>
                <a:latin typeface="Arial"/>
                <a:ea typeface="Arial"/>
                <a:cs typeface="Arial"/>
              </a:defRPr>
            </a:defPPr>
            <a:lvl1pPr algn="l">
              <a:defRPr sz="1200" b="0">
                <a:solidFill>
                  <a:srgbClr val="55504A"/>
                </a:solidFill>
                <a:latin typeface="Arial"/>
                <a:ea typeface="Arial"/>
                <a:cs typeface="Arial"/>
              </a:defRPr>
            </a:lvl1pPr>
            <a:lvl2pPr algn="l">
              <a:defRPr sz="1200" b="0">
                <a:solidFill>
                  <a:srgbClr val="55504A"/>
                </a:solidFill>
                <a:latin typeface="Arial"/>
                <a:ea typeface="Arial"/>
                <a:cs typeface="Arial"/>
              </a:defRPr>
            </a:lvl2pPr>
            <a:lvl3pPr algn="l">
              <a:defRPr sz="1200" b="0">
                <a:solidFill>
                  <a:srgbClr val="55504A"/>
                </a:solidFill>
                <a:latin typeface="Arial"/>
                <a:ea typeface="Arial"/>
                <a:cs typeface="Arial"/>
              </a:defRPr>
            </a:lvl3pPr>
            <a:lvl4pPr algn="l">
              <a:defRPr sz="1200" b="0">
                <a:solidFill>
                  <a:srgbClr val="55504A"/>
                </a:solidFill>
                <a:latin typeface="Arial"/>
                <a:ea typeface="Arial"/>
                <a:cs typeface="Arial"/>
              </a:defRPr>
            </a:lvl4pPr>
            <a:lvl5pPr algn="l">
              <a:defRPr sz="1200" b="0">
                <a:solidFill>
                  <a:srgbClr val="55504A"/>
                </a:solidFill>
                <a:latin typeface="Arial"/>
                <a:ea typeface="Arial"/>
                <a:cs typeface="Arial"/>
              </a:defRPr>
            </a:lvl5pPr>
            <a:lvl6pPr algn="l">
              <a:defRPr sz="1200" b="0">
                <a:solidFill>
                  <a:srgbClr val="55504A"/>
                </a:solidFill>
                <a:latin typeface="Arial"/>
                <a:ea typeface="Arial"/>
                <a:cs typeface="Arial"/>
              </a:defRPr>
            </a:lvl6pPr>
            <a:lvl7pPr algn="l">
              <a:defRPr sz="1200" b="0">
                <a:solidFill>
                  <a:srgbClr val="55504A"/>
                </a:solidFill>
                <a:latin typeface="Arial"/>
                <a:ea typeface="Arial"/>
                <a:cs typeface="Arial"/>
              </a:defRPr>
            </a:lvl7pPr>
            <a:lvl8pPr algn="l">
              <a:defRPr sz="1200" b="0">
                <a:solidFill>
                  <a:srgbClr val="55504A"/>
                </a:solidFill>
                <a:latin typeface="Arial"/>
                <a:ea typeface="Arial"/>
                <a:cs typeface="Arial"/>
              </a:defRPr>
            </a:lvl8pPr>
            <a:lvl9pPr algn="l">
              <a:defRPr sz="1200" b="0">
                <a:solidFill>
                  <a:srgbClr val="55504A"/>
                </a:solidFill>
                <a:latin typeface="Arial"/>
                <a:ea typeface="Arial"/>
                <a:cs typeface="Arial"/>
              </a:defRPr>
            </a:lvl9pPr>
          </a:lstStyle>
          <a:p xmlns:a="http://schemas.openxmlformats.org/drawingml/2006/main">
            <a:pPr algn="l">
              <a:defRPr sz="1200" b="0">
                <a:solidFill>
                  <a:srgbClr val="55504A"/>
                </a:solidFill>
                <a:latin typeface="Arial"/>
                <a:ea typeface="Arial"/>
                <a:cs typeface="Arial"/>
              </a:defRPr>
            </a:pPr>
            <a:r>
              <a:rPr sz="1200" b="0">
                <a:solidFill>
                  <a:srgbClr val="55504A"/>
                </a:solidFill>
                <a:latin typeface="Arial"/>
                <a:ea typeface="Arial"/>
                <a:cs typeface="Arial"/>
              </a:rPr>
              <a:t># ± 1 year of duration</a:t>
            </a:r>
          </a:p>
        </p:txBody>
      </p:sp>
      <p:sp>
        <p:nvSpPr>
          <p:cNvPr id="39" name="">
            <a:extLst xmlns:a="http://schemas.openxmlformats.org/drawingml/2006/main">
              <a:ext uri="{FF2B5EF4-FFF2-40B4-BE49-F238E27FC236}">
                <a16:creationId xmlns:a16="http://schemas.microsoft.com/office/drawing/2014/main" id="{44363056-062C-40DD-997A-1BABDE7B49E2}"/>
              </a:ext>
            </a:extLst>
          </p:cNvPr>
          <p:cNvSpPr>
            <a:spLocks xmlns:a="http://schemas.openxmlformats.org/drawingml/2006/main" noGrp="1"/>
          </p:cNvSpPr>
          <p:nvPr/>
        </p:nvSpPr>
        <p:spPr>
          <a:xfrm xmlns:a="http://schemas.openxmlformats.org/drawingml/2006/main">
            <a:off x="838179" y="4114800"/>
            <a:ext cx="7406455"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PSR (probabilistic Sharpe) =</a:t>
            </a:r>
          </a:p>
        </p:txBody>
      </p:sp>
      <p:sp>
        <p:nvSpPr>
          <p:cNvPr id="40" name="">
            <a:extLst xmlns:a="http://schemas.openxmlformats.org/drawingml/2006/main">
              <a:ext uri="{FF2B5EF4-FFF2-40B4-BE49-F238E27FC236}">
                <a16:creationId xmlns:a16="http://schemas.microsoft.com/office/drawing/2014/main" id="{822B2692-30F5-4FAA-90B4-99773AB6E454}"/>
              </a:ext>
            </a:extLst>
          </p:cNvPr>
          <p:cNvSpPr>
            <a:spLocks xmlns:a="http://schemas.openxmlformats.org/drawingml/2006/main" noGrp="1"/>
          </p:cNvSpPr>
          <p:nvPr/>
        </p:nvSpPr>
        <p:spPr>
          <a:xfrm xmlns:a="http://schemas.openxmlformats.org/drawingml/2006/main">
            <a:off x="1005815" y="4404360"/>
            <a:ext cx="7238819"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Φ((SR − 0) · √(T−1) / √(1 − γ3·SR + (γ4−1)/4 · SR²))</a:t>
            </a:r>
          </a:p>
        </p:txBody>
      </p:sp>
      <p:sp>
        <p:nvSpPr>
          <p:cNvPr id="41" name="">
            <a:extLst xmlns:a="http://schemas.openxmlformats.org/drawingml/2006/main">
              <a:ext uri="{FF2B5EF4-FFF2-40B4-BE49-F238E27FC236}">
                <a16:creationId xmlns:a16="http://schemas.microsoft.com/office/drawing/2014/main" id="{4757F36B-BD5A-41D0-BA77-2846CBD2A501}"/>
              </a:ext>
            </a:extLst>
          </p:cNvPr>
          <p:cNvSpPr>
            <a:spLocks xmlns:a="http://schemas.openxmlformats.org/drawingml/2006/main" noGrp="1"/>
          </p:cNvSpPr>
          <p:nvPr/>
        </p:nvSpPr>
        <p:spPr>
          <a:xfrm xmlns:a="http://schemas.openxmlformats.org/drawingml/2006/main">
            <a:off x="838179" y="4693920"/>
            <a:ext cx="7406455"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DSR (deflated Sharpe): benchmark = E[max SR of N no-skill variants]</a:t>
            </a:r>
          </a:p>
        </p:txBody>
      </p:sp>
      <p:sp>
        <p:nvSpPr>
          <p:cNvPr id="42" name="">
            <a:extLst xmlns:a="http://schemas.openxmlformats.org/drawingml/2006/main">
              <a:ext uri="{FF2B5EF4-FFF2-40B4-BE49-F238E27FC236}">
                <a16:creationId xmlns:a16="http://schemas.microsoft.com/office/drawing/2014/main" id="{FD6ECDAA-FDF4-497D-99C1-6529A59D877F}"/>
              </a:ext>
            </a:extLst>
          </p:cNvPr>
          <p:cNvSpPr>
            <a:spLocks xmlns:a="http://schemas.openxmlformats.org/drawingml/2006/main" noGrp="1"/>
          </p:cNvSpPr>
          <p:nvPr/>
        </p:nvSpPr>
        <p:spPr>
          <a:xfrm xmlns:a="http://schemas.openxmlformats.org/drawingml/2006/main">
            <a:off x="838179" y="4983480"/>
            <a:ext cx="7406455"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1200" b="0">
                <a:solidFill>
                  <a:srgbClr val="151312"/>
                </a:solidFill>
                <a:latin typeface="Arial"/>
                <a:ea typeface="Arial"/>
                <a:cs typeface="Arial"/>
              </a:defRPr>
            </a:defPPr>
            <a:lvl1pPr algn="l">
              <a:defRPr sz="1200" b="0">
                <a:solidFill>
                  <a:srgbClr val="151312"/>
                </a:solidFill>
                <a:latin typeface="Arial"/>
                <a:ea typeface="Arial"/>
                <a:cs typeface="Arial"/>
              </a:defRPr>
            </a:lvl1pPr>
            <a:lvl2pPr algn="l">
              <a:defRPr sz="1200" b="0">
                <a:solidFill>
                  <a:srgbClr val="151312"/>
                </a:solidFill>
                <a:latin typeface="Arial"/>
                <a:ea typeface="Arial"/>
                <a:cs typeface="Arial"/>
              </a:defRPr>
            </a:lvl2pPr>
            <a:lvl3pPr algn="l">
              <a:defRPr sz="1200" b="0">
                <a:solidFill>
                  <a:srgbClr val="151312"/>
                </a:solidFill>
                <a:latin typeface="Arial"/>
                <a:ea typeface="Arial"/>
                <a:cs typeface="Arial"/>
              </a:defRPr>
            </a:lvl3pPr>
            <a:lvl4pPr algn="l">
              <a:defRPr sz="1200" b="0">
                <a:solidFill>
                  <a:srgbClr val="151312"/>
                </a:solidFill>
                <a:latin typeface="Arial"/>
                <a:ea typeface="Arial"/>
                <a:cs typeface="Arial"/>
              </a:defRPr>
            </a:lvl4pPr>
            <a:lvl5pPr algn="l">
              <a:defRPr sz="1200" b="0">
                <a:solidFill>
                  <a:srgbClr val="151312"/>
                </a:solidFill>
                <a:latin typeface="Arial"/>
                <a:ea typeface="Arial"/>
                <a:cs typeface="Arial"/>
              </a:defRPr>
            </a:lvl5pPr>
            <a:lvl6pPr algn="l">
              <a:defRPr sz="1200" b="0">
                <a:solidFill>
                  <a:srgbClr val="151312"/>
                </a:solidFill>
                <a:latin typeface="Arial"/>
                <a:ea typeface="Arial"/>
                <a:cs typeface="Arial"/>
              </a:defRPr>
            </a:lvl6pPr>
            <a:lvl7pPr algn="l">
              <a:defRPr sz="1200" b="0">
                <a:solidFill>
                  <a:srgbClr val="151312"/>
                </a:solidFill>
                <a:latin typeface="Arial"/>
                <a:ea typeface="Arial"/>
                <a:cs typeface="Arial"/>
              </a:defRPr>
            </a:lvl7pPr>
            <a:lvl8pPr algn="l">
              <a:defRPr sz="1200" b="0">
                <a:solidFill>
                  <a:srgbClr val="151312"/>
                </a:solidFill>
                <a:latin typeface="Arial"/>
                <a:ea typeface="Arial"/>
                <a:cs typeface="Arial"/>
              </a:defRPr>
            </a:lvl8pPr>
            <a:lvl9pPr algn="l">
              <a:defRPr sz="1200" b="0">
                <a:solidFill>
                  <a:srgbClr val="151312"/>
                </a:solidFill>
                <a:latin typeface="Arial"/>
                <a:ea typeface="Arial"/>
                <a:cs typeface="Arial"/>
              </a:defRPr>
            </a:lvl9pPr>
          </a:lstStyle>
          <a:p xmlns:a="http://schemas.openxmlformats.org/drawingml/2006/main">
            <a:pPr algn="l">
              <a:defRPr sz="1200" b="0">
                <a:solidFill>
                  <a:srgbClr val="151312"/>
                </a:solidFill>
                <a:latin typeface="Arial"/>
                <a:ea typeface="Arial"/>
                <a:cs typeface="Arial"/>
              </a:defRPr>
            </a:pPr>
            <a:r>
              <a:rPr sz="1200" b="0">
                <a:solidFill>
                  <a:srgbClr val="151312"/>
                </a:solidFill>
                <a:latin typeface="Arial"/>
                <a:ea typeface="Arial"/>
                <a:cs typeface="Arial"/>
              </a:rPr>
              <a:t>SR: daily Sharpe; T: days; γ3: skewness; γ4: kurtosis; Φ: normal CDF</a:t>
            </a:r>
          </a:p>
        </p:txBody>
      </p:sp>
    </p:spTree>
    <p:extLst>
      <p:ext uri="{BB962C8B-B14F-4D97-AF65-F5344CB8AC3E}">
        <p14:creationId xmlns:p14="http://schemas.microsoft.com/office/powerpoint/2010/main" val="991452368"/>
      </p:ext>
    </p:extLst>
  </p:cSld>
</p:sld>
</file>

<file path=ppt/slides/slide30.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580AAAA-5787-4615-BA33-AC6823254FE7}"/>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0D00C63A-899C-4175-86DB-D50B3224F640}"/>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INDEX, YIELDS AND DURATION</a:t>
            </a:r>
          </a:p>
        </p:txBody>
      </p:sp>
      <p:sp>
        <p:nvSpPr>
          <p:cNvPr id="3" name="">
            <a:extLst xmlns:a="http://schemas.openxmlformats.org/drawingml/2006/main">
              <a:ext uri="{FF2B5EF4-FFF2-40B4-BE49-F238E27FC236}">
                <a16:creationId xmlns:a16="http://schemas.microsoft.com/office/drawing/2014/main" id="{FD410517-48C2-47B1-A170-C1DFBA89DA71}"/>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30 / 46</a:t>
            </a:r>
          </a:p>
        </p:txBody>
      </p:sp>
      <p:sp>
        <p:nvSpPr>
          <p:cNvPr id="4" name="">
            <a:extLst xmlns:a="http://schemas.openxmlformats.org/drawingml/2006/main">
              <a:ext uri="{FF2B5EF4-FFF2-40B4-BE49-F238E27FC236}">
                <a16:creationId xmlns:a16="http://schemas.microsoft.com/office/drawing/2014/main" id="{A5C4712F-5BB5-4645-A6C1-743DFCDABAE9}"/>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E2BE9C0-0F46-4A1F-A581-3437892A4387}"/>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No reliable delayed trading edge</a:t>
            </a:r>
          </a:p>
        </p:txBody>
      </p:sp>
      <p:sp>
        <p:nvSpPr>
          <p:cNvPr id="6" name="">
            <a:extLst xmlns:a="http://schemas.openxmlformats.org/drawingml/2006/main">
              <a:ext uri="{FF2B5EF4-FFF2-40B4-BE49-F238E27FC236}">
                <a16:creationId xmlns:a16="http://schemas.microsoft.com/office/drawing/2014/main" id="{45C596EF-319D-4272-BD99-2C70A6D383A2}"/>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One primary specification; every exploratory variant is counted in the search</a:t>
            </a:r>
          </a:p>
        </p:txBody>
      </p:sp>
      <p:sp>
        <p:nvSpPr>
          <p:cNvPr id="7" name="">
            <a:extLst xmlns:a="http://schemas.openxmlformats.org/drawingml/2006/main">
              <a:ext uri="{FF2B5EF4-FFF2-40B4-BE49-F238E27FC236}">
                <a16:creationId xmlns:a16="http://schemas.microsoft.com/office/drawing/2014/main" id="{7B7C2967-AB95-43B6-B4A4-B19419CC182B}"/>
              </a:ext>
            </a:extLst>
          </p:cNvPr>
          <p:cNvSpPr>
            <a:spLocks xmlns:a="http://schemas.openxmlformats.org/drawingml/2006/main" noGrp="1"/>
          </p:cNvSpPr>
          <p:nvPr/>
        </p:nvSpPr>
        <p:spPr>
          <a:xfrm xmlns:a="http://schemas.openxmlformats.org/drawingml/2006/main">
            <a:off x="609585" y="5928360"/>
            <a:ext cx="22859" cy="28956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08D5535-1D60-4929-9DA1-20FECF465684}"/>
              </a:ext>
            </a:extLst>
          </p:cNvPr>
          <p:cNvSpPr>
            <a:spLocks xmlns:a="http://schemas.openxmlformats.org/drawingml/2006/main" noGrp="1"/>
          </p:cNvSpPr>
          <p:nvPr/>
        </p:nvSpPr>
        <p:spPr>
          <a:xfrm xmlns:a="http://schemas.openxmlformats.org/drawingml/2006/main">
            <a:off x="769601" y="5920740"/>
            <a:ext cx="1066773"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00" b="1">
                <a:solidFill>
                  <a:srgbClr val="151312"/>
                </a:solidFill>
                <a:latin typeface="Arial"/>
                <a:ea typeface="Arial"/>
                <a:cs typeface="Arial"/>
              </a:defRPr>
            </a:defPPr>
            <a:lvl1pPr algn="l">
              <a:defRPr sz="900" b="1">
                <a:solidFill>
                  <a:srgbClr val="151312"/>
                </a:solidFill>
                <a:latin typeface="Arial"/>
                <a:ea typeface="Arial"/>
                <a:cs typeface="Arial"/>
              </a:defRPr>
            </a:lvl1pPr>
            <a:lvl2pPr algn="l">
              <a:defRPr sz="900" b="1">
                <a:solidFill>
                  <a:srgbClr val="151312"/>
                </a:solidFill>
                <a:latin typeface="Arial"/>
                <a:ea typeface="Arial"/>
                <a:cs typeface="Arial"/>
              </a:defRPr>
            </a:lvl2pPr>
            <a:lvl3pPr algn="l">
              <a:defRPr sz="900" b="1">
                <a:solidFill>
                  <a:srgbClr val="151312"/>
                </a:solidFill>
                <a:latin typeface="Arial"/>
                <a:ea typeface="Arial"/>
                <a:cs typeface="Arial"/>
              </a:defRPr>
            </a:lvl3pPr>
            <a:lvl4pPr algn="l">
              <a:defRPr sz="900" b="1">
                <a:solidFill>
                  <a:srgbClr val="151312"/>
                </a:solidFill>
                <a:latin typeface="Arial"/>
                <a:ea typeface="Arial"/>
                <a:cs typeface="Arial"/>
              </a:defRPr>
            </a:lvl4pPr>
            <a:lvl5pPr algn="l">
              <a:defRPr sz="900" b="1">
                <a:solidFill>
                  <a:srgbClr val="151312"/>
                </a:solidFill>
                <a:latin typeface="Arial"/>
                <a:ea typeface="Arial"/>
                <a:cs typeface="Arial"/>
              </a:defRPr>
            </a:lvl5pPr>
            <a:lvl6pPr algn="l">
              <a:defRPr sz="900" b="1">
                <a:solidFill>
                  <a:srgbClr val="151312"/>
                </a:solidFill>
                <a:latin typeface="Arial"/>
                <a:ea typeface="Arial"/>
                <a:cs typeface="Arial"/>
              </a:defRPr>
            </a:lvl6pPr>
            <a:lvl7pPr algn="l">
              <a:defRPr sz="900" b="1">
                <a:solidFill>
                  <a:srgbClr val="151312"/>
                </a:solidFill>
                <a:latin typeface="Arial"/>
                <a:ea typeface="Arial"/>
                <a:cs typeface="Arial"/>
              </a:defRPr>
            </a:lvl7pPr>
            <a:lvl8pPr algn="l">
              <a:defRPr sz="900" b="1">
                <a:solidFill>
                  <a:srgbClr val="151312"/>
                </a:solidFill>
                <a:latin typeface="Arial"/>
                <a:ea typeface="Arial"/>
                <a:cs typeface="Arial"/>
              </a:defRPr>
            </a:lvl8pPr>
            <a:lvl9pPr algn="l">
              <a:defRPr sz="900" b="1">
                <a:solidFill>
                  <a:srgbClr val="151312"/>
                </a:solidFill>
                <a:latin typeface="Arial"/>
                <a:ea typeface="Arial"/>
                <a:cs typeface="Arial"/>
              </a:defRPr>
            </a:lvl9pPr>
          </a:lstStyle>
          <a:p xmlns:a="http://schemas.openxmlformats.org/drawingml/2006/main">
            <a:pPr algn="l">
              <a:defRPr sz="900" b="1">
                <a:solidFill>
                  <a:srgbClr val="151312"/>
                </a:solidFill>
                <a:latin typeface="Arial"/>
                <a:ea typeface="Arial"/>
                <a:cs typeface="Arial"/>
              </a:defRPr>
            </a:pPr>
            <a:r>
              <a:rPr sz="900" b="1">
                <a:solidFill>
                  <a:srgbClr val="151312"/>
                </a:solidFill>
                <a:latin typeface="Arial"/>
                <a:ea typeface="Arial"/>
                <a:cs typeface="Arial"/>
              </a:rPr>
              <a:t>For the desk</a:t>
            </a:r>
          </a:p>
        </p:txBody>
      </p:sp>
      <p:sp>
        <p:nvSpPr>
          <p:cNvPr id="9" name="">
            <a:extLst xmlns:a="http://schemas.openxmlformats.org/drawingml/2006/main">
              <a:ext uri="{FF2B5EF4-FFF2-40B4-BE49-F238E27FC236}">
                <a16:creationId xmlns:a16="http://schemas.microsoft.com/office/drawing/2014/main" id="{FA1E856C-26B5-453C-A567-9E8DC796911C}"/>
              </a:ext>
            </a:extLst>
          </p:cNvPr>
          <p:cNvSpPr>
            <a:spLocks xmlns:a="http://schemas.openxmlformats.org/drawingml/2006/main" noGrp="1"/>
          </p:cNvSpPr>
          <p:nvPr/>
        </p:nvSpPr>
        <p:spPr>
          <a:xfrm xmlns:a="http://schemas.openxmlformats.org/drawingml/2006/main">
            <a:off x="1950671" y="5913120"/>
            <a:ext cx="9631439"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0">
                <a:solidFill>
                  <a:srgbClr val="45413C"/>
                </a:solidFill>
                <a:latin typeface="Arial"/>
                <a:ea typeface="Arial"/>
                <a:cs typeface="Arial"/>
              </a:defRPr>
            </a:defPPr>
            <a:lvl1pPr algn="l">
              <a:defRPr sz="1260" b="0">
                <a:solidFill>
                  <a:srgbClr val="45413C"/>
                </a:solidFill>
                <a:latin typeface="Arial"/>
                <a:ea typeface="Arial"/>
                <a:cs typeface="Arial"/>
              </a:defRPr>
            </a:lvl1pPr>
            <a:lvl2pPr algn="l">
              <a:defRPr sz="1260" b="0">
                <a:solidFill>
                  <a:srgbClr val="45413C"/>
                </a:solidFill>
                <a:latin typeface="Arial"/>
                <a:ea typeface="Arial"/>
                <a:cs typeface="Arial"/>
              </a:defRPr>
            </a:lvl2pPr>
            <a:lvl3pPr algn="l">
              <a:defRPr sz="1260" b="0">
                <a:solidFill>
                  <a:srgbClr val="45413C"/>
                </a:solidFill>
                <a:latin typeface="Arial"/>
                <a:ea typeface="Arial"/>
                <a:cs typeface="Arial"/>
              </a:defRPr>
            </a:lvl3pPr>
            <a:lvl4pPr algn="l">
              <a:defRPr sz="1260" b="0">
                <a:solidFill>
                  <a:srgbClr val="45413C"/>
                </a:solidFill>
                <a:latin typeface="Arial"/>
                <a:ea typeface="Arial"/>
                <a:cs typeface="Arial"/>
              </a:defRPr>
            </a:lvl4pPr>
            <a:lvl5pPr algn="l">
              <a:defRPr sz="1260" b="0">
                <a:solidFill>
                  <a:srgbClr val="45413C"/>
                </a:solidFill>
                <a:latin typeface="Arial"/>
                <a:ea typeface="Arial"/>
                <a:cs typeface="Arial"/>
              </a:defRPr>
            </a:lvl5pPr>
            <a:lvl6pPr algn="l">
              <a:defRPr sz="1260" b="0">
                <a:solidFill>
                  <a:srgbClr val="45413C"/>
                </a:solidFill>
                <a:latin typeface="Arial"/>
                <a:ea typeface="Arial"/>
                <a:cs typeface="Arial"/>
              </a:defRPr>
            </a:lvl6pPr>
            <a:lvl7pPr algn="l">
              <a:defRPr sz="1260" b="0">
                <a:solidFill>
                  <a:srgbClr val="45413C"/>
                </a:solidFill>
                <a:latin typeface="Arial"/>
                <a:ea typeface="Arial"/>
                <a:cs typeface="Arial"/>
              </a:defRPr>
            </a:lvl7pPr>
            <a:lvl8pPr algn="l">
              <a:defRPr sz="1260" b="0">
                <a:solidFill>
                  <a:srgbClr val="45413C"/>
                </a:solidFill>
                <a:latin typeface="Arial"/>
                <a:ea typeface="Arial"/>
                <a:cs typeface="Arial"/>
              </a:defRPr>
            </a:lvl8pPr>
            <a:lvl9pPr algn="l">
              <a:defRPr sz="1260" b="0">
                <a:solidFill>
                  <a:srgbClr val="45413C"/>
                </a:solidFill>
                <a:latin typeface="Arial"/>
                <a:ea typeface="Arial"/>
                <a:cs typeface="Arial"/>
              </a:defRPr>
            </a:lvl9pPr>
          </a:lstStyle>
          <a:p xmlns:a="http://schemas.openxmlformats.org/drawingml/2006/main">
            <a:pPr algn="l">
              <a:defRPr sz="1260" b="0">
                <a:solidFill>
                  <a:srgbClr val="45413C"/>
                </a:solidFill>
                <a:latin typeface="Arial"/>
                <a:ea typeface="Arial"/>
                <a:cs typeface="Arial"/>
              </a:defRPr>
            </a:pPr>
            <a:r>
              <a:rPr sz="1260" b="0">
                <a:solidFill>
                  <a:srgbClr val="45413C"/>
                </a:solidFill>
                <a:latin typeface="Arial"/>
                <a:ea typeface="Arial"/>
                <a:cs typeface="Arial"/>
              </a:rPr>
              <a:t>PSR tests Sharpe against zero; DSR raises the benchmark for the search across all variants.</a:t>
            </a:r>
          </a:p>
        </p:txBody>
      </p:sp>
      <p:sp>
        <p:nvSpPr>
          <p:cNvPr id="10" name="">
            <a:extLst xmlns:a="http://schemas.openxmlformats.org/drawingml/2006/main">
              <a:ext uri="{FF2B5EF4-FFF2-40B4-BE49-F238E27FC236}">
                <a16:creationId xmlns:a16="http://schemas.microsoft.com/office/drawing/2014/main" id="{DC6DFA70-FB79-40D5-8E5C-54850A815331}"/>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58F91ED-EB91-4284-AB56-1505C4816FA7}"/>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Yahoo Finance ETF closes; Bailey and López de Prado (2014); evaluate/backtest.py; docs/DESIGN.md.</a:t>
            </a:r>
          </a:p>
        </p:txBody>
      </p:sp>
      <p:sp>
        <p:nvSpPr>
          <p:cNvPr id="12" name="">
            <a:extLst xmlns:a="http://schemas.openxmlformats.org/drawingml/2006/main">
              <a:ext uri="{FF2B5EF4-FFF2-40B4-BE49-F238E27FC236}">
                <a16:creationId xmlns:a16="http://schemas.microsoft.com/office/drawing/2014/main" id="{B910BD02-3915-4097-98CD-D29D3C6B9871}"/>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E09839C-BE24-4D82-82F2-F2A9B72A2E9D}"/>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D77D44A-FD51-47F1-BB44-457C5B7D23F2}"/>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948E1B6-8A76-42CE-91CC-6EFA0A22E6A3}"/>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54B7E1C-DF58-422F-81FB-45D613DC9483}"/>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4EE0D27-CEDA-4953-8657-05B2C425484C}"/>
              </a:ext>
            </a:extLst>
          </p:cNvPr>
          <p:cNvSpPr>
            <a:spLocks xmlns:a="http://schemas.openxmlformats.org/drawingml/2006/main" noGrp="1"/>
          </p:cNvSpPr>
          <p:nvPr/>
        </p:nvSpPr>
        <p:spPr>
          <a:xfrm xmlns:a="http://schemas.openxmlformats.org/drawingml/2006/main">
            <a:off x="609585" y="1920240"/>
            <a:ext cx="1737317"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960" b="1">
                <a:solidFill>
                  <a:srgbClr val="151312"/>
                </a:solidFill>
                <a:latin typeface="Arial"/>
                <a:ea typeface="Arial"/>
                <a:cs typeface="Arial"/>
              </a:defRPr>
            </a:defPPr>
            <a:lvl1pPr algn="l">
              <a:defRPr sz="3960" b="1">
                <a:solidFill>
                  <a:srgbClr val="151312"/>
                </a:solidFill>
                <a:latin typeface="Arial"/>
                <a:ea typeface="Arial"/>
                <a:cs typeface="Arial"/>
              </a:defRPr>
            </a:lvl1pPr>
            <a:lvl2pPr algn="l">
              <a:defRPr sz="3960" b="1">
                <a:solidFill>
                  <a:srgbClr val="151312"/>
                </a:solidFill>
                <a:latin typeface="Arial"/>
                <a:ea typeface="Arial"/>
                <a:cs typeface="Arial"/>
              </a:defRPr>
            </a:lvl2pPr>
            <a:lvl3pPr algn="l">
              <a:defRPr sz="3960" b="1">
                <a:solidFill>
                  <a:srgbClr val="151312"/>
                </a:solidFill>
                <a:latin typeface="Arial"/>
                <a:ea typeface="Arial"/>
                <a:cs typeface="Arial"/>
              </a:defRPr>
            </a:lvl3pPr>
            <a:lvl4pPr algn="l">
              <a:defRPr sz="3960" b="1">
                <a:solidFill>
                  <a:srgbClr val="151312"/>
                </a:solidFill>
                <a:latin typeface="Arial"/>
                <a:ea typeface="Arial"/>
                <a:cs typeface="Arial"/>
              </a:defRPr>
            </a:lvl4pPr>
            <a:lvl5pPr algn="l">
              <a:defRPr sz="3960" b="1">
                <a:solidFill>
                  <a:srgbClr val="151312"/>
                </a:solidFill>
                <a:latin typeface="Arial"/>
                <a:ea typeface="Arial"/>
                <a:cs typeface="Arial"/>
              </a:defRPr>
            </a:lvl5pPr>
            <a:lvl6pPr algn="l">
              <a:defRPr sz="3960" b="1">
                <a:solidFill>
                  <a:srgbClr val="151312"/>
                </a:solidFill>
                <a:latin typeface="Arial"/>
                <a:ea typeface="Arial"/>
                <a:cs typeface="Arial"/>
              </a:defRPr>
            </a:lvl6pPr>
            <a:lvl7pPr algn="l">
              <a:defRPr sz="3960" b="1">
                <a:solidFill>
                  <a:srgbClr val="151312"/>
                </a:solidFill>
                <a:latin typeface="Arial"/>
                <a:ea typeface="Arial"/>
                <a:cs typeface="Arial"/>
              </a:defRPr>
            </a:lvl7pPr>
            <a:lvl8pPr algn="l">
              <a:defRPr sz="3960" b="1">
                <a:solidFill>
                  <a:srgbClr val="151312"/>
                </a:solidFill>
                <a:latin typeface="Arial"/>
                <a:ea typeface="Arial"/>
                <a:cs typeface="Arial"/>
              </a:defRPr>
            </a:lvl8pPr>
            <a:lvl9pPr algn="l">
              <a:defRPr sz="3960" b="1">
                <a:solidFill>
                  <a:srgbClr val="151312"/>
                </a:solidFill>
                <a:latin typeface="Arial"/>
                <a:ea typeface="Arial"/>
                <a:cs typeface="Arial"/>
              </a:defRPr>
            </a:lvl9pPr>
          </a:lstStyle>
          <a:p xmlns:a="http://schemas.openxmlformats.org/drawingml/2006/main">
            <a:pPr algn="l">
              <a:defRPr sz="3960" b="1">
                <a:solidFill>
                  <a:srgbClr val="151312"/>
                </a:solidFill>
                <a:latin typeface="Arial"/>
                <a:ea typeface="Arial"/>
                <a:cs typeface="Arial"/>
              </a:defRPr>
            </a:pPr>
            <a:r>
              <a:rPr sz="3960" b="1">
                <a:solidFill>
                  <a:srgbClr val="151312"/>
                </a:solidFill>
                <a:latin typeface="Arial"/>
                <a:ea typeface="Arial"/>
                <a:cs typeface="Arial"/>
              </a:rPr>
              <a:t>−0.18</a:t>
            </a:r>
          </a:p>
        </p:txBody>
      </p:sp>
      <p:sp>
        <p:nvSpPr>
          <p:cNvPr id="18" name="">
            <a:extLst xmlns:a="http://schemas.openxmlformats.org/drawingml/2006/main">
              <a:ext uri="{FF2B5EF4-FFF2-40B4-BE49-F238E27FC236}">
                <a16:creationId xmlns:a16="http://schemas.microsoft.com/office/drawing/2014/main" id="{5047F1AD-8DCA-4236-8F0B-0C0C8D56FDBA}"/>
              </a:ext>
            </a:extLst>
          </p:cNvPr>
          <p:cNvSpPr>
            <a:spLocks xmlns:a="http://schemas.openxmlformats.org/drawingml/2006/main" noGrp="1"/>
          </p:cNvSpPr>
          <p:nvPr/>
        </p:nvSpPr>
        <p:spPr>
          <a:xfrm xmlns:a="http://schemas.openxmlformats.org/drawingml/2006/main">
            <a:off x="2514537" y="1927860"/>
            <a:ext cx="2133547"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Sharpe after costs: Claude on minutes and speeches, next-day entry, 5-day hold</a:t>
            </a:r>
          </a:p>
        </p:txBody>
      </p:sp>
      <p:sp>
        <p:nvSpPr>
          <p:cNvPr id="19" name="">
            <a:extLst xmlns:a="http://schemas.openxmlformats.org/drawingml/2006/main">
              <a:ext uri="{FF2B5EF4-FFF2-40B4-BE49-F238E27FC236}">
                <a16:creationId xmlns:a16="http://schemas.microsoft.com/office/drawing/2014/main" id="{F031EF6D-E3B4-4E92-84C9-CB126A4789CB}"/>
              </a:ext>
            </a:extLst>
          </p:cNvPr>
          <p:cNvSpPr>
            <a:spLocks xmlns:a="http://schemas.openxmlformats.org/drawingml/2006/main" noGrp="1"/>
          </p:cNvSpPr>
          <p:nvPr/>
        </p:nvSpPr>
        <p:spPr>
          <a:xfrm xmlns:a="http://schemas.openxmlformats.org/drawingml/2006/main">
            <a:off x="4830959" y="2004060"/>
            <a:ext cx="7620" cy="5334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E7193DF-A77E-4FD8-B8F9-739CDDEF0D1E}"/>
              </a:ext>
            </a:extLst>
          </p:cNvPr>
          <p:cNvSpPr>
            <a:spLocks xmlns:a="http://schemas.openxmlformats.org/drawingml/2006/main" noGrp="1"/>
          </p:cNvSpPr>
          <p:nvPr/>
        </p:nvSpPr>
        <p:spPr>
          <a:xfrm xmlns:a="http://schemas.openxmlformats.org/drawingml/2006/main">
            <a:off x="4968116" y="1920240"/>
            <a:ext cx="1424904"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0">
                <a:solidFill>
                  <a:srgbClr val="45413C"/>
                </a:solidFill>
                <a:latin typeface="Arial"/>
                <a:ea typeface="Arial"/>
                <a:cs typeface="Arial"/>
              </a:defRPr>
            </a:defPPr>
            <a:lvl1pPr algn="l">
              <a:defRPr sz="1140" b="0">
                <a:solidFill>
                  <a:srgbClr val="45413C"/>
                </a:solidFill>
                <a:latin typeface="Arial"/>
                <a:ea typeface="Arial"/>
                <a:cs typeface="Arial"/>
              </a:defRPr>
            </a:lvl1pPr>
            <a:lvl2pPr algn="l">
              <a:defRPr sz="1140" b="0">
                <a:solidFill>
                  <a:srgbClr val="45413C"/>
                </a:solidFill>
                <a:latin typeface="Arial"/>
                <a:ea typeface="Arial"/>
                <a:cs typeface="Arial"/>
              </a:defRPr>
            </a:lvl2pPr>
            <a:lvl3pPr algn="l">
              <a:defRPr sz="1140" b="0">
                <a:solidFill>
                  <a:srgbClr val="45413C"/>
                </a:solidFill>
                <a:latin typeface="Arial"/>
                <a:ea typeface="Arial"/>
                <a:cs typeface="Arial"/>
              </a:defRPr>
            </a:lvl3pPr>
            <a:lvl4pPr algn="l">
              <a:defRPr sz="1140" b="0">
                <a:solidFill>
                  <a:srgbClr val="45413C"/>
                </a:solidFill>
                <a:latin typeface="Arial"/>
                <a:ea typeface="Arial"/>
                <a:cs typeface="Arial"/>
              </a:defRPr>
            </a:lvl4pPr>
            <a:lvl5pPr algn="l">
              <a:defRPr sz="1140" b="0">
                <a:solidFill>
                  <a:srgbClr val="45413C"/>
                </a:solidFill>
                <a:latin typeface="Arial"/>
                <a:ea typeface="Arial"/>
                <a:cs typeface="Arial"/>
              </a:defRPr>
            </a:lvl5pPr>
            <a:lvl6pPr algn="l">
              <a:defRPr sz="1140" b="0">
                <a:solidFill>
                  <a:srgbClr val="45413C"/>
                </a:solidFill>
                <a:latin typeface="Arial"/>
                <a:ea typeface="Arial"/>
                <a:cs typeface="Arial"/>
              </a:defRPr>
            </a:lvl6pPr>
            <a:lvl7pPr algn="l">
              <a:defRPr sz="1140" b="0">
                <a:solidFill>
                  <a:srgbClr val="45413C"/>
                </a:solidFill>
                <a:latin typeface="Arial"/>
                <a:ea typeface="Arial"/>
                <a:cs typeface="Arial"/>
              </a:defRPr>
            </a:lvl7pPr>
            <a:lvl8pPr algn="l">
              <a:defRPr sz="1140" b="0">
                <a:solidFill>
                  <a:srgbClr val="45413C"/>
                </a:solidFill>
                <a:latin typeface="Arial"/>
                <a:ea typeface="Arial"/>
                <a:cs typeface="Arial"/>
              </a:defRPr>
            </a:lvl8pPr>
            <a:lvl9pPr algn="l">
              <a:defRPr sz="1140" b="0">
                <a:solidFill>
                  <a:srgbClr val="45413C"/>
                </a:solidFill>
                <a:latin typeface="Arial"/>
                <a:ea typeface="Arial"/>
                <a:cs typeface="Arial"/>
              </a:defRPr>
            </a:lvl9pPr>
          </a:lstStyle>
          <a:p xmlns:a="http://schemas.openxmlformats.org/drawingml/2006/main">
            <a:pPr algn="l">
              <a:defRPr sz="1140" b="0">
                <a:solidFill>
                  <a:srgbClr val="45413C"/>
                </a:solidFill>
                <a:latin typeface="Arial"/>
                <a:ea typeface="Arial"/>
                <a:cs typeface="Arial"/>
              </a:defRPr>
            </a:pPr>
            <a:r>
              <a:rPr sz="1140" b="0">
                <a:solidFill>
                  <a:srgbClr val="45413C"/>
                </a:solidFill>
                <a:latin typeface="Arial"/>
                <a:ea typeface="Arial"/>
                <a:cs typeface="Arial"/>
              </a:rPr>
              <a:t>Placebo p = 0.28; probabilistic Sharpe 22%</a:t>
            </a:r>
          </a:p>
        </p:txBody>
      </p:sp>
      <p:sp>
        <p:nvSpPr>
          <p:cNvPr id="21" name="">
            <a:extLst xmlns:a="http://schemas.openxmlformats.org/drawingml/2006/main">
              <a:ext uri="{FF2B5EF4-FFF2-40B4-BE49-F238E27FC236}">
                <a16:creationId xmlns:a16="http://schemas.microsoft.com/office/drawing/2014/main" id="{2BA0A96C-43EE-4A2A-9CDA-C63E28D866EE}"/>
              </a:ext>
            </a:extLst>
          </p:cNvPr>
          <p:cNvSpPr>
            <a:spLocks xmlns:a="http://schemas.openxmlformats.org/drawingml/2006/main" noGrp="1"/>
          </p:cNvSpPr>
          <p:nvPr/>
        </p:nvSpPr>
        <p:spPr>
          <a:xfrm xmlns:a="http://schemas.openxmlformats.org/drawingml/2006/main">
            <a:off x="6560656" y="2004060"/>
            <a:ext cx="7620" cy="5334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397BBBB-48CD-4F21-9D77-367CEABD8C67}"/>
              </a:ext>
            </a:extLst>
          </p:cNvPr>
          <p:cNvSpPr>
            <a:spLocks xmlns:a="http://schemas.openxmlformats.org/drawingml/2006/main" noGrp="1"/>
          </p:cNvSpPr>
          <p:nvPr/>
        </p:nvSpPr>
        <p:spPr>
          <a:xfrm xmlns:a="http://schemas.openxmlformats.org/drawingml/2006/main">
            <a:off x="6697812" y="1920240"/>
            <a:ext cx="1424904"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0">
                <a:solidFill>
                  <a:srgbClr val="45413C"/>
                </a:solidFill>
                <a:latin typeface="Arial"/>
                <a:ea typeface="Arial"/>
                <a:cs typeface="Arial"/>
              </a:defRPr>
            </a:defPPr>
            <a:lvl1pPr algn="l">
              <a:defRPr sz="1140" b="0">
                <a:solidFill>
                  <a:srgbClr val="45413C"/>
                </a:solidFill>
                <a:latin typeface="Arial"/>
                <a:ea typeface="Arial"/>
                <a:cs typeface="Arial"/>
              </a:defRPr>
            </a:lvl1pPr>
            <a:lvl2pPr algn="l">
              <a:defRPr sz="1140" b="0">
                <a:solidFill>
                  <a:srgbClr val="45413C"/>
                </a:solidFill>
                <a:latin typeface="Arial"/>
                <a:ea typeface="Arial"/>
                <a:cs typeface="Arial"/>
              </a:defRPr>
            </a:lvl2pPr>
            <a:lvl3pPr algn="l">
              <a:defRPr sz="1140" b="0">
                <a:solidFill>
                  <a:srgbClr val="45413C"/>
                </a:solidFill>
                <a:latin typeface="Arial"/>
                <a:ea typeface="Arial"/>
                <a:cs typeface="Arial"/>
              </a:defRPr>
            </a:lvl3pPr>
            <a:lvl4pPr algn="l">
              <a:defRPr sz="1140" b="0">
                <a:solidFill>
                  <a:srgbClr val="45413C"/>
                </a:solidFill>
                <a:latin typeface="Arial"/>
                <a:ea typeface="Arial"/>
                <a:cs typeface="Arial"/>
              </a:defRPr>
            </a:lvl4pPr>
            <a:lvl5pPr algn="l">
              <a:defRPr sz="1140" b="0">
                <a:solidFill>
                  <a:srgbClr val="45413C"/>
                </a:solidFill>
                <a:latin typeface="Arial"/>
                <a:ea typeface="Arial"/>
                <a:cs typeface="Arial"/>
              </a:defRPr>
            </a:lvl5pPr>
            <a:lvl6pPr algn="l">
              <a:defRPr sz="1140" b="0">
                <a:solidFill>
                  <a:srgbClr val="45413C"/>
                </a:solidFill>
                <a:latin typeface="Arial"/>
                <a:ea typeface="Arial"/>
                <a:cs typeface="Arial"/>
              </a:defRPr>
            </a:lvl6pPr>
            <a:lvl7pPr algn="l">
              <a:defRPr sz="1140" b="0">
                <a:solidFill>
                  <a:srgbClr val="45413C"/>
                </a:solidFill>
                <a:latin typeface="Arial"/>
                <a:ea typeface="Arial"/>
                <a:cs typeface="Arial"/>
              </a:defRPr>
            </a:lvl7pPr>
            <a:lvl8pPr algn="l">
              <a:defRPr sz="1140" b="0">
                <a:solidFill>
                  <a:srgbClr val="45413C"/>
                </a:solidFill>
                <a:latin typeface="Arial"/>
                <a:ea typeface="Arial"/>
                <a:cs typeface="Arial"/>
              </a:defRPr>
            </a:lvl8pPr>
            <a:lvl9pPr algn="l">
              <a:defRPr sz="1140" b="0">
                <a:solidFill>
                  <a:srgbClr val="45413C"/>
                </a:solidFill>
                <a:latin typeface="Arial"/>
                <a:ea typeface="Arial"/>
                <a:cs typeface="Arial"/>
              </a:defRPr>
            </a:lvl9pPr>
          </a:lstStyle>
          <a:p xmlns:a="http://schemas.openxmlformats.org/drawingml/2006/main">
            <a:pPr algn="l">
              <a:defRPr sz="1140" b="0">
                <a:solidFill>
                  <a:srgbClr val="45413C"/>
                </a:solidFill>
                <a:latin typeface="Arial"/>
                <a:ea typeface="Arial"/>
                <a:cs typeface="Arial"/>
              </a:defRPr>
            </a:pPr>
            <a:r>
              <a:rPr sz="1140" b="0">
                <a:solidFill>
                  <a:srgbClr val="45413C"/>
                </a:solidFill>
                <a:latin typeface="Arial"/>
                <a:ea typeface="Arial"/>
                <a:cs typeface="Arial"/>
              </a:rPr>
              <a:t>116 variants; expected-best no-skill Sharpe 0.48</a:t>
            </a:r>
          </a:p>
        </p:txBody>
      </p:sp>
      <p:sp>
        <p:nvSpPr>
          <p:cNvPr id="23" name="">
            <a:extLst xmlns:a="http://schemas.openxmlformats.org/drawingml/2006/main">
              <a:ext uri="{FF2B5EF4-FFF2-40B4-BE49-F238E27FC236}">
                <a16:creationId xmlns:a16="http://schemas.microsoft.com/office/drawing/2014/main" id="{ECE59B0E-B6F0-4756-89F1-7D1C0EAA05C1}"/>
              </a:ext>
            </a:extLst>
          </p:cNvPr>
          <p:cNvSpPr>
            <a:spLocks xmlns:a="http://schemas.openxmlformats.org/drawingml/2006/main" noGrp="1"/>
          </p:cNvSpPr>
          <p:nvPr/>
        </p:nvSpPr>
        <p:spPr>
          <a:xfrm xmlns:a="http://schemas.openxmlformats.org/drawingml/2006/main">
            <a:off x="8290353" y="2004060"/>
            <a:ext cx="7620" cy="5334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8B593CE-30C0-4E48-AFEA-45EF41C5116D}"/>
              </a:ext>
            </a:extLst>
          </p:cNvPr>
          <p:cNvSpPr>
            <a:spLocks xmlns:a="http://schemas.openxmlformats.org/drawingml/2006/main" noGrp="1"/>
          </p:cNvSpPr>
          <p:nvPr/>
        </p:nvSpPr>
        <p:spPr>
          <a:xfrm xmlns:a="http://schemas.openxmlformats.org/drawingml/2006/main">
            <a:off x="8427509" y="1920240"/>
            <a:ext cx="1424904"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0">
                <a:solidFill>
                  <a:srgbClr val="45413C"/>
                </a:solidFill>
                <a:latin typeface="Arial"/>
                <a:ea typeface="Arial"/>
                <a:cs typeface="Arial"/>
              </a:defRPr>
            </a:defPPr>
            <a:lvl1pPr algn="l">
              <a:defRPr sz="1140" b="0">
                <a:solidFill>
                  <a:srgbClr val="45413C"/>
                </a:solidFill>
                <a:latin typeface="Arial"/>
                <a:ea typeface="Arial"/>
                <a:cs typeface="Arial"/>
              </a:defRPr>
            </a:lvl1pPr>
            <a:lvl2pPr algn="l">
              <a:defRPr sz="1140" b="0">
                <a:solidFill>
                  <a:srgbClr val="45413C"/>
                </a:solidFill>
                <a:latin typeface="Arial"/>
                <a:ea typeface="Arial"/>
                <a:cs typeface="Arial"/>
              </a:defRPr>
            </a:lvl2pPr>
            <a:lvl3pPr algn="l">
              <a:defRPr sz="1140" b="0">
                <a:solidFill>
                  <a:srgbClr val="45413C"/>
                </a:solidFill>
                <a:latin typeface="Arial"/>
                <a:ea typeface="Arial"/>
                <a:cs typeface="Arial"/>
              </a:defRPr>
            </a:lvl3pPr>
            <a:lvl4pPr algn="l">
              <a:defRPr sz="1140" b="0">
                <a:solidFill>
                  <a:srgbClr val="45413C"/>
                </a:solidFill>
                <a:latin typeface="Arial"/>
                <a:ea typeface="Arial"/>
                <a:cs typeface="Arial"/>
              </a:defRPr>
            </a:lvl4pPr>
            <a:lvl5pPr algn="l">
              <a:defRPr sz="1140" b="0">
                <a:solidFill>
                  <a:srgbClr val="45413C"/>
                </a:solidFill>
                <a:latin typeface="Arial"/>
                <a:ea typeface="Arial"/>
                <a:cs typeface="Arial"/>
              </a:defRPr>
            </a:lvl5pPr>
            <a:lvl6pPr algn="l">
              <a:defRPr sz="1140" b="0">
                <a:solidFill>
                  <a:srgbClr val="45413C"/>
                </a:solidFill>
                <a:latin typeface="Arial"/>
                <a:ea typeface="Arial"/>
                <a:cs typeface="Arial"/>
              </a:defRPr>
            </a:lvl6pPr>
            <a:lvl7pPr algn="l">
              <a:defRPr sz="1140" b="0">
                <a:solidFill>
                  <a:srgbClr val="45413C"/>
                </a:solidFill>
                <a:latin typeface="Arial"/>
                <a:ea typeface="Arial"/>
                <a:cs typeface="Arial"/>
              </a:defRPr>
            </a:lvl7pPr>
            <a:lvl8pPr algn="l">
              <a:defRPr sz="1140" b="0">
                <a:solidFill>
                  <a:srgbClr val="45413C"/>
                </a:solidFill>
                <a:latin typeface="Arial"/>
                <a:ea typeface="Arial"/>
                <a:cs typeface="Arial"/>
              </a:defRPr>
            </a:lvl8pPr>
            <a:lvl9pPr algn="l">
              <a:defRPr sz="1140" b="0">
                <a:solidFill>
                  <a:srgbClr val="45413C"/>
                </a:solidFill>
                <a:latin typeface="Arial"/>
                <a:ea typeface="Arial"/>
                <a:cs typeface="Arial"/>
              </a:defRPr>
            </a:lvl9pPr>
          </a:lstStyle>
          <a:p xmlns:a="http://schemas.openxmlformats.org/drawingml/2006/main">
            <a:pPr algn="l">
              <a:defRPr sz="1140" b="0">
                <a:solidFill>
                  <a:srgbClr val="45413C"/>
                </a:solidFill>
                <a:latin typeface="Arial"/>
                <a:ea typeface="Arial"/>
                <a:cs typeface="Arial"/>
              </a:defRPr>
            </a:pPr>
            <a:r>
              <a:rPr sz="1140" b="0">
                <a:solidFill>
                  <a:srgbClr val="45413C"/>
                </a:solidFill>
                <a:latin typeface="Arial"/>
                <a:ea typeface="Arial"/>
                <a:cs typeface="Arial"/>
              </a:rPr>
              <a:t>0 pass DSR 95%; active AGG −10 bp/year</a:t>
            </a:r>
          </a:p>
        </p:txBody>
      </p:sp>
      <p:sp>
        <p:nvSpPr>
          <p:cNvPr id="25" name="">
            <a:extLst xmlns:a="http://schemas.openxmlformats.org/drawingml/2006/main">
              <a:ext uri="{FF2B5EF4-FFF2-40B4-BE49-F238E27FC236}">
                <a16:creationId xmlns:a16="http://schemas.microsoft.com/office/drawing/2014/main" id="{AEA30570-D637-40EB-8F64-4A025158EE1F}"/>
              </a:ext>
            </a:extLst>
          </p:cNvPr>
          <p:cNvSpPr>
            <a:spLocks xmlns:a="http://schemas.openxmlformats.org/drawingml/2006/main" noGrp="1"/>
          </p:cNvSpPr>
          <p:nvPr/>
        </p:nvSpPr>
        <p:spPr>
          <a:xfrm xmlns:a="http://schemas.openxmlformats.org/drawingml/2006/main">
            <a:off x="10020049" y="2004060"/>
            <a:ext cx="7620" cy="5334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2731338-920A-4A90-BDE7-6C257A6EAD0B}"/>
              </a:ext>
            </a:extLst>
          </p:cNvPr>
          <p:cNvSpPr>
            <a:spLocks xmlns:a="http://schemas.openxmlformats.org/drawingml/2006/main" noGrp="1"/>
          </p:cNvSpPr>
          <p:nvPr/>
        </p:nvSpPr>
        <p:spPr>
          <a:xfrm xmlns:a="http://schemas.openxmlformats.org/drawingml/2006/main">
            <a:off x="10157206" y="1920240"/>
            <a:ext cx="1424904"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4832"/>
          </a:bodyPr>
          <a:lstStyle xmlns:a="http://schemas.openxmlformats.org/drawingml/2006/main">
            <a:defPPr algn="l">
              <a:defRPr sz="1140" b="0">
                <a:solidFill>
                  <a:srgbClr val="45413C"/>
                </a:solidFill>
                <a:latin typeface="Arial"/>
                <a:ea typeface="Arial"/>
                <a:cs typeface="Arial"/>
              </a:defRPr>
            </a:defPPr>
            <a:lvl1pPr algn="l">
              <a:defRPr sz="1140" b="0">
                <a:solidFill>
                  <a:srgbClr val="45413C"/>
                </a:solidFill>
                <a:latin typeface="Arial"/>
                <a:ea typeface="Arial"/>
                <a:cs typeface="Arial"/>
              </a:defRPr>
            </a:lvl1pPr>
            <a:lvl2pPr algn="l">
              <a:defRPr sz="1140" b="0">
                <a:solidFill>
                  <a:srgbClr val="45413C"/>
                </a:solidFill>
                <a:latin typeface="Arial"/>
                <a:ea typeface="Arial"/>
                <a:cs typeface="Arial"/>
              </a:defRPr>
            </a:lvl2pPr>
            <a:lvl3pPr algn="l">
              <a:defRPr sz="1140" b="0">
                <a:solidFill>
                  <a:srgbClr val="45413C"/>
                </a:solidFill>
                <a:latin typeface="Arial"/>
                <a:ea typeface="Arial"/>
                <a:cs typeface="Arial"/>
              </a:defRPr>
            </a:lvl3pPr>
            <a:lvl4pPr algn="l">
              <a:defRPr sz="1140" b="0">
                <a:solidFill>
                  <a:srgbClr val="45413C"/>
                </a:solidFill>
                <a:latin typeface="Arial"/>
                <a:ea typeface="Arial"/>
                <a:cs typeface="Arial"/>
              </a:defRPr>
            </a:lvl4pPr>
            <a:lvl5pPr algn="l">
              <a:defRPr sz="1140" b="0">
                <a:solidFill>
                  <a:srgbClr val="45413C"/>
                </a:solidFill>
                <a:latin typeface="Arial"/>
                <a:ea typeface="Arial"/>
                <a:cs typeface="Arial"/>
              </a:defRPr>
            </a:lvl5pPr>
            <a:lvl6pPr algn="l">
              <a:defRPr sz="1140" b="0">
                <a:solidFill>
                  <a:srgbClr val="45413C"/>
                </a:solidFill>
                <a:latin typeface="Arial"/>
                <a:ea typeface="Arial"/>
                <a:cs typeface="Arial"/>
              </a:defRPr>
            </a:lvl6pPr>
            <a:lvl7pPr algn="l">
              <a:defRPr sz="1140" b="0">
                <a:solidFill>
                  <a:srgbClr val="45413C"/>
                </a:solidFill>
                <a:latin typeface="Arial"/>
                <a:ea typeface="Arial"/>
                <a:cs typeface="Arial"/>
              </a:defRPr>
            </a:lvl7pPr>
            <a:lvl8pPr algn="l">
              <a:defRPr sz="1140" b="0">
                <a:solidFill>
                  <a:srgbClr val="45413C"/>
                </a:solidFill>
                <a:latin typeface="Arial"/>
                <a:ea typeface="Arial"/>
                <a:cs typeface="Arial"/>
              </a:defRPr>
            </a:lvl8pPr>
            <a:lvl9pPr algn="l">
              <a:defRPr sz="1140" b="0">
                <a:solidFill>
                  <a:srgbClr val="45413C"/>
                </a:solidFill>
                <a:latin typeface="Arial"/>
                <a:ea typeface="Arial"/>
                <a:cs typeface="Arial"/>
              </a:defRPr>
            </a:lvl9pPr>
          </a:lstStyle>
          <a:p xmlns:a="http://schemas.openxmlformats.org/drawingml/2006/main">
            <a:pPr algn="l">
              <a:defRPr sz="1140" b="0">
                <a:solidFill>
                  <a:srgbClr val="45413C"/>
                </a:solidFill>
                <a:latin typeface="Arial"/>
                <a:ea typeface="Arial"/>
                <a:cs typeface="Arial"/>
              </a:defRPr>
            </a:pPr>
            <a:r>
              <a:rPr sz="1140" b="0">
                <a:solidFill>
                  <a:srgbClr val="45413C"/>
                </a:solidFill>
                <a:latin typeface="Arial"/>
                <a:ea typeface="Arial"/>
                <a:cs typeface="Arial"/>
              </a:rPr>
              <a:t>21 Oct correction: Sharpe −0.23 → −0.18; verdict unchanged</a:t>
            </a:r>
          </a:p>
        </p:txBody>
      </p:sp>
      <p:sp>
        <p:nvSpPr>
          <p:cNvPr id="27" name="">
            <a:extLst xmlns:a="http://schemas.openxmlformats.org/drawingml/2006/main">
              <a:ext uri="{FF2B5EF4-FFF2-40B4-BE49-F238E27FC236}">
                <a16:creationId xmlns:a16="http://schemas.microsoft.com/office/drawing/2014/main" id="{F70340E8-5166-4E37-AF6E-3784C1E0BEDA}"/>
              </a:ext>
            </a:extLst>
          </p:cNvPr>
          <p:cNvSpPr>
            <a:spLocks xmlns:a="http://schemas.openxmlformats.org/drawingml/2006/main" noGrp="1"/>
          </p:cNvSpPr>
          <p:nvPr/>
        </p:nvSpPr>
        <p:spPr>
          <a:xfrm xmlns:a="http://schemas.openxmlformats.org/drawingml/2006/main">
            <a:off x="609585" y="267462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BDA0BFAE-5613-4731-899B-37B1BF5C43FD}"/>
              </a:ext>
            </a:extLst>
          </p:cNvPr>
          <p:cNvPicPr>
            <a:picLocks xmlns:a="http://schemas.openxmlformats.org/drawingml/2006/main" noChangeAspect="1"/>
          </p:cNvPicPr>
          <p:nvPr/>
        </p:nvPicPr>
        <p:blipFill>
          <a:blip xmlns:r="http://schemas.openxmlformats.org/officeDocument/2006/relationships" xmlns:a="http://schemas.openxmlformats.org/drawingml/2006/main" r:embed="Rf827ed94b28541d3"/>
          <a:stretch xmlns:a="http://schemas.openxmlformats.org/drawingml/2006/main"/>
        </p:blipFill>
        <p:spPr>
          <a:xfrm xmlns:a="http://schemas.openxmlformats.org/drawingml/2006/main">
            <a:off x="609585" y="2834676"/>
            <a:ext cx="10972526" cy="2895528"/>
          </a:xfrm>
          <a:prstGeom xmlns:a="http://schemas.openxmlformats.org/drawingml/2006/main" prst="rect">
            <a:avLst/>
          </a:prstGeom>
        </p:spPr>
      </p:pic>
    </p:spTree>
    <p:extLst>
      <p:ext uri="{BB962C8B-B14F-4D97-AF65-F5344CB8AC3E}">
        <p14:creationId xmlns:p14="http://schemas.microsoft.com/office/powerpoint/2010/main" val="628550788"/>
      </p:ext>
    </p:extLst>
  </p:cSld>
</p:sld>
</file>

<file path=ppt/slides/slide31.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AE4C63D4-A1C7-40FE-8A84-0DB6B7C6671B}"/>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CB656B52-BE86-4D99-8EA5-7BA93934E6C6}"/>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INDEX, YIELDS AND DURATION</a:t>
            </a:r>
          </a:p>
        </p:txBody>
      </p:sp>
      <p:sp>
        <p:nvSpPr>
          <p:cNvPr id="3" name="">
            <a:extLst xmlns:a="http://schemas.openxmlformats.org/drawingml/2006/main">
              <a:ext uri="{FF2B5EF4-FFF2-40B4-BE49-F238E27FC236}">
                <a16:creationId xmlns:a16="http://schemas.microsoft.com/office/drawing/2014/main" id="{E986EB26-46F6-407F-80A2-D6DEC09EE78C}"/>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31 / 46</a:t>
            </a:r>
          </a:p>
        </p:txBody>
      </p:sp>
      <p:sp>
        <p:nvSpPr>
          <p:cNvPr id="4" name="">
            <a:extLst xmlns:a="http://schemas.openxmlformats.org/drawingml/2006/main">
              <a:ext uri="{FF2B5EF4-FFF2-40B4-BE49-F238E27FC236}">
                <a16:creationId xmlns:a16="http://schemas.microsoft.com/office/drawing/2014/main" id="{4002C3DB-C5A5-45A5-8454-A065BD562BF8}"/>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845D9FB-0E28-4CC8-A6F5-C84F3D016CBA}"/>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From a Fed document to duration exposure</a:t>
            </a:r>
          </a:p>
        </p:txBody>
      </p:sp>
      <p:sp>
        <p:nvSpPr>
          <p:cNvPr id="6" name="">
            <a:extLst xmlns:a="http://schemas.openxmlformats.org/drawingml/2006/main">
              <a:ext uri="{FF2B5EF4-FFF2-40B4-BE49-F238E27FC236}">
                <a16:creationId xmlns:a16="http://schemas.microsoft.com/office/drawing/2014/main" id="{1DFA1660-6E49-417C-A6E6-2BDA96A593D4}"/>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A traceable rule replay connects evidence with sizing and its historical test</a:t>
            </a:r>
          </a:p>
        </p:txBody>
      </p:sp>
      <p:sp>
        <p:nvSpPr>
          <p:cNvPr id="7" name="">
            <a:extLst xmlns:a="http://schemas.openxmlformats.org/drawingml/2006/main">
              <a:ext uri="{FF2B5EF4-FFF2-40B4-BE49-F238E27FC236}">
                <a16:creationId xmlns:a16="http://schemas.microsoft.com/office/drawing/2014/main" id="{BD11D411-D9FF-447D-9760-87B053C4BBAF}"/>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BA43E06-F34F-43D6-B7EF-D702D16D543E}"/>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duration.py; frozen reader and entry rules from the backtest.</a:t>
            </a:r>
          </a:p>
        </p:txBody>
      </p:sp>
      <p:sp>
        <p:nvSpPr>
          <p:cNvPr id="9" name="">
            <a:extLst xmlns:a="http://schemas.openxmlformats.org/drawingml/2006/main">
              <a:ext uri="{FF2B5EF4-FFF2-40B4-BE49-F238E27FC236}">
                <a16:creationId xmlns:a16="http://schemas.microsoft.com/office/drawing/2014/main" id="{4BC617F6-90D2-48A5-A736-7F2754A66AEC}"/>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FDE57B2-FC26-48F2-9DD5-2AAE80F7FBAD}"/>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A40E5D6-4FCE-40F3-8A22-9A7782F79CF1}"/>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8786B91-2DD1-4987-92EC-94B8281D2568}"/>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399FF4F-E700-47BB-9750-5DF9E80D51AA}"/>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FA477E1-8EE4-412D-BC22-545E81628664}"/>
              </a:ext>
            </a:extLst>
          </p:cNvPr>
          <p:cNvSpPr>
            <a:spLocks xmlns:a="http://schemas.openxmlformats.org/drawingml/2006/main" noGrp="1"/>
          </p:cNvSpPr>
          <p:nvPr/>
        </p:nvSpPr>
        <p:spPr>
          <a:xfrm xmlns:a="http://schemas.openxmlformats.org/drawingml/2006/main">
            <a:off x="609585" y="1920240"/>
            <a:ext cx="5333867" cy="1143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49F6E37-5D79-43DA-9BAD-DE2E8344F29A}"/>
              </a:ext>
            </a:extLst>
          </p:cNvPr>
          <p:cNvSpPr>
            <a:spLocks xmlns:a="http://schemas.openxmlformats.org/drawingml/2006/main" noGrp="1"/>
          </p:cNvSpPr>
          <p:nvPr/>
        </p:nvSpPr>
        <p:spPr>
          <a:xfrm xmlns:a="http://schemas.openxmlformats.org/drawingml/2006/main">
            <a:off x="609585" y="2057400"/>
            <a:ext cx="5333867"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1">
                <a:solidFill>
                  <a:srgbClr val="C8401F"/>
                </a:solidFill>
                <a:latin typeface="Arial"/>
                <a:ea typeface="Arial"/>
                <a:cs typeface="Arial"/>
              </a:defRPr>
            </a:defPPr>
            <a:lvl1pPr algn="l">
              <a:defRPr sz="1320" b="1">
                <a:solidFill>
                  <a:srgbClr val="C8401F"/>
                </a:solidFill>
                <a:latin typeface="Arial"/>
                <a:ea typeface="Arial"/>
                <a:cs typeface="Arial"/>
              </a:defRPr>
            </a:lvl1pPr>
            <a:lvl2pPr algn="l">
              <a:defRPr sz="1320" b="1">
                <a:solidFill>
                  <a:srgbClr val="C8401F"/>
                </a:solidFill>
                <a:latin typeface="Arial"/>
                <a:ea typeface="Arial"/>
                <a:cs typeface="Arial"/>
              </a:defRPr>
            </a:lvl2pPr>
            <a:lvl3pPr algn="l">
              <a:defRPr sz="1320" b="1">
                <a:solidFill>
                  <a:srgbClr val="C8401F"/>
                </a:solidFill>
                <a:latin typeface="Arial"/>
                <a:ea typeface="Arial"/>
                <a:cs typeface="Arial"/>
              </a:defRPr>
            </a:lvl3pPr>
            <a:lvl4pPr algn="l">
              <a:defRPr sz="1320" b="1">
                <a:solidFill>
                  <a:srgbClr val="C8401F"/>
                </a:solidFill>
                <a:latin typeface="Arial"/>
                <a:ea typeface="Arial"/>
                <a:cs typeface="Arial"/>
              </a:defRPr>
            </a:lvl4pPr>
            <a:lvl5pPr algn="l">
              <a:defRPr sz="1320" b="1">
                <a:solidFill>
                  <a:srgbClr val="C8401F"/>
                </a:solidFill>
                <a:latin typeface="Arial"/>
                <a:ea typeface="Arial"/>
                <a:cs typeface="Arial"/>
              </a:defRPr>
            </a:lvl5pPr>
            <a:lvl6pPr algn="l">
              <a:defRPr sz="1320" b="1">
                <a:solidFill>
                  <a:srgbClr val="C8401F"/>
                </a:solidFill>
                <a:latin typeface="Arial"/>
                <a:ea typeface="Arial"/>
                <a:cs typeface="Arial"/>
              </a:defRPr>
            </a:lvl6pPr>
            <a:lvl7pPr algn="l">
              <a:defRPr sz="1320" b="1">
                <a:solidFill>
                  <a:srgbClr val="C8401F"/>
                </a:solidFill>
                <a:latin typeface="Arial"/>
                <a:ea typeface="Arial"/>
                <a:cs typeface="Arial"/>
              </a:defRPr>
            </a:lvl7pPr>
            <a:lvl8pPr algn="l">
              <a:defRPr sz="1320" b="1">
                <a:solidFill>
                  <a:srgbClr val="C8401F"/>
                </a:solidFill>
                <a:latin typeface="Arial"/>
                <a:ea typeface="Arial"/>
                <a:cs typeface="Arial"/>
              </a:defRPr>
            </a:lvl8pPr>
            <a:lvl9pPr algn="l">
              <a:defRPr sz="1320" b="1">
                <a:solidFill>
                  <a:srgbClr val="C8401F"/>
                </a:solidFill>
                <a:latin typeface="Arial"/>
                <a:ea typeface="Arial"/>
                <a:cs typeface="Arial"/>
              </a:defRPr>
            </a:lvl9pPr>
          </a:lstStyle>
          <a:p xmlns:a="http://schemas.openxmlformats.org/drawingml/2006/main">
            <a:pPr algn="l">
              <a:defRPr sz="1320" b="1">
                <a:solidFill>
                  <a:srgbClr val="C8401F"/>
                </a:solidFill>
                <a:latin typeface="Arial"/>
                <a:ea typeface="Arial"/>
                <a:cs typeface="Arial"/>
              </a:defRPr>
            </a:pPr>
            <a:r>
              <a:rPr sz="1320" b="1">
                <a:solidFill>
                  <a:srgbClr val="C8401F"/>
                </a:solidFill>
                <a:latin typeface="Arial"/>
                <a:ea typeface="Arial"/>
                <a:cs typeface="Arial"/>
              </a:rPr>
              <a:t>01</a:t>
            </a:r>
          </a:p>
        </p:txBody>
      </p:sp>
      <p:sp>
        <p:nvSpPr>
          <p:cNvPr id="16" name="">
            <a:extLst xmlns:a="http://schemas.openxmlformats.org/drawingml/2006/main">
              <a:ext uri="{FF2B5EF4-FFF2-40B4-BE49-F238E27FC236}">
                <a16:creationId xmlns:a16="http://schemas.microsoft.com/office/drawing/2014/main" id="{8D6F9FB7-BCFD-45BB-9CA1-1D4FC72BA34B}"/>
              </a:ext>
            </a:extLst>
          </p:cNvPr>
          <p:cNvSpPr>
            <a:spLocks xmlns:a="http://schemas.openxmlformats.org/drawingml/2006/main" noGrp="1"/>
          </p:cNvSpPr>
          <p:nvPr/>
        </p:nvSpPr>
        <p:spPr>
          <a:xfrm xmlns:a="http://schemas.openxmlformats.org/drawingml/2006/main">
            <a:off x="609585" y="2392680"/>
            <a:ext cx="5333867" cy="396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680" b="1">
                <a:solidFill>
                  <a:srgbClr val="151312"/>
                </a:solidFill>
                <a:latin typeface="Arial"/>
                <a:ea typeface="Arial"/>
                <a:cs typeface="Arial"/>
              </a:defRPr>
            </a:defPPr>
            <a:lvl1pPr algn="l">
              <a:defRPr sz="1680" b="1">
                <a:solidFill>
                  <a:srgbClr val="151312"/>
                </a:solidFill>
                <a:latin typeface="Arial"/>
                <a:ea typeface="Arial"/>
                <a:cs typeface="Arial"/>
              </a:defRPr>
            </a:lvl1pPr>
            <a:lvl2pPr algn="l">
              <a:defRPr sz="1680" b="1">
                <a:solidFill>
                  <a:srgbClr val="151312"/>
                </a:solidFill>
                <a:latin typeface="Arial"/>
                <a:ea typeface="Arial"/>
                <a:cs typeface="Arial"/>
              </a:defRPr>
            </a:lvl2pPr>
            <a:lvl3pPr algn="l">
              <a:defRPr sz="1680" b="1">
                <a:solidFill>
                  <a:srgbClr val="151312"/>
                </a:solidFill>
                <a:latin typeface="Arial"/>
                <a:ea typeface="Arial"/>
                <a:cs typeface="Arial"/>
              </a:defRPr>
            </a:lvl3pPr>
            <a:lvl4pPr algn="l">
              <a:defRPr sz="1680" b="1">
                <a:solidFill>
                  <a:srgbClr val="151312"/>
                </a:solidFill>
                <a:latin typeface="Arial"/>
                <a:ea typeface="Arial"/>
                <a:cs typeface="Arial"/>
              </a:defRPr>
            </a:lvl4pPr>
            <a:lvl5pPr algn="l">
              <a:defRPr sz="1680" b="1">
                <a:solidFill>
                  <a:srgbClr val="151312"/>
                </a:solidFill>
                <a:latin typeface="Arial"/>
                <a:ea typeface="Arial"/>
                <a:cs typeface="Arial"/>
              </a:defRPr>
            </a:lvl5pPr>
            <a:lvl6pPr algn="l">
              <a:defRPr sz="1680" b="1">
                <a:solidFill>
                  <a:srgbClr val="151312"/>
                </a:solidFill>
                <a:latin typeface="Arial"/>
                <a:ea typeface="Arial"/>
                <a:cs typeface="Arial"/>
              </a:defRPr>
            </a:lvl6pPr>
            <a:lvl7pPr algn="l">
              <a:defRPr sz="1680" b="1">
                <a:solidFill>
                  <a:srgbClr val="151312"/>
                </a:solidFill>
                <a:latin typeface="Arial"/>
                <a:ea typeface="Arial"/>
                <a:cs typeface="Arial"/>
              </a:defRPr>
            </a:lvl7pPr>
            <a:lvl8pPr algn="l">
              <a:defRPr sz="1680" b="1">
                <a:solidFill>
                  <a:srgbClr val="151312"/>
                </a:solidFill>
                <a:latin typeface="Arial"/>
                <a:ea typeface="Arial"/>
                <a:cs typeface="Arial"/>
              </a:defRPr>
            </a:lvl8pPr>
            <a:lvl9pPr algn="l">
              <a:defRPr sz="1680" b="1">
                <a:solidFill>
                  <a:srgbClr val="151312"/>
                </a:solidFill>
                <a:latin typeface="Arial"/>
                <a:ea typeface="Arial"/>
                <a:cs typeface="Arial"/>
              </a:defRPr>
            </a:lvl9pPr>
          </a:lstStyle>
          <a:p xmlns:a="http://schemas.openxmlformats.org/drawingml/2006/main">
            <a:pPr algn="l">
              <a:defRPr sz="1680" b="1">
                <a:solidFill>
                  <a:srgbClr val="151312"/>
                </a:solidFill>
                <a:latin typeface="Arial"/>
                <a:ea typeface="Arial"/>
                <a:cs typeface="Arial"/>
              </a:defRPr>
            </a:pPr>
            <a:r>
              <a:rPr sz="1680" b="1">
                <a:solidFill>
                  <a:srgbClr val="151312"/>
                </a:solidFill>
                <a:latin typeface="Arial"/>
                <a:ea typeface="Arial"/>
                <a:cs typeface="Arial"/>
              </a:rPr>
              <a:t>Read the evidence</a:t>
            </a:r>
          </a:p>
        </p:txBody>
      </p:sp>
      <p:sp>
        <p:nvSpPr>
          <p:cNvPr id="17" name="">
            <a:extLst xmlns:a="http://schemas.openxmlformats.org/drawingml/2006/main">
              <a:ext uri="{FF2B5EF4-FFF2-40B4-BE49-F238E27FC236}">
                <a16:creationId xmlns:a16="http://schemas.microsoft.com/office/drawing/2014/main" id="{18C663C5-7A82-4526-A4C2-EF300250E5C0}"/>
              </a:ext>
            </a:extLst>
          </p:cNvPr>
          <p:cNvSpPr>
            <a:spLocks xmlns:a="http://schemas.openxmlformats.org/drawingml/2006/main" noGrp="1"/>
          </p:cNvSpPr>
          <p:nvPr/>
        </p:nvSpPr>
        <p:spPr>
          <a:xfrm xmlns:a="http://schemas.openxmlformats.org/drawingml/2006/main">
            <a:off x="609585" y="2887980"/>
            <a:ext cx="5333867"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A scored Fed document, its source and policy-relevant evidence spans</a:t>
            </a:r>
          </a:p>
        </p:txBody>
      </p:sp>
      <p:sp>
        <p:nvSpPr>
          <p:cNvPr id="18" name="">
            <a:extLst xmlns:a="http://schemas.openxmlformats.org/drawingml/2006/main">
              <a:ext uri="{FF2B5EF4-FFF2-40B4-BE49-F238E27FC236}">
                <a16:creationId xmlns:a16="http://schemas.microsoft.com/office/drawing/2014/main" id="{BD1C92EC-EE54-43B8-8E52-F590724BC56C}"/>
              </a:ext>
            </a:extLst>
          </p:cNvPr>
          <p:cNvSpPr>
            <a:spLocks xmlns:a="http://schemas.openxmlformats.org/drawingml/2006/main" noGrp="1"/>
          </p:cNvSpPr>
          <p:nvPr/>
        </p:nvSpPr>
        <p:spPr>
          <a:xfrm xmlns:a="http://schemas.openxmlformats.org/drawingml/2006/main">
            <a:off x="6248244" y="1920240"/>
            <a:ext cx="5333867" cy="1143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98FE633-C1FD-417A-A532-3CA2148CB1DE}"/>
              </a:ext>
            </a:extLst>
          </p:cNvPr>
          <p:cNvSpPr>
            <a:spLocks xmlns:a="http://schemas.openxmlformats.org/drawingml/2006/main" noGrp="1"/>
          </p:cNvSpPr>
          <p:nvPr/>
        </p:nvSpPr>
        <p:spPr>
          <a:xfrm xmlns:a="http://schemas.openxmlformats.org/drawingml/2006/main">
            <a:off x="6248244" y="2057400"/>
            <a:ext cx="5333867"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1">
                <a:solidFill>
                  <a:srgbClr val="C8401F"/>
                </a:solidFill>
                <a:latin typeface="Arial"/>
                <a:ea typeface="Arial"/>
                <a:cs typeface="Arial"/>
              </a:defRPr>
            </a:defPPr>
            <a:lvl1pPr algn="l">
              <a:defRPr sz="1320" b="1">
                <a:solidFill>
                  <a:srgbClr val="C8401F"/>
                </a:solidFill>
                <a:latin typeface="Arial"/>
                <a:ea typeface="Arial"/>
                <a:cs typeface="Arial"/>
              </a:defRPr>
            </a:lvl1pPr>
            <a:lvl2pPr algn="l">
              <a:defRPr sz="1320" b="1">
                <a:solidFill>
                  <a:srgbClr val="C8401F"/>
                </a:solidFill>
                <a:latin typeface="Arial"/>
                <a:ea typeface="Arial"/>
                <a:cs typeface="Arial"/>
              </a:defRPr>
            </a:lvl2pPr>
            <a:lvl3pPr algn="l">
              <a:defRPr sz="1320" b="1">
                <a:solidFill>
                  <a:srgbClr val="C8401F"/>
                </a:solidFill>
                <a:latin typeface="Arial"/>
                <a:ea typeface="Arial"/>
                <a:cs typeface="Arial"/>
              </a:defRPr>
            </a:lvl3pPr>
            <a:lvl4pPr algn="l">
              <a:defRPr sz="1320" b="1">
                <a:solidFill>
                  <a:srgbClr val="C8401F"/>
                </a:solidFill>
                <a:latin typeface="Arial"/>
                <a:ea typeface="Arial"/>
                <a:cs typeface="Arial"/>
              </a:defRPr>
            </a:lvl4pPr>
            <a:lvl5pPr algn="l">
              <a:defRPr sz="1320" b="1">
                <a:solidFill>
                  <a:srgbClr val="C8401F"/>
                </a:solidFill>
                <a:latin typeface="Arial"/>
                <a:ea typeface="Arial"/>
                <a:cs typeface="Arial"/>
              </a:defRPr>
            </a:lvl5pPr>
            <a:lvl6pPr algn="l">
              <a:defRPr sz="1320" b="1">
                <a:solidFill>
                  <a:srgbClr val="C8401F"/>
                </a:solidFill>
                <a:latin typeface="Arial"/>
                <a:ea typeface="Arial"/>
                <a:cs typeface="Arial"/>
              </a:defRPr>
            </a:lvl6pPr>
            <a:lvl7pPr algn="l">
              <a:defRPr sz="1320" b="1">
                <a:solidFill>
                  <a:srgbClr val="C8401F"/>
                </a:solidFill>
                <a:latin typeface="Arial"/>
                <a:ea typeface="Arial"/>
                <a:cs typeface="Arial"/>
              </a:defRPr>
            </a:lvl7pPr>
            <a:lvl8pPr algn="l">
              <a:defRPr sz="1320" b="1">
                <a:solidFill>
                  <a:srgbClr val="C8401F"/>
                </a:solidFill>
                <a:latin typeface="Arial"/>
                <a:ea typeface="Arial"/>
                <a:cs typeface="Arial"/>
              </a:defRPr>
            </a:lvl8pPr>
            <a:lvl9pPr algn="l">
              <a:defRPr sz="1320" b="1">
                <a:solidFill>
                  <a:srgbClr val="C8401F"/>
                </a:solidFill>
                <a:latin typeface="Arial"/>
                <a:ea typeface="Arial"/>
                <a:cs typeface="Arial"/>
              </a:defRPr>
            </a:lvl9pPr>
          </a:lstStyle>
          <a:p xmlns:a="http://schemas.openxmlformats.org/drawingml/2006/main">
            <a:pPr algn="l">
              <a:defRPr sz="1320" b="1">
                <a:solidFill>
                  <a:srgbClr val="C8401F"/>
                </a:solidFill>
                <a:latin typeface="Arial"/>
                <a:ea typeface="Arial"/>
                <a:cs typeface="Arial"/>
              </a:defRPr>
            </a:pPr>
            <a:r>
              <a:rPr sz="1320" b="1">
                <a:solidFill>
                  <a:srgbClr val="C8401F"/>
                </a:solidFill>
                <a:latin typeface="Arial"/>
                <a:ea typeface="Arial"/>
                <a:cs typeface="Arial"/>
              </a:rPr>
              <a:t>02</a:t>
            </a:r>
          </a:p>
        </p:txBody>
      </p:sp>
      <p:sp>
        <p:nvSpPr>
          <p:cNvPr id="20" name="">
            <a:extLst xmlns:a="http://schemas.openxmlformats.org/drawingml/2006/main">
              <a:ext uri="{FF2B5EF4-FFF2-40B4-BE49-F238E27FC236}">
                <a16:creationId xmlns:a16="http://schemas.microsoft.com/office/drawing/2014/main" id="{E1CF5C75-D371-4D4A-BE74-34CF90982217}"/>
              </a:ext>
            </a:extLst>
          </p:cNvPr>
          <p:cNvSpPr>
            <a:spLocks xmlns:a="http://schemas.openxmlformats.org/drawingml/2006/main" noGrp="1"/>
          </p:cNvSpPr>
          <p:nvPr/>
        </p:nvSpPr>
        <p:spPr>
          <a:xfrm xmlns:a="http://schemas.openxmlformats.org/drawingml/2006/main">
            <a:off x="6248244" y="2392680"/>
            <a:ext cx="5333867" cy="396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680" b="1">
                <a:solidFill>
                  <a:srgbClr val="151312"/>
                </a:solidFill>
                <a:latin typeface="Arial"/>
                <a:ea typeface="Arial"/>
                <a:cs typeface="Arial"/>
              </a:defRPr>
            </a:defPPr>
            <a:lvl1pPr algn="l">
              <a:defRPr sz="1680" b="1">
                <a:solidFill>
                  <a:srgbClr val="151312"/>
                </a:solidFill>
                <a:latin typeface="Arial"/>
                <a:ea typeface="Arial"/>
                <a:cs typeface="Arial"/>
              </a:defRPr>
            </a:lvl1pPr>
            <a:lvl2pPr algn="l">
              <a:defRPr sz="1680" b="1">
                <a:solidFill>
                  <a:srgbClr val="151312"/>
                </a:solidFill>
                <a:latin typeface="Arial"/>
                <a:ea typeface="Arial"/>
                <a:cs typeface="Arial"/>
              </a:defRPr>
            </a:lvl2pPr>
            <a:lvl3pPr algn="l">
              <a:defRPr sz="1680" b="1">
                <a:solidFill>
                  <a:srgbClr val="151312"/>
                </a:solidFill>
                <a:latin typeface="Arial"/>
                <a:ea typeface="Arial"/>
                <a:cs typeface="Arial"/>
              </a:defRPr>
            </a:lvl3pPr>
            <a:lvl4pPr algn="l">
              <a:defRPr sz="1680" b="1">
                <a:solidFill>
                  <a:srgbClr val="151312"/>
                </a:solidFill>
                <a:latin typeface="Arial"/>
                <a:ea typeface="Arial"/>
                <a:cs typeface="Arial"/>
              </a:defRPr>
            </a:lvl4pPr>
            <a:lvl5pPr algn="l">
              <a:defRPr sz="1680" b="1">
                <a:solidFill>
                  <a:srgbClr val="151312"/>
                </a:solidFill>
                <a:latin typeface="Arial"/>
                <a:ea typeface="Arial"/>
                <a:cs typeface="Arial"/>
              </a:defRPr>
            </a:lvl5pPr>
            <a:lvl6pPr algn="l">
              <a:defRPr sz="1680" b="1">
                <a:solidFill>
                  <a:srgbClr val="151312"/>
                </a:solidFill>
                <a:latin typeface="Arial"/>
                <a:ea typeface="Arial"/>
                <a:cs typeface="Arial"/>
              </a:defRPr>
            </a:lvl6pPr>
            <a:lvl7pPr algn="l">
              <a:defRPr sz="1680" b="1">
                <a:solidFill>
                  <a:srgbClr val="151312"/>
                </a:solidFill>
                <a:latin typeface="Arial"/>
                <a:ea typeface="Arial"/>
                <a:cs typeface="Arial"/>
              </a:defRPr>
            </a:lvl7pPr>
            <a:lvl8pPr algn="l">
              <a:defRPr sz="1680" b="1">
                <a:solidFill>
                  <a:srgbClr val="151312"/>
                </a:solidFill>
                <a:latin typeface="Arial"/>
                <a:ea typeface="Arial"/>
                <a:cs typeface="Arial"/>
              </a:defRPr>
            </a:lvl8pPr>
            <a:lvl9pPr algn="l">
              <a:defRPr sz="1680" b="1">
                <a:solidFill>
                  <a:srgbClr val="151312"/>
                </a:solidFill>
                <a:latin typeface="Arial"/>
                <a:ea typeface="Arial"/>
                <a:cs typeface="Arial"/>
              </a:defRPr>
            </a:lvl9pPr>
          </a:lstStyle>
          <a:p xmlns:a="http://schemas.openxmlformats.org/drawingml/2006/main">
            <a:pPr algn="l">
              <a:defRPr sz="1680" b="1">
                <a:solidFill>
                  <a:srgbClr val="151312"/>
                </a:solidFill>
                <a:latin typeface="Arial"/>
                <a:ea typeface="Arial"/>
                <a:cs typeface="Arial"/>
              </a:defRPr>
            </a:pPr>
            <a:r>
              <a:rPr sz="1680" b="1">
                <a:solidFill>
                  <a:srgbClr val="151312"/>
                </a:solidFill>
                <a:latin typeface="Arial"/>
                <a:ea typeface="Arial"/>
                <a:cs typeface="Arial"/>
              </a:rPr>
              <a:t>Replay the fixed rule</a:t>
            </a:r>
          </a:p>
        </p:txBody>
      </p:sp>
      <p:sp>
        <p:nvSpPr>
          <p:cNvPr id="21" name="">
            <a:extLst xmlns:a="http://schemas.openxmlformats.org/drawingml/2006/main">
              <a:ext uri="{FF2B5EF4-FFF2-40B4-BE49-F238E27FC236}">
                <a16:creationId xmlns:a16="http://schemas.microsoft.com/office/drawing/2014/main" id="{4CFE25B9-14A9-4914-8A0A-A9C555E45C7B}"/>
              </a:ext>
            </a:extLst>
          </p:cNvPr>
          <p:cNvSpPr>
            <a:spLocks xmlns:a="http://schemas.openxmlformats.org/drawingml/2006/main" noGrp="1"/>
          </p:cNvSpPr>
          <p:nvPr/>
        </p:nvSpPr>
        <p:spPr>
          <a:xfrm xmlns:a="http://schemas.openxmlformats.org/drawingml/2006/main">
            <a:off x="6248244" y="2887980"/>
            <a:ext cx="5333867"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Earlier same-type peers, a standardized score and explicit delayed entry</a:t>
            </a:r>
          </a:p>
        </p:txBody>
      </p:sp>
      <p:sp>
        <p:nvSpPr>
          <p:cNvPr id="22" name="">
            <a:extLst xmlns:a="http://schemas.openxmlformats.org/drawingml/2006/main">
              <a:ext uri="{FF2B5EF4-FFF2-40B4-BE49-F238E27FC236}">
                <a16:creationId xmlns:a16="http://schemas.microsoft.com/office/drawing/2014/main" id="{8A027963-8A5F-4D04-99C1-5C26A18FF20B}"/>
              </a:ext>
            </a:extLst>
          </p:cNvPr>
          <p:cNvSpPr>
            <a:spLocks xmlns:a="http://schemas.openxmlformats.org/drawingml/2006/main" noGrp="1"/>
          </p:cNvSpPr>
          <p:nvPr/>
        </p:nvSpPr>
        <p:spPr>
          <a:xfrm xmlns:a="http://schemas.openxmlformats.org/drawingml/2006/main">
            <a:off x="609585" y="4152900"/>
            <a:ext cx="5333867" cy="1143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528724B-4F78-4151-A30B-4981ABC4F146}"/>
              </a:ext>
            </a:extLst>
          </p:cNvPr>
          <p:cNvSpPr>
            <a:spLocks xmlns:a="http://schemas.openxmlformats.org/drawingml/2006/main" noGrp="1"/>
          </p:cNvSpPr>
          <p:nvPr/>
        </p:nvSpPr>
        <p:spPr>
          <a:xfrm xmlns:a="http://schemas.openxmlformats.org/drawingml/2006/main">
            <a:off x="609585" y="4290060"/>
            <a:ext cx="5333867"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1">
                <a:solidFill>
                  <a:srgbClr val="C8401F"/>
                </a:solidFill>
                <a:latin typeface="Arial"/>
                <a:ea typeface="Arial"/>
                <a:cs typeface="Arial"/>
              </a:defRPr>
            </a:defPPr>
            <a:lvl1pPr algn="l">
              <a:defRPr sz="1320" b="1">
                <a:solidFill>
                  <a:srgbClr val="C8401F"/>
                </a:solidFill>
                <a:latin typeface="Arial"/>
                <a:ea typeface="Arial"/>
                <a:cs typeface="Arial"/>
              </a:defRPr>
            </a:lvl1pPr>
            <a:lvl2pPr algn="l">
              <a:defRPr sz="1320" b="1">
                <a:solidFill>
                  <a:srgbClr val="C8401F"/>
                </a:solidFill>
                <a:latin typeface="Arial"/>
                <a:ea typeface="Arial"/>
                <a:cs typeface="Arial"/>
              </a:defRPr>
            </a:lvl2pPr>
            <a:lvl3pPr algn="l">
              <a:defRPr sz="1320" b="1">
                <a:solidFill>
                  <a:srgbClr val="C8401F"/>
                </a:solidFill>
                <a:latin typeface="Arial"/>
                <a:ea typeface="Arial"/>
                <a:cs typeface="Arial"/>
              </a:defRPr>
            </a:lvl3pPr>
            <a:lvl4pPr algn="l">
              <a:defRPr sz="1320" b="1">
                <a:solidFill>
                  <a:srgbClr val="C8401F"/>
                </a:solidFill>
                <a:latin typeface="Arial"/>
                <a:ea typeface="Arial"/>
                <a:cs typeface="Arial"/>
              </a:defRPr>
            </a:lvl4pPr>
            <a:lvl5pPr algn="l">
              <a:defRPr sz="1320" b="1">
                <a:solidFill>
                  <a:srgbClr val="C8401F"/>
                </a:solidFill>
                <a:latin typeface="Arial"/>
                <a:ea typeface="Arial"/>
                <a:cs typeface="Arial"/>
              </a:defRPr>
            </a:lvl5pPr>
            <a:lvl6pPr algn="l">
              <a:defRPr sz="1320" b="1">
                <a:solidFill>
                  <a:srgbClr val="C8401F"/>
                </a:solidFill>
                <a:latin typeface="Arial"/>
                <a:ea typeface="Arial"/>
                <a:cs typeface="Arial"/>
              </a:defRPr>
            </a:lvl6pPr>
            <a:lvl7pPr algn="l">
              <a:defRPr sz="1320" b="1">
                <a:solidFill>
                  <a:srgbClr val="C8401F"/>
                </a:solidFill>
                <a:latin typeface="Arial"/>
                <a:ea typeface="Arial"/>
                <a:cs typeface="Arial"/>
              </a:defRPr>
            </a:lvl7pPr>
            <a:lvl8pPr algn="l">
              <a:defRPr sz="1320" b="1">
                <a:solidFill>
                  <a:srgbClr val="C8401F"/>
                </a:solidFill>
                <a:latin typeface="Arial"/>
                <a:ea typeface="Arial"/>
                <a:cs typeface="Arial"/>
              </a:defRPr>
            </a:lvl8pPr>
            <a:lvl9pPr algn="l">
              <a:defRPr sz="1320" b="1">
                <a:solidFill>
                  <a:srgbClr val="C8401F"/>
                </a:solidFill>
                <a:latin typeface="Arial"/>
                <a:ea typeface="Arial"/>
                <a:cs typeface="Arial"/>
              </a:defRPr>
            </a:lvl9pPr>
          </a:lstStyle>
          <a:p xmlns:a="http://schemas.openxmlformats.org/drawingml/2006/main">
            <a:pPr algn="l">
              <a:defRPr sz="1320" b="1">
                <a:solidFill>
                  <a:srgbClr val="C8401F"/>
                </a:solidFill>
                <a:latin typeface="Arial"/>
                <a:ea typeface="Arial"/>
                <a:cs typeface="Arial"/>
              </a:defRPr>
            </a:pPr>
            <a:r>
              <a:rPr sz="1320" b="1">
                <a:solidFill>
                  <a:srgbClr val="C8401F"/>
                </a:solidFill>
                <a:latin typeface="Arial"/>
                <a:ea typeface="Arial"/>
                <a:cs typeface="Arial"/>
              </a:rPr>
              <a:t>03</a:t>
            </a:r>
          </a:p>
        </p:txBody>
      </p:sp>
      <p:sp>
        <p:nvSpPr>
          <p:cNvPr id="24" name="">
            <a:extLst xmlns:a="http://schemas.openxmlformats.org/drawingml/2006/main">
              <a:ext uri="{FF2B5EF4-FFF2-40B4-BE49-F238E27FC236}">
                <a16:creationId xmlns:a16="http://schemas.microsoft.com/office/drawing/2014/main" id="{F4EDB62F-31D9-4FE7-B9A7-876DB7A2ADDB}"/>
              </a:ext>
            </a:extLst>
          </p:cNvPr>
          <p:cNvSpPr>
            <a:spLocks xmlns:a="http://schemas.openxmlformats.org/drawingml/2006/main" noGrp="1"/>
          </p:cNvSpPr>
          <p:nvPr/>
        </p:nvSpPr>
        <p:spPr>
          <a:xfrm xmlns:a="http://schemas.openxmlformats.org/drawingml/2006/main">
            <a:off x="609585" y="4625340"/>
            <a:ext cx="5333867" cy="396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680" b="1">
                <a:solidFill>
                  <a:srgbClr val="151312"/>
                </a:solidFill>
                <a:latin typeface="Arial"/>
                <a:ea typeface="Arial"/>
                <a:cs typeface="Arial"/>
              </a:defRPr>
            </a:defPPr>
            <a:lvl1pPr algn="l">
              <a:defRPr sz="1680" b="1">
                <a:solidFill>
                  <a:srgbClr val="151312"/>
                </a:solidFill>
                <a:latin typeface="Arial"/>
                <a:ea typeface="Arial"/>
                <a:cs typeface="Arial"/>
              </a:defRPr>
            </a:lvl1pPr>
            <a:lvl2pPr algn="l">
              <a:defRPr sz="1680" b="1">
                <a:solidFill>
                  <a:srgbClr val="151312"/>
                </a:solidFill>
                <a:latin typeface="Arial"/>
                <a:ea typeface="Arial"/>
                <a:cs typeface="Arial"/>
              </a:defRPr>
            </a:lvl2pPr>
            <a:lvl3pPr algn="l">
              <a:defRPr sz="1680" b="1">
                <a:solidFill>
                  <a:srgbClr val="151312"/>
                </a:solidFill>
                <a:latin typeface="Arial"/>
                <a:ea typeface="Arial"/>
                <a:cs typeface="Arial"/>
              </a:defRPr>
            </a:lvl3pPr>
            <a:lvl4pPr algn="l">
              <a:defRPr sz="1680" b="1">
                <a:solidFill>
                  <a:srgbClr val="151312"/>
                </a:solidFill>
                <a:latin typeface="Arial"/>
                <a:ea typeface="Arial"/>
                <a:cs typeface="Arial"/>
              </a:defRPr>
            </a:lvl4pPr>
            <a:lvl5pPr algn="l">
              <a:defRPr sz="1680" b="1">
                <a:solidFill>
                  <a:srgbClr val="151312"/>
                </a:solidFill>
                <a:latin typeface="Arial"/>
                <a:ea typeface="Arial"/>
                <a:cs typeface="Arial"/>
              </a:defRPr>
            </a:lvl5pPr>
            <a:lvl6pPr algn="l">
              <a:defRPr sz="1680" b="1">
                <a:solidFill>
                  <a:srgbClr val="151312"/>
                </a:solidFill>
                <a:latin typeface="Arial"/>
                <a:ea typeface="Arial"/>
                <a:cs typeface="Arial"/>
              </a:defRPr>
            </a:lvl6pPr>
            <a:lvl7pPr algn="l">
              <a:defRPr sz="1680" b="1">
                <a:solidFill>
                  <a:srgbClr val="151312"/>
                </a:solidFill>
                <a:latin typeface="Arial"/>
                <a:ea typeface="Arial"/>
                <a:cs typeface="Arial"/>
              </a:defRPr>
            </a:lvl7pPr>
            <a:lvl8pPr algn="l">
              <a:defRPr sz="1680" b="1">
                <a:solidFill>
                  <a:srgbClr val="151312"/>
                </a:solidFill>
                <a:latin typeface="Arial"/>
                <a:ea typeface="Arial"/>
                <a:cs typeface="Arial"/>
              </a:defRPr>
            </a:lvl8pPr>
            <a:lvl9pPr algn="l">
              <a:defRPr sz="1680" b="1">
                <a:solidFill>
                  <a:srgbClr val="151312"/>
                </a:solidFill>
                <a:latin typeface="Arial"/>
                <a:ea typeface="Arial"/>
                <a:cs typeface="Arial"/>
              </a:defRPr>
            </a:lvl9pPr>
          </a:lstStyle>
          <a:p xmlns:a="http://schemas.openxmlformats.org/drawingml/2006/main">
            <a:pPr algn="l">
              <a:defRPr sz="1680" b="1">
                <a:solidFill>
                  <a:srgbClr val="151312"/>
                </a:solidFill>
                <a:latin typeface="Arial"/>
                <a:ea typeface="Arial"/>
                <a:cs typeface="Arial"/>
              </a:defRPr>
            </a:pPr>
            <a:r>
              <a:rPr sz="1680" b="1">
                <a:solidFill>
                  <a:srgbClr val="151312"/>
                </a:solidFill>
                <a:latin typeface="Arial"/>
                <a:ea typeface="Arial"/>
                <a:cs typeface="Arial"/>
              </a:rPr>
              <a:t>Translate to money</a:t>
            </a:r>
          </a:p>
        </p:txBody>
      </p:sp>
      <p:sp>
        <p:nvSpPr>
          <p:cNvPr id="25" name="">
            <a:extLst xmlns:a="http://schemas.openxmlformats.org/drawingml/2006/main">
              <a:ext uri="{FF2B5EF4-FFF2-40B4-BE49-F238E27FC236}">
                <a16:creationId xmlns:a16="http://schemas.microsoft.com/office/drawing/2014/main" id="{82D559D2-8616-4407-9913-D93D199E3A2B}"/>
              </a:ext>
            </a:extLst>
          </p:cNvPr>
          <p:cNvSpPr>
            <a:spLocks xmlns:a="http://schemas.openxmlformats.org/drawingml/2006/main" noGrp="1"/>
          </p:cNvSpPr>
          <p:nvPr/>
        </p:nvSpPr>
        <p:spPr>
          <a:xfrm xmlns:a="http://schemas.openxmlformats.org/drawingml/2006/main">
            <a:off x="609585" y="5120640"/>
            <a:ext cx="5333867"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User capital and duration budget, dollar DV01, ETF legs and round-trip cost</a:t>
            </a:r>
          </a:p>
        </p:txBody>
      </p:sp>
      <p:sp>
        <p:nvSpPr>
          <p:cNvPr id="26" name="">
            <a:extLst xmlns:a="http://schemas.openxmlformats.org/drawingml/2006/main">
              <a:ext uri="{FF2B5EF4-FFF2-40B4-BE49-F238E27FC236}">
                <a16:creationId xmlns:a16="http://schemas.microsoft.com/office/drawing/2014/main" id="{879DA56E-524B-4B3B-84F5-857DB0BBEDF3}"/>
              </a:ext>
            </a:extLst>
          </p:cNvPr>
          <p:cNvSpPr>
            <a:spLocks xmlns:a="http://schemas.openxmlformats.org/drawingml/2006/main" noGrp="1"/>
          </p:cNvSpPr>
          <p:nvPr/>
        </p:nvSpPr>
        <p:spPr>
          <a:xfrm xmlns:a="http://schemas.openxmlformats.org/drawingml/2006/main">
            <a:off x="6248244" y="4152900"/>
            <a:ext cx="5333867" cy="1143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E7FF2CC-D88C-496B-9B46-46E9C5ABE267}"/>
              </a:ext>
            </a:extLst>
          </p:cNvPr>
          <p:cNvSpPr>
            <a:spLocks xmlns:a="http://schemas.openxmlformats.org/drawingml/2006/main" noGrp="1"/>
          </p:cNvSpPr>
          <p:nvPr/>
        </p:nvSpPr>
        <p:spPr>
          <a:xfrm xmlns:a="http://schemas.openxmlformats.org/drawingml/2006/main">
            <a:off x="6248244" y="4290060"/>
            <a:ext cx="5333867"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1">
                <a:solidFill>
                  <a:srgbClr val="C8401F"/>
                </a:solidFill>
                <a:latin typeface="Arial"/>
                <a:ea typeface="Arial"/>
                <a:cs typeface="Arial"/>
              </a:defRPr>
            </a:defPPr>
            <a:lvl1pPr algn="l">
              <a:defRPr sz="1320" b="1">
                <a:solidFill>
                  <a:srgbClr val="C8401F"/>
                </a:solidFill>
                <a:latin typeface="Arial"/>
                <a:ea typeface="Arial"/>
                <a:cs typeface="Arial"/>
              </a:defRPr>
            </a:lvl1pPr>
            <a:lvl2pPr algn="l">
              <a:defRPr sz="1320" b="1">
                <a:solidFill>
                  <a:srgbClr val="C8401F"/>
                </a:solidFill>
                <a:latin typeface="Arial"/>
                <a:ea typeface="Arial"/>
                <a:cs typeface="Arial"/>
              </a:defRPr>
            </a:lvl2pPr>
            <a:lvl3pPr algn="l">
              <a:defRPr sz="1320" b="1">
                <a:solidFill>
                  <a:srgbClr val="C8401F"/>
                </a:solidFill>
                <a:latin typeface="Arial"/>
                <a:ea typeface="Arial"/>
                <a:cs typeface="Arial"/>
              </a:defRPr>
            </a:lvl3pPr>
            <a:lvl4pPr algn="l">
              <a:defRPr sz="1320" b="1">
                <a:solidFill>
                  <a:srgbClr val="C8401F"/>
                </a:solidFill>
                <a:latin typeface="Arial"/>
                <a:ea typeface="Arial"/>
                <a:cs typeface="Arial"/>
              </a:defRPr>
            </a:lvl4pPr>
            <a:lvl5pPr algn="l">
              <a:defRPr sz="1320" b="1">
                <a:solidFill>
                  <a:srgbClr val="C8401F"/>
                </a:solidFill>
                <a:latin typeface="Arial"/>
                <a:ea typeface="Arial"/>
                <a:cs typeface="Arial"/>
              </a:defRPr>
            </a:lvl5pPr>
            <a:lvl6pPr algn="l">
              <a:defRPr sz="1320" b="1">
                <a:solidFill>
                  <a:srgbClr val="C8401F"/>
                </a:solidFill>
                <a:latin typeface="Arial"/>
                <a:ea typeface="Arial"/>
                <a:cs typeface="Arial"/>
              </a:defRPr>
            </a:lvl6pPr>
            <a:lvl7pPr algn="l">
              <a:defRPr sz="1320" b="1">
                <a:solidFill>
                  <a:srgbClr val="C8401F"/>
                </a:solidFill>
                <a:latin typeface="Arial"/>
                <a:ea typeface="Arial"/>
                <a:cs typeface="Arial"/>
              </a:defRPr>
            </a:lvl7pPr>
            <a:lvl8pPr algn="l">
              <a:defRPr sz="1320" b="1">
                <a:solidFill>
                  <a:srgbClr val="C8401F"/>
                </a:solidFill>
                <a:latin typeface="Arial"/>
                <a:ea typeface="Arial"/>
                <a:cs typeface="Arial"/>
              </a:defRPr>
            </a:lvl8pPr>
            <a:lvl9pPr algn="l">
              <a:defRPr sz="1320" b="1">
                <a:solidFill>
                  <a:srgbClr val="C8401F"/>
                </a:solidFill>
                <a:latin typeface="Arial"/>
                <a:ea typeface="Arial"/>
                <a:cs typeface="Arial"/>
              </a:defRPr>
            </a:lvl9pPr>
          </a:lstStyle>
          <a:p xmlns:a="http://schemas.openxmlformats.org/drawingml/2006/main">
            <a:pPr algn="l">
              <a:defRPr sz="1320" b="1">
                <a:solidFill>
                  <a:srgbClr val="C8401F"/>
                </a:solidFill>
                <a:latin typeface="Arial"/>
                <a:ea typeface="Arial"/>
                <a:cs typeface="Arial"/>
              </a:defRPr>
            </a:pPr>
            <a:r>
              <a:rPr sz="1320" b="1">
                <a:solidFill>
                  <a:srgbClr val="C8401F"/>
                </a:solidFill>
                <a:latin typeface="Arial"/>
                <a:ea typeface="Arial"/>
                <a:cs typeface="Arial"/>
              </a:rPr>
              <a:t>04</a:t>
            </a:r>
          </a:p>
        </p:txBody>
      </p:sp>
      <p:sp>
        <p:nvSpPr>
          <p:cNvPr id="28" name="">
            <a:extLst xmlns:a="http://schemas.openxmlformats.org/drawingml/2006/main">
              <a:ext uri="{FF2B5EF4-FFF2-40B4-BE49-F238E27FC236}">
                <a16:creationId xmlns:a16="http://schemas.microsoft.com/office/drawing/2014/main" id="{BFA689D5-D00F-41F9-B4D6-A744476CDB48}"/>
              </a:ext>
            </a:extLst>
          </p:cNvPr>
          <p:cNvSpPr>
            <a:spLocks xmlns:a="http://schemas.openxmlformats.org/drawingml/2006/main" noGrp="1"/>
          </p:cNvSpPr>
          <p:nvPr/>
        </p:nvSpPr>
        <p:spPr>
          <a:xfrm xmlns:a="http://schemas.openxmlformats.org/drawingml/2006/main">
            <a:off x="6248244" y="4625340"/>
            <a:ext cx="5333867" cy="396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680" b="1">
                <a:solidFill>
                  <a:srgbClr val="151312"/>
                </a:solidFill>
                <a:latin typeface="Arial"/>
                <a:ea typeface="Arial"/>
                <a:cs typeface="Arial"/>
              </a:defRPr>
            </a:defPPr>
            <a:lvl1pPr algn="l">
              <a:defRPr sz="1680" b="1">
                <a:solidFill>
                  <a:srgbClr val="151312"/>
                </a:solidFill>
                <a:latin typeface="Arial"/>
                <a:ea typeface="Arial"/>
                <a:cs typeface="Arial"/>
              </a:defRPr>
            </a:lvl1pPr>
            <a:lvl2pPr algn="l">
              <a:defRPr sz="1680" b="1">
                <a:solidFill>
                  <a:srgbClr val="151312"/>
                </a:solidFill>
                <a:latin typeface="Arial"/>
                <a:ea typeface="Arial"/>
                <a:cs typeface="Arial"/>
              </a:defRPr>
            </a:lvl2pPr>
            <a:lvl3pPr algn="l">
              <a:defRPr sz="1680" b="1">
                <a:solidFill>
                  <a:srgbClr val="151312"/>
                </a:solidFill>
                <a:latin typeface="Arial"/>
                <a:ea typeface="Arial"/>
                <a:cs typeface="Arial"/>
              </a:defRPr>
            </a:lvl3pPr>
            <a:lvl4pPr algn="l">
              <a:defRPr sz="1680" b="1">
                <a:solidFill>
                  <a:srgbClr val="151312"/>
                </a:solidFill>
                <a:latin typeface="Arial"/>
                <a:ea typeface="Arial"/>
                <a:cs typeface="Arial"/>
              </a:defRPr>
            </a:lvl4pPr>
            <a:lvl5pPr algn="l">
              <a:defRPr sz="1680" b="1">
                <a:solidFill>
                  <a:srgbClr val="151312"/>
                </a:solidFill>
                <a:latin typeface="Arial"/>
                <a:ea typeface="Arial"/>
                <a:cs typeface="Arial"/>
              </a:defRPr>
            </a:lvl5pPr>
            <a:lvl6pPr algn="l">
              <a:defRPr sz="1680" b="1">
                <a:solidFill>
                  <a:srgbClr val="151312"/>
                </a:solidFill>
                <a:latin typeface="Arial"/>
                <a:ea typeface="Arial"/>
                <a:cs typeface="Arial"/>
              </a:defRPr>
            </a:lvl6pPr>
            <a:lvl7pPr algn="l">
              <a:defRPr sz="1680" b="1">
                <a:solidFill>
                  <a:srgbClr val="151312"/>
                </a:solidFill>
                <a:latin typeface="Arial"/>
                <a:ea typeface="Arial"/>
                <a:cs typeface="Arial"/>
              </a:defRPr>
            </a:lvl7pPr>
            <a:lvl8pPr algn="l">
              <a:defRPr sz="1680" b="1">
                <a:solidFill>
                  <a:srgbClr val="151312"/>
                </a:solidFill>
                <a:latin typeface="Arial"/>
                <a:ea typeface="Arial"/>
                <a:cs typeface="Arial"/>
              </a:defRPr>
            </a:lvl8pPr>
            <a:lvl9pPr algn="l">
              <a:defRPr sz="1680" b="1">
                <a:solidFill>
                  <a:srgbClr val="151312"/>
                </a:solidFill>
                <a:latin typeface="Arial"/>
                <a:ea typeface="Arial"/>
                <a:cs typeface="Arial"/>
              </a:defRPr>
            </a:lvl9pPr>
          </a:lstStyle>
          <a:p xmlns:a="http://schemas.openxmlformats.org/drawingml/2006/main">
            <a:pPr algn="l">
              <a:defRPr sz="1680" b="1">
                <a:solidFill>
                  <a:srgbClr val="151312"/>
                </a:solidFill>
                <a:latin typeface="Arial"/>
                <a:ea typeface="Arial"/>
                <a:cs typeface="Arial"/>
              </a:defRPr>
            </a:pPr>
            <a:r>
              <a:rPr sz="1680" b="1">
                <a:solidFill>
                  <a:srgbClr val="151312"/>
                </a:solidFill>
                <a:latin typeface="Arial"/>
                <a:ea typeface="Arial"/>
                <a:cs typeface="Arial"/>
              </a:rPr>
              <a:t>Challenge the result</a:t>
            </a:r>
          </a:p>
        </p:txBody>
      </p:sp>
      <p:sp>
        <p:nvSpPr>
          <p:cNvPr id="29" name="">
            <a:extLst xmlns:a="http://schemas.openxmlformats.org/drawingml/2006/main">
              <a:ext uri="{FF2B5EF4-FFF2-40B4-BE49-F238E27FC236}">
                <a16:creationId xmlns:a16="http://schemas.microsoft.com/office/drawing/2014/main" id="{679A22AE-ED21-4BB0-9803-1265D8C162CC}"/>
              </a:ext>
            </a:extLst>
          </p:cNvPr>
          <p:cNvSpPr>
            <a:spLocks xmlns:a="http://schemas.openxmlformats.org/drawingml/2006/main" noGrp="1"/>
          </p:cNvSpPr>
          <p:nvPr/>
        </p:nvSpPr>
        <p:spPr>
          <a:xfrm xmlns:a="http://schemas.openxmlformats.org/drawingml/2006/main">
            <a:off x="6248244" y="5120640"/>
            <a:ext cx="5333867"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Parallel shocks, the stored historical test and prospective evaluation</a:t>
            </a:r>
          </a:p>
        </p:txBody>
      </p:sp>
    </p:spTree>
    <p:extLst>
      <p:ext uri="{BB962C8B-B14F-4D97-AF65-F5344CB8AC3E}">
        <p14:creationId xmlns:p14="http://schemas.microsoft.com/office/powerpoint/2010/main" val="634152566"/>
      </p:ext>
    </p:extLst>
  </p:cSld>
</p:sld>
</file>

<file path=ppt/slides/slide32.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E3BDEAF-80FA-4B68-989E-41A34A0EE89A}"/>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AB235B9E-4140-42D5-BDBF-426CC847BB26}"/>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FORWARD CHECKS AND SYSTEM</a:t>
            </a:r>
          </a:p>
        </p:txBody>
      </p:sp>
      <p:sp>
        <p:nvSpPr>
          <p:cNvPr id="3" name="">
            <a:extLst xmlns:a="http://schemas.openxmlformats.org/drawingml/2006/main">
              <a:ext uri="{FF2B5EF4-FFF2-40B4-BE49-F238E27FC236}">
                <a16:creationId xmlns:a16="http://schemas.microsoft.com/office/drawing/2014/main" id="{6A1D34AA-696B-4078-A36D-5A2A1ADE333C}"/>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32 / 46</a:t>
            </a:r>
          </a:p>
        </p:txBody>
      </p:sp>
      <p:sp>
        <p:nvSpPr>
          <p:cNvPr id="4" name="">
            <a:extLst xmlns:a="http://schemas.openxmlformats.org/drawingml/2006/main">
              <a:ext uri="{FF2B5EF4-FFF2-40B4-BE49-F238E27FC236}">
                <a16:creationId xmlns:a16="http://schemas.microsoft.com/office/drawing/2014/main" id="{9FA38E22-B0C7-4700-AB71-946F6CA60082}"/>
              </a:ext>
            </a:extLst>
          </p:cNvPr>
          <p:cNvSpPr>
            <a:spLocks xmlns:a="http://schemas.openxmlformats.org/drawingml/2006/main" noGrp="1"/>
          </p:cNvSpPr>
          <p:nvPr/>
        </p:nvSpPr>
        <p:spPr>
          <a:xfrm xmlns:a="http://schemas.openxmlformats.org/drawingml/2006/main">
            <a:off x="609585" y="556260"/>
            <a:ext cx="10972526" cy="2286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972A575-6CDD-4BC7-81FC-1CD9F2A1DE55}"/>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The market leans to more hikes</a:t>
            </a:r>
          </a:p>
        </p:txBody>
      </p:sp>
      <p:sp>
        <p:nvSpPr>
          <p:cNvPr id="6" name="">
            <a:extLst xmlns:a="http://schemas.openxmlformats.org/drawingml/2006/main">
              <a:ext uri="{FF2B5EF4-FFF2-40B4-BE49-F238E27FC236}">
                <a16:creationId xmlns:a16="http://schemas.microsoft.com/office/drawing/2014/main" id="{34319522-1116-4837-92D8-BD2833432F88}"/>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The 2-year sits 81 bp above the overnight rate</a:t>
            </a:r>
          </a:p>
        </p:txBody>
      </p:sp>
      <p:sp>
        <p:nvSpPr>
          <p:cNvPr id="7" name="">
            <a:extLst xmlns:a="http://schemas.openxmlformats.org/drawingml/2006/main">
              <a:ext uri="{FF2B5EF4-FFF2-40B4-BE49-F238E27FC236}">
                <a16:creationId xmlns:a16="http://schemas.microsoft.com/office/drawing/2014/main" id="{5A85DC3D-5EA6-4AD7-8E1A-535EC87870E8}"/>
              </a:ext>
            </a:extLst>
          </p:cNvPr>
          <p:cNvSpPr>
            <a:spLocks xmlns:a="http://schemas.openxmlformats.org/drawingml/2006/main" noGrp="1"/>
          </p:cNvSpPr>
          <p:nvPr/>
        </p:nvSpPr>
        <p:spPr>
          <a:xfrm xmlns:a="http://schemas.openxmlformats.org/drawingml/2006/main">
            <a:off x="609585" y="5928360"/>
            <a:ext cx="22859" cy="28956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9AB105A-5D55-4281-A6B1-0FFCBAEC5634}"/>
              </a:ext>
            </a:extLst>
          </p:cNvPr>
          <p:cNvSpPr>
            <a:spLocks xmlns:a="http://schemas.openxmlformats.org/drawingml/2006/main" noGrp="1"/>
          </p:cNvSpPr>
          <p:nvPr/>
        </p:nvSpPr>
        <p:spPr>
          <a:xfrm xmlns:a="http://schemas.openxmlformats.org/drawingml/2006/main">
            <a:off x="769601" y="5920740"/>
            <a:ext cx="1066773"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00" b="1">
                <a:solidFill>
                  <a:srgbClr val="151312"/>
                </a:solidFill>
                <a:latin typeface="Arial"/>
                <a:ea typeface="Arial"/>
                <a:cs typeface="Arial"/>
              </a:defRPr>
            </a:defPPr>
            <a:lvl1pPr algn="l">
              <a:defRPr sz="900" b="1">
                <a:solidFill>
                  <a:srgbClr val="151312"/>
                </a:solidFill>
                <a:latin typeface="Arial"/>
                <a:ea typeface="Arial"/>
                <a:cs typeface="Arial"/>
              </a:defRPr>
            </a:lvl1pPr>
            <a:lvl2pPr algn="l">
              <a:defRPr sz="900" b="1">
                <a:solidFill>
                  <a:srgbClr val="151312"/>
                </a:solidFill>
                <a:latin typeface="Arial"/>
                <a:ea typeface="Arial"/>
                <a:cs typeface="Arial"/>
              </a:defRPr>
            </a:lvl2pPr>
            <a:lvl3pPr algn="l">
              <a:defRPr sz="900" b="1">
                <a:solidFill>
                  <a:srgbClr val="151312"/>
                </a:solidFill>
                <a:latin typeface="Arial"/>
                <a:ea typeface="Arial"/>
                <a:cs typeface="Arial"/>
              </a:defRPr>
            </a:lvl3pPr>
            <a:lvl4pPr algn="l">
              <a:defRPr sz="900" b="1">
                <a:solidFill>
                  <a:srgbClr val="151312"/>
                </a:solidFill>
                <a:latin typeface="Arial"/>
                <a:ea typeface="Arial"/>
                <a:cs typeface="Arial"/>
              </a:defRPr>
            </a:lvl4pPr>
            <a:lvl5pPr algn="l">
              <a:defRPr sz="900" b="1">
                <a:solidFill>
                  <a:srgbClr val="151312"/>
                </a:solidFill>
                <a:latin typeface="Arial"/>
                <a:ea typeface="Arial"/>
                <a:cs typeface="Arial"/>
              </a:defRPr>
            </a:lvl5pPr>
            <a:lvl6pPr algn="l">
              <a:defRPr sz="900" b="1">
                <a:solidFill>
                  <a:srgbClr val="151312"/>
                </a:solidFill>
                <a:latin typeface="Arial"/>
                <a:ea typeface="Arial"/>
                <a:cs typeface="Arial"/>
              </a:defRPr>
            </a:lvl6pPr>
            <a:lvl7pPr algn="l">
              <a:defRPr sz="900" b="1">
                <a:solidFill>
                  <a:srgbClr val="151312"/>
                </a:solidFill>
                <a:latin typeface="Arial"/>
                <a:ea typeface="Arial"/>
                <a:cs typeface="Arial"/>
              </a:defRPr>
            </a:lvl7pPr>
            <a:lvl8pPr algn="l">
              <a:defRPr sz="900" b="1">
                <a:solidFill>
                  <a:srgbClr val="151312"/>
                </a:solidFill>
                <a:latin typeface="Arial"/>
                <a:ea typeface="Arial"/>
                <a:cs typeface="Arial"/>
              </a:defRPr>
            </a:lvl8pPr>
            <a:lvl9pPr algn="l">
              <a:defRPr sz="900" b="1">
                <a:solidFill>
                  <a:srgbClr val="151312"/>
                </a:solidFill>
                <a:latin typeface="Arial"/>
                <a:ea typeface="Arial"/>
                <a:cs typeface="Arial"/>
              </a:defRPr>
            </a:lvl9pPr>
          </a:lstStyle>
          <a:p xmlns:a="http://schemas.openxmlformats.org/drawingml/2006/main">
            <a:pPr algn="l">
              <a:defRPr sz="900" b="1">
                <a:solidFill>
                  <a:srgbClr val="151312"/>
                </a:solidFill>
                <a:latin typeface="Arial"/>
                <a:ea typeface="Arial"/>
                <a:cs typeface="Arial"/>
              </a:defRPr>
            </a:pPr>
            <a:r>
              <a:rPr sz="900" b="1">
                <a:solidFill>
                  <a:srgbClr val="151312"/>
                </a:solidFill>
                <a:latin typeface="Arial"/>
                <a:ea typeface="Arial"/>
                <a:cs typeface="Arial"/>
              </a:rPr>
              <a:t>For the desk</a:t>
            </a:r>
          </a:p>
        </p:txBody>
      </p:sp>
      <p:sp>
        <p:nvSpPr>
          <p:cNvPr id="9" name="">
            <a:extLst xmlns:a="http://schemas.openxmlformats.org/drawingml/2006/main">
              <a:ext uri="{FF2B5EF4-FFF2-40B4-BE49-F238E27FC236}">
                <a16:creationId xmlns:a16="http://schemas.microsoft.com/office/drawing/2014/main" id="{3F76BB27-061A-477F-8F88-AD27FD0E0792}"/>
              </a:ext>
            </a:extLst>
          </p:cNvPr>
          <p:cNvSpPr>
            <a:spLocks xmlns:a="http://schemas.openxmlformats.org/drawingml/2006/main" noGrp="1"/>
          </p:cNvSpPr>
          <p:nvPr/>
        </p:nvSpPr>
        <p:spPr>
          <a:xfrm xmlns:a="http://schemas.openxmlformats.org/drawingml/2006/main">
            <a:off x="1950671" y="5913120"/>
            <a:ext cx="9631439"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0">
                <a:solidFill>
                  <a:srgbClr val="45413C"/>
                </a:solidFill>
                <a:latin typeface="Arial"/>
                <a:ea typeface="Arial"/>
                <a:cs typeface="Arial"/>
              </a:defRPr>
            </a:defPPr>
            <a:lvl1pPr algn="l">
              <a:defRPr sz="1260" b="0">
                <a:solidFill>
                  <a:srgbClr val="45413C"/>
                </a:solidFill>
                <a:latin typeface="Arial"/>
                <a:ea typeface="Arial"/>
                <a:cs typeface="Arial"/>
              </a:defRPr>
            </a:lvl1pPr>
            <a:lvl2pPr algn="l">
              <a:defRPr sz="1260" b="0">
                <a:solidFill>
                  <a:srgbClr val="45413C"/>
                </a:solidFill>
                <a:latin typeface="Arial"/>
                <a:ea typeface="Arial"/>
                <a:cs typeface="Arial"/>
              </a:defRPr>
            </a:lvl2pPr>
            <a:lvl3pPr algn="l">
              <a:defRPr sz="1260" b="0">
                <a:solidFill>
                  <a:srgbClr val="45413C"/>
                </a:solidFill>
                <a:latin typeface="Arial"/>
                <a:ea typeface="Arial"/>
                <a:cs typeface="Arial"/>
              </a:defRPr>
            </a:lvl3pPr>
            <a:lvl4pPr algn="l">
              <a:defRPr sz="1260" b="0">
                <a:solidFill>
                  <a:srgbClr val="45413C"/>
                </a:solidFill>
                <a:latin typeface="Arial"/>
                <a:ea typeface="Arial"/>
                <a:cs typeface="Arial"/>
              </a:defRPr>
            </a:lvl4pPr>
            <a:lvl5pPr algn="l">
              <a:defRPr sz="1260" b="0">
                <a:solidFill>
                  <a:srgbClr val="45413C"/>
                </a:solidFill>
                <a:latin typeface="Arial"/>
                <a:ea typeface="Arial"/>
                <a:cs typeface="Arial"/>
              </a:defRPr>
            </a:lvl5pPr>
            <a:lvl6pPr algn="l">
              <a:defRPr sz="1260" b="0">
                <a:solidFill>
                  <a:srgbClr val="45413C"/>
                </a:solidFill>
                <a:latin typeface="Arial"/>
                <a:ea typeface="Arial"/>
                <a:cs typeface="Arial"/>
              </a:defRPr>
            </a:lvl6pPr>
            <a:lvl7pPr algn="l">
              <a:defRPr sz="1260" b="0">
                <a:solidFill>
                  <a:srgbClr val="45413C"/>
                </a:solidFill>
                <a:latin typeface="Arial"/>
                <a:ea typeface="Arial"/>
                <a:cs typeface="Arial"/>
              </a:defRPr>
            </a:lvl7pPr>
            <a:lvl8pPr algn="l">
              <a:defRPr sz="1260" b="0">
                <a:solidFill>
                  <a:srgbClr val="45413C"/>
                </a:solidFill>
                <a:latin typeface="Arial"/>
                <a:ea typeface="Arial"/>
                <a:cs typeface="Arial"/>
              </a:defRPr>
            </a:lvl8pPr>
            <a:lvl9pPr algn="l">
              <a:defRPr sz="1260" b="0">
                <a:solidFill>
                  <a:srgbClr val="45413C"/>
                </a:solidFill>
                <a:latin typeface="Arial"/>
                <a:ea typeface="Arial"/>
                <a:cs typeface="Arial"/>
              </a:defRPr>
            </a:lvl9pPr>
          </a:lstStyle>
          <a:p xmlns:a="http://schemas.openxmlformats.org/drawingml/2006/main">
            <a:pPr algn="l">
              <a:defRPr sz="1260" b="0">
                <a:solidFill>
                  <a:srgbClr val="45413C"/>
                </a:solidFill>
                <a:latin typeface="Arial"/>
                <a:ea typeface="Arial"/>
                <a:cs typeface="Arial"/>
              </a:defRPr>
            </a:pPr>
            <a:r>
              <a:rPr sz="1260" b="0">
                <a:solidFill>
                  <a:srgbClr val="45413C"/>
                </a:solidFill>
                <a:latin typeface="Arial"/>
                <a:ea typeface="Arial"/>
                <a:cs typeface="Arial"/>
              </a:rPr>
              <a:t>Into the next decision, the curve prices more tightening than the overnight rate shows.</a:t>
            </a:r>
          </a:p>
        </p:txBody>
      </p:sp>
      <p:sp>
        <p:nvSpPr>
          <p:cNvPr id="10" name="">
            <a:extLst xmlns:a="http://schemas.openxmlformats.org/drawingml/2006/main">
              <a:ext uri="{FF2B5EF4-FFF2-40B4-BE49-F238E27FC236}">
                <a16:creationId xmlns:a16="http://schemas.microsoft.com/office/drawing/2014/main" id="{F14DAEFE-380F-4C42-A886-F93F64DCF79B}"/>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853225F-9269-41F3-B44F-2962C9FA882C}"/>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New York Fed (EFFR, SOFR); FRED or U.S. Treasury (2-year); FOMC minutes (roster).</a:t>
            </a:r>
          </a:p>
        </p:txBody>
      </p:sp>
      <p:sp>
        <p:nvSpPr>
          <p:cNvPr id="12" name="">
            <a:extLst xmlns:a="http://schemas.openxmlformats.org/drawingml/2006/main">
              <a:ext uri="{FF2B5EF4-FFF2-40B4-BE49-F238E27FC236}">
                <a16:creationId xmlns:a16="http://schemas.microsoft.com/office/drawing/2014/main" id="{5FEC28DA-B2C3-4BD0-91F7-3B2768627797}"/>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BBC74ED-616D-4D60-8965-1C46C7853380}"/>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506B6DB-D7C9-4047-A3C4-B85DC8C31035}"/>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09697FA-EF6B-4D62-90F2-64C8CB324B8D}"/>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C821DFA-9C78-4D97-8BD3-85BB7DE06809}"/>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8AA4C15-8ACF-49C6-A4AD-3E678636BAE7}"/>
              </a:ext>
            </a:extLst>
          </p:cNvPr>
          <p:cNvSpPr>
            <a:spLocks xmlns:a="http://schemas.openxmlformats.org/drawingml/2006/main" noGrp="1"/>
          </p:cNvSpPr>
          <p:nvPr/>
        </p:nvSpPr>
        <p:spPr>
          <a:xfrm xmlns:a="http://schemas.openxmlformats.org/drawingml/2006/main">
            <a:off x="609585" y="1920240"/>
            <a:ext cx="1737317"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960" b="1">
                <a:solidFill>
                  <a:srgbClr val="151312"/>
                </a:solidFill>
                <a:latin typeface="Arial"/>
                <a:ea typeface="Arial"/>
                <a:cs typeface="Arial"/>
              </a:defRPr>
            </a:defPPr>
            <a:lvl1pPr algn="l">
              <a:defRPr sz="3960" b="1">
                <a:solidFill>
                  <a:srgbClr val="151312"/>
                </a:solidFill>
                <a:latin typeface="Arial"/>
                <a:ea typeface="Arial"/>
                <a:cs typeface="Arial"/>
              </a:defRPr>
            </a:lvl1pPr>
            <a:lvl2pPr algn="l">
              <a:defRPr sz="3960" b="1">
                <a:solidFill>
                  <a:srgbClr val="151312"/>
                </a:solidFill>
                <a:latin typeface="Arial"/>
                <a:ea typeface="Arial"/>
                <a:cs typeface="Arial"/>
              </a:defRPr>
            </a:lvl2pPr>
            <a:lvl3pPr algn="l">
              <a:defRPr sz="3960" b="1">
                <a:solidFill>
                  <a:srgbClr val="151312"/>
                </a:solidFill>
                <a:latin typeface="Arial"/>
                <a:ea typeface="Arial"/>
                <a:cs typeface="Arial"/>
              </a:defRPr>
            </a:lvl3pPr>
            <a:lvl4pPr algn="l">
              <a:defRPr sz="3960" b="1">
                <a:solidFill>
                  <a:srgbClr val="151312"/>
                </a:solidFill>
                <a:latin typeface="Arial"/>
                <a:ea typeface="Arial"/>
                <a:cs typeface="Arial"/>
              </a:defRPr>
            </a:lvl4pPr>
            <a:lvl5pPr algn="l">
              <a:defRPr sz="3960" b="1">
                <a:solidFill>
                  <a:srgbClr val="151312"/>
                </a:solidFill>
                <a:latin typeface="Arial"/>
                <a:ea typeface="Arial"/>
                <a:cs typeface="Arial"/>
              </a:defRPr>
            </a:lvl5pPr>
            <a:lvl6pPr algn="l">
              <a:defRPr sz="3960" b="1">
                <a:solidFill>
                  <a:srgbClr val="151312"/>
                </a:solidFill>
                <a:latin typeface="Arial"/>
                <a:ea typeface="Arial"/>
                <a:cs typeface="Arial"/>
              </a:defRPr>
            </a:lvl6pPr>
            <a:lvl7pPr algn="l">
              <a:defRPr sz="3960" b="1">
                <a:solidFill>
                  <a:srgbClr val="151312"/>
                </a:solidFill>
                <a:latin typeface="Arial"/>
                <a:ea typeface="Arial"/>
                <a:cs typeface="Arial"/>
              </a:defRPr>
            </a:lvl7pPr>
            <a:lvl8pPr algn="l">
              <a:defRPr sz="3960" b="1">
                <a:solidFill>
                  <a:srgbClr val="151312"/>
                </a:solidFill>
                <a:latin typeface="Arial"/>
                <a:ea typeface="Arial"/>
                <a:cs typeface="Arial"/>
              </a:defRPr>
            </a:lvl8pPr>
            <a:lvl9pPr algn="l">
              <a:defRPr sz="3960" b="1">
                <a:solidFill>
                  <a:srgbClr val="151312"/>
                </a:solidFill>
                <a:latin typeface="Arial"/>
                <a:ea typeface="Arial"/>
                <a:cs typeface="Arial"/>
              </a:defRPr>
            </a:lvl9pPr>
          </a:lstStyle>
          <a:p xmlns:a="http://schemas.openxmlformats.org/drawingml/2006/main">
            <a:pPr algn="l">
              <a:defRPr sz="3960" b="1">
                <a:solidFill>
                  <a:srgbClr val="151312"/>
                </a:solidFill>
                <a:latin typeface="Arial"/>
                <a:ea typeface="Arial"/>
                <a:cs typeface="Arial"/>
              </a:defRPr>
            </a:pPr>
            <a:r>
              <a:rPr sz="3960" b="1">
                <a:solidFill>
                  <a:srgbClr val="151312"/>
                </a:solidFill>
                <a:latin typeface="Arial"/>
                <a:ea typeface="Arial"/>
                <a:cs typeface="Arial"/>
              </a:rPr>
              <a:t>+81 bp</a:t>
            </a:r>
          </a:p>
        </p:txBody>
      </p:sp>
      <p:sp>
        <p:nvSpPr>
          <p:cNvPr id="18" name="">
            <a:extLst xmlns:a="http://schemas.openxmlformats.org/drawingml/2006/main">
              <a:ext uri="{FF2B5EF4-FFF2-40B4-BE49-F238E27FC236}">
                <a16:creationId xmlns:a16="http://schemas.microsoft.com/office/drawing/2014/main" id="{9671C267-E578-4884-A7AA-8075A6D36BD0}"/>
              </a:ext>
            </a:extLst>
          </p:cNvPr>
          <p:cNvSpPr>
            <a:spLocks xmlns:a="http://schemas.openxmlformats.org/drawingml/2006/main" noGrp="1"/>
          </p:cNvSpPr>
          <p:nvPr/>
        </p:nvSpPr>
        <p:spPr>
          <a:xfrm xmlns:a="http://schemas.openxmlformats.org/drawingml/2006/main">
            <a:off x="2514537" y="1927860"/>
            <a:ext cx="2133547"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2-year Treasury minus the effective fed funds rate</a:t>
            </a:r>
          </a:p>
        </p:txBody>
      </p:sp>
      <p:sp>
        <p:nvSpPr>
          <p:cNvPr id="19" name="">
            <a:extLst xmlns:a="http://schemas.openxmlformats.org/drawingml/2006/main">
              <a:ext uri="{FF2B5EF4-FFF2-40B4-BE49-F238E27FC236}">
                <a16:creationId xmlns:a16="http://schemas.microsoft.com/office/drawing/2014/main" id="{1F3D589B-AED6-426D-A771-E046D4BFF2D3}"/>
              </a:ext>
            </a:extLst>
          </p:cNvPr>
          <p:cNvSpPr>
            <a:spLocks xmlns:a="http://schemas.openxmlformats.org/drawingml/2006/main" noGrp="1"/>
          </p:cNvSpPr>
          <p:nvPr/>
        </p:nvSpPr>
        <p:spPr>
          <a:xfrm xmlns:a="http://schemas.openxmlformats.org/drawingml/2006/main">
            <a:off x="4830959" y="2004060"/>
            <a:ext cx="7620" cy="5334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9CF44DD-C981-4B6A-A8D3-4F77F732A474}"/>
              </a:ext>
            </a:extLst>
          </p:cNvPr>
          <p:cNvSpPr>
            <a:spLocks xmlns:a="http://schemas.openxmlformats.org/drawingml/2006/main" noGrp="1"/>
          </p:cNvSpPr>
          <p:nvPr/>
        </p:nvSpPr>
        <p:spPr>
          <a:xfrm xmlns:a="http://schemas.openxmlformats.org/drawingml/2006/main">
            <a:off x="4968116" y="1920240"/>
            <a:ext cx="1424904"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0">
                <a:solidFill>
                  <a:srgbClr val="45413C"/>
                </a:solidFill>
                <a:latin typeface="Arial"/>
                <a:ea typeface="Arial"/>
                <a:cs typeface="Arial"/>
              </a:defRPr>
            </a:defPPr>
            <a:lvl1pPr algn="l">
              <a:defRPr sz="1140" b="0">
                <a:solidFill>
                  <a:srgbClr val="45413C"/>
                </a:solidFill>
                <a:latin typeface="Arial"/>
                <a:ea typeface="Arial"/>
                <a:cs typeface="Arial"/>
              </a:defRPr>
            </a:lvl1pPr>
            <a:lvl2pPr algn="l">
              <a:defRPr sz="1140" b="0">
                <a:solidFill>
                  <a:srgbClr val="45413C"/>
                </a:solidFill>
                <a:latin typeface="Arial"/>
                <a:ea typeface="Arial"/>
                <a:cs typeface="Arial"/>
              </a:defRPr>
            </a:lvl2pPr>
            <a:lvl3pPr algn="l">
              <a:defRPr sz="1140" b="0">
                <a:solidFill>
                  <a:srgbClr val="45413C"/>
                </a:solidFill>
                <a:latin typeface="Arial"/>
                <a:ea typeface="Arial"/>
                <a:cs typeface="Arial"/>
              </a:defRPr>
            </a:lvl3pPr>
            <a:lvl4pPr algn="l">
              <a:defRPr sz="1140" b="0">
                <a:solidFill>
                  <a:srgbClr val="45413C"/>
                </a:solidFill>
                <a:latin typeface="Arial"/>
                <a:ea typeface="Arial"/>
                <a:cs typeface="Arial"/>
              </a:defRPr>
            </a:lvl4pPr>
            <a:lvl5pPr algn="l">
              <a:defRPr sz="1140" b="0">
                <a:solidFill>
                  <a:srgbClr val="45413C"/>
                </a:solidFill>
                <a:latin typeface="Arial"/>
                <a:ea typeface="Arial"/>
                <a:cs typeface="Arial"/>
              </a:defRPr>
            </a:lvl5pPr>
            <a:lvl6pPr algn="l">
              <a:defRPr sz="1140" b="0">
                <a:solidFill>
                  <a:srgbClr val="45413C"/>
                </a:solidFill>
                <a:latin typeface="Arial"/>
                <a:ea typeface="Arial"/>
                <a:cs typeface="Arial"/>
              </a:defRPr>
            </a:lvl6pPr>
            <a:lvl7pPr algn="l">
              <a:defRPr sz="1140" b="0">
                <a:solidFill>
                  <a:srgbClr val="45413C"/>
                </a:solidFill>
                <a:latin typeface="Arial"/>
                <a:ea typeface="Arial"/>
                <a:cs typeface="Arial"/>
              </a:defRPr>
            </a:lvl7pPr>
            <a:lvl8pPr algn="l">
              <a:defRPr sz="1140" b="0">
                <a:solidFill>
                  <a:srgbClr val="45413C"/>
                </a:solidFill>
                <a:latin typeface="Arial"/>
                <a:ea typeface="Arial"/>
                <a:cs typeface="Arial"/>
              </a:defRPr>
            </a:lvl8pPr>
            <a:lvl9pPr algn="l">
              <a:defRPr sz="1140" b="0">
                <a:solidFill>
                  <a:srgbClr val="45413C"/>
                </a:solidFill>
                <a:latin typeface="Arial"/>
                <a:ea typeface="Arial"/>
                <a:cs typeface="Arial"/>
              </a:defRPr>
            </a:lvl9pPr>
          </a:lstStyle>
          <a:p xmlns:a="http://schemas.openxmlformats.org/drawingml/2006/main">
            <a:pPr algn="l">
              <a:defRPr sz="1140" b="0">
                <a:solidFill>
                  <a:srgbClr val="45413C"/>
                </a:solidFill>
                <a:latin typeface="Arial"/>
                <a:ea typeface="Arial"/>
                <a:cs typeface="Arial"/>
              </a:defRPr>
            </a:pPr>
            <a:r>
              <a:rPr sz="1140" b="0">
                <a:solidFill>
                  <a:srgbClr val="45413C"/>
                </a:solidFill>
                <a:latin typeface="Arial"/>
                <a:ea typeface="Arial"/>
                <a:cs typeface="Arial"/>
              </a:rPr>
              <a:t>Target 3.75–4.00%</a:t>
            </a:r>
          </a:p>
        </p:txBody>
      </p:sp>
      <p:sp>
        <p:nvSpPr>
          <p:cNvPr id="21" name="">
            <a:extLst xmlns:a="http://schemas.openxmlformats.org/drawingml/2006/main">
              <a:ext uri="{FF2B5EF4-FFF2-40B4-BE49-F238E27FC236}">
                <a16:creationId xmlns:a16="http://schemas.microsoft.com/office/drawing/2014/main" id="{7612E82F-332C-420F-9D06-7A7B3C5AC6FF}"/>
              </a:ext>
            </a:extLst>
          </p:cNvPr>
          <p:cNvSpPr>
            <a:spLocks xmlns:a="http://schemas.openxmlformats.org/drawingml/2006/main" noGrp="1"/>
          </p:cNvSpPr>
          <p:nvPr/>
        </p:nvSpPr>
        <p:spPr>
          <a:xfrm xmlns:a="http://schemas.openxmlformats.org/drawingml/2006/main">
            <a:off x="6560656" y="2004060"/>
            <a:ext cx="7620" cy="5334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DAB6AB7-FD8F-4E3A-9435-0347C2FEB1CD}"/>
              </a:ext>
            </a:extLst>
          </p:cNvPr>
          <p:cNvSpPr>
            <a:spLocks xmlns:a="http://schemas.openxmlformats.org/drawingml/2006/main" noGrp="1"/>
          </p:cNvSpPr>
          <p:nvPr/>
        </p:nvSpPr>
        <p:spPr>
          <a:xfrm xmlns:a="http://schemas.openxmlformats.org/drawingml/2006/main">
            <a:off x="6697812" y="1920240"/>
            <a:ext cx="1424904"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0">
                <a:solidFill>
                  <a:srgbClr val="45413C"/>
                </a:solidFill>
                <a:latin typeface="Arial"/>
                <a:ea typeface="Arial"/>
                <a:cs typeface="Arial"/>
              </a:defRPr>
            </a:defPPr>
            <a:lvl1pPr algn="l">
              <a:defRPr sz="1140" b="0">
                <a:solidFill>
                  <a:srgbClr val="45413C"/>
                </a:solidFill>
                <a:latin typeface="Arial"/>
                <a:ea typeface="Arial"/>
                <a:cs typeface="Arial"/>
              </a:defRPr>
            </a:lvl1pPr>
            <a:lvl2pPr algn="l">
              <a:defRPr sz="1140" b="0">
                <a:solidFill>
                  <a:srgbClr val="45413C"/>
                </a:solidFill>
                <a:latin typeface="Arial"/>
                <a:ea typeface="Arial"/>
                <a:cs typeface="Arial"/>
              </a:defRPr>
            </a:lvl2pPr>
            <a:lvl3pPr algn="l">
              <a:defRPr sz="1140" b="0">
                <a:solidFill>
                  <a:srgbClr val="45413C"/>
                </a:solidFill>
                <a:latin typeface="Arial"/>
                <a:ea typeface="Arial"/>
                <a:cs typeface="Arial"/>
              </a:defRPr>
            </a:lvl3pPr>
            <a:lvl4pPr algn="l">
              <a:defRPr sz="1140" b="0">
                <a:solidFill>
                  <a:srgbClr val="45413C"/>
                </a:solidFill>
                <a:latin typeface="Arial"/>
                <a:ea typeface="Arial"/>
                <a:cs typeface="Arial"/>
              </a:defRPr>
            </a:lvl4pPr>
            <a:lvl5pPr algn="l">
              <a:defRPr sz="1140" b="0">
                <a:solidFill>
                  <a:srgbClr val="45413C"/>
                </a:solidFill>
                <a:latin typeface="Arial"/>
                <a:ea typeface="Arial"/>
                <a:cs typeface="Arial"/>
              </a:defRPr>
            </a:lvl5pPr>
            <a:lvl6pPr algn="l">
              <a:defRPr sz="1140" b="0">
                <a:solidFill>
                  <a:srgbClr val="45413C"/>
                </a:solidFill>
                <a:latin typeface="Arial"/>
                <a:ea typeface="Arial"/>
                <a:cs typeface="Arial"/>
              </a:defRPr>
            </a:lvl6pPr>
            <a:lvl7pPr algn="l">
              <a:defRPr sz="1140" b="0">
                <a:solidFill>
                  <a:srgbClr val="45413C"/>
                </a:solidFill>
                <a:latin typeface="Arial"/>
                <a:ea typeface="Arial"/>
                <a:cs typeface="Arial"/>
              </a:defRPr>
            </a:lvl7pPr>
            <a:lvl8pPr algn="l">
              <a:defRPr sz="1140" b="0">
                <a:solidFill>
                  <a:srgbClr val="45413C"/>
                </a:solidFill>
                <a:latin typeface="Arial"/>
                <a:ea typeface="Arial"/>
                <a:cs typeface="Arial"/>
              </a:defRPr>
            </a:lvl8pPr>
            <a:lvl9pPr algn="l">
              <a:defRPr sz="1140" b="0">
                <a:solidFill>
                  <a:srgbClr val="45413C"/>
                </a:solidFill>
                <a:latin typeface="Arial"/>
                <a:ea typeface="Arial"/>
                <a:cs typeface="Arial"/>
              </a:defRPr>
            </a:lvl9pPr>
          </a:lstStyle>
          <a:p xmlns:a="http://schemas.openxmlformats.org/drawingml/2006/main">
            <a:pPr algn="l">
              <a:defRPr sz="1140" b="0">
                <a:solidFill>
                  <a:srgbClr val="45413C"/>
                </a:solidFill>
                <a:latin typeface="Arial"/>
                <a:ea typeface="Arial"/>
                <a:cs typeface="Arial"/>
              </a:defRPr>
            </a:pPr>
            <a:r>
              <a:rPr sz="1140" b="0">
                <a:solidFill>
                  <a:srgbClr val="45413C"/>
                </a:solidFill>
                <a:latin typeface="Arial"/>
                <a:ea typeface="Arial"/>
                <a:cs typeface="Arial"/>
              </a:rPr>
              <a:t>EFFR 3.88%</a:t>
            </a:r>
          </a:p>
        </p:txBody>
      </p:sp>
      <p:sp>
        <p:nvSpPr>
          <p:cNvPr id="23" name="">
            <a:extLst xmlns:a="http://schemas.openxmlformats.org/drawingml/2006/main">
              <a:ext uri="{FF2B5EF4-FFF2-40B4-BE49-F238E27FC236}">
                <a16:creationId xmlns:a16="http://schemas.microsoft.com/office/drawing/2014/main" id="{089D9F0E-E222-4F3E-89D6-509612E8B9CF}"/>
              </a:ext>
            </a:extLst>
          </p:cNvPr>
          <p:cNvSpPr>
            <a:spLocks xmlns:a="http://schemas.openxmlformats.org/drawingml/2006/main" noGrp="1"/>
          </p:cNvSpPr>
          <p:nvPr/>
        </p:nvSpPr>
        <p:spPr>
          <a:xfrm xmlns:a="http://schemas.openxmlformats.org/drawingml/2006/main">
            <a:off x="8290353" y="2004060"/>
            <a:ext cx="7620" cy="5334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97BBD66-FC50-4D0D-97B1-2C8BF25D3857}"/>
              </a:ext>
            </a:extLst>
          </p:cNvPr>
          <p:cNvSpPr>
            <a:spLocks xmlns:a="http://schemas.openxmlformats.org/drawingml/2006/main" noGrp="1"/>
          </p:cNvSpPr>
          <p:nvPr/>
        </p:nvSpPr>
        <p:spPr>
          <a:xfrm xmlns:a="http://schemas.openxmlformats.org/drawingml/2006/main">
            <a:off x="8427509" y="1920240"/>
            <a:ext cx="1424904"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0">
                <a:solidFill>
                  <a:srgbClr val="45413C"/>
                </a:solidFill>
                <a:latin typeface="Arial"/>
                <a:ea typeface="Arial"/>
                <a:cs typeface="Arial"/>
              </a:defRPr>
            </a:defPPr>
            <a:lvl1pPr algn="l">
              <a:defRPr sz="1140" b="0">
                <a:solidFill>
                  <a:srgbClr val="45413C"/>
                </a:solidFill>
                <a:latin typeface="Arial"/>
                <a:ea typeface="Arial"/>
                <a:cs typeface="Arial"/>
              </a:defRPr>
            </a:lvl1pPr>
            <a:lvl2pPr algn="l">
              <a:defRPr sz="1140" b="0">
                <a:solidFill>
                  <a:srgbClr val="45413C"/>
                </a:solidFill>
                <a:latin typeface="Arial"/>
                <a:ea typeface="Arial"/>
                <a:cs typeface="Arial"/>
              </a:defRPr>
            </a:lvl2pPr>
            <a:lvl3pPr algn="l">
              <a:defRPr sz="1140" b="0">
                <a:solidFill>
                  <a:srgbClr val="45413C"/>
                </a:solidFill>
                <a:latin typeface="Arial"/>
                <a:ea typeface="Arial"/>
                <a:cs typeface="Arial"/>
              </a:defRPr>
            </a:lvl3pPr>
            <a:lvl4pPr algn="l">
              <a:defRPr sz="1140" b="0">
                <a:solidFill>
                  <a:srgbClr val="45413C"/>
                </a:solidFill>
                <a:latin typeface="Arial"/>
                <a:ea typeface="Arial"/>
                <a:cs typeface="Arial"/>
              </a:defRPr>
            </a:lvl4pPr>
            <a:lvl5pPr algn="l">
              <a:defRPr sz="1140" b="0">
                <a:solidFill>
                  <a:srgbClr val="45413C"/>
                </a:solidFill>
                <a:latin typeface="Arial"/>
                <a:ea typeface="Arial"/>
                <a:cs typeface="Arial"/>
              </a:defRPr>
            </a:lvl5pPr>
            <a:lvl6pPr algn="l">
              <a:defRPr sz="1140" b="0">
                <a:solidFill>
                  <a:srgbClr val="45413C"/>
                </a:solidFill>
                <a:latin typeface="Arial"/>
                <a:ea typeface="Arial"/>
                <a:cs typeface="Arial"/>
              </a:defRPr>
            </a:lvl6pPr>
            <a:lvl7pPr algn="l">
              <a:defRPr sz="1140" b="0">
                <a:solidFill>
                  <a:srgbClr val="45413C"/>
                </a:solidFill>
                <a:latin typeface="Arial"/>
                <a:ea typeface="Arial"/>
                <a:cs typeface="Arial"/>
              </a:defRPr>
            </a:lvl7pPr>
            <a:lvl8pPr algn="l">
              <a:defRPr sz="1140" b="0">
                <a:solidFill>
                  <a:srgbClr val="45413C"/>
                </a:solidFill>
                <a:latin typeface="Arial"/>
                <a:ea typeface="Arial"/>
                <a:cs typeface="Arial"/>
              </a:defRPr>
            </a:lvl8pPr>
            <a:lvl9pPr algn="l">
              <a:defRPr sz="1140" b="0">
                <a:solidFill>
                  <a:srgbClr val="45413C"/>
                </a:solidFill>
                <a:latin typeface="Arial"/>
                <a:ea typeface="Arial"/>
                <a:cs typeface="Arial"/>
              </a:defRPr>
            </a:lvl9pPr>
          </a:lstStyle>
          <a:p xmlns:a="http://schemas.openxmlformats.org/drawingml/2006/main">
            <a:pPr algn="l">
              <a:defRPr sz="1140" b="0">
                <a:solidFill>
                  <a:srgbClr val="45413C"/>
                </a:solidFill>
                <a:latin typeface="Arial"/>
                <a:ea typeface="Arial"/>
                <a:cs typeface="Arial"/>
              </a:defRPr>
            </a:pPr>
            <a:r>
              <a:rPr sz="1140" b="0">
                <a:solidFill>
                  <a:srgbClr val="45413C"/>
                </a:solidFill>
                <a:latin typeface="Arial"/>
                <a:ea typeface="Arial"/>
                <a:cs typeface="Arial"/>
              </a:rPr>
              <a:t>Next decision 28 October</a:t>
            </a:r>
          </a:p>
        </p:txBody>
      </p:sp>
      <p:sp>
        <p:nvSpPr>
          <p:cNvPr id="25" name="">
            <a:extLst xmlns:a="http://schemas.openxmlformats.org/drawingml/2006/main">
              <a:ext uri="{FF2B5EF4-FFF2-40B4-BE49-F238E27FC236}">
                <a16:creationId xmlns:a16="http://schemas.microsoft.com/office/drawing/2014/main" id="{BE19DC32-AAE4-4DE4-BCBB-3CA3BDE6D4E7}"/>
              </a:ext>
            </a:extLst>
          </p:cNvPr>
          <p:cNvSpPr>
            <a:spLocks xmlns:a="http://schemas.openxmlformats.org/drawingml/2006/main" noGrp="1"/>
          </p:cNvSpPr>
          <p:nvPr/>
        </p:nvSpPr>
        <p:spPr>
          <a:xfrm xmlns:a="http://schemas.openxmlformats.org/drawingml/2006/main">
            <a:off x="10020049" y="2004060"/>
            <a:ext cx="7620" cy="5334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42E93D7-3A04-42B9-A676-1E08B6888802}"/>
              </a:ext>
            </a:extLst>
          </p:cNvPr>
          <p:cNvSpPr>
            <a:spLocks xmlns:a="http://schemas.openxmlformats.org/drawingml/2006/main" noGrp="1"/>
          </p:cNvSpPr>
          <p:nvPr/>
        </p:nvSpPr>
        <p:spPr>
          <a:xfrm xmlns:a="http://schemas.openxmlformats.org/drawingml/2006/main">
            <a:off x="10157206" y="1920240"/>
            <a:ext cx="1424904" cy="655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40" b="0">
                <a:solidFill>
                  <a:srgbClr val="45413C"/>
                </a:solidFill>
                <a:latin typeface="Arial"/>
                <a:ea typeface="Arial"/>
                <a:cs typeface="Arial"/>
              </a:defRPr>
            </a:defPPr>
            <a:lvl1pPr algn="l">
              <a:defRPr sz="1140" b="0">
                <a:solidFill>
                  <a:srgbClr val="45413C"/>
                </a:solidFill>
                <a:latin typeface="Arial"/>
                <a:ea typeface="Arial"/>
                <a:cs typeface="Arial"/>
              </a:defRPr>
            </a:lvl1pPr>
            <a:lvl2pPr algn="l">
              <a:defRPr sz="1140" b="0">
                <a:solidFill>
                  <a:srgbClr val="45413C"/>
                </a:solidFill>
                <a:latin typeface="Arial"/>
                <a:ea typeface="Arial"/>
                <a:cs typeface="Arial"/>
              </a:defRPr>
            </a:lvl2pPr>
            <a:lvl3pPr algn="l">
              <a:defRPr sz="1140" b="0">
                <a:solidFill>
                  <a:srgbClr val="45413C"/>
                </a:solidFill>
                <a:latin typeface="Arial"/>
                <a:ea typeface="Arial"/>
                <a:cs typeface="Arial"/>
              </a:defRPr>
            </a:lvl3pPr>
            <a:lvl4pPr algn="l">
              <a:defRPr sz="1140" b="0">
                <a:solidFill>
                  <a:srgbClr val="45413C"/>
                </a:solidFill>
                <a:latin typeface="Arial"/>
                <a:ea typeface="Arial"/>
                <a:cs typeface="Arial"/>
              </a:defRPr>
            </a:lvl4pPr>
            <a:lvl5pPr algn="l">
              <a:defRPr sz="1140" b="0">
                <a:solidFill>
                  <a:srgbClr val="45413C"/>
                </a:solidFill>
                <a:latin typeface="Arial"/>
                <a:ea typeface="Arial"/>
                <a:cs typeface="Arial"/>
              </a:defRPr>
            </a:lvl5pPr>
            <a:lvl6pPr algn="l">
              <a:defRPr sz="1140" b="0">
                <a:solidFill>
                  <a:srgbClr val="45413C"/>
                </a:solidFill>
                <a:latin typeface="Arial"/>
                <a:ea typeface="Arial"/>
                <a:cs typeface="Arial"/>
              </a:defRPr>
            </a:lvl6pPr>
            <a:lvl7pPr algn="l">
              <a:defRPr sz="1140" b="0">
                <a:solidFill>
                  <a:srgbClr val="45413C"/>
                </a:solidFill>
                <a:latin typeface="Arial"/>
                <a:ea typeface="Arial"/>
                <a:cs typeface="Arial"/>
              </a:defRPr>
            </a:lvl7pPr>
            <a:lvl8pPr algn="l">
              <a:defRPr sz="1140" b="0">
                <a:solidFill>
                  <a:srgbClr val="45413C"/>
                </a:solidFill>
                <a:latin typeface="Arial"/>
                <a:ea typeface="Arial"/>
                <a:cs typeface="Arial"/>
              </a:defRPr>
            </a:lvl8pPr>
            <a:lvl9pPr algn="l">
              <a:defRPr sz="1140" b="0">
                <a:solidFill>
                  <a:srgbClr val="45413C"/>
                </a:solidFill>
                <a:latin typeface="Arial"/>
                <a:ea typeface="Arial"/>
                <a:cs typeface="Arial"/>
              </a:defRPr>
            </a:lvl9pPr>
          </a:lstStyle>
          <a:p xmlns:a="http://schemas.openxmlformats.org/drawingml/2006/main">
            <a:pPr algn="l">
              <a:defRPr sz="1140" b="0">
                <a:solidFill>
                  <a:srgbClr val="45413C"/>
                </a:solidFill>
                <a:latin typeface="Arial"/>
                <a:ea typeface="Arial"/>
                <a:cs typeface="Arial"/>
              </a:defRPr>
            </a:pPr>
            <a:r>
              <a:rPr sz="1140" b="0">
                <a:solidFill>
                  <a:srgbClr val="45413C"/>
                </a:solidFill>
                <a:latin typeface="Arial"/>
                <a:ea typeface="Arial"/>
                <a:cs typeface="Arial"/>
              </a:rPr>
              <a:t>Latest vote 12–0</a:t>
            </a:r>
          </a:p>
        </p:txBody>
      </p:sp>
      <p:sp>
        <p:nvSpPr>
          <p:cNvPr id="27" name="">
            <a:extLst xmlns:a="http://schemas.openxmlformats.org/drawingml/2006/main">
              <a:ext uri="{FF2B5EF4-FFF2-40B4-BE49-F238E27FC236}">
                <a16:creationId xmlns:a16="http://schemas.microsoft.com/office/drawing/2014/main" id="{B40EC138-483E-498E-8C8E-000C47465155}"/>
              </a:ext>
            </a:extLst>
          </p:cNvPr>
          <p:cNvSpPr>
            <a:spLocks xmlns:a="http://schemas.openxmlformats.org/drawingml/2006/main" noGrp="1"/>
          </p:cNvSpPr>
          <p:nvPr/>
        </p:nvSpPr>
        <p:spPr>
          <a:xfrm xmlns:a="http://schemas.openxmlformats.org/drawingml/2006/main">
            <a:off x="609585" y="267462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71322D8F-4505-4A8C-B666-E78B04E0E78E}"/>
              </a:ext>
            </a:extLst>
          </p:cNvPr>
          <p:cNvPicPr>
            <a:picLocks xmlns:a="http://schemas.openxmlformats.org/drawingml/2006/main" noChangeAspect="1"/>
          </p:cNvPicPr>
          <p:nvPr/>
        </p:nvPicPr>
        <p:blipFill>
          <a:blip xmlns:r="http://schemas.openxmlformats.org/officeDocument/2006/relationships" xmlns:a="http://schemas.openxmlformats.org/drawingml/2006/main" r:embed="R9c289f2e361c403a"/>
          <a:stretch xmlns:a="http://schemas.openxmlformats.org/drawingml/2006/main"/>
        </p:blipFill>
        <p:spPr>
          <a:xfrm xmlns:a="http://schemas.openxmlformats.org/drawingml/2006/main">
            <a:off x="609585" y="2834676"/>
            <a:ext cx="10972526" cy="2895528"/>
          </a:xfrm>
          <a:prstGeom xmlns:a="http://schemas.openxmlformats.org/drawingml/2006/main" prst="rect">
            <a:avLst/>
          </a:prstGeom>
        </p:spPr>
      </p:pic>
    </p:spTree>
    <p:extLst>
      <p:ext uri="{BB962C8B-B14F-4D97-AF65-F5344CB8AC3E}">
        <p14:creationId xmlns:p14="http://schemas.microsoft.com/office/powerpoint/2010/main" val="69838089"/>
      </p:ext>
    </p:extLst>
  </p:cSld>
</p:sld>
</file>

<file path=ppt/slides/slide33.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FAADF6E-B6A4-4D0C-988A-274516245F42}"/>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332200D7-BA97-42FE-B24A-02971D538F89}"/>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FORWARD CHECKS AND SYSTEM</a:t>
            </a:r>
          </a:p>
        </p:txBody>
      </p:sp>
      <p:sp>
        <p:nvSpPr>
          <p:cNvPr id="3" name="">
            <a:extLst xmlns:a="http://schemas.openxmlformats.org/drawingml/2006/main">
              <a:ext uri="{FF2B5EF4-FFF2-40B4-BE49-F238E27FC236}">
                <a16:creationId xmlns:a16="http://schemas.microsoft.com/office/drawing/2014/main" id="{B3A8808E-E320-47CC-903D-A5A084F93A22}"/>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33 / 46</a:t>
            </a:r>
          </a:p>
        </p:txBody>
      </p:sp>
      <p:sp>
        <p:nvSpPr>
          <p:cNvPr id="4" name="">
            <a:extLst xmlns:a="http://schemas.openxmlformats.org/drawingml/2006/main">
              <a:ext uri="{FF2B5EF4-FFF2-40B4-BE49-F238E27FC236}">
                <a16:creationId xmlns:a16="http://schemas.microsoft.com/office/drawing/2014/main" id="{98D98DBA-7578-49F4-B671-598C69CD5FB4}"/>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36334AE-6166-4F90-A8CB-317D813A0B2A}"/>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No forecast gain from tone detected</a:t>
            </a:r>
          </a:p>
        </p:txBody>
      </p:sp>
      <p:sp>
        <p:nvSpPr>
          <p:cNvPr id="6" name="">
            <a:extLst xmlns:a="http://schemas.openxmlformats.org/drawingml/2006/main">
              <a:ext uri="{FF2B5EF4-FFF2-40B4-BE49-F238E27FC236}">
                <a16:creationId xmlns:a16="http://schemas.microsoft.com/office/drawing/2014/main" id="{387A63F6-96AB-4B83-B531-9B563DB3C787}"/>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Exploratory expanding-window forecasts use only earlier decisions</a:t>
            </a:r>
          </a:p>
        </p:txBody>
      </p:sp>
      <p:sp>
        <p:nvSpPr>
          <p:cNvPr id="7" name="">
            <a:extLst xmlns:a="http://schemas.openxmlformats.org/drawingml/2006/main">
              <a:ext uri="{FF2B5EF4-FFF2-40B4-BE49-F238E27FC236}">
                <a16:creationId xmlns:a16="http://schemas.microsoft.com/office/drawing/2014/main" id="{81E083C6-DB37-4F62-9F24-497A5278117A}"/>
              </a:ext>
            </a:extLst>
          </p:cNvPr>
          <p:cNvSpPr>
            <a:spLocks xmlns:a="http://schemas.openxmlformats.org/drawingml/2006/main" noGrp="1"/>
          </p:cNvSpPr>
          <p:nvPr/>
        </p:nvSpPr>
        <p:spPr>
          <a:xfrm xmlns:a="http://schemas.openxmlformats.org/drawingml/2006/main">
            <a:off x="609585" y="5928360"/>
            <a:ext cx="22859" cy="28956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A83D16B-56F7-4E5D-80E5-0AD7F42EC05A}"/>
              </a:ext>
            </a:extLst>
          </p:cNvPr>
          <p:cNvSpPr>
            <a:spLocks xmlns:a="http://schemas.openxmlformats.org/drawingml/2006/main" noGrp="1"/>
          </p:cNvSpPr>
          <p:nvPr/>
        </p:nvSpPr>
        <p:spPr>
          <a:xfrm xmlns:a="http://schemas.openxmlformats.org/drawingml/2006/main">
            <a:off x="769601" y="5920740"/>
            <a:ext cx="1066773"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00" b="1">
                <a:solidFill>
                  <a:srgbClr val="151312"/>
                </a:solidFill>
                <a:latin typeface="Arial"/>
                <a:ea typeface="Arial"/>
                <a:cs typeface="Arial"/>
              </a:defRPr>
            </a:defPPr>
            <a:lvl1pPr algn="l">
              <a:defRPr sz="900" b="1">
                <a:solidFill>
                  <a:srgbClr val="151312"/>
                </a:solidFill>
                <a:latin typeface="Arial"/>
                <a:ea typeface="Arial"/>
                <a:cs typeface="Arial"/>
              </a:defRPr>
            </a:lvl1pPr>
            <a:lvl2pPr algn="l">
              <a:defRPr sz="900" b="1">
                <a:solidFill>
                  <a:srgbClr val="151312"/>
                </a:solidFill>
                <a:latin typeface="Arial"/>
                <a:ea typeface="Arial"/>
                <a:cs typeface="Arial"/>
              </a:defRPr>
            </a:lvl2pPr>
            <a:lvl3pPr algn="l">
              <a:defRPr sz="900" b="1">
                <a:solidFill>
                  <a:srgbClr val="151312"/>
                </a:solidFill>
                <a:latin typeface="Arial"/>
                <a:ea typeface="Arial"/>
                <a:cs typeface="Arial"/>
              </a:defRPr>
            </a:lvl3pPr>
            <a:lvl4pPr algn="l">
              <a:defRPr sz="900" b="1">
                <a:solidFill>
                  <a:srgbClr val="151312"/>
                </a:solidFill>
                <a:latin typeface="Arial"/>
                <a:ea typeface="Arial"/>
                <a:cs typeface="Arial"/>
              </a:defRPr>
            </a:lvl4pPr>
            <a:lvl5pPr algn="l">
              <a:defRPr sz="900" b="1">
                <a:solidFill>
                  <a:srgbClr val="151312"/>
                </a:solidFill>
                <a:latin typeface="Arial"/>
                <a:ea typeface="Arial"/>
                <a:cs typeface="Arial"/>
              </a:defRPr>
            </a:lvl5pPr>
            <a:lvl6pPr algn="l">
              <a:defRPr sz="900" b="1">
                <a:solidFill>
                  <a:srgbClr val="151312"/>
                </a:solidFill>
                <a:latin typeface="Arial"/>
                <a:ea typeface="Arial"/>
                <a:cs typeface="Arial"/>
              </a:defRPr>
            </a:lvl6pPr>
            <a:lvl7pPr algn="l">
              <a:defRPr sz="900" b="1">
                <a:solidFill>
                  <a:srgbClr val="151312"/>
                </a:solidFill>
                <a:latin typeface="Arial"/>
                <a:ea typeface="Arial"/>
                <a:cs typeface="Arial"/>
              </a:defRPr>
            </a:lvl7pPr>
            <a:lvl8pPr algn="l">
              <a:defRPr sz="900" b="1">
                <a:solidFill>
                  <a:srgbClr val="151312"/>
                </a:solidFill>
                <a:latin typeface="Arial"/>
                <a:ea typeface="Arial"/>
                <a:cs typeface="Arial"/>
              </a:defRPr>
            </a:lvl8pPr>
            <a:lvl9pPr algn="l">
              <a:defRPr sz="900" b="1">
                <a:solidFill>
                  <a:srgbClr val="151312"/>
                </a:solidFill>
                <a:latin typeface="Arial"/>
                <a:ea typeface="Arial"/>
                <a:cs typeface="Arial"/>
              </a:defRPr>
            </a:lvl9pPr>
          </a:lstStyle>
          <a:p xmlns:a="http://schemas.openxmlformats.org/drawingml/2006/main">
            <a:pPr algn="l">
              <a:defRPr sz="900" b="1">
                <a:solidFill>
                  <a:srgbClr val="151312"/>
                </a:solidFill>
                <a:latin typeface="Arial"/>
                <a:ea typeface="Arial"/>
                <a:cs typeface="Arial"/>
              </a:defRPr>
            </a:pPr>
            <a:r>
              <a:rPr sz="900" b="1">
                <a:solidFill>
                  <a:srgbClr val="151312"/>
                </a:solidFill>
                <a:latin typeface="Arial"/>
                <a:ea typeface="Arial"/>
                <a:cs typeface="Arial"/>
              </a:rPr>
              <a:t>For the desk</a:t>
            </a:r>
          </a:p>
        </p:txBody>
      </p:sp>
      <p:sp>
        <p:nvSpPr>
          <p:cNvPr id="9" name="">
            <a:extLst xmlns:a="http://schemas.openxmlformats.org/drawingml/2006/main">
              <a:ext uri="{FF2B5EF4-FFF2-40B4-BE49-F238E27FC236}">
                <a16:creationId xmlns:a16="http://schemas.microsoft.com/office/drawing/2014/main" id="{D8616647-594B-493F-B077-9C75DFC5EA69}"/>
              </a:ext>
            </a:extLst>
          </p:cNvPr>
          <p:cNvSpPr>
            <a:spLocks xmlns:a="http://schemas.openxmlformats.org/drawingml/2006/main" noGrp="1"/>
          </p:cNvSpPr>
          <p:nvPr/>
        </p:nvSpPr>
        <p:spPr>
          <a:xfrm xmlns:a="http://schemas.openxmlformats.org/drawingml/2006/main">
            <a:off x="1950671" y="5913120"/>
            <a:ext cx="9631439"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0">
                <a:solidFill>
                  <a:srgbClr val="45413C"/>
                </a:solidFill>
                <a:latin typeface="Arial"/>
                <a:ea typeface="Arial"/>
                <a:cs typeface="Arial"/>
              </a:defRPr>
            </a:defPPr>
            <a:lvl1pPr algn="l">
              <a:defRPr sz="1260" b="0">
                <a:solidFill>
                  <a:srgbClr val="45413C"/>
                </a:solidFill>
                <a:latin typeface="Arial"/>
                <a:ea typeface="Arial"/>
                <a:cs typeface="Arial"/>
              </a:defRPr>
            </a:lvl1pPr>
            <a:lvl2pPr algn="l">
              <a:defRPr sz="1260" b="0">
                <a:solidFill>
                  <a:srgbClr val="45413C"/>
                </a:solidFill>
                <a:latin typeface="Arial"/>
                <a:ea typeface="Arial"/>
                <a:cs typeface="Arial"/>
              </a:defRPr>
            </a:lvl2pPr>
            <a:lvl3pPr algn="l">
              <a:defRPr sz="1260" b="0">
                <a:solidFill>
                  <a:srgbClr val="45413C"/>
                </a:solidFill>
                <a:latin typeface="Arial"/>
                <a:ea typeface="Arial"/>
                <a:cs typeface="Arial"/>
              </a:defRPr>
            </a:lvl3pPr>
            <a:lvl4pPr algn="l">
              <a:defRPr sz="1260" b="0">
                <a:solidFill>
                  <a:srgbClr val="45413C"/>
                </a:solidFill>
                <a:latin typeface="Arial"/>
                <a:ea typeface="Arial"/>
                <a:cs typeface="Arial"/>
              </a:defRPr>
            </a:lvl4pPr>
            <a:lvl5pPr algn="l">
              <a:defRPr sz="1260" b="0">
                <a:solidFill>
                  <a:srgbClr val="45413C"/>
                </a:solidFill>
                <a:latin typeface="Arial"/>
                <a:ea typeface="Arial"/>
                <a:cs typeface="Arial"/>
              </a:defRPr>
            </a:lvl5pPr>
            <a:lvl6pPr algn="l">
              <a:defRPr sz="1260" b="0">
                <a:solidFill>
                  <a:srgbClr val="45413C"/>
                </a:solidFill>
                <a:latin typeface="Arial"/>
                <a:ea typeface="Arial"/>
                <a:cs typeface="Arial"/>
              </a:defRPr>
            </a:lvl6pPr>
            <a:lvl7pPr algn="l">
              <a:defRPr sz="1260" b="0">
                <a:solidFill>
                  <a:srgbClr val="45413C"/>
                </a:solidFill>
                <a:latin typeface="Arial"/>
                <a:ea typeface="Arial"/>
                <a:cs typeface="Arial"/>
              </a:defRPr>
            </a:lvl7pPr>
            <a:lvl8pPr algn="l">
              <a:defRPr sz="1260" b="0">
                <a:solidFill>
                  <a:srgbClr val="45413C"/>
                </a:solidFill>
                <a:latin typeface="Arial"/>
                <a:ea typeface="Arial"/>
                <a:cs typeface="Arial"/>
              </a:defRPr>
            </a:lvl8pPr>
            <a:lvl9pPr algn="l">
              <a:defRPr sz="1260" b="0">
                <a:solidFill>
                  <a:srgbClr val="45413C"/>
                </a:solidFill>
                <a:latin typeface="Arial"/>
                <a:ea typeface="Arial"/>
                <a:cs typeface="Arial"/>
              </a:defRPr>
            </a:lvl9pPr>
          </a:lstStyle>
          <a:p xmlns:a="http://schemas.openxmlformats.org/drawingml/2006/main">
            <a:pPr algn="l">
              <a:defRPr sz="1260" b="0">
                <a:solidFill>
                  <a:srgbClr val="45413C"/>
                </a:solidFill>
                <a:latin typeface="Arial"/>
                <a:ea typeface="Arial"/>
                <a:cs typeface="Arial"/>
              </a:defRPr>
            </a:pPr>
            <a:r>
              <a:rPr sz="1260" b="0">
                <a:solidFill>
                  <a:srgbClr val="45413C"/>
                </a:solidFill>
                <a:latin typeface="Arial"/>
                <a:ea typeface="Arial"/>
                <a:cs typeface="Arial"/>
              </a:rPr>
              <a:t>Adding tone does not reduce real-time forecast error in this sample; the test is exploratory.</a:t>
            </a:r>
          </a:p>
        </p:txBody>
      </p:sp>
      <p:sp>
        <p:nvSpPr>
          <p:cNvPr id="10" name="">
            <a:extLst xmlns:a="http://schemas.openxmlformats.org/drawingml/2006/main">
              <a:ext uri="{FF2B5EF4-FFF2-40B4-BE49-F238E27FC236}">
                <a16:creationId xmlns:a16="http://schemas.microsoft.com/office/drawing/2014/main" id="{B85751DE-3766-4EDD-AA41-E9882F904CE1}"/>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6ECD96A-79CB-4D94-BFEA-1DA3D9891CA3}"/>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FOMC decisions and pre-meeting Treasury yields; evaluate/forecast.py.</a:t>
            </a:r>
          </a:p>
        </p:txBody>
      </p:sp>
      <p:sp>
        <p:nvSpPr>
          <p:cNvPr id="12" name="">
            <a:extLst xmlns:a="http://schemas.openxmlformats.org/drawingml/2006/main">
              <a:ext uri="{FF2B5EF4-FFF2-40B4-BE49-F238E27FC236}">
                <a16:creationId xmlns:a16="http://schemas.microsoft.com/office/drawing/2014/main" id="{3FF55E8F-CCE7-4D88-A0C9-D6AF65A23B2D}"/>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72E4471-EB33-4F55-9E9B-93E9E4414425}"/>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F443867-1224-4D91-BED7-A7BE1D066BED}"/>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F9BACAD-77F6-4180-A935-177AFAEB0FB6}"/>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3F859DB-2ACB-4302-90CA-14822EE80390}"/>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C4AB3F6-FECE-4A4F-B3F6-FC400F829FA4}"/>
              </a:ext>
            </a:extLst>
          </p:cNvPr>
          <p:cNvSpPr>
            <a:spLocks xmlns:a="http://schemas.openxmlformats.org/drawingml/2006/main" noGrp="1"/>
          </p:cNvSpPr>
          <p:nvPr/>
        </p:nvSpPr>
        <p:spPr>
          <a:xfrm xmlns:a="http://schemas.openxmlformats.org/drawingml/2006/main">
            <a:off x="8838979" y="1965960"/>
            <a:ext cx="2743131"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4560" b="1">
                <a:solidFill>
                  <a:srgbClr val="151312"/>
                </a:solidFill>
                <a:latin typeface="Arial"/>
                <a:ea typeface="Arial"/>
                <a:cs typeface="Arial"/>
              </a:defRPr>
            </a:defPPr>
            <a:lvl1pPr algn="l">
              <a:defRPr sz="4560" b="1">
                <a:solidFill>
                  <a:srgbClr val="151312"/>
                </a:solidFill>
                <a:latin typeface="Arial"/>
                <a:ea typeface="Arial"/>
                <a:cs typeface="Arial"/>
              </a:defRPr>
            </a:lvl1pPr>
            <a:lvl2pPr algn="l">
              <a:defRPr sz="4560" b="1">
                <a:solidFill>
                  <a:srgbClr val="151312"/>
                </a:solidFill>
                <a:latin typeface="Arial"/>
                <a:ea typeface="Arial"/>
                <a:cs typeface="Arial"/>
              </a:defRPr>
            </a:lvl2pPr>
            <a:lvl3pPr algn="l">
              <a:defRPr sz="4560" b="1">
                <a:solidFill>
                  <a:srgbClr val="151312"/>
                </a:solidFill>
                <a:latin typeface="Arial"/>
                <a:ea typeface="Arial"/>
                <a:cs typeface="Arial"/>
              </a:defRPr>
            </a:lvl3pPr>
            <a:lvl4pPr algn="l">
              <a:defRPr sz="4560" b="1">
                <a:solidFill>
                  <a:srgbClr val="151312"/>
                </a:solidFill>
                <a:latin typeface="Arial"/>
                <a:ea typeface="Arial"/>
                <a:cs typeface="Arial"/>
              </a:defRPr>
            </a:lvl4pPr>
            <a:lvl5pPr algn="l">
              <a:defRPr sz="4560" b="1">
                <a:solidFill>
                  <a:srgbClr val="151312"/>
                </a:solidFill>
                <a:latin typeface="Arial"/>
                <a:ea typeface="Arial"/>
                <a:cs typeface="Arial"/>
              </a:defRPr>
            </a:lvl5pPr>
            <a:lvl6pPr algn="l">
              <a:defRPr sz="4560" b="1">
                <a:solidFill>
                  <a:srgbClr val="151312"/>
                </a:solidFill>
                <a:latin typeface="Arial"/>
                <a:ea typeface="Arial"/>
                <a:cs typeface="Arial"/>
              </a:defRPr>
            </a:lvl6pPr>
            <a:lvl7pPr algn="l">
              <a:defRPr sz="4560" b="1">
                <a:solidFill>
                  <a:srgbClr val="151312"/>
                </a:solidFill>
                <a:latin typeface="Arial"/>
                <a:ea typeface="Arial"/>
                <a:cs typeface="Arial"/>
              </a:defRPr>
            </a:lvl7pPr>
            <a:lvl8pPr algn="l">
              <a:defRPr sz="4560" b="1">
                <a:solidFill>
                  <a:srgbClr val="151312"/>
                </a:solidFill>
                <a:latin typeface="Arial"/>
                <a:ea typeface="Arial"/>
                <a:cs typeface="Arial"/>
              </a:defRPr>
            </a:lvl8pPr>
            <a:lvl9pPr algn="l">
              <a:defRPr sz="4560" b="1">
                <a:solidFill>
                  <a:srgbClr val="151312"/>
                </a:solidFill>
                <a:latin typeface="Arial"/>
                <a:ea typeface="Arial"/>
                <a:cs typeface="Arial"/>
              </a:defRPr>
            </a:lvl9pPr>
          </a:lstStyle>
          <a:p xmlns:a="http://schemas.openxmlformats.org/drawingml/2006/main">
            <a:pPr algn="l">
              <a:defRPr sz="4560" b="1">
                <a:solidFill>
                  <a:srgbClr val="151312"/>
                </a:solidFill>
                <a:latin typeface="Arial"/>
                <a:ea typeface="Arial"/>
                <a:cs typeface="Arial"/>
              </a:defRPr>
            </a:pPr>
            <a:r>
              <a:rPr sz="4560" b="1">
                <a:solidFill>
                  <a:srgbClr val="151312"/>
                </a:solidFill>
                <a:latin typeface="Arial"/>
                <a:ea typeface="Arial"/>
                <a:cs typeface="Arial"/>
              </a:rPr>
              <a:t>0.63</a:t>
            </a:r>
          </a:p>
        </p:txBody>
      </p:sp>
      <p:sp>
        <p:nvSpPr>
          <p:cNvPr id="18" name="">
            <a:extLst xmlns:a="http://schemas.openxmlformats.org/drawingml/2006/main">
              <a:ext uri="{FF2B5EF4-FFF2-40B4-BE49-F238E27FC236}">
                <a16:creationId xmlns:a16="http://schemas.microsoft.com/office/drawing/2014/main" id="{BE0792E3-E528-4657-8C90-57B5FF51F672}"/>
              </a:ext>
            </a:extLst>
          </p:cNvPr>
          <p:cNvSpPr>
            <a:spLocks xmlns:a="http://schemas.openxmlformats.org/drawingml/2006/main" noGrp="1"/>
          </p:cNvSpPr>
          <p:nvPr/>
        </p:nvSpPr>
        <p:spPr>
          <a:xfrm xmlns:a="http://schemas.openxmlformats.org/drawingml/2006/main">
            <a:off x="8838979" y="2781300"/>
            <a:ext cx="2743131"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market-only in-sample R² across 142 decisions; pre-meeting 3-month and 2-year spreads over policy</a:t>
            </a:r>
          </a:p>
        </p:txBody>
      </p:sp>
      <p:sp>
        <p:nvSpPr>
          <p:cNvPr id="19" name="">
            <a:extLst xmlns:a="http://schemas.openxmlformats.org/drawingml/2006/main">
              <a:ext uri="{FF2B5EF4-FFF2-40B4-BE49-F238E27FC236}">
                <a16:creationId xmlns:a16="http://schemas.microsoft.com/office/drawing/2014/main" id="{04EAFF49-9AA9-4D8D-9B40-68DBD66E0666}"/>
              </a:ext>
            </a:extLst>
          </p:cNvPr>
          <p:cNvSpPr>
            <a:spLocks xmlns:a="http://schemas.openxmlformats.org/drawingml/2006/main" noGrp="1"/>
          </p:cNvSpPr>
          <p:nvPr/>
        </p:nvSpPr>
        <p:spPr>
          <a:xfrm xmlns:a="http://schemas.openxmlformats.org/drawingml/2006/main">
            <a:off x="8838979" y="364236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FB12885-B315-4311-A70E-A798FA067FE0}"/>
              </a:ext>
            </a:extLst>
          </p:cNvPr>
          <p:cNvSpPr>
            <a:spLocks xmlns:a="http://schemas.openxmlformats.org/drawingml/2006/main" noGrp="1"/>
          </p:cNvSpPr>
          <p:nvPr/>
        </p:nvSpPr>
        <p:spPr>
          <a:xfrm xmlns:a="http://schemas.openxmlformats.org/drawingml/2006/main">
            <a:off x="8838979" y="3718560"/>
            <a:ext cx="2743131" cy="392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With Claude's tone: R² 0.64 (F-test p = 0.04)</a:t>
            </a:r>
          </a:p>
        </p:txBody>
      </p:sp>
      <p:sp>
        <p:nvSpPr>
          <p:cNvPr id="21" name="">
            <a:extLst xmlns:a="http://schemas.openxmlformats.org/drawingml/2006/main">
              <a:ext uri="{FF2B5EF4-FFF2-40B4-BE49-F238E27FC236}">
                <a16:creationId xmlns:a16="http://schemas.microsoft.com/office/drawing/2014/main" id="{51AE2462-A517-4616-87DB-E11D2A36B4C4}"/>
              </a:ext>
            </a:extLst>
          </p:cNvPr>
          <p:cNvSpPr>
            <a:spLocks xmlns:a="http://schemas.openxmlformats.org/drawingml/2006/main" noGrp="1"/>
          </p:cNvSpPr>
          <p:nvPr/>
        </p:nvSpPr>
        <p:spPr>
          <a:xfrm xmlns:a="http://schemas.openxmlformats.org/drawingml/2006/main">
            <a:off x="8838979" y="416433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93A3853-E46A-4FD0-B66C-C2CA95E74882}"/>
              </a:ext>
            </a:extLst>
          </p:cNvPr>
          <p:cNvSpPr>
            <a:spLocks xmlns:a="http://schemas.openxmlformats.org/drawingml/2006/main" noGrp="1"/>
          </p:cNvSpPr>
          <p:nvPr/>
        </p:nvSpPr>
        <p:spPr>
          <a:xfrm xmlns:a="http://schemas.openxmlformats.org/drawingml/2006/main">
            <a:off x="8838979" y="4240530"/>
            <a:ext cx="2743131" cy="392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Forecasts from 2017: MSE 0.153 with tone, 0.149 without (p = 0.68)</a:t>
            </a:r>
          </a:p>
        </p:txBody>
      </p:sp>
      <p:sp>
        <p:nvSpPr>
          <p:cNvPr id="23" name="">
            <a:extLst xmlns:a="http://schemas.openxmlformats.org/drawingml/2006/main">
              <a:ext uri="{FF2B5EF4-FFF2-40B4-BE49-F238E27FC236}">
                <a16:creationId xmlns:a16="http://schemas.microsoft.com/office/drawing/2014/main" id="{62D7490C-FA3C-4FBF-8FE9-F537CF856639}"/>
              </a:ext>
            </a:extLst>
          </p:cNvPr>
          <p:cNvSpPr>
            <a:spLocks xmlns:a="http://schemas.openxmlformats.org/drawingml/2006/main" noGrp="1"/>
          </p:cNvSpPr>
          <p:nvPr/>
        </p:nvSpPr>
        <p:spPr>
          <a:xfrm xmlns:a="http://schemas.openxmlformats.org/drawingml/2006/main">
            <a:off x="8838979" y="468630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DE9759A-BF1F-485A-95DB-74A9271125D0}"/>
              </a:ext>
            </a:extLst>
          </p:cNvPr>
          <p:cNvSpPr>
            <a:spLocks xmlns:a="http://schemas.openxmlformats.org/drawingml/2006/main" noGrp="1"/>
          </p:cNvSpPr>
          <p:nvPr/>
        </p:nvSpPr>
        <p:spPr>
          <a:xfrm xmlns:a="http://schemas.openxmlformats.org/drawingml/2006/main">
            <a:off x="8838979" y="4762500"/>
            <a:ext cx="2743131" cy="392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79 forecasts, 30 of them moves</a:t>
            </a:r>
          </a:p>
        </p:txBody>
      </p:sp>
      <p:sp>
        <p:nvSpPr>
          <p:cNvPr id="25" name="">
            <a:extLst xmlns:a="http://schemas.openxmlformats.org/drawingml/2006/main">
              <a:ext uri="{FF2B5EF4-FFF2-40B4-BE49-F238E27FC236}">
                <a16:creationId xmlns:a16="http://schemas.microsoft.com/office/drawing/2014/main" id="{DD8F03CD-1ED7-4110-9179-4BAA7B79F9B5}"/>
              </a:ext>
            </a:extLst>
          </p:cNvPr>
          <p:cNvSpPr>
            <a:spLocks xmlns:a="http://schemas.openxmlformats.org/drawingml/2006/main" noGrp="1"/>
          </p:cNvSpPr>
          <p:nvPr/>
        </p:nvSpPr>
        <p:spPr>
          <a:xfrm xmlns:a="http://schemas.openxmlformats.org/drawingml/2006/main">
            <a:off x="8838979" y="520827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D57A0C7-D2B0-4AF4-8669-E03BEB3128DB}"/>
              </a:ext>
            </a:extLst>
          </p:cNvPr>
          <p:cNvSpPr>
            <a:spLocks xmlns:a="http://schemas.openxmlformats.org/drawingml/2006/main" noGrp="1"/>
          </p:cNvSpPr>
          <p:nvPr/>
        </p:nvSpPr>
        <p:spPr>
          <a:xfrm xmlns:a="http://schemas.openxmlformats.org/drawingml/2006/main">
            <a:off x="8838979" y="5284470"/>
            <a:ext cx="2743131" cy="392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Exploratory: added after the results</a:t>
            </a:r>
          </a:p>
        </p:txBody>
      </p:sp>
      <p:pic>
        <p:nvPicPr>
          <p:cNvPr id="27" name="">
            <a:extLst xmlns:a="http://schemas.openxmlformats.org/drawingml/2006/main">
              <a:ext uri="{FF2B5EF4-FFF2-40B4-BE49-F238E27FC236}">
                <a16:creationId xmlns:a16="http://schemas.microsoft.com/office/drawing/2014/main" id="{DF74C590-14C1-474B-9AF6-09CB87FBBDB9}"/>
              </a:ext>
            </a:extLst>
          </p:cNvPr>
          <p:cNvPicPr>
            <a:picLocks xmlns:a="http://schemas.openxmlformats.org/drawingml/2006/main" noChangeAspect="1"/>
          </p:cNvPicPr>
          <p:nvPr/>
        </p:nvPicPr>
        <p:blipFill>
          <a:blip xmlns:r="http://schemas.openxmlformats.org/officeDocument/2006/relationships" xmlns:a="http://schemas.openxmlformats.org/drawingml/2006/main" r:embed="R5dd6d3982f3242a0"/>
          <a:stretch xmlns:a="http://schemas.openxmlformats.org/drawingml/2006/main"/>
        </p:blipFill>
        <p:spPr>
          <a:xfrm xmlns:a="http://schemas.openxmlformats.org/drawingml/2006/main">
            <a:off x="609585" y="1920288"/>
            <a:ext cx="7863643" cy="3809905"/>
          </a:xfrm>
          <a:prstGeom xmlns:a="http://schemas.openxmlformats.org/drawingml/2006/main" prst="rect">
            <a:avLst/>
          </a:prstGeom>
        </p:spPr>
      </p:pic>
    </p:spTree>
    <p:extLst>
      <p:ext uri="{BB962C8B-B14F-4D97-AF65-F5344CB8AC3E}">
        <p14:creationId xmlns:p14="http://schemas.microsoft.com/office/powerpoint/2010/main" val="1583469310"/>
      </p:ext>
    </p:extLst>
  </p:cSld>
</p:sld>
</file>

<file path=ppt/slides/slide34.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6867B71-EB5F-43A1-8D6D-F68D98945E6D}"/>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24ADE36F-2D68-4F41-A432-84C7EA4DE48E}"/>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FORWARD CHECKS AND SYSTEM</a:t>
            </a:r>
          </a:p>
        </p:txBody>
      </p:sp>
      <p:sp>
        <p:nvSpPr>
          <p:cNvPr id="3" name="">
            <a:extLst xmlns:a="http://schemas.openxmlformats.org/drawingml/2006/main">
              <a:ext uri="{FF2B5EF4-FFF2-40B4-BE49-F238E27FC236}">
                <a16:creationId xmlns:a16="http://schemas.microsoft.com/office/drawing/2014/main" id="{FBF11C07-1DEB-4640-A575-BB80A03969AA}"/>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34 / 46</a:t>
            </a:r>
          </a:p>
        </p:txBody>
      </p:sp>
      <p:sp>
        <p:nvSpPr>
          <p:cNvPr id="4" name="">
            <a:extLst xmlns:a="http://schemas.openxmlformats.org/drawingml/2006/main">
              <a:ext uri="{FF2B5EF4-FFF2-40B4-BE49-F238E27FC236}">
                <a16:creationId xmlns:a16="http://schemas.microsoft.com/office/drawing/2014/main" id="{52308A82-2A5A-4C54-9A08-B1C297B6D2D3}"/>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0654B5F-D882-4918-94DF-B506B14FCB47}"/>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Market predictors and the next decision</a:t>
            </a:r>
          </a:p>
        </p:txBody>
      </p:sp>
      <p:sp>
        <p:nvSpPr>
          <p:cNvPr id="6" name="">
            <a:extLst xmlns:a="http://schemas.openxmlformats.org/drawingml/2006/main">
              <a:ext uri="{FF2B5EF4-FFF2-40B4-BE49-F238E27FC236}">
                <a16:creationId xmlns:a16="http://schemas.microsoft.com/office/drawing/2014/main" id="{1F9A759E-66A8-4CE4-890B-C78A527879FD}"/>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No reduction in real-time forecast error from tone</a:t>
            </a:r>
          </a:p>
        </p:txBody>
      </p:sp>
      <p:sp>
        <p:nvSpPr>
          <p:cNvPr id="7" name="">
            <a:extLst xmlns:a="http://schemas.openxmlformats.org/drawingml/2006/main">
              <a:ext uri="{FF2B5EF4-FFF2-40B4-BE49-F238E27FC236}">
                <a16:creationId xmlns:a16="http://schemas.microsoft.com/office/drawing/2014/main" id="{3505DB9C-8111-4DEC-BABB-1982054F9A01}"/>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5B2C4CD-B8CA-4D47-B7D9-4F0EA8CF7E11}"/>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evaluate/forecast.py.</a:t>
            </a:r>
          </a:p>
        </p:txBody>
      </p:sp>
      <p:sp>
        <p:nvSpPr>
          <p:cNvPr id="9" name="">
            <a:extLst xmlns:a="http://schemas.openxmlformats.org/drawingml/2006/main">
              <a:ext uri="{FF2B5EF4-FFF2-40B4-BE49-F238E27FC236}">
                <a16:creationId xmlns:a16="http://schemas.microsoft.com/office/drawing/2014/main" id="{C460D56C-29A0-4D57-A229-4E0A2C66CC7F}"/>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1FE0070-7A59-4A15-8A89-AA4E2B9CA820}"/>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56CDC14-D6AB-4AFE-ACD8-D200FD1A96CE}"/>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D1BA051-BE17-4C4C-AE27-CFDD08ADDD5C}"/>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A64C2CE-7175-48AE-BD0A-4B4C99E75FF2}"/>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5A18DAD-AE19-4766-9CBB-30CA1ABA84F0}"/>
              </a:ext>
            </a:extLst>
          </p:cNvPr>
          <p:cNvSpPr>
            <a:spLocks xmlns:a="http://schemas.openxmlformats.org/drawingml/2006/main" noGrp="1"/>
          </p:cNvSpPr>
          <p:nvPr/>
        </p:nvSpPr>
        <p:spPr>
          <a:xfrm xmlns:a="http://schemas.openxmlformats.org/drawingml/2006/main">
            <a:off x="8838979" y="1965960"/>
            <a:ext cx="2743131"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4560" b="1">
                <a:solidFill>
                  <a:srgbClr val="151312"/>
                </a:solidFill>
                <a:latin typeface="Arial"/>
                <a:ea typeface="Arial"/>
                <a:cs typeface="Arial"/>
              </a:defRPr>
            </a:defPPr>
            <a:lvl1pPr algn="l">
              <a:defRPr sz="4560" b="1">
                <a:solidFill>
                  <a:srgbClr val="151312"/>
                </a:solidFill>
                <a:latin typeface="Arial"/>
                <a:ea typeface="Arial"/>
                <a:cs typeface="Arial"/>
              </a:defRPr>
            </a:lvl1pPr>
            <a:lvl2pPr algn="l">
              <a:defRPr sz="4560" b="1">
                <a:solidFill>
                  <a:srgbClr val="151312"/>
                </a:solidFill>
                <a:latin typeface="Arial"/>
                <a:ea typeface="Arial"/>
                <a:cs typeface="Arial"/>
              </a:defRPr>
            </a:lvl2pPr>
            <a:lvl3pPr algn="l">
              <a:defRPr sz="4560" b="1">
                <a:solidFill>
                  <a:srgbClr val="151312"/>
                </a:solidFill>
                <a:latin typeface="Arial"/>
                <a:ea typeface="Arial"/>
                <a:cs typeface="Arial"/>
              </a:defRPr>
            </a:lvl3pPr>
            <a:lvl4pPr algn="l">
              <a:defRPr sz="4560" b="1">
                <a:solidFill>
                  <a:srgbClr val="151312"/>
                </a:solidFill>
                <a:latin typeface="Arial"/>
                <a:ea typeface="Arial"/>
                <a:cs typeface="Arial"/>
              </a:defRPr>
            </a:lvl4pPr>
            <a:lvl5pPr algn="l">
              <a:defRPr sz="4560" b="1">
                <a:solidFill>
                  <a:srgbClr val="151312"/>
                </a:solidFill>
                <a:latin typeface="Arial"/>
                <a:ea typeface="Arial"/>
                <a:cs typeface="Arial"/>
              </a:defRPr>
            </a:lvl5pPr>
            <a:lvl6pPr algn="l">
              <a:defRPr sz="4560" b="1">
                <a:solidFill>
                  <a:srgbClr val="151312"/>
                </a:solidFill>
                <a:latin typeface="Arial"/>
                <a:ea typeface="Arial"/>
                <a:cs typeface="Arial"/>
              </a:defRPr>
            </a:lvl6pPr>
            <a:lvl7pPr algn="l">
              <a:defRPr sz="4560" b="1">
                <a:solidFill>
                  <a:srgbClr val="151312"/>
                </a:solidFill>
                <a:latin typeface="Arial"/>
                <a:ea typeface="Arial"/>
                <a:cs typeface="Arial"/>
              </a:defRPr>
            </a:lvl7pPr>
            <a:lvl8pPr algn="l">
              <a:defRPr sz="4560" b="1">
                <a:solidFill>
                  <a:srgbClr val="151312"/>
                </a:solidFill>
                <a:latin typeface="Arial"/>
                <a:ea typeface="Arial"/>
                <a:cs typeface="Arial"/>
              </a:defRPr>
            </a:lvl8pPr>
            <a:lvl9pPr algn="l">
              <a:defRPr sz="4560" b="1">
                <a:solidFill>
                  <a:srgbClr val="151312"/>
                </a:solidFill>
                <a:latin typeface="Arial"/>
                <a:ea typeface="Arial"/>
                <a:cs typeface="Arial"/>
              </a:defRPr>
            </a:lvl9pPr>
          </a:lstStyle>
          <a:p xmlns:a="http://schemas.openxmlformats.org/drawingml/2006/main">
            <a:pPr algn="l">
              <a:defRPr sz="4560" b="1">
                <a:solidFill>
                  <a:srgbClr val="151312"/>
                </a:solidFill>
                <a:latin typeface="Arial"/>
                <a:ea typeface="Arial"/>
                <a:cs typeface="Arial"/>
              </a:defRPr>
            </a:pPr>
            <a:r>
              <a:rPr sz="4560" b="1">
                <a:solidFill>
                  <a:srgbClr val="151312"/>
                </a:solidFill>
                <a:latin typeface="Arial"/>
                <a:ea typeface="Arial"/>
                <a:cs typeface="Arial"/>
              </a:rPr>
              <a:t>R² 0.63</a:t>
            </a:r>
          </a:p>
        </p:txBody>
      </p:sp>
      <p:sp>
        <p:nvSpPr>
          <p:cNvPr id="15" name="">
            <a:extLst xmlns:a="http://schemas.openxmlformats.org/drawingml/2006/main">
              <a:ext uri="{FF2B5EF4-FFF2-40B4-BE49-F238E27FC236}">
                <a16:creationId xmlns:a16="http://schemas.microsoft.com/office/drawing/2014/main" id="{00FE92FD-8654-4E50-9894-2C98F0D30277}"/>
              </a:ext>
            </a:extLst>
          </p:cNvPr>
          <p:cNvSpPr>
            <a:spLocks xmlns:a="http://schemas.openxmlformats.org/drawingml/2006/main" noGrp="1"/>
          </p:cNvSpPr>
          <p:nvPr/>
        </p:nvSpPr>
        <p:spPr>
          <a:xfrm xmlns:a="http://schemas.openxmlformats.org/drawingml/2006/main">
            <a:off x="8838979" y="2781300"/>
            <a:ext cx="2743131"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from the 3-month bill and 2-year over the policy rate alone, 142 decisions</a:t>
            </a:r>
          </a:p>
        </p:txBody>
      </p:sp>
      <p:sp>
        <p:nvSpPr>
          <p:cNvPr id="16" name="">
            <a:extLst xmlns:a="http://schemas.openxmlformats.org/drawingml/2006/main">
              <a:ext uri="{FF2B5EF4-FFF2-40B4-BE49-F238E27FC236}">
                <a16:creationId xmlns:a16="http://schemas.microsoft.com/office/drawing/2014/main" id="{4A35AB06-F84F-423A-84CD-ABBB3F074A06}"/>
              </a:ext>
            </a:extLst>
          </p:cNvPr>
          <p:cNvSpPr>
            <a:spLocks xmlns:a="http://schemas.openxmlformats.org/drawingml/2006/main" noGrp="1"/>
          </p:cNvSpPr>
          <p:nvPr/>
        </p:nvSpPr>
        <p:spPr>
          <a:xfrm xmlns:a="http://schemas.openxmlformats.org/drawingml/2006/main">
            <a:off x="8838979" y="364236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CED0F5B-33CE-4826-AD32-5629F9565619}"/>
              </a:ext>
            </a:extLst>
          </p:cNvPr>
          <p:cNvSpPr>
            <a:spLocks xmlns:a="http://schemas.openxmlformats.org/drawingml/2006/main" noGrp="1"/>
          </p:cNvSpPr>
          <p:nvPr/>
        </p:nvSpPr>
        <p:spPr>
          <a:xfrm xmlns:a="http://schemas.openxmlformats.org/drawingml/2006/main">
            <a:off x="8838979" y="371856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Decision coded −1, 0, +1; linear model, HC1 errors</a:t>
            </a:r>
          </a:p>
        </p:txBody>
      </p:sp>
      <p:sp>
        <p:nvSpPr>
          <p:cNvPr id="18" name="">
            <a:extLst xmlns:a="http://schemas.openxmlformats.org/drawingml/2006/main">
              <a:ext uri="{FF2B5EF4-FFF2-40B4-BE49-F238E27FC236}">
                <a16:creationId xmlns:a16="http://schemas.microsoft.com/office/drawing/2014/main" id="{2F0B40F4-B69D-4ADD-96B6-468F0F2F7324}"/>
              </a:ext>
            </a:extLst>
          </p:cNvPr>
          <p:cNvSpPr>
            <a:spLocks xmlns:a="http://schemas.openxmlformats.org/drawingml/2006/main" noGrp="1"/>
          </p:cNvSpPr>
          <p:nvPr/>
        </p:nvSpPr>
        <p:spPr>
          <a:xfrm xmlns:a="http://schemas.openxmlformats.org/drawingml/2006/main">
            <a:off x="8838979" y="448564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BAE7499-121F-4F88-A6DC-0756902EC35B}"/>
              </a:ext>
            </a:extLst>
          </p:cNvPr>
          <p:cNvSpPr>
            <a:spLocks xmlns:a="http://schemas.openxmlformats.org/drawingml/2006/main" noGrp="1"/>
          </p:cNvSpPr>
          <p:nvPr/>
        </p:nvSpPr>
        <p:spPr>
          <a:xfrm xmlns:a="http://schemas.openxmlformats.org/drawingml/2006/main">
            <a:off x="8838979" y="456184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Inputs per standard deviation; all strictly before the decision day</a:t>
            </a:r>
          </a:p>
        </p:txBody>
      </p:sp>
      <p:sp>
        <p:nvSpPr>
          <p:cNvPr id="20" name="">
            <a:extLst xmlns:a="http://schemas.openxmlformats.org/drawingml/2006/main">
              <a:ext uri="{FF2B5EF4-FFF2-40B4-BE49-F238E27FC236}">
                <a16:creationId xmlns:a16="http://schemas.microsoft.com/office/drawing/2014/main" id="{0C078C43-C387-46B7-8CF5-98F471171937}"/>
              </a:ext>
            </a:extLst>
          </p:cNvPr>
          <p:cNvSpPr>
            <a:spLocks xmlns:a="http://schemas.openxmlformats.org/drawingml/2006/main" noGrp="1"/>
          </p:cNvSpPr>
          <p:nvPr/>
        </p:nvSpPr>
        <p:spPr>
          <a:xfrm xmlns:a="http://schemas.openxmlformats.org/drawingml/2006/main">
            <a:off x="8838979" y="532892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FF15A29-F7B8-4B1D-A281-71DFFAED0334}"/>
              </a:ext>
            </a:extLst>
          </p:cNvPr>
          <p:cNvSpPr>
            <a:spLocks xmlns:a="http://schemas.openxmlformats.org/drawingml/2006/main" noGrp="1"/>
          </p:cNvSpPr>
          <p:nvPr/>
        </p:nvSpPr>
        <p:spPr>
          <a:xfrm xmlns:a="http://schemas.openxmlformats.org/drawingml/2006/main">
            <a:off x="8838979" y="540512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Expanding window: each of 79 forecasts uses only earlier decisions</a:t>
            </a:r>
          </a:p>
        </p:txBody>
      </p:sp>
      <p:graphicFrame>
        <p:nvGraphicFramePr>
          <p:cNvPr id="22" name="">
            <a:extLst xmlns:a="http://schemas.openxmlformats.org/drawingml/2006/main">
              <a:ext uri="{FF2B5EF4-FFF2-40B4-BE49-F238E27FC236}">
                <a16:creationId xmlns:a16="http://schemas.microsoft.com/office/drawing/2014/main" id="{4258113F-395F-44EA-868B-D36951CED30E}"/>
              </a:ext>
            </a:extLst>
          </p:cNvPr>
          <p:cNvGraphicFramePr/>
          <p:nvPr/>
        </p:nvGraphicFramePr>
        <p:xfrm>
          <a:off xmlns:a="http://schemas.openxmlformats.org/drawingml/2006/main" x="609585" y="1920240"/>
          <a:ext xmlns:a="http://schemas.openxmlformats.org/drawingml/2006/main" cx="7863643" cy="4251960"/>
        </p:xfrm>
        <a:graphic xmlns:a="http://schemas.openxmlformats.org/drawingml/2006/main">
          <a:graphicData uri="http://schemas.openxmlformats.org/drawingml/2006/table">
            <a:tbl>
              <a:tblPr/>
              <a:tblGrid>
                <a:gridCol w="4193943"/>
                <a:gridCol w="1223233"/>
                <a:gridCol w="1223233"/>
                <a:gridCol w="1223233"/>
              </a:tblGrid>
              <a:tr h="472440">
                <a:tc>
                  <a:txBody>
                    <a:bodyPr/>
                    <a:lstStyle/>
                    <a:p>
                      <a:pPr algn="l"/>
                      <a:r>
                        <a:rPr sz="1080" b="1">
                          <a:solidFill>
                            <a:srgbClr val="151312"/>
                          </a:solidFill>
                          <a:latin typeface="Arial"/>
                          <a:ea typeface="Arial"/>
                          <a:cs typeface="Arial"/>
                        </a:rPr>
                        <a:t>Input</a:t>
                      </a:r>
                    </a:p>
                  </a:txBody>
                  <a:tcPr marL="91440" marR="91440" marT="45720" marB="45720" anchor="ctr">
                    <a:lnL w="0">
                      <a:noFill/>
                    </a:lnL>
                    <a:lnR w="0">
                      <a:noFill/>
                    </a:lnR>
                    <a:lnT w="0">
                      <a:noFill/>
                    </a:lnT>
                    <a:lnB w="0">
                      <a:noFill/>
                    </a:lnB>
                    <a:solidFill>
                      <a:srgbClr val="F3F0E9"/>
                    </a:solidFill>
                  </a:tcPr>
                </a:tc>
                <a:tc>
                  <a:txBody>
                    <a:bodyPr/>
                    <a:lstStyle/>
                    <a:p>
                      <a:pPr algn="r"/>
                      <a:r>
                        <a:rPr sz="1080" b="1">
                          <a:solidFill>
                            <a:srgbClr val="151312"/>
                          </a:solidFill>
                          <a:latin typeface="Arial"/>
                          <a:ea typeface="Arial"/>
                          <a:cs typeface="Arial"/>
                        </a:rPr>
                        <a:t>Per SD</a:t>
                      </a:r>
                    </a:p>
                  </a:txBody>
                  <a:tcPr marL="91440" marR="91440" marT="45720" marB="45720" anchor="ctr">
                    <a:lnR w="0">
                      <a:noFill/>
                    </a:lnR>
                    <a:lnT w="0">
                      <a:noFill/>
                    </a:lnT>
                    <a:lnB w="0">
                      <a:noFill/>
                    </a:lnB>
                    <a:solidFill>
                      <a:srgbClr val="F3F0E9"/>
                    </a:solidFill>
                  </a:tcPr>
                </a:tc>
                <a:tc>
                  <a:txBody>
                    <a:bodyPr/>
                    <a:lstStyle/>
                    <a:p>
                      <a:pPr algn="r"/>
                      <a:r>
                        <a:rPr sz="1080" b="1">
                          <a:solidFill>
                            <a:srgbClr val="151312"/>
                          </a:solidFill>
                          <a:latin typeface="Arial"/>
                          <a:ea typeface="Arial"/>
                          <a:cs typeface="Arial"/>
                        </a:rPr>
                        <a:t>t</a:t>
                      </a:r>
                    </a:p>
                  </a:txBody>
                  <a:tcPr marL="91440" marR="91440" marT="45720" marB="45720" anchor="ctr">
                    <a:lnR w="0">
                      <a:noFill/>
                    </a:lnR>
                    <a:lnT w="0">
                      <a:noFill/>
                    </a:lnT>
                    <a:lnB w="0">
                      <a:noFill/>
                    </a:lnB>
                    <a:solidFill>
                      <a:srgbClr val="F3F0E9"/>
                    </a:solidFill>
                  </a:tcPr>
                </a:tc>
                <a:tc>
                  <a:txBody>
                    <a:bodyPr/>
                    <a:lstStyle/>
                    <a:p>
                      <a:pPr algn="r"/>
                      <a:r>
                        <a:rPr sz="1080" b="1">
                          <a:solidFill>
                            <a:srgbClr val="151312"/>
                          </a:solidFill>
                          <a:latin typeface="Arial"/>
                          <a:ea typeface="Arial"/>
                          <a:cs typeface="Arial"/>
                        </a:rPr>
                        <a:t>p</a:t>
                      </a:r>
                    </a:p>
                  </a:txBody>
                  <a:tcPr marL="91440" marR="91440" marT="45720" marB="45720" anchor="ctr">
                    <a:lnR w="0">
                      <a:noFill/>
                    </a:lnR>
                    <a:lnT w="0">
                      <a:noFill/>
                    </a:lnT>
                    <a:lnB w="0">
                      <a:noFill/>
                    </a:lnB>
                    <a:solidFill>
                      <a:srgbClr val="F3F0E9"/>
                    </a:solidFill>
                  </a:tcPr>
                </a:tc>
              </a:tr>
              <a:tr h="472440">
                <a:tc>
                  <a:txBody>
                    <a:bodyPr/>
                    <a:lstStyle/>
                    <a:p>
                      <a:pPr algn="l"/>
                      <a:r>
                        <a:rPr sz="1260" b="1">
                          <a:solidFill>
                            <a:srgbClr val="45413C"/>
                          </a:solidFill>
                          <a:latin typeface="Arial"/>
                          <a:ea typeface="Arial"/>
                          <a:cs typeface="Arial"/>
                        </a:rPr>
                        <a:t>3-month bill over the policy rate</a:t>
                      </a:r>
                    </a:p>
                  </a:txBody>
                  <a:tcPr marL="91440" marR="91440" marT="45720" marB="45720" anchor="ctr">
                    <a:lnL w="0">
                      <a:noFill/>
                    </a:lnL>
                    <a:lnR w="0">
                      <a:noFill/>
                    </a:lnR>
                    <a:lnB w="0">
                      <a:noFill/>
                    </a:lnB>
                    <a:solidFill>
                      <a:srgbClr val="FFFEFB"/>
                    </a:solidFill>
                  </a:tcPr>
                </a:tc>
                <a:tc>
                  <a:txBody>
                    <a:bodyPr/>
                    <a:lstStyle/>
                    <a:p>
                      <a:pPr algn="r"/>
                      <a:r>
                        <a:rPr sz="1260" b="0">
                          <a:solidFill>
                            <a:srgbClr val="45413C"/>
                          </a:solidFill>
                          <a:latin typeface="Arial"/>
                          <a:ea typeface="Arial"/>
                          <a:cs typeface="Arial"/>
                        </a:rPr>
                        <a:t>+0.303</a:t>
                      </a:r>
                    </a:p>
                  </a:txBody>
                  <a:tcPr marL="91440" marR="91440" marT="45720" marB="45720" anchor="ctr">
                    <a:lnR w="0">
                      <a:noFill/>
                    </a:lnR>
                    <a:lnB w="0">
                      <a:noFill/>
                    </a:lnB>
                    <a:solidFill>
                      <a:srgbClr val="FFFEFB"/>
                    </a:solidFill>
                  </a:tcPr>
                </a:tc>
                <a:tc>
                  <a:txBody>
                    <a:bodyPr/>
                    <a:lstStyle/>
                    <a:p>
                      <a:pPr algn="r"/>
                      <a:r>
                        <a:rPr sz="1260" b="0">
                          <a:solidFill>
                            <a:srgbClr val="45413C"/>
                          </a:solidFill>
                          <a:latin typeface="Arial"/>
                          <a:ea typeface="Arial"/>
                          <a:cs typeface="Arial"/>
                        </a:rPr>
                        <a:t>6.70</a:t>
                      </a:r>
                    </a:p>
                  </a:txBody>
                  <a:tcPr marL="91440" marR="91440" marT="45720" marB="45720" anchor="ctr">
                    <a:lnR w="0">
                      <a:noFill/>
                    </a:lnR>
                    <a:lnB w="0">
                      <a:noFill/>
                    </a:lnB>
                    <a:solidFill>
                      <a:srgbClr val="FFFEFB"/>
                    </a:solidFill>
                  </a:tcPr>
                </a:tc>
                <a:tc>
                  <a:txBody>
                    <a:bodyPr/>
                    <a:lstStyle/>
                    <a:p>
                      <a:pPr algn="r"/>
                      <a:r>
                        <a:rPr sz="1260" b="0">
                          <a:solidFill>
                            <a:srgbClr val="45413C"/>
                          </a:solidFill>
                          <a:latin typeface="Arial"/>
                          <a:ea typeface="Arial"/>
                          <a:cs typeface="Arial"/>
                        </a:rPr>
                        <a:t>&lt; 0.001</a:t>
                      </a:r>
                    </a:p>
                  </a:txBody>
                  <a:tcPr marL="91440" marR="91440" marT="45720" marB="45720" anchor="ctr">
                    <a:lnR w="0">
                      <a:noFill/>
                    </a:lnR>
                    <a:lnB w="0">
                      <a:noFill/>
                    </a:lnB>
                    <a:solidFill>
                      <a:srgbClr val="FFFEFB"/>
                    </a:solidFill>
                  </a:tcPr>
                </a:tc>
              </a:tr>
              <a:tr h="472440">
                <a:tc>
                  <a:txBody>
                    <a:bodyPr/>
                    <a:lstStyle/>
                    <a:p>
                      <a:pPr algn="l"/>
                      <a:r>
                        <a:rPr sz="1260" b="1">
                          <a:solidFill>
                            <a:srgbClr val="45413C"/>
                          </a:solidFill>
                          <a:latin typeface="Arial"/>
                          <a:ea typeface="Arial"/>
                          <a:cs typeface="Arial"/>
                        </a:rPr>
                        <a:t>2-year over the policy rate</a:t>
                      </a:r>
                    </a:p>
                  </a:txBody>
                  <a:tcPr marL="91440" marR="91440" marT="45720" marB="45720" anchor="ctr">
                    <a:lnL w="0">
                      <a:noFill/>
                    </a:lnL>
                    <a:lnR w="0">
                      <a:noFill/>
                    </a:lnR>
                    <a:lnB w="0">
                      <a:noFill/>
                    </a:lnB>
                    <a:solidFill>
                      <a:srgbClr val="FFFEFB"/>
                    </a:solidFill>
                  </a:tcPr>
                </a:tc>
                <a:tc>
                  <a:txBody>
                    <a:bodyPr/>
                    <a:lstStyle/>
                    <a:p>
                      <a:pPr algn="r"/>
                      <a:r>
                        <a:rPr sz="1260" b="0">
                          <a:solidFill>
                            <a:srgbClr val="45413C"/>
                          </a:solidFill>
                          <a:latin typeface="Arial"/>
                          <a:ea typeface="Arial"/>
                          <a:cs typeface="Arial"/>
                        </a:rPr>
                        <a:t>+0.077</a:t>
                      </a:r>
                    </a:p>
                  </a:txBody>
                  <a:tcPr marL="91440" marR="91440" marT="45720" marB="45720" anchor="ctr">
                    <a:lnR w="0">
                      <a:noFill/>
                    </a:lnR>
                    <a:lnB w="0">
                      <a:noFill/>
                    </a:lnB>
                    <a:solidFill>
                      <a:srgbClr val="FFFEFB"/>
                    </a:solidFill>
                  </a:tcPr>
                </a:tc>
                <a:tc>
                  <a:txBody>
                    <a:bodyPr/>
                    <a:lstStyle/>
                    <a:p>
                      <a:pPr algn="r"/>
                      <a:r>
                        <a:rPr sz="1260" b="0">
                          <a:solidFill>
                            <a:srgbClr val="45413C"/>
                          </a:solidFill>
                          <a:latin typeface="Arial"/>
                          <a:ea typeface="Arial"/>
                          <a:cs typeface="Arial"/>
                        </a:rPr>
                        <a:t>2.24</a:t>
                      </a:r>
                    </a:p>
                  </a:txBody>
                  <a:tcPr marL="91440" marR="91440" marT="45720" marB="45720" anchor="ctr">
                    <a:lnR w="0">
                      <a:noFill/>
                    </a:lnR>
                    <a:lnB w="0">
                      <a:noFill/>
                    </a:lnB>
                    <a:solidFill>
                      <a:srgbClr val="FFFEFB"/>
                    </a:solidFill>
                  </a:tcPr>
                </a:tc>
                <a:tc>
                  <a:txBody>
                    <a:bodyPr/>
                    <a:lstStyle/>
                    <a:p>
                      <a:pPr algn="r"/>
                      <a:r>
                        <a:rPr sz="1260" b="0">
                          <a:solidFill>
                            <a:srgbClr val="45413C"/>
                          </a:solidFill>
                          <a:latin typeface="Arial"/>
                          <a:ea typeface="Arial"/>
                          <a:cs typeface="Arial"/>
                        </a:rPr>
                        <a:t>0.025</a:t>
                      </a:r>
                    </a:p>
                  </a:txBody>
                  <a:tcPr marL="91440" marR="91440" marT="45720" marB="45720" anchor="ctr">
                    <a:lnR w="0">
                      <a:noFill/>
                    </a:lnR>
                    <a:lnB w="0">
                      <a:noFill/>
                    </a:lnB>
                    <a:solidFill>
                      <a:srgbClr val="FFFEFB"/>
                    </a:solidFill>
                  </a:tcPr>
                </a:tc>
              </a:tr>
              <a:tr h="472440">
                <a:tc>
                  <a:txBody>
                    <a:bodyPr/>
                    <a:lstStyle/>
                    <a:p>
                      <a:pPr algn="l"/>
                      <a:r>
                        <a:rPr sz="1260" b="1">
                          <a:solidFill>
                            <a:srgbClr val="45413C"/>
                          </a:solidFill>
                          <a:latin typeface="Arial"/>
                          <a:ea typeface="Arial"/>
                          <a:cs typeface="Arial"/>
                        </a:rPr>
                        <a:t>Tone of the latest minutes</a:t>
                      </a:r>
                    </a:p>
                  </a:txBody>
                  <a:tcPr marL="91440" marR="91440" marT="45720" marB="45720" anchor="ctr">
                    <a:lnL w="0">
                      <a:noFill/>
                    </a:lnL>
                    <a:lnR w="0">
                      <a:noFill/>
                    </a:lnR>
                    <a:lnB w="0">
                      <a:noFill/>
                    </a:lnB>
                    <a:solidFill>
                      <a:srgbClr val="FFFEFB"/>
                    </a:solidFill>
                  </a:tcPr>
                </a:tc>
                <a:tc>
                  <a:txBody>
                    <a:bodyPr/>
                    <a:lstStyle/>
                    <a:p>
                      <a:pPr algn="r"/>
                      <a:r>
                        <a:rPr sz="1260" b="0">
                          <a:solidFill>
                            <a:srgbClr val="45413C"/>
                          </a:solidFill>
                          <a:latin typeface="Arial"/>
                          <a:ea typeface="Arial"/>
                          <a:cs typeface="Arial"/>
                        </a:rPr>
                        <a:t>+0.061</a:t>
                      </a:r>
                    </a:p>
                  </a:txBody>
                  <a:tcPr marL="91440" marR="91440" marT="45720" marB="45720" anchor="ctr">
                    <a:lnR w="0">
                      <a:noFill/>
                    </a:lnR>
                    <a:lnB w="0">
                      <a:noFill/>
                    </a:lnB>
                    <a:solidFill>
                      <a:srgbClr val="FFFEFB"/>
                    </a:solidFill>
                  </a:tcPr>
                </a:tc>
                <a:tc>
                  <a:txBody>
                    <a:bodyPr/>
                    <a:lstStyle/>
                    <a:p>
                      <a:pPr algn="r"/>
                      <a:r>
                        <a:rPr sz="1260" b="0">
                          <a:solidFill>
                            <a:srgbClr val="45413C"/>
                          </a:solidFill>
                          <a:latin typeface="Arial"/>
                          <a:ea typeface="Arial"/>
                          <a:cs typeface="Arial"/>
                        </a:rPr>
                        <a:t>1.19</a:t>
                      </a:r>
                    </a:p>
                  </a:txBody>
                  <a:tcPr marL="91440" marR="91440" marT="45720" marB="45720" anchor="ctr">
                    <a:lnR w="0">
                      <a:noFill/>
                    </a:lnR>
                    <a:lnB w="0">
                      <a:noFill/>
                    </a:lnB>
                    <a:solidFill>
                      <a:srgbClr val="FFFEFB"/>
                    </a:solidFill>
                  </a:tcPr>
                </a:tc>
                <a:tc>
                  <a:txBody>
                    <a:bodyPr/>
                    <a:lstStyle/>
                    <a:p>
                      <a:pPr algn="r"/>
                      <a:r>
                        <a:rPr sz="1260" b="0">
                          <a:solidFill>
                            <a:srgbClr val="45413C"/>
                          </a:solidFill>
                          <a:latin typeface="Arial"/>
                          <a:ea typeface="Arial"/>
                          <a:cs typeface="Arial"/>
                        </a:rPr>
                        <a:t>0.234</a:t>
                      </a:r>
                    </a:p>
                  </a:txBody>
                  <a:tcPr marL="91440" marR="91440" marT="45720" marB="45720" anchor="ctr">
                    <a:lnR w="0">
                      <a:noFill/>
                    </a:lnR>
                    <a:lnB w="0">
                      <a:noFill/>
                    </a:lnB>
                    <a:solidFill>
                      <a:srgbClr val="FFFEFB"/>
                    </a:solidFill>
                  </a:tcPr>
                </a:tc>
              </a:tr>
              <a:tr h="472440">
                <a:tc>
                  <a:txBody>
                    <a:bodyPr/>
                    <a:lstStyle/>
                    <a:p>
                      <a:pPr algn="l"/>
                      <a:r>
                        <a:rPr sz="1260" b="1">
                          <a:solidFill>
                            <a:srgbClr val="45413C"/>
                          </a:solidFill>
                          <a:latin typeface="Arial"/>
                          <a:ea typeface="Arial"/>
                          <a:cs typeface="Arial"/>
                        </a:rPr>
                        <a:t>Tone of speeches, last 60 days</a:t>
                      </a:r>
                    </a:p>
                  </a:txBody>
                  <a:tcPr marL="91440" marR="91440" marT="45720" marB="45720" anchor="ctr">
                    <a:lnL w="0">
                      <a:noFill/>
                    </a:lnL>
                    <a:lnR w="0">
                      <a:noFill/>
                    </a:lnR>
                    <a:lnB w="0">
                      <a:noFill/>
                    </a:lnB>
                    <a:solidFill>
                      <a:srgbClr val="FFFEFB"/>
                    </a:solidFill>
                  </a:tcPr>
                </a:tc>
                <a:tc>
                  <a:txBody>
                    <a:bodyPr/>
                    <a:lstStyle/>
                    <a:p>
                      <a:pPr algn="r"/>
                      <a:r>
                        <a:rPr sz="1260" b="0">
                          <a:solidFill>
                            <a:srgbClr val="45413C"/>
                          </a:solidFill>
                          <a:latin typeface="Arial"/>
                          <a:ea typeface="Arial"/>
                          <a:cs typeface="Arial"/>
                        </a:rPr>
                        <a:t>−0.078</a:t>
                      </a:r>
                    </a:p>
                  </a:txBody>
                  <a:tcPr marL="91440" marR="91440" marT="45720" marB="45720" anchor="ctr">
                    <a:lnR w="0">
                      <a:noFill/>
                    </a:lnR>
                    <a:lnB w="0">
                      <a:noFill/>
                    </a:lnB>
                    <a:solidFill>
                      <a:srgbClr val="FFFEFB"/>
                    </a:solidFill>
                  </a:tcPr>
                </a:tc>
                <a:tc>
                  <a:txBody>
                    <a:bodyPr/>
                    <a:lstStyle/>
                    <a:p>
                      <a:pPr algn="r"/>
                      <a:r>
                        <a:rPr sz="1260" b="0">
                          <a:solidFill>
                            <a:srgbClr val="45413C"/>
                          </a:solidFill>
                          <a:latin typeface="Arial"/>
                          <a:ea typeface="Arial"/>
                          <a:cs typeface="Arial"/>
                        </a:rPr>
                        <a:t>−1.41</a:t>
                      </a:r>
                    </a:p>
                  </a:txBody>
                  <a:tcPr marL="91440" marR="91440" marT="45720" marB="45720" anchor="ctr">
                    <a:lnR w="0">
                      <a:noFill/>
                    </a:lnR>
                    <a:lnB w="0">
                      <a:noFill/>
                    </a:lnB>
                    <a:solidFill>
                      <a:srgbClr val="FFFEFB"/>
                    </a:solidFill>
                  </a:tcPr>
                </a:tc>
                <a:tc>
                  <a:txBody>
                    <a:bodyPr/>
                    <a:lstStyle/>
                    <a:p>
                      <a:pPr algn="r"/>
                      <a:r>
                        <a:rPr sz="1260" b="0">
                          <a:solidFill>
                            <a:srgbClr val="45413C"/>
                          </a:solidFill>
                          <a:latin typeface="Arial"/>
                          <a:ea typeface="Arial"/>
                          <a:cs typeface="Arial"/>
                        </a:rPr>
                        <a:t>0.160</a:t>
                      </a:r>
                    </a:p>
                  </a:txBody>
                  <a:tcPr marL="91440" marR="91440" marT="45720" marB="45720" anchor="ctr">
                    <a:lnR w="0">
                      <a:noFill/>
                    </a:lnR>
                    <a:lnB w="0">
                      <a:noFill/>
                    </a:lnB>
                    <a:solidFill>
                      <a:srgbClr val="FFFEFB"/>
                    </a:solidFill>
                  </a:tcPr>
                </a:tc>
              </a:tr>
              <a:tr h="472440">
                <a:tc>
                  <a:txBody>
                    <a:bodyPr/>
                    <a:lstStyle/>
                    <a:p>
                      <a:pPr algn="l"/>
                      <a:r>
                        <a:rPr sz="1260" b="1">
                          <a:solidFill>
                            <a:srgbClr val="45413C"/>
                          </a:solidFill>
                          <a:latin typeface="Arial"/>
                          <a:ea typeface="Arial"/>
                          <a:cs typeface="Arial"/>
                        </a:rPr>
                        <a:t>Tone of the previous statement</a:t>
                      </a:r>
                    </a:p>
                  </a:txBody>
                  <a:tcPr marL="91440" marR="91440" marT="45720" marB="45720" anchor="ctr">
                    <a:lnL w="0">
                      <a:noFill/>
                    </a:lnL>
                    <a:lnR w="0">
                      <a:noFill/>
                    </a:lnR>
                    <a:lnB w="0">
                      <a:noFill/>
                    </a:lnB>
                    <a:solidFill>
                      <a:srgbClr val="FFFEFB"/>
                    </a:solidFill>
                  </a:tcPr>
                </a:tc>
                <a:tc>
                  <a:txBody>
                    <a:bodyPr/>
                    <a:lstStyle/>
                    <a:p>
                      <a:pPr algn="r"/>
                      <a:r>
                        <a:rPr sz="1260" b="0">
                          <a:solidFill>
                            <a:srgbClr val="45413C"/>
                          </a:solidFill>
                          <a:latin typeface="Arial"/>
                          <a:ea typeface="Arial"/>
                          <a:cs typeface="Arial"/>
                        </a:rPr>
                        <a:t>+0.063</a:t>
                      </a:r>
                    </a:p>
                  </a:txBody>
                  <a:tcPr marL="91440" marR="91440" marT="45720" marB="45720" anchor="ctr">
                    <a:lnR w="0">
                      <a:noFill/>
                    </a:lnR>
                    <a:lnB w="0">
                      <a:noFill/>
                    </a:lnB>
                    <a:solidFill>
                      <a:srgbClr val="FFFEFB"/>
                    </a:solidFill>
                  </a:tcPr>
                </a:tc>
                <a:tc>
                  <a:txBody>
                    <a:bodyPr/>
                    <a:lstStyle/>
                    <a:p>
                      <a:pPr algn="r"/>
                      <a:r>
                        <a:rPr sz="1260" b="0">
                          <a:solidFill>
                            <a:srgbClr val="45413C"/>
                          </a:solidFill>
                          <a:latin typeface="Arial"/>
                          <a:ea typeface="Arial"/>
                          <a:cs typeface="Arial"/>
                        </a:rPr>
                        <a:t>1.35</a:t>
                      </a:r>
                    </a:p>
                  </a:txBody>
                  <a:tcPr marL="91440" marR="91440" marT="45720" marB="45720" anchor="ctr">
                    <a:lnR w="0">
                      <a:noFill/>
                    </a:lnR>
                    <a:lnB w="0">
                      <a:noFill/>
                    </a:lnB>
                    <a:solidFill>
                      <a:srgbClr val="FFFEFB"/>
                    </a:solidFill>
                  </a:tcPr>
                </a:tc>
                <a:tc>
                  <a:txBody>
                    <a:bodyPr/>
                    <a:lstStyle/>
                    <a:p>
                      <a:pPr algn="r"/>
                      <a:r>
                        <a:rPr sz="1260" b="0">
                          <a:solidFill>
                            <a:srgbClr val="45413C"/>
                          </a:solidFill>
                          <a:latin typeface="Arial"/>
                          <a:ea typeface="Arial"/>
                          <a:cs typeface="Arial"/>
                        </a:rPr>
                        <a:t>0.176</a:t>
                      </a:r>
                    </a:p>
                  </a:txBody>
                  <a:tcPr marL="91440" marR="91440" marT="45720" marB="45720" anchor="ctr">
                    <a:lnR w="0">
                      <a:noFill/>
                    </a:lnR>
                    <a:lnB w="0">
                      <a:noFill/>
                    </a:lnB>
                    <a:solidFill>
                      <a:srgbClr val="FFFEFB"/>
                    </a:solidFill>
                  </a:tcPr>
                </a:tc>
              </a:tr>
              <a:tr h="472440">
                <a:tc>
                  <a:txBody>
                    <a:bodyPr/>
                    <a:lstStyle/>
                    <a:p>
                      <a:pPr algn="l"/>
                      <a:r>
                        <a:rPr sz="1260" b="1">
                          <a:solidFill>
                            <a:srgbClr val="45413C"/>
                          </a:solidFill>
                          <a:latin typeface="Arial"/>
                          <a:ea typeface="Arial"/>
                          <a:cs typeface="Arial"/>
                        </a:rPr>
                        <a:t>R², market alone → with tone</a:t>
                      </a:r>
                    </a:p>
                  </a:txBody>
                  <a:tcPr marL="91440" marR="91440" marT="45720" marB="45720" anchor="ctr">
                    <a:lnL w="0">
                      <a:noFill/>
                    </a:lnL>
                    <a:lnR w="0">
                      <a:noFill/>
                    </a:lnR>
                    <a:lnB w="0">
                      <a:noFill/>
                    </a:lnB>
                    <a:solidFill>
                      <a:srgbClr val="FFFEFB"/>
                    </a:solidFill>
                  </a:tcPr>
                </a:tc>
                <a:tc>
                  <a:txBody>
                    <a:bodyPr/>
                    <a:lstStyle/>
                    <a:p>
                      <a:pPr algn="r"/>
                      <a:r>
                        <a:rPr sz="1260" b="0">
                          <a:solidFill>
                            <a:srgbClr val="45413C"/>
                          </a:solidFill>
                          <a:latin typeface="Arial"/>
                          <a:ea typeface="Arial"/>
                          <a:cs typeface="Arial"/>
                        </a:rPr>
                        <a:t>0.625 → 0.644</a:t>
                      </a:r>
                    </a:p>
                  </a:txBody>
                  <a:tcPr marL="91440" marR="91440" marT="45720" marB="45720" anchor="ctr">
                    <a:lnR w="0">
                      <a:noFill/>
                    </a:lnR>
                    <a:lnB w="0">
                      <a:noFill/>
                    </a:lnB>
                    <a:solidFill>
                      <a:srgbClr val="FFFEFB"/>
                    </a:solidFill>
                  </a:tcPr>
                </a:tc>
                <a:tc>
                  <a:txBody>
                    <a:bodyPr/>
                    <a:lstStyle/>
                    <a:p>
                      <a:r>
                        <a:rPr sz="1260" b="0">
                          <a:solidFill>
                            <a:srgbClr val="45413C"/>
                          </a:solidFill>
                          <a:latin typeface="Arial"/>
                          <a:ea typeface="Arial"/>
                          <a:cs typeface="Arial"/>
                        </a:rPr>
                        <a:t/>
                      </a:r>
                    </a:p>
                  </a:txBody>
                  <a:tcPr marL="91440" marR="91440" marT="45720" marB="45720" anchor="ctr">
                    <a:lnR w="0">
                      <a:noFill/>
                    </a:lnR>
                    <a:lnB w="0">
                      <a:noFill/>
                    </a:lnB>
                    <a:solidFill>
                      <a:srgbClr val="FFFEFB"/>
                    </a:solidFill>
                  </a:tcPr>
                </a:tc>
                <a:tc>
                  <a:txBody>
                    <a:bodyPr/>
                    <a:lstStyle/>
                    <a:p>
                      <a:r>
                        <a:rPr sz="1260" b="0">
                          <a:solidFill>
                            <a:srgbClr val="45413C"/>
                          </a:solidFill>
                          <a:latin typeface="Arial"/>
                          <a:ea typeface="Arial"/>
                          <a:cs typeface="Arial"/>
                        </a:rPr>
                        <a:t/>
                      </a:r>
                    </a:p>
                  </a:txBody>
                  <a:tcPr marL="91440" marR="91440" marT="45720" marB="45720" anchor="ctr">
                    <a:lnR w="0">
                      <a:noFill/>
                    </a:lnR>
                    <a:lnB w="0">
                      <a:noFill/>
                    </a:lnB>
                    <a:solidFill>
                      <a:srgbClr val="FFFEFB"/>
                    </a:solidFill>
                  </a:tcPr>
                </a:tc>
              </a:tr>
              <a:tr h="472440">
                <a:tc>
                  <a:txBody>
                    <a:bodyPr/>
                    <a:lstStyle/>
                    <a:p>
                      <a:pPr algn="l"/>
                      <a:r>
                        <a:rPr sz="1260" b="1">
                          <a:solidFill>
                            <a:srgbClr val="45413C"/>
                          </a:solidFill>
                          <a:latin typeface="Arial"/>
                          <a:ea typeface="Arial"/>
                          <a:cs typeface="Arial"/>
                        </a:rPr>
                        <a:t>F-test of the three tone terms</a:t>
                      </a:r>
                    </a:p>
                  </a:txBody>
                  <a:tcPr marL="91440" marR="91440" marT="45720" marB="45720" anchor="ctr">
                    <a:lnL w="0">
                      <a:noFill/>
                    </a:lnL>
                    <a:lnR w="0">
                      <a:noFill/>
                    </a:lnR>
                    <a:lnB w="0">
                      <a:noFill/>
                    </a:lnB>
                    <a:solidFill>
                      <a:srgbClr val="FFFEFB"/>
                    </a:solidFill>
                  </a:tcPr>
                </a:tc>
                <a:tc>
                  <a:txBody>
                    <a:bodyPr/>
                    <a:lstStyle/>
                    <a:p>
                      <a:pPr algn="r"/>
                      <a:r>
                        <a:rPr sz="1260" b="0">
                          <a:solidFill>
                            <a:srgbClr val="45413C"/>
                          </a:solidFill>
                          <a:latin typeface="Arial"/>
                          <a:ea typeface="Arial"/>
                          <a:cs typeface="Arial"/>
                        </a:rPr>
                        <a:t>F = 2.82</a:t>
                      </a:r>
                    </a:p>
                  </a:txBody>
                  <a:tcPr marL="91440" marR="91440" marT="45720" marB="45720" anchor="ctr">
                    <a:lnR w="0">
                      <a:noFill/>
                    </a:lnR>
                    <a:lnB w="0">
                      <a:noFill/>
                    </a:lnB>
                    <a:solidFill>
                      <a:srgbClr val="FFFEFB"/>
                    </a:solidFill>
                  </a:tcPr>
                </a:tc>
                <a:tc>
                  <a:txBody>
                    <a:bodyPr/>
                    <a:lstStyle/>
                    <a:p>
                      <a:r>
                        <a:rPr sz="1260" b="0">
                          <a:solidFill>
                            <a:srgbClr val="45413C"/>
                          </a:solidFill>
                          <a:latin typeface="Arial"/>
                          <a:ea typeface="Arial"/>
                          <a:cs typeface="Arial"/>
                        </a:rPr>
                        <a:t/>
                      </a:r>
                    </a:p>
                  </a:txBody>
                  <a:tcPr marL="91440" marR="91440" marT="45720" marB="45720" anchor="ctr">
                    <a:lnR w="0">
                      <a:noFill/>
                    </a:lnR>
                    <a:lnB w="0">
                      <a:noFill/>
                    </a:lnB>
                    <a:solidFill>
                      <a:srgbClr val="FFFEFB"/>
                    </a:solidFill>
                  </a:tcPr>
                </a:tc>
                <a:tc>
                  <a:txBody>
                    <a:bodyPr/>
                    <a:lstStyle/>
                    <a:p>
                      <a:pPr algn="r"/>
                      <a:r>
                        <a:rPr sz="1260" b="0">
                          <a:solidFill>
                            <a:srgbClr val="45413C"/>
                          </a:solidFill>
                          <a:latin typeface="Arial"/>
                          <a:ea typeface="Arial"/>
                          <a:cs typeface="Arial"/>
                        </a:rPr>
                        <a:t>0.041</a:t>
                      </a:r>
                    </a:p>
                  </a:txBody>
                  <a:tcPr marL="91440" marR="91440" marT="45720" marB="45720" anchor="ctr">
                    <a:lnR w="0">
                      <a:noFill/>
                    </a:lnR>
                    <a:lnB w="0">
                      <a:noFill/>
                    </a:lnB>
                    <a:solidFill>
                      <a:srgbClr val="FFFEFB"/>
                    </a:solidFill>
                  </a:tcPr>
                </a:tc>
              </a:tr>
              <a:tr h="472440">
                <a:tc>
                  <a:txBody>
                    <a:bodyPr/>
                    <a:lstStyle/>
                    <a:p>
                      <a:pPr algn="l"/>
                      <a:r>
                        <a:rPr sz="1260" b="1">
                          <a:solidFill>
                            <a:srgbClr val="45413C"/>
                          </a:solidFill>
                          <a:latin typeface="Arial"/>
                          <a:ea typeface="Arial"/>
                          <a:cs typeface="Arial"/>
                        </a:rPr>
                        <a:t>Real-time MSE from 2017: tone + market vs market</a:t>
                      </a:r>
                    </a:p>
                  </a:txBody>
                  <a:tcPr marL="91440" marR="91440" marT="45720" marB="45720" anchor="ctr">
                    <a:lnL w="0">
                      <a:noFill/>
                    </a:lnL>
                    <a:lnR w="0">
                      <a:noFill/>
                    </a:lnR>
                    <a:lnB w="0">
                      <a:noFill/>
                    </a:lnB>
                    <a:solidFill>
                      <a:srgbClr val="FFFEFB"/>
                    </a:solidFill>
                  </a:tcPr>
                </a:tc>
                <a:tc>
                  <a:txBody>
                    <a:bodyPr/>
                    <a:lstStyle/>
                    <a:p>
                      <a:pPr algn="r"/>
                      <a:r>
                        <a:rPr sz="1260" b="0">
                          <a:solidFill>
                            <a:srgbClr val="45413C"/>
                          </a:solidFill>
                          <a:latin typeface="Arial"/>
                          <a:ea typeface="Arial"/>
                          <a:cs typeface="Arial"/>
                        </a:rPr>
                        <a:t>0.153 vs 0.149</a:t>
                      </a:r>
                    </a:p>
                  </a:txBody>
                  <a:tcPr marL="91440" marR="91440" marT="45720" marB="45720" anchor="ctr">
                    <a:lnR w="0">
                      <a:noFill/>
                    </a:lnR>
                    <a:lnB w="0">
                      <a:noFill/>
                    </a:lnB>
                    <a:solidFill>
                      <a:srgbClr val="FFFEFB"/>
                    </a:solidFill>
                  </a:tcPr>
                </a:tc>
                <a:tc>
                  <a:txBody>
                    <a:bodyPr/>
                    <a:lstStyle/>
                    <a:p>
                      <a:r>
                        <a:rPr sz="1260" b="0">
                          <a:solidFill>
                            <a:srgbClr val="45413C"/>
                          </a:solidFill>
                          <a:latin typeface="Arial"/>
                          <a:ea typeface="Arial"/>
                          <a:cs typeface="Arial"/>
                        </a:rPr>
                        <a:t/>
                      </a:r>
                    </a:p>
                  </a:txBody>
                  <a:tcPr marL="91440" marR="91440" marT="45720" marB="45720" anchor="ctr">
                    <a:lnR w="0">
                      <a:noFill/>
                    </a:lnR>
                    <a:lnB w="0">
                      <a:noFill/>
                    </a:lnB>
                    <a:solidFill>
                      <a:srgbClr val="FFFEFB"/>
                    </a:solidFill>
                  </a:tcPr>
                </a:tc>
                <a:tc>
                  <a:txBody>
                    <a:bodyPr/>
                    <a:lstStyle/>
                    <a:p>
                      <a:pPr algn="r"/>
                      <a:r>
                        <a:rPr sz="1260" b="0">
                          <a:solidFill>
                            <a:srgbClr val="45413C"/>
                          </a:solidFill>
                          <a:latin typeface="Arial"/>
                          <a:ea typeface="Arial"/>
                          <a:cs typeface="Arial"/>
                        </a:rPr>
                        <a:t>0.68</a:t>
                      </a:r>
                    </a:p>
                  </a:txBody>
                  <a:tcPr marL="91440" marR="91440" marT="45720" marB="45720" anchor="ctr">
                    <a:lnR w="0">
                      <a:noFill/>
                    </a:lnR>
                    <a:lnB w="0">
                      <a:noFill/>
                    </a:lnB>
                    <a:solidFill>
                      <a:srgbClr val="FFFEFB"/>
                    </a:solidFill>
                  </a:tcPr>
                </a:tc>
              </a:tr>
            </a:tbl>
          </a:graphicData>
        </a:graphic>
      </p:graphicFrame>
      <p:sp>
        <p:nvSpPr>
          <p:cNvPr id="23" name="">
            <a:extLst xmlns:a="http://schemas.openxmlformats.org/drawingml/2006/main">
              <a:ext uri="{FF2B5EF4-FFF2-40B4-BE49-F238E27FC236}">
                <a16:creationId xmlns:a16="http://schemas.microsoft.com/office/drawing/2014/main" id="{5B109B51-149A-48E3-86D6-43A579D77A1E}"/>
              </a:ext>
            </a:extLst>
          </p:cNvPr>
          <p:cNvSpPr>
            <a:spLocks xmlns:a="http://schemas.openxmlformats.org/drawingml/2006/main" noGrp="1"/>
          </p:cNvSpPr>
          <p:nvPr/>
        </p:nvSpPr>
        <p:spPr>
          <a:xfrm xmlns:a="http://schemas.openxmlformats.org/drawingml/2006/main">
            <a:off x="609585" y="2392680"/>
            <a:ext cx="7863643"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EF90326-7E1B-420F-8522-8A37C4099416}"/>
              </a:ext>
            </a:extLst>
          </p:cNvPr>
          <p:cNvSpPr>
            <a:spLocks xmlns:a="http://schemas.openxmlformats.org/drawingml/2006/main" noGrp="1"/>
          </p:cNvSpPr>
          <p:nvPr/>
        </p:nvSpPr>
        <p:spPr>
          <a:xfrm xmlns:a="http://schemas.openxmlformats.org/drawingml/2006/main">
            <a:off x="609585" y="286512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057817D-AC2E-4C95-A532-BD63D6CFEF93}"/>
              </a:ext>
            </a:extLst>
          </p:cNvPr>
          <p:cNvSpPr>
            <a:spLocks xmlns:a="http://schemas.openxmlformats.org/drawingml/2006/main" noGrp="1"/>
          </p:cNvSpPr>
          <p:nvPr/>
        </p:nvSpPr>
        <p:spPr>
          <a:xfrm xmlns:a="http://schemas.openxmlformats.org/drawingml/2006/main">
            <a:off x="609585" y="333756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196941B-6DA5-40BC-97FD-489FC0CA9506}"/>
              </a:ext>
            </a:extLst>
          </p:cNvPr>
          <p:cNvSpPr>
            <a:spLocks xmlns:a="http://schemas.openxmlformats.org/drawingml/2006/main" noGrp="1"/>
          </p:cNvSpPr>
          <p:nvPr/>
        </p:nvSpPr>
        <p:spPr>
          <a:xfrm xmlns:a="http://schemas.openxmlformats.org/drawingml/2006/main">
            <a:off x="609585" y="381000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B003C16-BD7B-4AD5-8B01-0085731C72B4}"/>
              </a:ext>
            </a:extLst>
          </p:cNvPr>
          <p:cNvSpPr>
            <a:spLocks xmlns:a="http://schemas.openxmlformats.org/drawingml/2006/main" noGrp="1"/>
          </p:cNvSpPr>
          <p:nvPr/>
        </p:nvSpPr>
        <p:spPr>
          <a:xfrm xmlns:a="http://schemas.openxmlformats.org/drawingml/2006/main">
            <a:off x="609585" y="428244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DC28F59-E672-4CEE-8015-242881E9F3D0}"/>
              </a:ext>
            </a:extLst>
          </p:cNvPr>
          <p:cNvSpPr>
            <a:spLocks xmlns:a="http://schemas.openxmlformats.org/drawingml/2006/main" noGrp="1"/>
          </p:cNvSpPr>
          <p:nvPr/>
        </p:nvSpPr>
        <p:spPr>
          <a:xfrm xmlns:a="http://schemas.openxmlformats.org/drawingml/2006/main">
            <a:off x="609585" y="475488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689BCE6-D19C-4B0D-8A5E-937C27DCB63F}"/>
              </a:ext>
            </a:extLst>
          </p:cNvPr>
          <p:cNvSpPr>
            <a:spLocks xmlns:a="http://schemas.openxmlformats.org/drawingml/2006/main" noGrp="1"/>
          </p:cNvSpPr>
          <p:nvPr/>
        </p:nvSpPr>
        <p:spPr>
          <a:xfrm xmlns:a="http://schemas.openxmlformats.org/drawingml/2006/main">
            <a:off x="609585" y="522732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5E9A77B5-2BF0-44B8-9985-8E5F30CFDE6E}"/>
              </a:ext>
            </a:extLst>
          </p:cNvPr>
          <p:cNvSpPr>
            <a:spLocks xmlns:a="http://schemas.openxmlformats.org/drawingml/2006/main" noGrp="1"/>
          </p:cNvSpPr>
          <p:nvPr/>
        </p:nvSpPr>
        <p:spPr>
          <a:xfrm xmlns:a="http://schemas.openxmlformats.org/drawingml/2006/main">
            <a:off x="609585" y="569976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BCB413F0-A39D-4724-8AB1-81C8D4313D01}"/>
              </a:ext>
            </a:extLst>
          </p:cNvPr>
          <p:cNvSpPr>
            <a:spLocks xmlns:a="http://schemas.openxmlformats.org/drawingml/2006/main" noGrp="1"/>
          </p:cNvSpPr>
          <p:nvPr/>
        </p:nvSpPr>
        <p:spPr>
          <a:xfrm xmlns:a="http://schemas.openxmlformats.org/drawingml/2006/main">
            <a:off x="609585" y="617220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Tree>
    <p:extLst>
      <p:ext uri="{BB962C8B-B14F-4D97-AF65-F5344CB8AC3E}">
        <p14:creationId xmlns:p14="http://schemas.microsoft.com/office/powerpoint/2010/main" val="1246387999"/>
      </p:ext>
    </p:extLst>
  </p:cSld>
</p:sld>
</file>

<file path=ppt/slides/slide35.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9B29972-9B41-43AE-9524-CD17B56AA2C6}"/>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5A55B317-A961-41D3-9E49-9666DDF409B6}"/>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FORWARD CHECKS AND SYSTEM</a:t>
            </a:r>
          </a:p>
        </p:txBody>
      </p:sp>
      <p:sp>
        <p:nvSpPr>
          <p:cNvPr id="3" name="">
            <a:extLst xmlns:a="http://schemas.openxmlformats.org/drawingml/2006/main">
              <a:ext uri="{FF2B5EF4-FFF2-40B4-BE49-F238E27FC236}">
                <a16:creationId xmlns:a16="http://schemas.microsoft.com/office/drawing/2014/main" id="{2BABD56B-7F6B-40D4-B4D2-FBF6A21BA4B1}"/>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35 / 46</a:t>
            </a:r>
          </a:p>
        </p:txBody>
      </p:sp>
      <p:sp>
        <p:nvSpPr>
          <p:cNvPr id="4" name="">
            <a:extLst xmlns:a="http://schemas.openxmlformats.org/drawingml/2006/main">
              <a:ext uri="{FF2B5EF4-FFF2-40B4-BE49-F238E27FC236}">
                <a16:creationId xmlns:a16="http://schemas.microsoft.com/office/drawing/2014/main" id="{F20FEB34-A921-4D89-8A21-1098E4B0B91E}"/>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C12C7FC-7881-4B8C-A192-61502BD411A4}"/>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After the freeze, nothing is re-fit</a:t>
            </a:r>
          </a:p>
        </p:txBody>
      </p:sp>
      <p:sp>
        <p:nvSpPr>
          <p:cNvPr id="6" name="">
            <a:extLst xmlns:a="http://schemas.openxmlformats.org/drawingml/2006/main">
              <a:ext uri="{FF2B5EF4-FFF2-40B4-BE49-F238E27FC236}">
                <a16:creationId xmlns:a16="http://schemas.microsoft.com/office/drawing/2014/main" id="{FA6E86AD-3530-440B-97B5-D9CA6240752D}"/>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The same rules run on new data only, as it is collected</a:t>
            </a:r>
          </a:p>
        </p:txBody>
      </p:sp>
      <p:sp>
        <p:nvSpPr>
          <p:cNvPr id="7" name="">
            <a:extLst xmlns:a="http://schemas.openxmlformats.org/drawingml/2006/main">
              <a:ext uri="{FF2B5EF4-FFF2-40B4-BE49-F238E27FC236}">
                <a16:creationId xmlns:a16="http://schemas.microsoft.com/office/drawing/2014/main" id="{459F9A8E-452A-44C8-8C99-5BDF43E48EFE}"/>
              </a:ext>
            </a:extLst>
          </p:cNvPr>
          <p:cNvSpPr>
            <a:spLocks xmlns:a="http://schemas.openxmlformats.org/drawingml/2006/main" noGrp="1"/>
          </p:cNvSpPr>
          <p:nvPr/>
        </p:nvSpPr>
        <p:spPr>
          <a:xfrm xmlns:a="http://schemas.openxmlformats.org/drawingml/2006/main">
            <a:off x="609585" y="5928360"/>
            <a:ext cx="22859" cy="28956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613BCFB-83E9-46D7-81C4-725CDAE866D7}"/>
              </a:ext>
            </a:extLst>
          </p:cNvPr>
          <p:cNvSpPr>
            <a:spLocks xmlns:a="http://schemas.openxmlformats.org/drawingml/2006/main" noGrp="1"/>
          </p:cNvSpPr>
          <p:nvPr/>
        </p:nvSpPr>
        <p:spPr>
          <a:xfrm xmlns:a="http://schemas.openxmlformats.org/drawingml/2006/main">
            <a:off x="769601" y="5920740"/>
            <a:ext cx="1066773"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00" b="1">
                <a:solidFill>
                  <a:srgbClr val="151312"/>
                </a:solidFill>
                <a:latin typeface="Arial"/>
                <a:ea typeface="Arial"/>
                <a:cs typeface="Arial"/>
              </a:defRPr>
            </a:defPPr>
            <a:lvl1pPr algn="l">
              <a:defRPr sz="900" b="1">
                <a:solidFill>
                  <a:srgbClr val="151312"/>
                </a:solidFill>
                <a:latin typeface="Arial"/>
                <a:ea typeface="Arial"/>
                <a:cs typeface="Arial"/>
              </a:defRPr>
            </a:lvl1pPr>
            <a:lvl2pPr algn="l">
              <a:defRPr sz="900" b="1">
                <a:solidFill>
                  <a:srgbClr val="151312"/>
                </a:solidFill>
                <a:latin typeface="Arial"/>
                <a:ea typeface="Arial"/>
                <a:cs typeface="Arial"/>
              </a:defRPr>
            </a:lvl2pPr>
            <a:lvl3pPr algn="l">
              <a:defRPr sz="900" b="1">
                <a:solidFill>
                  <a:srgbClr val="151312"/>
                </a:solidFill>
                <a:latin typeface="Arial"/>
                <a:ea typeface="Arial"/>
                <a:cs typeface="Arial"/>
              </a:defRPr>
            </a:lvl3pPr>
            <a:lvl4pPr algn="l">
              <a:defRPr sz="900" b="1">
                <a:solidFill>
                  <a:srgbClr val="151312"/>
                </a:solidFill>
                <a:latin typeface="Arial"/>
                <a:ea typeface="Arial"/>
                <a:cs typeface="Arial"/>
              </a:defRPr>
            </a:lvl4pPr>
            <a:lvl5pPr algn="l">
              <a:defRPr sz="900" b="1">
                <a:solidFill>
                  <a:srgbClr val="151312"/>
                </a:solidFill>
                <a:latin typeface="Arial"/>
                <a:ea typeface="Arial"/>
                <a:cs typeface="Arial"/>
              </a:defRPr>
            </a:lvl5pPr>
            <a:lvl6pPr algn="l">
              <a:defRPr sz="900" b="1">
                <a:solidFill>
                  <a:srgbClr val="151312"/>
                </a:solidFill>
                <a:latin typeface="Arial"/>
                <a:ea typeface="Arial"/>
                <a:cs typeface="Arial"/>
              </a:defRPr>
            </a:lvl6pPr>
            <a:lvl7pPr algn="l">
              <a:defRPr sz="900" b="1">
                <a:solidFill>
                  <a:srgbClr val="151312"/>
                </a:solidFill>
                <a:latin typeface="Arial"/>
                <a:ea typeface="Arial"/>
                <a:cs typeface="Arial"/>
              </a:defRPr>
            </a:lvl7pPr>
            <a:lvl8pPr algn="l">
              <a:defRPr sz="900" b="1">
                <a:solidFill>
                  <a:srgbClr val="151312"/>
                </a:solidFill>
                <a:latin typeface="Arial"/>
                <a:ea typeface="Arial"/>
                <a:cs typeface="Arial"/>
              </a:defRPr>
            </a:lvl8pPr>
            <a:lvl9pPr algn="l">
              <a:defRPr sz="900" b="1">
                <a:solidFill>
                  <a:srgbClr val="151312"/>
                </a:solidFill>
                <a:latin typeface="Arial"/>
                <a:ea typeface="Arial"/>
                <a:cs typeface="Arial"/>
              </a:defRPr>
            </a:lvl9pPr>
          </a:lstStyle>
          <a:p xmlns:a="http://schemas.openxmlformats.org/drawingml/2006/main">
            <a:pPr algn="l">
              <a:defRPr sz="900" b="1">
                <a:solidFill>
                  <a:srgbClr val="151312"/>
                </a:solidFill>
                <a:latin typeface="Arial"/>
                <a:ea typeface="Arial"/>
                <a:cs typeface="Arial"/>
              </a:defRPr>
            </a:pPr>
            <a:r>
              <a:rPr sz="900" b="1">
                <a:solidFill>
                  <a:srgbClr val="151312"/>
                </a:solidFill>
                <a:latin typeface="Arial"/>
                <a:ea typeface="Arial"/>
                <a:cs typeface="Arial"/>
              </a:rPr>
              <a:t>For the desk</a:t>
            </a:r>
          </a:p>
        </p:txBody>
      </p:sp>
      <p:sp>
        <p:nvSpPr>
          <p:cNvPr id="9" name="">
            <a:extLst xmlns:a="http://schemas.openxmlformats.org/drawingml/2006/main">
              <a:ext uri="{FF2B5EF4-FFF2-40B4-BE49-F238E27FC236}">
                <a16:creationId xmlns:a16="http://schemas.microsoft.com/office/drawing/2014/main" id="{F846FDD2-B4E5-4760-AA70-031CA479B7A9}"/>
              </a:ext>
            </a:extLst>
          </p:cNvPr>
          <p:cNvSpPr>
            <a:spLocks xmlns:a="http://schemas.openxmlformats.org/drawingml/2006/main" noGrp="1"/>
          </p:cNvSpPr>
          <p:nvPr/>
        </p:nvSpPr>
        <p:spPr>
          <a:xfrm xmlns:a="http://schemas.openxmlformats.org/drawingml/2006/main">
            <a:off x="1950671" y="5913120"/>
            <a:ext cx="9631439"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0">
                <a:solidFill>
                  <a:srgbClr val="45413C"/>
                </a:solidFill>
                <a:latin typeface="Arial"/>
                <a:ea typeface="Arial"/>
                <a:cs typeface="Arial"/>
              </a:defRPr>
            </a:defPPr>
            <a:lvl1pPr algn="l">
              <a:defRPr sz="1260" b="0">
                <a:solidFill>
                  <a:srgbClr val="45413C"/>
                </a:solidFill>
                <a:latin typeface="Arial"/>
                <a:ea typeface="Arial"/>
                <a:cs typeface="Arial"/>
              </a:defRPr>
            </a:lvl1pPr>
            <a:lvl2pPr algn="l">
              <a:defRPr sz="1260" b="0">
                <a:solidFill>
                  <a:srgbClr val="45413C"/>
                </a:solidFill>
                <a:latin typeface="Arial"/>
                <a:ea typeface="Arial"/>
                <a:cs typeface="Arial"/>
              </a:defRPr>
            </a:lvl2pPr>
            <a:lvl3pPr algn="l">
              <a:defRPr sz="1260" b="0">
                <a:solidFill>
                  <a:srgbClr val="45413C"/>
                </a:solidFill>
                <a:latin typeface="Arial"/>
                <a:ea typeface="Arial"/>
                <a:cs typeface="Arial"/>
              </a:defRPr>
            </a:lvl3pPr>
            <a:lvl4pPr algn="l">
              <a:defRPr sz="1260" b="0">
                <a:solidFill>
                  <a:srgbClr val="45413C"/>
                </a:solidFill>
                <a:latin typeface="Arial"/>
                <a:ea typeface="Arial"/>
                <a:cs typeface="Arial"/>
              </a:defRPr>
            </a:lvl4pPr>
            <a:lvl5pPr algn="l">
              <a:defRPr sz="1260" b="0">
                <a:solidFill>
                  <a:srgbClr val="45413C"/>
                </a:solidFill>
                <a:latin typeface="Arial"/>
                <a:ea typeface="Arial"/>
                <a:cs typeface="Arial"/>
              </a:defRPr>
            </a:lvl5pPr>
            <a:lvl6pPr algn="l">
              <a:defRPr sz="1260" b="0">
                <a:solidFill>
                  <a:srgbClr val="45413C"/>
                </a:solidFill>
                <a:latin typeface="Arial"/>
                <a:ea typeface="Arial"/>
                <a:cs typeface="Arial"/>
              </a:defRPr>
            </a:lvl6pPr>
            <a:lvl7pPr algn="l">
              <a:defRPr sz="1260" b="0">
                <a:solidFill>
                  <a:srgbClr val="45413C"/>
                </a:solidFill>
                <a:latin typeface="Arial"/>
                <a:ea typeface="Arial"/>
                <a:cs typeface="Arial"/>
              </a:defRPr>
            </a:lvl7pPr>
            <a:lvl8pPr algn="l">
              <a:defRPr sz="1260" b="0">
                <a:solidFill>
                  <a:srgbClr val="45413C"/>
                </a:solidFill>
                <a:latin typeface="Arial"/>
                <a:ea typeface="Arial"/>
                <a:cs typeface="Arial"/>
              </a:defRPr>
            </a:lvl8pPr>
            <a:lvl9pPr algn="l">
              <a:defRPr sz="1260" b="0">
                <a:solidFill>
                  <a:srgbClr val="45413C"/>
                </a:solidFill>
                <a:latin typeface="Arial"/>
                <a:ea typeface="Arial"/>
                <a:cs typeface="Arial"/>
              </a:defRPr>
            </a:lvl9pPr>
          </a:lstStyle>
          <a:p xmlns:a="http://schemas.openxmlformats.org/drawingml/2006/main">
            <a:pPr algn="l">
              <a:defRPr sz="1260" b="0">
                <a:solidFill>
                  <a:srgbClr val="45413C"/>
                </a:solidFill>
                <a:latin typeface="Arial"/>
                <a:ea typeface="Arial"/>
                <a:cs typeface="Arial"/>
              </a:defRPr>
            </a:pPr>
            <a:r>
              <a:rPr sz="1260" b="0">
                <a:solidFill>
                  <a:srgbClr val="45413C"/>
                </a:solidFill>
                <a:latin typeface="Arial"/>
                <a:ea typeface="Arial"/>
                <a:cs typeface="Arial"/>
              </a:rPr>
              <a:t>Rules and coefficients were frozen before these releases; no post-freeze refitting.</a:t>
            </a:r>
          </a:p>
        </p:txBody>
      </p:sp>
      <p:sp>
        <p:nvSpPr>
          <p:cNvPr id="10" name="">
            <a:extLst xmlns:a="http://schemas.openxmlformats.org/drawingml/2006/main">
              <a:ext uri="{FF2B5EF4-FFF2-40B4-BE49-F238E27FC236}">
                <a16:creationId xmlns:a16="http://schemas.microsoft.com/office/drawing/2014/main" id="{7488A53B-54EF-461C-AE12-1B869C70C8B4}"/>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0320025-A6F8-4CE8-BAE3-D5E7C6152D2B}"/>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evaluate/forward.py; data/forward/rules.json.</a:t>
            </a:r>
          </a:p>
        </p:txBody>
      </p:sp>
      <p:sp>
        <p:nvSpPr>
          <p:cNvPr id="12" name="">
            <a:extLst xmlns:a="http://schemas.openxmlformats.org/drawingml/2006/main">
              <a:ext uri="{FF2B5EF4-FFF2-40B4-BE49-F238E27FC236}">
                <a16:creationId xmlns:a16="http://schemas.microsoft.com/office/drawing/2014/main" id="{771CB783-462D-4E07-BFA7-D936F9780C3C}"/>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24C5A67-8925-4850-9433-92FE09411F35}"/>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E12EA0B-F671-48D7-B32D-8D6DC269585F}"/>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FB8D527-6264-4992-A48F-8CF6093E4AAB}"/>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F30B5BB-992A-4AED-89CB-5677BDA9E28A}"/>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4DAEF27-C338-4BF4-A342-C2977F49DEEA}"/>
              </a:ext>
            </a:extLst>
          </p:cNvPr>
          <p:cNvSpPr>
            <a:spLocks xmlns:a="http://schemas.openxmlformats.org/drawingml/2006/main" noGrp="1"/>
          </p:cNvSpPr>
          <p:nvPr/>
        </p:nvSpPr>
        <p:spPr>
          <a:xfrm xmlns:a="http://schemas.openxmlformats.org/drawingml/2006/main">
            <a:off x="609585" y="1965960"/>
            <a:ext cx="2743131"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4560" b="1">
                <a:solidFill>
                  <a:srgbClr val="151312"/>
                </a:solidFill>
                <a:latin typeface="Arial"/>
                <a:ea typeface="Arial"/>
                <a:cs typeface="Arial"/>
              </a:defRPr>
            </a:defPPr>
            <a:lvl1pPr algn="l">
              <a:defRPr sz="4560" b="1">
                <a:solidFill>
                  <a:srgbClr val="151312"/>
                </a:solidFill>
                <a:latin typeface="Arial"/>
                <a:ea typeface="Arial"/>
                <a:cs typeface="Arial"/>
              </a:defRPr>
            </a:lvl1pPr>
            <a:lvl2pPr algn="l">
              <a:defRPr sz="4560" b="1">
                <a:solidFill>
                  <a:srgbClr val="151312"/>
                </a:solidFill>
                <a:latin typeface="Arial"/>
                <a:ea typeface="Arial"/>
                <a:cs typeface="Arial"/>
              </a:defRPr>
            </a:lvl2pPr>
            <a:lvl3pPr algn="l">
              <a:defRPr sz="4560" b="1">
                <a:solidFill>
                  <a:srgbClr val="151312"/>
                </a:solidFill>
                <a:latin typeface="Arial"/>
                <a:ea typeface="Arial"/>
                <a:cs typeface="Arial"/>
              </a:defRPr>
            </a:lvl3pPr>
            <a:lvl4pPr algn="l">
              <a:defRPr sz="4560" b="1">
                <a:solidFill>
                  <a:srgbClr val="151312"/>
                </a:solidFill>
                <a:latin typeface="Arial"/>
                <a:ea typeface="Arial"/>
                <a:cs typeface="Arial"/>
              </a:defRPr>
            </a:lvl4pPr>
            <a:lvl5pPr algn="l">
              <a:defRPr sz="4560" b="1">
                <a:solidFill>
                  <a:srgbClr val="151312"/>
                </a:solidFill>
                <a:latin typeface="Arial"/>
                <a:ea typeface="Arial"/>
                <a:cs typeface="Arial"/>
              </a:defRPr>
            </a:lvl5pPr>
            <a:lvl6pPr algn="l">
              <a:defRPr sz="4560" b="1">
                <a:solidFill>
                  <a:srgbClr val="151312"/>
                </a:solidFill>
                <a:latin typeface="Arial"/>
                <a:ea typeface="Arial"/>
                <a:cs typeface="Arial"/>
              </a:defRPr>
            </a:lvl6pPr>
            <a:lvl7pPr algn="l">
              <a:defRPr sz="4560" b="1">
                <a:solidFill>
                  <a:srgbClr val="151312"/>
                </a:solidFill>
                <a:latin typeface="Arial"/>
                <a:ea typeface="Arial"/>
                <a:cs typeface="Arial"/>
              </a:defRPr>
            </a:lvl7pPr>
            <a:lvl8pPr algn="l">
              <a:defRPr sz="4560" b="1">
                <a:solidFill>
                  <a:srgbClr val="151312"/>
                </a:solidFill>
                <a:latin typeface="Arial"/>
                <a:ea typeface="Arial"/>
                <a:cs typeface="Arial"/>
              </a:defRPr>
            </a:lvl8pPr>
            <a:lvl9pPr algn="l">
              <a:defRPr sz="4560" b="1">
                <a:solidFill>
                  <a:srgbClr val="151312"/>
                </a:solidFill>
                <a:latin typeface="Arial"/>
                <a:ea typeface="Arial"/>
                <a:cs typeface="Arial"/>
              </a:defRPr>
            </a:lvl9pPr>
          </a:lstStyle>
          <a:p xmlns:a="http://schemas.openxmlformats.org/drawingml/2006/main">
            <a:pPr algn="l">
              <a:defRPr sz="4560" b="1">
                <a:solidFill>
                  <a:srgbClr val="151312"/>
                </a:solidFill>
                <a:latin typeface="Arial"/>
                <a:ea typeface="Arial"/>
                <a:cs typeface="Arial"/>
              </a:defRPr>
            </a:pPr>
            <a:r>
              <a:rPr sz="4560" b="1">
                <a:solidFill>
                  <a:srgbClr val="151312"/>
                </a:solidFill>
                <a:latin typeface="Arial"/>
                <a:ea typeface="Arial"/>
                <a:cs typeface="Arial"/>
              </a:rPr>
              <a:t>4</a:t>
            </a:r>
          </a:p>
        </p:txBody>
      </p:sp>
      <p:sp>
        <p:nvSpPr>
          <p:cNvPr id="18" name="">
            <a:extLst xmlns:a="http://schemas.openxmlformats.org/drawingml/2006/main">
              <a:ext uri="{FF2B5EF4-FFF2-40B4-BE49-F238E27FC236}">
                <a16:creationId xmlns:a16="http://schemas.microsoft.com/office/drawing/2014/main" id="{05ADFA5E-1C43-4D49-9C3D-810751D6C350}"/>
              </a:ext>
            </a:extLst>
          </p:cNvPr>
          <p:cNvSpPr>
            <a:spLocks xmlns:a="http://schemas.openxmlformats.org/drawingml/2006/main" noGrp="1"/>
          </p:cNvSpPr>
          <p:nvPr/>
        </p:nvSpPr>
        <p:spPr>
          <a:xfrm xmlns:a="http://schemas.openxmlformats.org/drawingml/2006/main">
            <a:off x="609585" y="2781300"/>
            <a:ext cx="2743131"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frozen 2-year rules, one per document type, written on 2026-10-21</a:t>
            </a:r>
          </a:p>
        </p:txBody>
      </p:sp>
      <p:sp>
        <p:nvSpPr>
          <p:cNvPr id="19" name="">
            <a:extLst xmlns:a="http://schemas.openxmlformats.org/drawingml/2006/main">
              <a:ext uri="{FF2B5EF4-FFF2-40B4-BE49-F238E27FC236}">
                <a16:creationId xmlns:a16="http://schemas.microsoft.com/office/drawing/2014/main" id="{EAF8737C-E5F0-4BC5-A0F8-78ADE8965E24}"/>
              </a:ext>
            </a:extLst>
          </p:cNvPr>
          <p:cNvSpPr>
            <a:spLocks xmlns:a="http://schemas.openxmlformats.org/drawingml/2006/main" noGrp="1"/>
          </p:cNvSpPr>
          <p:nvPr/>
        </p:nvSpPr>
        <p:spPr>
          <a:xfrm xmlns:a="http://schemas.openxmlformats.org/drawingml/2006/main">
            <a:off x="609585" y="364236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E2410AC-CBAF-4817-B258-964814C40504}"/>
              </a:ext>
            </a:extLst>
          </p:cNvPr>
          <p:cNvSpPr>
            <a:spLocks xmlns:a="http://schemas.openxmlformats.org/drawingml/2006/main" noGrp="1"/>
          </p:cNvSpPr>
          <p:nvPr/>
        </p:nvSpPr>
        <p:spPr>
          <a:xfrm xmlns:a="http://schemas.openxmlformats.org/drawingml/2006/main">
            <a:off x="609585" y="3718560"/>
            <a:ext cx="2743131" cy="566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No release scored since the 2026-10-21 freeze yet</a:t>
            </a:r>
          </a:p>
        </p:txBody>
      </p:sp>
      <p:sp>
        <p:nvSpPr>
          <p:cNvPr id="21" name="">
            <a:extLst xmlns:a="http://schemas.openxmlformats.org/drawingml/2006/main">
              <a:ext uri="{FF2B5EF4-FFF2-40B4-BE49-F238E27FC236}">
                <a16:creationId xmlns:a16="http://schemas.microsoft.com/office/drawing/2014/main" id="{D31CCD7A-2FDA-4F2A-9058-BDDEDDE4C4A9}"/>
              </a:ext>
            </a:extLst>
          </p:cNvPr>
          <p:cNvSpPr>
            <a:spLocks xmlns:a="http://schemas.openxmlformats.org/drawingml/2006/main" noGrp="1"/>
          </p:cNvSpPr>
          <p:nvPr/>
        </p:nvSpPr>
        <p:spPr>
          <a:xfrm xmlns:a="http://schemas.openxmlformats.org/drawingml/2006/main">
            <a:off x="609585" y="433832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1D3B9DD-9D73-47DE-95A1-AA3520893C59}"/>
              </a:ext>
            </a:extLst>
          </p:cNvPr>
          <p:cNvSpPr>
            <a:spLocks xmlns:a="http://schemas.openxmlformats.org/drawingml/2006/main" noGrp="1"/>
          </p:cNvSpPr>
          <p:nvPr/>
        </p:nvSpPr>
        <p:spPr>
          <a:xfrm xmlns:a="http://schemas.openxmlformats.org/drawingml/2006/main">
            <a:off x="609585" y="4414520"/>
            <a:ext cx="2743131" cy="566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The pre-registered trade: +0.0 bp over 2 trading days</a:t>
            </a:r>
          </a:p>
        </p:txBody>
      </p:sp>
      <p:sp>
        <p:nvSpPr>
          <p:cNvPr id="23" name="">
            <a:extLst xmlns:a="http://schemas.openxmlformats.org/drawingml/2006/main">
              <a:ext uri="{FF2B5EF4-FFF2-40B4-BE49-F238E27FC236}">
                <a16:creationId xmlns:a16="http://schemas.microsoft.com/office/drawing/2014/main" id="{EFAF8029-0293-4931-836A-DC1BF3C3D37C}"/>
              </a:ext>
            </a:extLst>
          </p:cNvPr>
          <p:cNvSpPr>
            <a:spLocks xmlns:a="http://schemas.openxmlformats.org/drawingml/2006/main" noGrp="1"/>
          </p:cNvSpPr>
          <p:nvPr/>
        </p:nvSpPr>
        <p:spPr>
          <a:xfrm xmlns:a="http://schemas.openxmlformats.org/drawingml/2006/main">
            <a:off x="609585" y="503428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E08F4BC-C21A-48F0-AAF3-7E8F63621B4C}"/>
              </a:ext>
            </a:extLst>
          </p:cNvPr>
          <p:cNvSpPr>
            <a:spLocks xmlns:a="http://schemas.openxmlformats.org/drawingml/2006/main" noGrp="1"/>
          </p:cNvSpPr>
          <p:nvPr/>
        </p:nvSpPr>
        <p:spPr>
          <a:xfrm xmlns:a="http://schemas.openxmlformats.org/drawingml/2006/main">
            <a:off x="609585" y="5110480"/>
            <a:ext cx="2743131" cy="566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A one-sided binomial test from 10 releases; no verdict before a year</a:t>
            </a:r>
          </a:p>
        </p:txBody>
      </p:sp>
      <p:graphicFrame>
        <p:nvGraphicFramePr>
          <p:cNvPr id="25" name="">
            <a:extLst xmlns:a="http://schemas.openxmlformats.org/drawingml/2006/main">
              <a:ext uri="{FF2B5EF4-FFF2-40B4-BE49-F238E27FC236}">
                <a16:creationId xmlns:a16="http://schemas.microsoft.com/office/drawing/2014/main" id="{2A6430FB-9F20-4AA3-B601-737A1B5CAF70}"/>
              </a:ext>
            </a:extLst>
          </p:cNvPr>
          <p:cNvGraphicFramePr/>
          <p:nvPr/>
        </p:nvGraphicFramePr>
        <p:xfrm>
          <a:off xmlns:a="http://schemas.openxmlformats.org/drawingml/2006/main" x="3718467" y="1920240"/>
          <a:ext xmlns:a="http://schemas.openxmlformats.org/drawingml/2006/main" cx="7863643" cy="3810000"/>
        </p:xfrm>
        <a:graphic xmlns:a="http://schemas.openxmlformats.org/drawingml/2006/main">
          <a:graphicData uri="http://schemas.openxmlformats.org/drawingml/2006/table">
            <a:tbl>
              <a:tblPr/>
              <a:tblGrid>
                <a:gridCol w="1323584"/>
                <a:gridCol w="3270030"/>
                <a:gridCol w="1090010"/>
                <a:gridCol w="1090010"/>
                <a:gridCol w="1090010"/>
              </a:tblGrid>
              <a:tr h="472440">
                <a:tc>
                  <a:txBody>
                    <a:bodyPr/>
                    <a:lstStyle/>
                    <a:p>
                      <a:pPr algn="l"/>
                      <a:r>
                        <a:rPr sz="1080" b="1">
                          <a:solidFill>
                            <a:srgbClr val="151312"/>
                          </a:solidFill>
                          <a:latin typeface="Arial"/>
                          <a:ea typeface="Arial"/>
                          <a:cs typeface="Arial"/>
                        </a:rPr>
                        <a:t>Type</a:t>
                      </a:r>
                    </a:p>
                  </a:txBody>
                  <a:tcPr marL="91440" marR="91440" marT="45720" marB="45720" anchor="ctr">
                    <a:lnL w="0">
                      <a:noFill/>
                    </a:lnL>
                    <a:lnR w="0">
                      <a:noFill/>
                    </a:lnR>
                    <a:lnT w="0">
                      <a:noFill/>
                    </a:lnT>
                    <a:lnB w="0">
                      <a:noFill/>
                    </a:lnB>
                    <a:solidFill>
                      <a:srgbClr val="F3F0E9"/>
                    </a:solidFill>
                  </a:tcPr>
                </a:tc>
                <a:tc>
                  <a:txBody>
                    <a:bodyPr/>
                    <a:lstStyle/>
                    <a:p>
                      <a:pPr algn="l"/>
                      <a:r>
                        <a:rPr sz="1080" b="1">
                          <a:solidFill>
                            <a:srgbClr val="151312"/>
                          </a:solidFill>
                          <a:latin typeface="Arial"/>
                          <a:ea typeface="Arial"/>
                          <a:cs typeface="Arial"/>
                        </a:rPr>
                        <a:t>Reads</a:t>
                      </a:r>
                    </a:p>
                  </a:txBody>
                  <a:tcPr marL="91440" marR="91440" marT="45720" marB="45720" anchor="ctr">
                    <a:lnR w="0">
                      <a:noFill/>
                    </a:lnR>
                    <a:lnT w="0">
                      <a:noFill/>
                    </a:lnT>
                    <a:lnB w="0">
                      <a:noFill/>
                    </a:lnB>
                    <a:solidFill>
                      <a:srgbClr val="F3F0E9"/>
                    </a:solidFill>
                  </a:tcPr>
                </a:tc>
                <a:tc>
                  <a:txBody>
                    <a:bodyPr/>
                    <a:lstStyle/>
                    <a:p>
                      <a:pPr algn="r"/>
                      <a:r>
                        <a:rPr sz="1080" b="1">
                          <a:solidFill>
                            <a:srgbClr val="151312"/>
                          </a:solidFill>
                          <a:latin typeface="Arial"/>
                          <a:ea typeface="Arial"/>
                          <a:cs typeface="Arial"/>
                        </a:rPr>
                        <a:t>bp per SD</a:t>
                      </a:r>
                    </a:p>
                  </a:txBody>
                  <a:tcPr marL="91440" marR="91440" marT="45720" marB="45720" anchor="ctr">
                    <a:lnR w="0">
                      <a:noFill/>
                    </a:lnR>
                    <a:lnT w="0">
                      <a:noFill/>
                    </a:lnT>
                    <a:lnB w="0">
                      <a:noFill/>
                    </a:lnB>
                    <a:solidFill>
                      <a:srgbClr val="F3F0E9"/>
                    </a:solidFill>
                  </a:tcPr>
                </a:tc>
                <a:tc>
                  <a:txBody>
                    <a:bodyPr/>
                    <a:lstStyle/>
                    <a:p>
                      <a:pPr algn="r"/>
                      <a:r>
                        <a:rPr sz="1080" b="1">
                          <a:solidFill>
                            <a:srgbClr val="151312"/>
                          </a:solidFill>
                          <a:latin typeface="Arial"/>
                          <a:ea typeface="Arial"/>
                          <a:cs typeface="Arial"/>
                        </a:rPr>
                        <a:t>t</a:t>
                      </a:r>
                    </a:p>
                  </a:txBody>
                  <a:tcPr marL="91440" marR="91440" marT="45720" marB="45720" anchor="ctr">
                    <a:lnR w="0">
                      <a:noFill/>
                    </a:lnR>
                    <a:lnT w="0">
                      <a:noFill/>
                    </a:lnT>
                    <a:lnB w="0">
                      <a:noFill/>
                    </a:lnB>
                    <a:solidFill>
                      <a:srgbClr val="F3F0E9"/>
                    </a:solidFill>
                  </a:tcPr>
                </a:tc>
                <a:tc>
                  <a:txBody>
                    <a:bodyPr/>
                    <a:lstStyle/>
                    <a:p>
                      <a:pPr algn="r"/>
                      <a:r>
                        <a:rPr sz="1080" b="1">
                          <a:solidFill>
                            <a:srgbClr val="151312"/>
                          </a:solidFill>
                          <a:latin typeface="Arial"/>
                          <a:ea typeface="Arial"/>
                          <a:cs typeface="Arial"/>
                        </a:rPr>
                        <a:t>q</a:t>
                      </a:r>
                    </a:p>
                  </a:txBody>
                  <a:tcPr marL="91440" marR="91440" marT="45720" marB="45720" anchor="ctr">
                    <a:lnR w="0">
                      <a:noFill/>
                    </a:lnR>
                    <a:lnT w="0">
                      <a:noFill/>
                    </a:lnT>
                    <a:lnB w="0">
                      <a:noFill/>
                    </a:lnB>
                    <a:solidFill>
                      <a:srgbClr val="F3F0E9"/>
                    </a:solidFill>
                  </a:tcPr>
                </a:tc>
              </a:tr>
              <a:tr h="834390">
                <a:tc>
                  <a:txBody>
                    <a:bodyPr/>
                    <a:lstStyle/>
                    <a:p>
                      <a:pPr algn="l"/>
                      <a:r>
                        <a:rPr sz="1440" b="1">
                          <a:solidFill>
                            <a:srgbClr val="45413C"/>
                          </a:solidFill>
                          <a:latin typeface="Arial"/>
                          <a:ea typeface="Arial"/>
                          <a:cs typeface="Arial"/>
                        </a:rPr>
                        <a:t>Minutes</a:t>
                      </a:r>
                    </a:p>
                  </a:txBody>
                  <a:tcPr marL="91440" marR="91440" marT="45720" marB="45720" anchor="ctr">
                    <a:lnL w="0">
                      <a:noFill/>
                    </a:lnL>
                    <a:lnR w="0">
                      <a:noFill/>
                    </a:lnR>
                    <a:lnB w="0">
                      <a:noFill/>
                    </a:lnB>
                    <a:solidFill>
                      <a:srgbClr val="FFFEFB"/>
                    </a:solidFill>
                  </a:tcPr>
                </a:tc>
                <a:tc>
                  <a:txBody>
                    <a:bodyPr/>
                    <a:lstStyle/>
                    <a:p>
                      <a:pPr algn="l"/>
                      <a:r>
                        <a:rPr sz="1440" b="0">
                          <a:solidFill>
                            <a:srgbClr val="45413C"/>
                          </a:solidFill>
                          <a:latin typeface="Arial"/>
                          <a:ea typeface="Arial"/>
                          <a:cs typeface="Arial"/>
                        </a:rPr>
                        <a:t>change in tone</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+0.93</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2.98</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0.036</a:t>
                      </a:r>
                    </a:p>
                  </a:txBody>
                  <a:tcPr marL="91440" marR="91440" marT="45720" marB="45720" anchor="ctr">
                    <a:lnR w="0">
                      <a:noFill/>
                    </a:lnR>
                    <a:lnB w="0">
                      <a:noFill/>
                    </a:lnB>
                    <a:solidFill>
                      <a:srgbClr val="FFFEFB"/>
                    </a:solidFill>
                  </a:tcPr>
                </a:tc>
              </a:tr>
              <a:tr h="834390">
                <a:tc>
                  <a:txBody>
                    <a:bodyPr/>
                    <a:lstStyle/>
                    <a:p>
                      <a:pPr algn="l"/>
                      <a:r>
                        <a:rPr sz="1440" b="1">
                          <a:solidFill>
                            <a:srgbClr val="45413C"/>
                          </a:solidFill>
                          <a:latin typeface="Arial"/>
                          <a:ea typeface="Arial"/>
                          <a:cs typeface="Arial"/>
                        </a:rPr>
                        <a:t>Press conferences</a:t>
                      </a:r>
                    </a:p>
                  </a:txBody>
                  <a:tcPr marL="91440" marR="91440" marT="45720" marB="45720" anchor="ctr">
                    <a:lnL w="0">
                      <a:noFill/>
                    </a:lnL>
                    <a:lnR w="0">
                      <a:noFill/>
                    </a:lnR>
                    <a:lnB w="0">
                      <a:noFill/>
                    </a:lnB>
                    <a:solidFill>
                      <a:srgbClr val="FFFEFB"/>
                    </a:solidFill>
                  </a:tcPr>
                </a:tc>
                <a:tc>
                  <a:txBody>
                    <a:bodyPr/>
                    <a:lstStyle/>
                    <a:p>
                      <a:pPr algn="l"/>
                      <a:r>
                        <a:rPr sz="1440" b="0">
                          <a:solidFill>
                            <a:srgbClr val="45413C"/>
                          </a:solidFill>
                          <a:latin typeface="Arial"/>
                          <a:ea typeface="Arial"/>
                          <a:cs typeface="Arial"/>
                        </a:rPr>
                        <a:t>change in tone</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+3.87</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3.90</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0.007</a:t>
                      </a:r>
                    </a:p>
                  </a:txBody>
                  <a:tcPr marL="91440" marR="91440" marT="45720" marB="45720" anchor="ctr">
                    <a:lnR w="0">
                      <a:noFill/>
                    </a:lnR>
                    <a:lnB w="0">
                      <a:noFill/>
                    </a:lnB>
                    <a:solidFill>
                      <a:srgbClr val="FFFEFB"/>
                    </a:solidFill>
                  </a:tcPr>
                </a:tc>
              </a:tr>
              <a:tr h="834390">
                <a:tc>
                  <a:txBody>
                    <a:bodyPr/>
                    <a:lstStyle/>
                    <a:p>
                      <a:pPr algn="l"/>
                      <a:r>
                        <a:rPr sz="1440" b="1">
                          <a:solidFill>
                            <a:srgbClr val="45413C"/>
                          </a:solidFill>
                          <a:latin typeface="Arial"/>
                          <a:ea typeface="Arial"/>
                          <a:cs typeface="Arial"/>
                        </a:rPr>
                        <a:t>Speeches</a:t>
                      </a:r>
                    </a:p>
                  </a:txBody>
                  <a:tcPr marL="91440" marR="91440" marT="45720" marB="45720" anchor="ctr">
                    <a:lnL w="0">
                      <a:noFill/>
                    </a:lnL>
                    <a:lnR w="0">
                      <a:noFill/>
                    </a:lnR>
                    <a:lnB w="0">
                      <a:noFill/>
                    </a:lnB>
                    <a:solidFill>
                      <a:srgbClr val="FFFEFB"/>
                    </a:solidFill>
                  </a:tcPr>
                </a:tc>
                <a:tc>
                  <a:txBody>
                    <a:bodyPr/>
                    <a:lstStyle/>
                    <a:p>
                      <a:pPr algn="l"/>
                      <a:r>
                        <a:rPr sz="1440" b="0">
                          <a:solidFill>
                            <a:srgbClr val="45413C"/>
                          </a:solidFill>
                          <a:latin typeface="Arial"/>
                          <a:ea typeface="Arial"/>
                          <a:cs typeface="Arial"/>
                        </a:rPr>
                        <a:t>tone</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+0.85</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3.25</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0.029</a:t>
                      </a:r>
                    </a:p>
                  </a:txBody>
                  <a:tcPr marL="91440" marR="91440" marT="45720" marB="45720" anchor="ctr">
                    <a:lnR w="0">
                      <a:noFill/>
                    </a:lnR>
                    <a:lnB w="0">
                      <a:noFill/>
                    </a:lnB>
                    <a:solidFill>
                      <a:srgbClr val="FFFEFB"/>
                    </a:solidFill>
                  </a:tcPr>
                </a:tc>
              </a:tr>
              <a:tr h="834390">
                <a:tc>
                  <a:txBody>
                    <a:bodyPr/>
                    <a:lstStyle/>
                    <a:p>
                      <a:pPr algn="l"/>
                      <a:r>
                        <a:rPr sz="1440" b="1">
                          <a:solidFill>
                            <a:srgbClr val="45413C"/>
                          </a:solidFill>
                          <a:latin typeface="Arial"/>
                          <a:ea typeface="Arial"/>
                          <a:cs typeface="Arial"/>
                        </a:rPr>
                        <a:t>Statements</a:t>
                      </a:r>
                    </a:p>
                  </a:txBody>
                  <a:tcPr marL="91440" marR="91440" marT="45720" marB="45720" anchor="ctr">
                    <a:lnL w="0">
                      <a:noFill/>
                    </a:lnL>
                    <a:lnR w="0">
                      <a:noFill/>
                    </a:lnR>
                    <a:lnB w="0">
                      <a:noFill/>
                    </a:lnB>
                    <a:solidFill>
                      <a:srgbClr val="FFFEFB"/>
                    </a:solidFill>
                  </a:tcPr>
                </a:tc>
                <a:tc>
                  <a:txBody>
                    <a:bodyPr/>
                    <a:lstStyle/>
                    <a:p>
                      <a:pPr algn="l"/>
                      <a:r>
                        <a:rPr sz="1440" b="0">
                          <a:solidFill>
                            <a:srgbClr val="45413C"/>
                          </a:solidFill>
                          <a:latin typeface="Arial"/>
                          <a:ea typeface="Arial"/>
                          <a:cs typeface="Arial"/>
                        </a:rPr>
                        <a:t>Claude's comparison with the last decision</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+1.96</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2.97</a:t>
                      </a:r>
                    </a:p>
                  </a:txBody>
                  <a:tcPr marL="91440" marR="91440" marT="45720" marB="45720" anchor="ctr">
                    <a:lnR w="0">
                      <a:noFill/>
                    </a:lnR>
                    <a:lnB w="0">
                      <a:noFill/>
                    </a:lnB>
                    <a:solidFill>
                      <a:srgbClr val="FFFEFB"/>
                    </a:solidFill>
                  </a:tcPr>
                </a:tc>
                <a:tc>
                  <a:txBody>
                    <a:bodyPr/>
                    <a:lstStyle/>
                    <a:p>
                      <a:pPr algn="r"/>
                      <a:r>
                        <a:rPr sz="1440" b="0">
                          <a:solidFill>
                            <a:srgbClr val="45413C"/>
                          </a:solidFill>
                          <a:latin typeface="Arial"/>
                          <a:ea typeface="Arial"/>
                          <a:cs typeface="Arial"/>
                        </a:rPr>
                        <a:t>0.036</a:t>
                      </a:r>
                    </a:p>
                  </a:txBody>
                  <a:tcPr marL="91440" marR="91440" marT="45720" marB="45720" anchor="ctr">
                    <a:lnR w="0">
                      <a:noFill/>
                    </a:lnR>
                    <a:lnB w="0">
                      <a:noFill/>
                    </a:lnB>
                    <a:solidFill>
                      <a:srgbClr val="FFFEFB"/>
                    </a:solidFill>
                  </a:tcPr>
                </a:tc>
              </a:tr>
            </a:tbl>
          </a:graphicData>
        </a:graphic>
      </p:graphicFrame>
      <p:sp>
        <p:nvSpPr>
          <p:cNvPr id="26" name="">
            <a:extLst xmlns:a="http://schemas.openxmlformats.org/drawingml/2006/main">
              <a:ext uri="{FF2B5EF4-FFF2-40B4-BE49-F238E27FC236}">
                <a16:creationId xmlns:a16="http://schemas.microsoft.com/office/drawing/2014/main" id="{CD59AB80-0EC1-44EB-A9C0-55AE6631909F}"/>
              </a:ext>
            </a:extLst>
          </p:cNvPr>
          <p:cNvSpPr>
            <a:spLocks xmlns:a="http://schemas.openxmlformats.org/drawingml/2006/main" noGrp="1"/>
          </p:cNvSpPr>
          <p:nvPr/>
        </p:nvSpPr>
        <p:spPr>
          <a:xfrm xmlns:a="http://schemas.openxmlformats.org/drawingml/2006/main">
            <a:off x="3718467" y="2392680"/>
            <a:ext cx="7863643"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DE46F80-AB7C-4B84-904F-AB58975A0BC1}"/>
              </a:ext>
            </a:extLst>
          </p:cNvPr>
          <p:cNvSpPr>
            <a:spLocks xmlns:a="http://schemas.openxmlformats.org/drawingml/2006/main" noGrp="1"/>
          </p:cNvSpPr>
          <p:nvPr/>
        </p:nvSpPr>
        <p:spPr>
          <a:xfrm xmlns:a="http://schemas.openxmlformats.org/drawingml/2006/main">
            <a:off x="3718467" y="322707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390CAFB-9901-4FAA-9253-273C33D37AF4}"/>
              </a:ext>
            </a:extLst>
          </p:cNvPr>
          <p:cNvSpPr>
            <a:spLocks xmlns:a="http://schemas.openxmlformats.org/drawingml/2006/main" noGrp="1"/>
          </p:cNvSpPr>
          <p:nvPr/>
        </p:nvSpPr>
        <p:spPr>
          <a:xfrm xmlns:a="http://schemas.openxmlformats.org/drawingml/2006/main">
            <a:off x="3718467" y="406146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4054FC7-9AFF-4301-9015-884AD77CF7F9}"/>
              </a:ext>
            </a:extLst>
          </p:cNvPr>
          <p:cNvSpPr>
            <a:spLocks xmlns:a="http://schemas.openxmlformats.org/drawingml/2006/main" noGrp="1"/>
          </p:cNvSpPr>
          <p:nvPr/>
        </p:nvSpPr>
        <p:spPr>
          <a:xfrm xmlns:a="http://schemas.openxmlformats.org/drawingml/2006/main">
            <a:off x="3718467" y="489585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2B6759F6-D493-4D79-9F10-80D5DA21DADA}"/>
              </a:ext>
            </a:extLst>
          </p:cNvPr>
          <p:cNvSpPr>
            <a:spLocks xmlns:a="http://schemas.openxmlformats.org/drawingml/2006/main" noGrp="1"/>
          </p:cNvSpPr>
          <p:nvPr/>
        </p:nvSpPr>
        <p:spPr>
          <a:xfrm xmlns:a="http://schemas.openxmlformats.org/drawingml/2006/main">
            <a:off x="3718467" y="573024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Tree>
    <p:extLst>
      <p:ext uri="{BB962C8B-B14F-4D97-AF65-F5344CB8AC3E}">
        <p14:creationId xmlns:p14="http://schemas.microsoft.com/office/powerpoint/2010/main" val="1243659963"/>
      </p:ext>
    </p:extLst>
  </p:cSld>
</p:sld>
</file>

<file path=ppt/slides/slide36.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75EBB4F-893F-4AB1-A688-A6DE5C4968DD}"/>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0566B465-FA01-4543-B4E4-ECAB8E3D2F9A}"/>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FORWARD CHECKS AND SYSTEM</a:t>
            </a:r>
          </a:p>
        </p:txBody>
      </p:sp>
      <p:sp>
        <p:nvSpPr>
          <p:cNvPr id="3" name="">
            <a:extLst xmlns:a="http://schemas.openxmlformats.org/drawingml/2006/main">
              <a:ext uri="{FF2B5EF4-FFF2-40B4-BE49-F238E27FC236}">
                <a16:creationId xmlns:a16="http://schemas.microsoft.com/office/drawing/2014/main" id="{AF168485-A79E-4D19-AACE-20DAB775F17C}"/>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36 / 46</a:t>
            </a:r>
          </a:p>
        </p:txBody>
      </p:sp>
      <p:sp>
        <p:nvSpPr>
          <p:cNvPr id="4" name="">
            <a:extLst xmlns:a="http://schemas.openxmlformats.org/drawingml/2006/main">
              <a:ext uri="{FF2B5EF4-FFF2-40B4-BE49-F238E27FC236}">
                <a16:creationId xmlns:a16="http://schemas.microsoft.com/office/drawing/2014/main" id="{459CA16E-6EBB-4FE1-B87E-6E6F45AE166E}"/>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40FEC34-014F-4379-A5F8-CFDD1267B361}"/>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Ten stages, one store, three ways in</a:t>
            </a:r>
          </a:p>
        </p:txBody>
      </p:sp>
      <p:sp>
        <p:nvSpPr>
          <p:cNvPr id="6" name="">
            <a:extLst xmlns:a="http://schemas.openxmlformats.org/drawingml/2006/main">
              <a:ext uri="{FF2B5EF4-FFF2-40B4-BE49-F238E27FC236}">
                <a16:creationId xmlns:a16="http://schemas.microsoft.com/office/drawing/2014/main" id="{5BE149A3-F022-4DCE-81A2-30B4CAD8C6C6}"/>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Five public sources feed a pipeline that writes a single SQLite store</a:t>
            </a:r>
          </a:p>
        </p:txBody>
      </p:sp>
      <p:sp>
        <p:nvSpPr>
          <p:cNvPr id="7" name="">
            <a:extLst xmlns:a="http://schemas.openxmlformats.org/drawingml/2006/main">
              <a:ext uri="{FF2B5EF4-FFF2-40B4-BE49-F238E27FC236}">
                <a16:creationId xmlns:a16="http://schemas.microsoft.com/office/drawing/2014/main" id="{9201BDE9-ED79-44A6-9ADB-54BA543E57C3}"/>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7F75A5E-8A14-4609-B7A0-44F4CB9D5E64}"/>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Project code in src/fomc/ (Python 3.12, SQLite, FastAPI, ECharts), deployed on Cloud Run.</a:t>
            </a:r>
          </a:p>
        </p:txBody>
      </p:sp>
      <p:sp>
        <p:nvSpPr>
          <p:cNvPr id="9" name="">
            <a:extLst xmlns:a="http://schemas.openxmlformats.org/drawingml/2006/main">
              <a:ext uri="{FF2B5EF4-FFF2-40B4-BE49-F238E27FC236}">
                <a16:creationId xmlns:a16="http://schemas.microsoft.com/office/drawing/2014/main" id="{21A0A601-CC99-479D-8298-FD67A6BB681B}"/>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8C615A2-7A37-4EC0-9DC0-8C6E7FCF3FD9}"/>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8914FB2-F69A-4B59-932A-EBE1BB5AA7DC}"/>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6ED49E5-07CF-4F72-B644-02266A9E5DC3}"/>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61EBFF4-2D1E-4AAE-8BE7-2776EA78676B}"/>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0A3F4C94-5904-4F36-A54C-3F97AEC5AD39}"/>
              </a:ext>
            </a:extLst>
          </p:cNvPr>
          <p:cNvPicPr>
            <a:picLocks xmlns:a="http://schemas.openxmlformats.org/drawingml/2006/main" noChangeAspect="1"/>
          </p:cNvPicPr>
          <p:nvPr/>
        </p:nvPicPr>
        <p:blipFill>
          <a:blip xmlns:r="http://schemas.openxmlformats.org/officeDocument/2006/relationships" xmlns:a="http://schemas.openxmlformats.org/drawingml/2006/main" r:embed="R0264dbe763b64ef3"/>
          <a:stretch xmlns:a="http://schemas.openxmlformats.org/drawingml/2006/main"/>
        </p:blipFill>
        <p:spPr>
          <a:xfrm xmlns:a="http://schemas.openxmlformats.org/drawingml/2006/main">
            <a:off x="609585" y="1920293"/>
            <a:ext cx="10972526" cy="4251854"/>
          </a:xfrm>
          <a:prstGeom xmlns:a="http://schemas.openxmlformats.org/drawingml/2006/main" prst="rect">
            <a:avLst/>
          </a:prstGeom>
        </p:spPr>
      </p:pic>
    </p:spTree>
    <p:extLst>
      <p:ext uri="{BB962C8B-B14F-4D97-AF65-F5344CB8AC3E}">
        <p14:creationId xmlns:p14="http://schemas.microsoft.com/office/powerpoint/2010/main" val="199590935"/>
      </p:ext>
    </p:extLst>
  </p:cSld>
</p:sld>
</file>

<file path=ppt/slides/slide37.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E09104D-3E1C-4839-A3AD-A44B84948E65}"/>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1AA4AA8C-A010-47F0-A60A-5F056897583B}"/>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FORWARD CHECKS AND SYSTEM</a:t>
            </a:r>
          </a:p>
        </p:txBody>
      </p:sp>
      <p:sp>
        <p:nvSpPr>
          <p:cNvPr id="3" name="">
            <a:extLst xmlns:a="http://schemas.openxmlformats.org/drawingml/2006/main">
              <a:ext uri="{FF2B5EF4-FFF2-40B4-BE49-F238E27FC236}">
                <a16:creationId xmlns:a16="http://schemas.microsoft.com/office/drawing/2014/main" id="{C0212DB0-ACA2-4ED3-AF38-BBAB99CEF457}"/>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37 / 46</a:t>
            </a:r>
          </a:p>
        </p:txBody>
      </p:sp>
      <p:sp>
        <p:nvSpPr>
          <p:cNvPr id="4" name="">
            <a:extLst xmlns:a="http://schemas.openxmlformats.org/drawingml/2006/main">
              <a:ext uri="{FF2B5EF4-FFF2-40B4-BE49-F238E27FC236}">
                <a16:creationId xmlns:a16="http://schemas.microsoft.com/office/drawing/2014/main" id="{CE5F4172-A8F6-4368-8392-DE1BD85699B8}"/>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3877136-5AE4-47FC-BD57-C708D082F572}"/>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Ten stages, one SQLite store</a:t>
            </a:r>
          </a:p>
        </p:txBody>
      </p:sp>
      <p:sp>
        <p:nvSpPr>
          <p:cNvPr id="6" name="">
            <a:extLst xmlns:a="http://schemas.openxmlformats.org/drawingml/2006/main">
              <a:ext uri="{FF2B5EF4-FFF2-40B4-BE49-F238E27FC236}">
                <a16:creationId xmlns:a16="http://schemas.microsoft.com/office/drawing/2014/main" id="{1F2F1C4B-B4D8-4A5F-B3A1-6646F25AC6EB}"/>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Stages talk only through the store and rerun only when their inputs change</a:t>
            </a:r>
          </a:p>
        </p:txBody>
      </p:sp>
      <p:sp>
        <p:nvSpPr>
          <p:cNvPr id="7" name="">
            <a:extLst xmlns:a="http://schemas.openxmlformats.org/drawingml/2006/main">
              <a:ext uri="{FF2B5EF4-FFF2-40B4-BE49-F238E27FC236}">
                <a16:creationId xmlns:a16="http://schemas.microsoft.com/office/drawing/2014/main" id="{769E74C3-E829-4D4A-A0E0-43E410ADF24E}"/>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4B70179-94ED-4406-90BF-B1088EDA902A}"/>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db.py, store.py and cli.py.</a:t>
            </a:r>
          </a:p>
        </p:txBody>
      </p:sp>
      <p:sp>
        <p:nvSpPr>
          <p:cNvPr id="9" name="">
            <a:extLst xmlns:a="http://schemas.openxmlformats.org/drawingml/2006/main">
              <a:ext uri="{FF2B5EF4-FFF2-40B4-BE49-F238E27FC236}">
                <a16:creationId xmlns:a16="http://schemas.microsoft.com/office/drawing/2014/main" id="{C4EBE168-6017-4A4A-BA38-DC8D64A3296E}"/>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7DC0F41-E02D-4713-AC6D-A39058C4ACDD}"/>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215E4BB-A59E-48AD-8D14-A3E148AB36E7}"/>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1F9A280-4DEC-40E3-B70B-C4DCDD22E560}"/>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129F7B5-A595-4FF5-BE78-90FAB1F944A5}"/>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graphicFrame>
        <p:nvGraphicFramePr>
          <p:cNvPr id="14" name="">
            <a:extLst xmlns:a="http://schemas.openxmlformats.org/drawingml/2006/main">
              <a:ext uri="{FF2B5EF4-FFF2-40B4-BE49-F238E27FC236}">
                <a16:creationId xmlns:a16="http://schemas.microsoft.com/office/drawing/2014/main" id="{C16E070B-89D1-497B-8920-A66C72CFE33A}"/>
              </a:ext>
            </a:extLst>
          </p:cNvPr>
          <p:cNvGraphicFramePr/>
          <p:nvPr/>
        </p:nvGraphicFramePr>
        <p:xfrm>
          <a:off xmlns:a="http://schemas.openxmlformats.org/drawingml/2006/main" x="609585" y="1920240"/>
          <a:ext xmlns:a="http://schemas.openxmlformats.org/drawingml/2006/main" cx="10972526" cy="4251960"/>
        </p:xfrm>
        <a:graphic xmlns:a="http://schemas.openxmlformats.org/drawingml/2006/main">
          <a:graphicData uri="http://schemas.openxmlformats.org/drawingml/2006/table">
            <a:tbl>
              <a:tblPr/>
              <a:tblGrid>
                <a:gridCol w="1219170"/>
                <a:gridCol w="3918759"/>
                <a:gridCol w="3222091"/>
                <a:gridCol w="2612506"/>
              </a:tblGrid>
              <a:tr h="472440">
                <a:tc>
                  <a:txBody>
                    <a:bodyPr/>
                    <a:lstStyle/>
                    <a:p>
                      <a:pPr algn="l"/>
                      <a:r>
                        <a:rPr sz="1080" b="1">
                          <a:solidFill>
                            <a:srgbClr val="151312"/>
                          </a:solidFill>
                          <a:latin typeface="Arial"/>
                          <a:ea typeface="Arial"/>
                          <a:cs typeface="Arial"/>
                        </a:rPr>
                        <a:t>Stage</a:t>
                      </a:r>
                    </a:p>
                  </a:txBody>
                  <a:tcPr marL="91440" marR="91440" marT="45720" marB="45720" anchor="ctr">
                    <a:lnL w="0">
                      <a:noFill/>
                    </a:lnL>
                    <a:lnR w="0">
                      <a:noFill/>
                    </a:lnR>
                    <a:lnT w="0">
                      <a:noFill/>
                    </a:lnT>
                    <a:lnB w="0">
                      <a:noFill/>
                    </a:lnB>
                    <a:solidFill>
                      <a:srgbClr val="F3F0E9"/>
                    </a:solidFill>
                  </a:tcPr>
                </a:tc>
                <a:tc>
                  <a:txBody>
                    <a:bodyPr/>
                    <a:lstStyle/>
                    <a:p>
                      <a:pPr algn="l"/>
                      <a:r>
                        <a:rPr sz="1080" b="1">
                          <a:solidFill>
                            <a:srgbClr val="151312"/>
                          </a:solidFill>
                          <a:latin typeface="Arial"/>
                          <a:ea typeface="Arial"/>
                          <a:cs typeface="Arial"/>
                        </a:rPr>
                        <a:t>Reads</a:t>
                      </a:r>
                    </a:p>
                  </a:txBody>
                  <a:tcPr marL="91440" marR="91440" marT="45720" marB="45720" anchor="ctr">
                    <a:lnR w="0">
                      <a:noFill/>
                    </a:lnR>
                    <a:lnT w="0">
                      <a:noFill/>
                    </a:lnT>
                    <a:lnB w="0">
                      <a:noFill/>
                    </a:lnB>
                    <a:solidFill>
                      <a:srgbClr val="F3F0E9"/>
                    </a:solidFill>
                  </a:tcPr>
                </a:tc>
                <a:tc>
                  <a:txBody>
                    <a:bodyPr/>
                    <a:lstStyle/>
                    <a:p>
                      <a:pPr algn="l"/>
                      <a:r>
                        <a:rPr sz="1080" b="1">
                          <a:solidFill>
                            <a:srgbClr val="151312"/>
                          </a:solidFill>
                          <a:latin typeface="Arial"/>
                          <a:ea typeface="Arial"/>
                          <a:cs typeface="Arial"/>
                        </a:rPr>
                        <a:t>Writes</a:t>
                      </a:r>
                    </a:p>
                  </a:txBody>
                  <a:tcPr marL="91440" marR="91440" marT="45720" marB="45720" anchor="ctr">
                    <a:lnR w="0">
                      <a:noFill/>
                    </a:lnR>
                    <a:lnT w="0">
                      <a:noFill/>
                    </a:lnT>
                    <a:lnB w="0">
                      <a:noFill/>
                    </a:lnB>
                    <a:solidFill>
                      <a:srgbClr val="F3F0E9"/>
                    </a:solidFill>
                  </a:tcPr>
                </a:tc>
                <a:tc>
                  <a:txBody>
                    <a:bodyPr/>
                    <a:lstStyle/>
                    <a:p>
                      <a:pPr algn="l"/>
                      <a:r>
                        <a:rPr sz="1080" b="1">
                          <a:solidFill>
                            <a:srgbClr val="151312"/>
                          </a:solidFill>
                          <a:latin typeface="Arial"/>
                          <a:ea typeface="Arial"/>
                          <a:cs typeface="Arial"/>
                        </a:rPr>
                        <a:t>Skipped when</a:t>
                      </a:r>
                    </a:p>
                  </a:txBody>
                  <a:tcPr marL="91440" marR="91440" marT="45720" marB="45720" anchor="ctr">
                    <a:lnR w="0">
                      <a:noFill/>
                    </a:lnR>
                    <a:lnT w="0">
                      <a:noFill/>
                    </a:lnT>
                    <a:lnB w="0">
                      <a:noFill/>
                    </a:lnB>
                    <a:solidFill>
                      <a:srgbClr val="F3F0E9"/>
                    </a:solidFill>
                  </a:tcPr>
                </a:tc>
              </a:tr>
              <a:tr h="377952">
                <a:tc>
                  <a:txBody>
                    <a:bodyPr/>
                    <a:lstStyle/>
                    <a:p>
                      <a:pPr algn="l"/>
                      <a:r>
                        <a:rPr sz="1260" b="1">
                          <a:solidFill>
                            <a:srgbClr val="45413C"/>
                          </a:solidFill>
                          <a:latin typeface="Arial"/>
                          <a:ea typeface="Arial"/>
                          <a:cs typeface="Arial"/>
                        </a:rPr>
                        <a:t>collect</a:t>
                      </a:r>
                    </a:p>
                  </a:txBody>
                  <a:tcPr marL="91440" marR="91440" marT="45720" marB="45720" anchor="ctr">
                    <a:lnL w="0">
                      <a:noFill/>
                    </a:lnL>
                    <a:lnR w="0">
                      <a:noFill/>
                    </a:lnR>
                    <a:lnB w="0">
                      <a:noFill/>
                    </a:lnB>
                    <a:solidFill>
                      <a:srgbClr val="FFFEFB"/>
                    </a:solidFill>
                  </a:tcPr>
                </a:tc>
                <a:tc>
                  <a:txBody>
                    <a:bodyPr/>
                    <a:lstStyle/>
                    <a:p>
                      <a:pPr algn="l"/>
                      <a:r>
                        <a:rPr sz="1260" b="0">
                          <a:solidFill>
                            <a:srgbClr val="45413C"/>
                          </a:solidFill>
                          <a:latin typeface="Arial"/>
                          <a:ea typeface="Arial"/>
                          <a:cs typeface="Arial"/>
                        </a:rPr>
                        <a:t>Fed calendar and pages, cached by URL</a:t>
                      </a:r>
                    </a:p>
                  </a:txBody>
                  <a:tcPr marL="91440" marR="91440" marT="45720" marB="45720" anchor="ctr">
                    <a:lnR w="0">
                      <a:noFill/>
                    </a:lnR>
                    <a:lnB w="0">
                      <a:noFill/>
                    </a:lnB>
                    <a:solidFill>
                      <a:srgbClr val="FFFEFB"/>
                    </a:solidFill>
                  </a:tcPr>
                </a:tc>
                <a:tc>
                  <a:txBody>
                    <a:bodyPr/>
                    <a:lstStyle/>
                    <a:p>
                      <a:pPr algn="l"/>
                      <a:r>
                        <a:rPr sz="1260" b="0">
                          <a:solidFill>
                            <a:srgbClr val="45413C"/>
                          </a:solidFill>
                          <a:latin typeface="Arial"/>
                          <a:ea typeface="Arial"/>
                          <a:cs typeface="Arial"/>
                        </a:rPr>
                        <a:t>documents, full-text index, committee</a:t>
                      </a:r>
                    </a:p>
                  </a:txBody>
                  <a:tcPr marL="91440" marR="91440" marT="45720" marB="45720" anchor="ctr">
                    <a:lnR w="0">
                      <a:noFill/>
                    </a:lnR>
                    <a:lnB w="0">
                      <a:noFill/>
                    </a:lnB>
                    <a:solidFill>
                      <a:srgbClr val="FFFEFB"/>
                    </a:solidFill>
                  </a:tcPr>
                </a:tc>
                <a:tc>
                  <a:txBody>
                    <a:bodyPr/>
                    <a:lstStyle/>
                    <a:p>
                      <a:pPr algn="l"/>
                      <a:r>
                        <a:rPr sz="1260" b="0">
                          <a:solidFill>
                            <a:srgbClr val="45413C"/>
                          </a:solidFill>
                          <a:latin typeface="Arial"/>
                          <a:ea typeface="Arial"/>
                          <a:cs typeface="Arial"/>
                        </a:rPr>
                        <a:t>never: always runs</a:t>
                      </a:r>
                    </a:p>
                  </a:txBody>
                  <a:tcPr marL="91440" marR="91440" marT="45720" marB="45720" anchor="ctr">
                    <a:lnR w="0">
                      <a:noFill/>
                    </a:lnR>
                    <a:lnB w="0">
                      <a:noFill/>
                    </a:lnB>
                    <a:solidFill>
                      <a:srgbClr val="FFFEFB"/>
                    </a:solidFill>
                  </a:tcPr>
                </a:tc>
              </a:tr>
              <a:tr h="377952">
                <a:tc>
                  <a:txBody>
                    <a:bodyPr/>
                    <a:lstStyle/>
                    <a:p>
                      <a:pPr algn="l"/>
                      <a:r>
                        <a:rPr sz="1260" b="1">
                          <a:solidFill>
                            <a:srgbClr val="45413C"/>
                          </a:solidFill>
                          <a:latin typeface="Arial"/>
                          <a:ea typeface="Arial"/>
                          <a:cs typeface="Arial"/>
                        </a:rPr>
                        <a:t>market</a:t>
                      </a:r>
                    </a:p>
                  </a:txBody>
                  <a:tcPr marL="91440" marR="91440" marT="45720" marB="45720" anchor="ctr">
                    <a:lnL w="0">
                      <a:noFill/>
                    </a:lnL>
                    <a:lnR w="0">
                      <a:noFill/>
                    </a:lnR>
                    <a:lnB w="0">
                      <a:noFill/>
                    </a:lnB>
                    <a:solidFill>
                      <a:srgbClr val="FFFEFB"/>
                    </a:solidFill>
                  </a:tcPr>
                </a:tc>
                <a:tc>
                  <a:txBody>
                    <a:bodyPr/>
                    <a:lstStyle/>
                    <a:p>
                      <a:pPr algn="l"/>
                      <a:r>
                        <a:rPr sz="1260" b="0">
                          <a:solidFill>
                            <a:srgbClr val="45413C"/>
                          </a:solidFill>
                          <a:latin typeface="Arial"/>
                          <a:ea typeface="Arial"/>
                          <a:cs typeface="Arial"/>
                        </a:rPr>
                        <a:t>FRED (Treasury fallback), Yahoo, New York Fed</a:t>
                      </a:r>
                    </a:p>
                  </a:txBody>
                  <a:tcPr marL="91440" marR="91440" marT="45720" marB="45720" anchor="ctr">
                    <a:lnR w="0">
                      <a:noFill/>
                    </a:lnR>
                    <a:lnB w="0">
                      <a:noFill/>
                    </a:lnB>
                    <a:solidFill>
                      <a:srgbClr val="FFFEFB"/>
                    </a:solidFill>
                  </a:tcPr>
                </a:tc>
                <a:tc>
                  <a:txBody>
                    <a:bodyPr/>
                    <a:lstStyle/>
                    <a:p>
                      <a:pPr algn="l"/>
                      <a:r>
                        <a:rPr sz="1260" b="0">
                          <a:solidFill>
                            <a:srgbClr val="45413C"/>
                          </a:solidFill>
                          <a:latin typeface="Arial"/>
                          <a:ea typeface="Arial"/>
                          <a:cs typeface="Arial"/>
                        </a:rPr>
                        <a:t>yields, etf_prices, policy_rates</a:t>
                      </a:r>
                    </a:p>
                  </a:txBody>
                  <a:tcPr marL="91440" marR="91440" marT="45720" marB="45720" anchor="ctr">
                    <a:lnR w="0">
                      <a:noFill/>
                    </a:lnR>
                    <a:lnB w="0">
                      <a:noFill/>
                    </a:lnB>
                    <a:solidFill>
                      <a:srgbClr val="FFFEFB"/>
                    </a:solidFill>
                  </a:tcPr>
                </a:tc>
                <a:tc>
                  <a:txBody>
                    <a:bodyPr/>
                    <a:lstStyle/>
                    <a:p>
                      <a:pPr algn="l"/>
                      <a:r>
                        <a:rPr sz="1260" b="0">
                          <a:solidFill>
                            <a:srgbClr val="45413C"/>
                          </a:solidFill>
                          <a:latin typeface="Arial"/>
                          <a:ea typeface="Arial"/>
                          <a:cs typeface="Arial"/>
                        </a:rPr>
                        <a:t>once a day</a:t>
                      </a:r>
                    </a:p>
                  </a:txBody>
                  <a:tcPr marL="91440" marR="91440" marT="45720" marB="45720" anchor="ctr">
                    <a:lnR w="0">
                      <a:noFill/>
                    </a:lnR>
                    <a:lnB w="0">
                      <a:noFill/>
                    </a:lnB>
                    <a:solidFill>
                      <a:srgbClr val="FFFEFB"/>
                    </a:solidFill>
                  </a:tcPr>
                </a:tc>
              </a:tr>
              <a:tr h="377952">
                <a:tc>
                  <a:txBody>
                    <a:bodyPr/>
                    <a:lstStyle/>
                    <a:p>
                      <a:pPr algn="l"/>
                      <a:r>
                        <a:rPr sz="1260" b="1">
                          <a:solidFill>
                            <a:srgbClr val="45413C"/>
                          </a:solidFill>
                          <a:latin typeface="Arial"/>
                          <a:ea typeface="Arial"/>
                          <a:cs typeface="Arial"/>
                        </a:rPr>
                        <a:t>events</a:t>
                      </a:r>
                    </a:p>
                  </a:txBody>
                  <a:tcPr marL="91440" marR="91440" marT="45720" marB="45720" anchor="ctr">
                    <a:lnL w="0">
                      <a:noFill/>
                    </a:lnL>
                    <a:lnR w="0">
                      <a:noFill/>
                    </a:lnR>
                    <a:lnB w="0">
                      <a:noFill/>
                    </a:lnB>
                    <a:solidFill>
                      <a:srgbClr val="FFFEFB"/>
                    </a:solidFill>
                  </a:tcPr>
                </a:tc>
                <a:tc>
                  <a:txBody>
                    <a:bodyPr/>
                    <a:lstStyle/>
                    <a:p>
                      <a:pPr algn="l"/>
                      <a:r>
                        <a:rPr sz="1260" b="0">
                          <a:solidFill>
                            <a:srgbClr val="45413C"/>
                          </a:solidFill>
                          <a:latin typeface="Arial"/>
                          <a:ea typeface="Arial"/>
                          <a:cs typeface="Arial"/>
                        </a:rPr>
                        <a:t>documents, yields, ETF closes</a:t>
                      </a:r>
                    </a:p>
                  </a:txBody>
                  <a:tcPr marL="91440" marR="91440" marT="45720" marB="45720" anchor="ctr">
                    <a:lnR w="0">
                      <a:noFill/>
                    </a:lnR>
                    <a:lnB w="0">
                      <a:noFill/>
                    </a:lnB>
                    <a:solidFill>
                      <a:srgbClr val="FFFEFB"/>
                    </a:solidFill>
                  </a:tcPr>
                </a:tc>
                <a:tc>
                  <a:txBody>
                    <a:bodyPr/>
                    <a:lstStyle/>
                    <a:p>
                      <a:pPr algn="l"/>
                      <a:r>
                        <a:rPr sz="1260" b="0">
                          <a:solidFill>
                            <a:srgbClr val="45413C"/>
                          </a:solidFill>
                          <a:latin typeface="Arial"/>
                          <a:ea typeface="Arial"/>
                          <a:cs typeface="Arial"/>
                        </a:rPr>
                        <a:t>events, decisions</a:t>
                      </a:r>
                    </a:p>
                  </a:txBody>
                  <a:tcPr marL="91440" marR="91440" marT="45720" marB="45720" anchor="ctr">
                    <a:lnR w="0">
                      <a:noFill/>
                    </a:lnR>
                    <a:lnB w="0">
                      <a:noFill/>
                    </a:lnB>
                    <a:solidFill>
                      <a:srgbClr val="FFFEFB"/>
                    </a:solidFill>
                  </a:tcPr>
                </a:tc>
                <a:tc>
                  <a:txBody>
                    <a:bodyPr/>
                    <a:lstStyle/>
                    <a:p>
                      <a:pPr algn="l"/>
                      <a:r>
                        <a:rPr sz="1260" b="0">
                          <a:solidFill>
                            <a:srgbClr val="45413C"/>
                          </a:solidFill>
                          <a:latin typeface="Arial"/>
                          <a:ea typeface="Arial"/>
                          <a:cs typeface="Arial"/>
                        </a:rPr>
                        <a:t>inputs unchanged</a:t>
                      </a:r>
                    </a:p>
                  </a:txBody>
                  <a:tcPr marL="91440" marR="91440" marT="45720" marB="45720" anchor="ctr">
                    <a:lnR w="0">
                      <a:noFill/>
                    </a:lnR>
                    <a:lnB w="0">
                      <a:noFill/>
                    </a:lnB>
                    <a:solidFill>
                      <a:srgbClr val="FFFEFB"/>
                    </a:solidFill>
                  </a:tcPr>
                </a:tc>
              </a:tr>
              <a:tr h="377952">
                <a:tc>
                  <a:txBody>
                    <a:bodyPr/>
                    <a:lstStyle/>
                    <a:p>
                      <a:pPr algn="l"/>
                      <a:r>
                        <a:rPr sz="1260" b="1">
                          <a:solidFill>
                            <a:srgbClr val="45413C"/>
                          </a:solidFill>
                          <a:latin typeface="Arial"/>
                          <a:ea typeface="Arial"/>
                          <a:cs typeface="Arial"/>
                        </a:rPr>
                        <a:t>baselines</a:t>
                      </a:r>
                    </a:p>
                  </a:txBody>
                  <a:tcPr marL="91440" marR="91440" marT="45720" marB="45720" anchor="ctr">
                    <a:lnL w="0">
                      <a:noFill/>
                    </a:lnL>
                    <a:lnR w="0">
                      <a:noFill/>
                    </a:lnR>
                    <a:lnB w="0">
                      <a:noFill/>
                    </a:lnB>
                    <a:solidFill>
                      <a:srgbClr val="FFFEFB"/>
                    </a:solidFill>
                  </a:tcPr>
                </a:tc>
                <a:tc>
                  <a:txBody>
                    <a:bodyPr/>
                    <a:lstStyle/>
                    <a:p>
                      <a:pPr algn="l"/>
                      <a:r>
                        <a:rPr sz="1260" b="0">
                          <a:solidFill>
                            <a:srgbClr val="45413C"/>
                          </a:solidFill>
                          <a:latin typeface="Arial"/>
                          <a:ea typeface="Arial"/>
                          <a:cs typeface="Arial"/>
                        </a:rPr>
                        <a:t>texts, labels, saved readers</a:t>
                      </a:r>
                    </a:p>
                  </a:txBody>
                  <a:tcPr marL="91440" marR="91440" marT="45720" marB="45720" anchor="ctr">
                    <a:lnR w="0">
                      <a:noFill/>
                    </a:lnR>
                    <a:lnB w="0">
                      <a:noFill/>
                    </a:lnB>
                    <a:solidFill>
                      <a:srgbClr val="FFFEFB"/>
                    </a:solidFill>
                  </a:tcPr>
                </a:tc>
                <a:tc>
                  <a:txBody>
                    <a:bodyPr/>
                    <a:lstStyle/>
                    <a:p>
                      <a:pPr algn="l"/>
                      <a:r>
                        <a:rPr sz="1260" b="0">
                          <a:solidFill>
                            <a:srgbClr val="45413C"/>
                          </a:solidFill>
                          <a:latin typeface="Arial"/>
                          <a:ea typeface="Arial"/>
                          <a:cs typeface="Arial"/>
                        </a:rPr>
                        <a:t>scores, validity</a:t>
                      </a:r>
                    </a:p>
                  </a:txBody>
                  <a:tcPr marL="91440" marR="91440" marT="45720" marB="45720" anchor="ctr">
                    <a:lnR w="0">
                      <a:noFill/>
                    </a:lnR>
                    <a:lnB w="0">
                      <a:noFill/>
                    </a:lnB>
                    <a:solidFill>
                      <a:srgbClr val="FFFEFB"/>
                    </a:solidFill>
                  </a:tcPr>
                </a:tc>
                <a:tc>
                  <a:txBody>
                    <a:bodyPr/>
                    <a:lstStyle/>
                    <a:p>
                      <a:pPr algn="l"/>
                      <a:r>
                        <a:rPr sz="1260" b="0">
                          <a:solidFill>
                            <a:srgbClr val="45413C"/>
                          </a:solidFill>
                          <a:latin typeface="Arial"/>
                          <a:ea typeface="Arial"/>
                          <a:cs typeface="Arial"/>
                        </a:rPr>
                        <a:t>texts, code, records unchanged</a:t>
                      </a:r>
                    </a:p>
                  </a:txBody>
                  <a:tcPr marL="91440" marR="91440" marT="45720" marB="45720" anchor="ctr">
                    <a:lnR w="0">
                      <a:noFill/>
                    </a:lnR>
                    <a:lnB w="0">
                      <a:noFill/>
                    </a:lnB>
                    <a:solidFill>
                      <a:srgbClr val="FFFEFB"/>
                    </a:solidFill>
                  </a:tcPr>
                </a:tc>
              </a:tr>
              <a:tr h="377952">
                <a:tc>
                  <a:txBody>
                    <a:bodyPr/>
                    <a:lstStyle/>
                    <a:p>
                      <a:pPr algn="l"/>
                      <a:r>
                        <a:rPr sz="1260" b="1">
                          <a:solidFill>
                            <a:srgbClr val="45413C"/>
                          </a:solidFill>
                          <a:latin typeface="Arial"/>
                          <a:ea typeface="Arial"/>
                          <a:cs typeface="Arial"/>
                        </a:rPr>
                        <a:t>llm-sync</a:t>
                      </a:r>
                    </a:p>
                  </a:txBody>
                  <a:tcPr marL="91440" marR="91440" marT="45720" marB="45720" anchor="ctr">
                    <a:lnL w="0">
                      <a:noFill/>
                    </a:lnL>
                    <a:lnR w="0">
                      <a:noFill/>
                    </a:lnR>
                    <a:lnB w="0">
                      <a:noFill/>
                    </a:lnB>
                    <a:solidFill>
                      <a:srgbClr val="FFFEFB"/>
                    </a:solidFill>
                  </a:tcPr>
                </a:tc>
                <a:tc>
                  <a:txBody>
                    <a:bodyPr/>
                    <a:lstStyle/>
                    <a:p>
                      <a:pPr algn="l"/>
                      <a:r>
                        <a:rPr sz="1260" b="0">
                          <a:solidFill>
                            <a:srgbClr val="45413C"/>
                          </a:solidFill>
                          <a:latin typeface="Arial"/>
                          <a:ea typeface="Arial"/>
                          <a:cs typeface="Arial"/>
                        </a:rPr>
                        <a:t>data/llm/*.json</a:t>
                      </a:r>
                    </a:p>
                  </a:txBody>
                  <a:tcPr marL="91440" marR="91440" marT="45720" marB="45720" anchor="ctr">
                    <a:lnR w="0">
                      <a:noFill/>
                    </a:lnR>
                    <a:lnB w="0">
                      <a:noFill/>
                    </a:lnB>
                    <a:solidFill>
                      <a:srgbClr val="FFFEFB"/>
                    </a:solidFill>
                  </a:tcPr>
                </a:tc>
                <a:tc>
                  <a:txBody>
                    <a:bodyPr/>
                    <a:lstStyle/>
                    <a:p>
                      <a:pPr algn="l"/>
                      <a:r>
                        <a:rPr sz="1260" b="0">
                          <a:solidFill>
                            <a:srgbClr val="45413C"/>
                          </a:solidFill>
                          <a:latin typeface="Arial"/>
                          <a:ea typeface="Arial"/>
                          <a:cs typeface="Arial"/>
                        </a:rPr>
                        <a:t>llm_records, scores</a:t>
                      </a:r>
                    </a:p>
                  </a:txBody>
                  <a:tcPr marL="91440" marR="91440" marT="45720" marB="45720" anchor="ctr">
                    <a:lnR w="0">
                      <a:noFill/>
                    </a:lnR>
                    <a:lnB w="0">
                      <a:noFill/>
                    </a:lnB>
                    <a:solidFill>
                      <a:srgbClr val="FFFEFB"/>
                    </a:solidFill>
                  </a:tcPr>
                </a:tc>
                <a:tc>
                  <a:txBody>
                    <a:bodyPr/>
                    <a:lstStyle/>
                    <a:p>
                      <a:pPr algn="l"/>
                      <a:r>
                        <a:rPr sz="1260" b="0">
                          <a:solidFill>
                            <a:srgbClr val="45413C"/>
                          </a:solidFill>
                          <a:latin typeface="Arial"/>
                          <a:ea typeface="Arial"/>
                          <a:cs typeface="Arial"/>
                        </a:rPr>
                        <a:t>records unchanged</a:t>
                      </a:r>
                    </a:p>
                  </a:txBody>
                  <a:tcPr marL="91440" marR="91440" marT="45720" marB="45720" anchor="ctr">
                    <a:lnR w="0">
                      <a:noFill/>
                    </a:lnR>
                    <a:lnB w="0">
                      <a:noFill/>
                    </a:lnB>
                    <a:solidFill>
                      <a:srgbClr val="FFFEFB"/>
                    </a:solidFill>
                  </a:tcPr>
                </a:tc>
              </a:tr>
              <a:tr h="377952">
                <a:tc>
                  <a:txBody>
                    <a:bodyPr/>
                    <a:lstStyle/>
                    <a:p>
                      <a:pPr algn="l"/>
                      <a:r>
                        <a:rPr sz="1260" b="1">
                          <a:solidFill>
                            <a:srgbClr val="45413C"/>
                          </a:solidFill>
                          <a:latin typeface="Arial"/>
                          <a:ea typeface="Arial"/>
                          <a:cs typeface="Arial"/>
                        </a:rPr>
                        <a:t>audit</a:t>
                      </a:r>
                    </a:p>
                  </a:txBody>
                  <a:tcPr marL="91440" marR="91440" marT="45720" marB="45720" anchor="ctr">
                    <a:lnL w="0">
                      <a:noFill/>
                    </a:lnL>
                    <a:lnR w="0">
                      <a:noFill/>
                    </a:lnR>
                    <a:lnB w="0">
                      <a:noFill/>
                    </a:lnB>
                    <a:solidFill>
                      <a:srgbClr val="FFFEFB"/>
                    </a:solidFill>
                  </a:tcPr>
                </a:tc>
                <a:tc>
                  <a:txBody>
                    <a:bodyPr/>
                    <a:lstStyle/>
                    <a:p>
                      <a:pPr algn="l"/>
                      <a:r>
                        <a:rPr sz="1260" b="0">
                          <a:solidFill>
                            <a:srgbClr val="45413C"/>
                          </a:solidFill>
                          <a:latin typeface="Arial"/>
                          <a:ea typeface="Arial"/>
                          <a:cs typeface="Arial"/>
                        </a:rPr>
                        <a:t>masked, repeated and re-read records</a:t>
                      </a:r>
                    </a:p>
                  </a:txBody>
                  <a:tcPr marL="91440" marR="91440" marT="45720" marB="45720" anchor="ctr">
                    <a:lnR w="0">
                      <a:noFill/>
                    </a:lnR>
                    <a:lnB w="0">
                      <a:noFill/>
                    </a:lnB>
                    <a:solidFill>
                      <a:srgbClr val="FFFEFB"/>
                    </a:solidFill>
                  </a:tcPr>
                </a:tc>
                <a:tc>
                  <a:txBody>
                    <a:bodyPr/>
                    <a:lstStyle/>
                    <a:p>
                      <a:pPr algn="l"/>
                      <a:r>
                        <a:rPr sz="1260" b="0">
                          <a:solidFill>
                            <a:srgbClr val="45413C"/>
                          </a:solidFill>
                          <a:latin typeface="Arial"/>
                          <a:ea typeface="Arial"/>
                          <a:cs typeface="Arial"/>
                        </a:rPr>
                        <a:t>meta.audit</a:t>
                      </a:r>
                    </a:p>
                  </a:txBody>
                  <a:tcPr marL="91440" marR="91440" marT="45720" marB="45720" anchor="ctr">
                    <a:lnR w="0">
                      <a:noFill/>
                    </a:lnR>
                    <a:lnB w="0">
                      <a:noFill/>
                    </a:lnB>
                    <a:solidFill>
                      <a:srgbClr val="FFFEFB"/>
                    </a:solidFill>
                  </a:tcPr>
                </a:tc>
                <a:tc>
                  <a:txBody>
                    <a:bodyPr/>
                    <a:lstStyle/>
                    <a:p>
                      <a:pPr algn="l"/>
                      <a:r>
                        <a:rPr sz="1260" b="0">
                          <a:solidFill>
                            <a:srgbClr val="45413C"/>
                          </a:solidFill>
                          <a:latin typeface="Arial"/>
                          <a:ea typeface="Arial"/>
                          <a:cs typeface="Arial"/>
                        </a:rPr>
                        <a:t>records unchanged</a:t>
                      </a:r>
                    </a:p>
                  </a:txBody>
                  <a:tcPr marL="91440" marR="91440" marT="45720" marB="45720" anchor="ctr">
                    <a:lnR w="0">
                      <a:noFill/>
                    </a:lnR>
                    <a:lnB w="0">
                      <a:noFill/>
                    </a:lnB>
                    <a:solidFill>
                      <a:srgbClr val="FFFEFB"/>
                    </a:solidFill>
                  </a:tcPr>
                </a:tc>
              </a:tr>
              <a:tr h="377952">
                <a:tc>
                  <a:txBody>
                    <a:bodyPr/>
                    <a:lstStyle/>
                    <a:p>
                      <a:pPr algn="l"/>
                      <a:r>
                        <a:rPr sz="1260" b="1">
                          <a:solidFill>
                            <a:srgbClr val="45413C"/>
                          </a:solidFill>
                          <a:latin typeface="Arial"/>
                          <a:ea typeface="Arial"/>
                          <a:cs typeface="Arial"/>
                        </a:rPr>
                        <a:t>evaluate</a:t>
                      </a:r>
                    </a:p>
                  </a:txBody>
                  <a:tcPr marL="91440" marR="91440" marT="45720" marB="45720" anchor="ctr">
                    <a:lnL w="0">
                      <a:noFill/>
                    </a:lnL>
                    <a:lnR w="0">
                      <a:noFill/>
                    </a:lnR>
                    <a:lnB w="0">
                      <a:noFill/>
                    </a:lnB>
                    <a:solidFill>
                      <a:srgbClr val="FFFEFB"/>
                    </a:solidFill>
                  </a:tcPr>
                </a:tc>
                <a:tc>
                  <a:txBody>
                    <a:bodyPr/>
                    <a:lstStyle/>
                    <a:p>
                      <a:pPr algn="l"/>
                      <a:r>
                        <a:rPr sz="1260" b="0">
                          <a:solidFill>
                            <a:srgbClr val="45413C"/>
                          </a:solidFill>
                          <a:latin typeface="Arial"/>
                          <a:ea typeface="Arial"/>
                          <a:cs typeface="Arial"/>
                        </a:rPr>
                        <a:t>scores, events, yields</a:t>
                      </a:r>
                    </a:p>
                  </a:txBody>
                  <a:tcPr marL="91440" marR="91440" marT="45720" marB="45720" anchor="ctr">
                    <a:lnR w="0">
                      <a:noFill/>
                    </a:lnR>
                    <a:lnB w="0">
                      <a:noFill/>
                    </a:lnB>
                    <a:solidFill>
                      <a:srgbClr val="FFFEFB"/>
                    </a:solidFill>
                  </a:tcPr>
                </a:tc>
                <a:tc>
                  <a:txBody>
                    <a:bodyPr/>
                    <a:lstStyle/>
                    <a:p>
                      <a:pPr algn="l"/>
                      <a:r>
                        <a:rPr sz="1260" b="0">
                          <a:solidFill>
                            <a:srgbClr val="45413C"/>
                          </a:solidFill>
                          <a:latin typeface="Arial"/>
                          <a:ea typeface="Arial"/>
                          <a:cs typeface="Arial"/>
                        </a:rPr>
                        <a:t>event_study, event_curves</a:t>
                      </a:r>
                    </a:p>
                  </a:txBody>
                  <a:tcPr marL="91440" marR="91440" marT="45720" marB="45720" anchor="ctr">
                    <a:lnR w="0">
                      <a:noFill/>
                    </a:lnR>
                    <a:lnB w="0">
                      <a:noFill/>
                    </a:lnB>
                    <a:solidFill>
                      <a:srgbClr val="FFFEFB"/>
                    </a:solidFill>
                  </a:tcPr>
                </a:tc>
                <a:tc>
                  <a:txBody>
                    <a:bodyPr/>
                    <a:lstStyle/>
                    <a:p>
                      <a:pPr algn="l"/>
                      <a:r>
                        <a:rPr sz="1260" b="0">
                          <a:solidFill>
                            <a:srgbClr val="45413C"/>
                          </a:solidFill>
                          <a:latin typeface="Arial"/>
                          <a:ea typeface="Arial"/>
                          <a:cs typeface="Arial"/>
                        </a:rPr>
                        <a:t>frozen since the freeze</a:t>
                      </a:r>
                    </a:p>
                  </a:txBody>
                  <a:tcPr marL="91440" marR="91440" marT="45720" marB="45720" anchor="ctr">
                    <a:lnR w="0">
                      <a:noFill/>
                    </a:lnR>
                    <a:lnB w="0">
                      <a:noFill/>
                    </a:lnB>
                    <a:solidFill>
                      <a:srgbClr val="FFFEFB"/>
                    </a:solidFill>
                  </a:tcPr>
                </a:tc>
              </a:tr>
              <a:tr h="377952">
                <a:tc>
                  <a:txBody>
                    <a:bodyPr/>
                    <a:lstStyle/>
                    <a:p>
                      <a:pPr algn="l"/>
                      <a:r>
                        <a:rPr sz="1260" b="1">
                          <a:solidFill>
                            <a:srgbClr val="45413C"/>
                          </a:solidFill>
                          <a:latin typeface="Arial"/>
                          <a:ea typeface="Arial"/>
                          <a:cs typeface="Arial"/>
                        </a:rPr>
                        <a:t>backtest</a:t>
                      </a:r>
                    </a:p>
                  </a:txBody>
                  <a:tcPr marL="91440" marR="91440" marT="45720" marB="45720" anchor="ctr">
                    <a:lnL w="0">
                      <a:noFill/>
                    </a:lnL>
                    <a:lnR w="0">
                      <a:noFill/>
                    </a:lnR>
                    <a:lnB w="0">
                      <a:noFill/>
                    </a:lnB>
                    <a:solidFill>
                      <a:srgbClr val="FFFEFB"/>
                    </a:solidFill>
                  </a:tcPr>
                </a:tc>
                <a:tc>
                  <a:txBody>
                    <a:bodyPr/>
                    <a:lstStyle/>
                    <a:p>
                      <a:pPr algn="l"/>
                      <a:r>
                        <a:rPr sz="1260" b="0">
                          <a:solidFill>
                            <a:srgbClr val="45413C"/>
                          </a:solidFill>
                          <a:latin typeface="Arial"/>
                          <a:ea typeface="Arial"/>
                          <a:cs typeface="Arial"/>
                        </a:rPr>
                        <a:t>scores, events, ETF closes</a:t>
                      </a:r>
                    </a:p>
                  </a:txBody>
                  <a:tcPr marL="91440" marR="91440" marT="45720" marB="45720" anchor="ctr">
                    <a:lnR w="0">
                      <a:noFill/>
                    </a:lnR>
                    <a:lnB w="0">
                      <a:noFill/>
                    </a:lnB>
                    <a:solidFill>
                      <a:srgbClr val="FFFEFB"/>
                    </a:solidFill>
                  </a:tcPr>
                </a:tc>
                <a:tc>
                  <a:txBody>
                    <a:bodyPr/>
                    <a:lstStyle/>
                    <a:p>
                      <a:pPr algn="l"/>
                      <a:r>
                        <a:rPr sz="1260" b="0">
                          <a:solidFill>
                            <a:srgbClr val="45413C"/>
                          </a:solidFill>
                          <a:latin typeface="Arial"/>
                          <a:ea typeface="Arial"/>
                          <a:cs typeface="Arial"/>
                        </a:rPr>
                        <a:t>backtests, backtest_curves</a:t>
                      </a:r>
                    </a:p>
                  </a:txBody>
                  <a:tcPr marL="91440" marR="91440" marT="45720" marB="45720" anchor="ctr">
                    <a:lnR w="0">
                      <a:noFill/>
                    </a:lnR>
                    <a:lnB w="0">
                      <a:noFill/>
                    </a:lnB>
                    <a:solidFill>
                      <a:srgbClr val="FFFEFB"/>
                    </a:solidFill>
                  </a:tcPr>
                </a:tc>
                <a:tc>
                  <a:txBody>
                    <a:bodyPr/>
                    <a:lstStyle/>
                    <a:p>
                      <a:pPr algn="l"/>
                      <a:r>
                        <a:rPr sz="1260" b="0">
                          <a:solidFill>
                            <a:srgbClr val="45413C"/>
                          </a:solidFill>
                          <a:latin typeface="Arial"/>
                          <a:ea typeface="Arial"/>
                          <a:cs typeface="Arial"/>
                        </a:rPr>
                        <a:t>frozen</a:t>
                      </a:r>
                    </a:p>
                  </a:txBody>
                  <a:tcPr marL="91440" marR="91440" marT="45720" marB="45720" anchor="ctr">
                    <a:lnR w="0">
                      <a:noFill/>
                    </a:lnR>
                    <a:lnB w="0">
                      <a:noFill/>
                    </a:lnB>
                    <a:solidFill>
                      <a:srgbClr val="FFFEFB"/>
                    </a:solidFill>
                  </a:tcPr>
                </a:tc>
              </a:tr>
              <a:tr h="377952">
                <a:tc>
                  <a:txBody>
                    <a:bodyPr/>
                    <a:lstStyle/>
                    <a:p>
                      <a:pPr algn="l"/>
                      <a:r>
                        <a:rPr sz="1260" b="1">
                          <a:solidFill>
                            <a:srgbClr val="45413C"/>
                          </a:solidFill>
                          <a:latin typeface="Arial"/>
                          <a:ea typeface="Arial"/>
                          <a:cs typeface="Arial"/>
                        </a:rPr>
                        <a:t>forecast</a:t>
                      </a:r>
                    </a:p>
                  </a:txBody>
                  <a:tcPr marL="91440" marR="91440" marT="45720" marB="45720" anchor="ctr">
                    <a:lnL w="0">
                      <a:noFill/>
                    </a:lnL>
                    <a:lnR w="0">
                      <a:noFill/>
                    </a:lnR>
                    <a:lnB w="0">
                      <a:noFill/>
                    </a:lnB>
                    <a:solidFill>
                      <a:srgbClr val="FFFEFB"/>
                    </a:solidFill>
                  </a:tcPr>
                </a:tc>
                <a:tc>
                  <a:txBody>
                    <a:bodyPr/>
                    <a:lstStyle/>
                    <a:p>
                      <a:pPr algn="l"/>
                      <a:r>
                        <a:rPr sz="1260" b="0">
                          <a:solidFill>
                            <a:srgbClr val="45413C"/>
                          </a:solidFill>
                          <a:latin typeface="Arial"/>
                          <a:ea typeface="Arial"/>
                          <a:cs typeface="Arial"/>
                        </a:rPr>
                        <a:t>scores, decisions, yields</a:t>
                      </a:r>
                    </a:p>
                  </a:txBody>
                  <a:tcPr marL="91440" marR="91440" marT="45720" marB="45720" anchor="ctr">
                    <a:lnR w="0">
                      <a:noFill/>
                    </a:lnR>
                    <a:lnB w="0">
                      <a:noFill/>
                    </a:lnB>
                    <a:solidFill>
                      <a:srgbClr val="FFFEFB"/>
                    </a:solidFill>
                  </a:tcPr>
                </a:tc>
                <a:tc>
                  <a:txBody>
                    <a:bodyPr/>
                    <a:lstStyle/>
                    <a:p>
                      <a:pPr algn="l"/>
                      <a:r>
                        <a:rPr sz="1260" b="0">
                          <a:solidFill>
                            <a:srgbClr val="45413C"/>
                          </a:solidFill>
                          <a:latin typeface="Arial"/>
                          <a:ea typeface="Arial"/>
                          <a:cs typeface="Arial"/>
                        </a:rPr>
                        <a:t>meta.forecast</a:t>
                      </a:r>
                    </a:p>
                  </a:txBody>
                  <a:tcPr marL="91440" marR="91440" marT="45720" marB="45720" anchor="ctr">
                    <a:lnR w="0">
                      <a:noFill/>
                    </a:lnR>
                    <a:lnB w="0">
                      <a:noFill/>
                    </a:lnB>
                    <a:solidFill>
                      <a:srgbClr val="FFFEFB"/>
                    </a:solidFill>
                  </a:tcPr>
                </a:tc>
                <a:tc>
                  <a:txBody>
                    <a:bodyPr/>
                    <a:lstStyle/>
                    <a:p>
                      <a:pPr algn="l"/>
                      <a:r>
                        <a:rPr sz="1260" b="0">
                          <a:solidFill>
                            <a:srgbClr val="45413C"/>
                          </a:solidFill>
                          <a:latin typeface="Arial"/>
                          <a:ea typeface="Arial"/>
                          <a:cs typeface="Arial"/>
                        </a:rPr>
                        <a:t>frozen</a:t>
                      </a:r>
                    </a:p>
                  </a:txBody>
                  <a:tcPr marL="91440" marR="91440" marT="45720" marB="45720" anchor="ctr">
                    <a:lnR w="0">
                      <a:noFill/>
                    </a:lnR>
                    <a:lnB w="0">
                      <a:noFill/>
                    </a:lnB>
                    <a:solidFill>
                      <a:srgbClr val="FFFEFB"/>
                    </a:solidFill>
                  </a:tcPr>
                </a:tc>
              </a:tr>
              <a:tr h="377952">
                <a:tc>
                  <a:txBody>
                    <a:bodyPr/>
                    <a:lstStyle/>
                    <a:p>
                      <a:pPr algn="l"/>
                      <a:r>
                        <a:rPr sz="1260" b="1">
                          <a:solidFill>
                            <a:srgbClr val="45413C"/>
                          </a:solidFill>
                          <a:latin typeface="Arial"/>
                          <a:ea typeface="Arial"/>
                          <a:cs typeface="Arial"/>
                        </a:rPr>
                        <a:t>forward</a:t>
                      </a:r>
                    </a:p>
                  </a:txBody>
                  <a:tcPr marL="91440" marR="91440" marT="45720" marB="45720" anchor="ctr">
                    <a:lnL w="0">
                      <a:noFill/>
                    </a:lnL>
                    <a:lnR w="0">
                      <a:noFill/>
                    </a:lnR>
                    <a:lnB w="0">
                      <a:noFill/>
                    </a:lnB>
                    <a:solidFill>
                      <a:srgbClr val="FFFEFB"/>
                    </a:solidFill>
                  </a:tcPr>
                </a:tc>
                <a:tc>
                  <a:txBody>
                    <a:bodyPr/>
                    <a:lstStyle/>
                    <a:p>
                      <a:pPr algn="l"/>
                      <a:r>
                        <a:rPr sz="1260" b="0">
                          <a:solidFill>
                            <a:srgbClr val="45413C"/>
                          </a:solidFill>
                          <a:latin typeface="Arial"/>
                          <a:ea typeface="Arial"/>
                          <a:cs typeface="Arial"/>
                        </a:rPr>
                        <a:t>the same, after the freeze</a:t>
                      </a:r>
                    </a:p>
                  </a:txBody>
                  <a:tcPr marL="91440" marR="91440" marT="45720" marB="45720" anchor="ctr">
                    <a:lnR w="0">
                      <a:noFill/>
                    </a:lnR>
                    <a:lnB w="0">
                      <a:noFill/>
                    </a:lnB>
                    <a:solidFill>
                      <a:srgbClr val="FFFEFB"/>
                    </a:solidFill>
                  </a:tcPr>
                </a:tc>
                <a:tc>
                  <a:txBody>
                    <a:bodyPr/>
                    <a:lstStyle/>
                    <a:p>
                      <a:pPr algn="l"/>
                      <a:r>
                        <a:rPr sz="1260" b="0">
                          <a:solidFill>
                            <a:srgbClr val="45413C"/>
                          </a:solidFill>
                          <a:latin typeface="Arial"/>
                          <a:ea typeface="Arial"/>
                          <a:cs typeface="Arial"/>
                        </a:rPr>
                        <a:t>meta.forward</a:t>
                      </a:r>
                    </a:p>
                  </a:txBody>
                  <a:tcPr marL="91440" marR="91440" marT="45720" marB="45720" anchor="ctr">
                    <a:lnR w="0">
                      <a:noFill/>
                    </a:lnR>
                    <a:lnB w="0">
                      <a:noFill/>
                    </a:lnB>
                    <a:solidFill>
                      <a:srgbClr val="FFFEFB"/>
                    </a:solidFill>
                  </a:tcPr>
                </a:tc>
                <a:tc>
                  <a:txBody>
                    <a:bodyPr/>
                    <a:lstStyle/>
                    <a:p>
                      <a:pPr algn="l"/>
                      <a:r>
                        <a:rPr sz="1260" b="0">
                          <a:solidFill>
                            <a:srgbClr val="45413C"/>
                          </a:solidFill>
                          <a:latin typeface="Arial"/>
                          <a:ea typeface="Arial"/>
                          <a:cs typeface="Arial"/>
                        </a:rPr>
                        <a:t>inputs unchanged</a:t>
                      </a:r>
                    </a:p>
                  </a:txBody>
                  <a:tcPr marL="91440" marR="91440" marT="45720" marB="45720" anchor="ctr">
                    <a:lnR w="0">
                      <a:noFill/>
                    </a:lnR>
                    <a:lnB w="0">
                      <a:noFill/>
                    </a:lnB>
                    <a:solidFill>
                      <a:srgbClr val="FFFEFB"/>
                    </a:solidFill>
                  </a:tcPr>
                </a:tc>
              </a:tr>
            </a:tbl>
          </a:graphicData>
        </a:graphic>
      </p:graphicFrame>
      <p:sp>
        <p:nvSpPr>
          <p:cNvPr id="15" name="">
            <a:extLst xmlns:a="http://schemas.openxmlformats.org/drawingml/2006/main">
              <a:ext uri="{FF2B5EF4-FFF2-40B4-BE49-F238E27FC236}">
                <a16:creationId xmlns:a16="http://schemas.microsoft.com/office/drawing/2014/main" id="{4D8C127F-6E9D-4F69-BBAD-580C37C0E9B4}"/>
              </a:ext>
            </a:extLst>
          </p:cNvPr>
          <p:cNvSpPr>
            <a:spLocks xmlns:a="http://schemas.openxmlformats.org/drawingml/2006/main" noGrp="1"/>
          </p:cNvSpPr>
          <p:nvPr/>
        </p:nvSpPr>
        <p:spPr>
          <a:xfrm xmlns:a="http://schemas.openxmlformats.org/drawingml/2006/main">
            <a:off x="609585" y="2392680"/>
            <a:ext cx="10972526"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8556DFC-E62F-4E4E-A9B3-3BCC9B0CC8A3}"/>
              </a:ext>
            </a:extLst>
          </p:cNvPr>
          <p:cNvSpPr>
            <a:spLocks xmlns:a="http://schemas.openxmlformats.org/drawingml/2006/main" noGrp="1"/>
          </p:cNvSpPr>
          <p:nvPr/>
        </p:nvSpPr>
        <p:spPr>
          <a:xfrm xmlns:a="http://schemas.openxmlformats.org/drawingml/2006/main">
            <a:off x="609585" y="2770632"/>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3783C11-EE15-4DC6-9D94-975599D00D91}"/>
              </a:ext>
            </a:extLst>
          </p:cNvPr>
          <p:cNvSpPr>
            <a:spLocks xmlns:a="http://schemas.openxmlformats.org/drawingml/2006/main" noGrp="1"/>
          </p:cNvSpPr>
          <p:nvPr/>
        </p:nvSpPr>
        <p:spPr>
          <a:xfrm xmlns:a="http://schemas.openxmlformats.org/drawingml/2006/main">
            <a:off x="609585" y="3148584"/>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08EA5D5-DF9E-440E-9B15-2EC34FDBD374}"/>
              </a:ext>
            </a:extLst>
          </p:cNvPr>
          <p:cNvSpPr>
            <a:spLocks xmlns:a="http://schemas.openxmlformats.org/drawingml/2006/main" noGrp="1"/>
          </p:cNvSpPr>
          <p:nvPr/>
        </p:nvSpPr>
        <p:spPr>
          <a:xfrm xmlns:a="http://schemas.openxmlformats.org/drawingml/2006/main">
            <a:off x="609585" y="3526536"/>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AFE6B80-0A7F-413F-9063-F743A6E02FE2}"/>
              </a:ext>
            </a:extLst>
          </p:cNvPr>
          <p:cNvSpPr>
            <a:spLocks xmlns:a="http://schemas.openxmlformats.org/drawingml/2006/main" noGrp="1"/>
          </p:cNvSpPr>
          <p:nvPr/>
        </p:nvSpPr>
        <p:spPr>
          <a:xfrm xmlns:a="http://schemas.openxmlformats.org/drawingml/2006/main">
            <a:off x="609585" y="3904488"/>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BB4F4BA-C481-4FB5-9066-79B158222123}"/>
              </a:ext>
            </a:extLst>
          </p:cNvPr>
          <p:cNvSpPr>
            <a:spLocks xmlns:a="http://schemas.openxmlformats.org/drawingml/2006/main" noGrp="1"/>
          </p:cNvSpPr>
          <p:nvPr/>
        </p:nvSpPr>
        <p:spPr>
          <a:xfrm xmlns:a="http://schemas.openxmlformats.org/drawingml/2006/main">
            <a:off x="609585" y="4282440"/>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332F22D-17D7-4981-81A8-0780FE7DE9F3}"/>
              </a:ext>
            </a:extLst>
          </p:cNvPr>
          <p:cNvSpPr>
            <a:spLocks xmlns:a="http://schemas.openxmlformats.org/drawingml/2006/main" noGrp="1"/>
          </p:cNvSpPr>
          <p:nvPr/>
        </p:nvSpPr>
        <p:spPr>
          <a:xfrm xmlns:a="http://schemas.openxmlformats.org/drawingml/2006/main">
            <a:off x="609585" y="4660392"/>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E7D28F1-A85F-450C-A7BD-69A948504D21}"/>
              </a:ext>
            </a:extLst>
          </p:cNvPr>
          <p:cNvSpPr>
            <a:spLocks xmlns:a="http://schemas.openxmlformats.org/drawingml/2006/main" noGrp="1"/>
          </p:cNvSpPr>
          <p:nvPr/>
        </p:nvSpPr>
        <p:spPr>
          <a:xfrm xmlns:a="http://schemas.openxmlformats.org/drawingml/2006/main">
            <a:off x="609585" y="5038344"/>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81A151B-FB02-4577-9825-51BD39020D1A}"/>
              </a:ext>
            </a:extLst>
          </p:cNvPr>
          <p:cNvSpPr>
            <a:spLocks xmlns:a="http://schemas.openxmlformats.org/drawingml/2006/main" noGrp="1"/>
          </p:cNvSpPr>
          <p:nvPr/>
        </p:nvSpPr>
        <p:spPr>
          <a:xfrm xmlns:a="http://schemas.openxmlformats.org/drawingml/2006/main">
            <a:off x="609585" y="5416296"/>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9277D6E-74F5-4800-832A-6C7130876D9B}"/>
              </a:ext>
            </a:extLst>
          </p:cNvPr>
          <p:cNvSpPr>
            <a:spLocks xmlns:a="http://schemas.openxmlformats.org/drawingml/2006/main" noGrp="1"/>
          </p:cNvSpPr>
          <p:nvPr/>
        </p:nvSpPr>
        <p:spPr>
          <a:xfrm xmlns:a="http://schemas.openxmlformats.org/drawingml/2006/main">
            <a:off x="609585" y="5794248"/>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8F2F571-B600-42BB-ACF0-8D24345A840B}"/>
              </a:ext>
            </a:extLst>
          </p:cNvPr>
          <p:cNvSpPr>
            <a:spLocks xmlns:a="http://schemas.openxmlformats.org/drawingml/2006/main" noGrp="1"/>
          </p:cNvSpPr>
          <p:nvPr/>
        </p:nvSpPr>
        <p:spPr>
          <a:xfrm xmlns:a="http://schemas.openxmlformats.org/drawingml/2006/main">
            <a:off x="609585" y="6172200"/>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Tree>
    <p:extLst>
      <p:ext uri="{BB962C8B-B14F-4D97-AF65-F5344CB8AC3E}">
        <p14:creationId xmlns:p14="http://schemas.microsoft.com/office/powerpoint/2010/main" val="785024221"/>
      </p:ext>
    </p:extLst>
  </p:cSld>
</p:sld>
</file>

<file path=ppt/slides/slide38.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AD6A19B-0E54-4A20-92C3-AB6F6EA5B5F8}"/>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C6EE3C20-7E89-4F53-AD87-BF08393E78DB}"/>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FORWARD CHECKS AND SYSTEM</a:t>
            </a:r>
          </a:p>
        </p:txBody>
      </p:sp>
      <p:sp>
        <p:nvSpPr>
          <p:cNvPr id="3" name="">
            <a:extLst xmlns:a="http://schemas.openxmlformats.org/drawingml/2006/main">
              <a:ext uri="{FF2B5EF4-FFF2-40B4-BE49-F238E27FC236}">
                <a16:creationId xmlns:a16="http://schemas.microsoft.com/office/drawing/2014/main" id="{6C88E0C7-6797-4367-B664-552F8C7BBAA9}"/>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38 / 46</a:t>
            </a:r>
          </a:p>
        </p:txBody>
      </p:sp>
      <p:sp>
        <p:nvSpPr>
          <p:cNvPr id="4" name="">
            <a:extLst xmlns:a="http://schemas.openxmlformats.org/drawingml/2006/main">
              <a:ext uri="{FF2B5EF4-FFF2-40B4-BE49-F238E27FC236}">
                <a16:creationId xmlns:a16="http://schemas.microsoft.com/office/drawing/2014/main" id="{A5B51EF5-7EEA-4FEB-AA95-0ED3E8F06E17}"/>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98F72B5-52FA-4D1F-AC8E-A927DA41BEFD}"/>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One read-only API serves everything</a:t>
            </a:r>
          </a:p>
        </p:txBody>
      </p:sp>
      <p:sp>
        <p:nvSpPr>
          <p:cNvPr id="6" name="">
            <a:extLst xmlns:a="http://schemas.openxmlformats.org/drawingml/2006/main">
              <a:ext uri="{FF2B5EF4-FFF2-40B4-BE49-F238E27FC236}">
                <a16:creationId xmlns:a16="http://schemas.microsoft.com/office/drawing/2014/main" id="{048482E7-55DE-4768-8540-F37D9B9AD17E}"/>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Read-only and keyless: dashboard, unified story, feed and exports</a:t>
            </a:r>
          </a:p>
        </p:txBody>
      </p:sp>
      <p:sp>
        <p:nvSpPr>
          <p:cNvPr id="7" name="">
            <a:extLst xmlns:a="http://schemas.openxmlformats.org/drawingml/2006/main">
              <a:ext uri="{FF2B5EF4-FFF2-40B4-BE49-F238E27FC236}">
                <a16:creationId xmlns:a16="http://schemas.microsoft.com/office/drawing/2014/main" id="{F508EFE1-C7D3-46C7-BD48-F6A147DD5AD6}"/>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163513A-0667-4131-B81D-8A13AC612247}"/>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api.py and web/app.js.</a:t>
            </a:r>
          </a:p>
        </p:txBody>
      </p:sp>
      <p:sp>
        <p:nvSpPr>
          <p:cNvPr id="9" name="">
            <a:extLst xmlns:a="http://schemas.openxmlformats.org/drawingml/2006/main">
              <a:ext uri="{FF2B5EF4-FFF2-40B4-BE49-F238E27FC236}">
                <a16:creationId xmlns:a16="http://schemas.microsoft.com/office/drawing/2014/main" id="{EFA3E600-3864-4CB5-94F4-8FA30D485194}"/>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4FDCB88-8B74-4DB0-9DFF-0D483E8261EF}"/>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5425B5A-2C79-4A91-B87F-35E83A45D318}"/>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9F93484-35EA-4EE1-AFE6-D671D028DADA}"/>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43067D1-A369-451D-B684-2EEC9524EB29}"/>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3C3C225-BB21-483C-B865-3E25AFE01299}"/>
              </a:ext>
            </a:extLst>
          </p:cNvPr>
          <p:cNvSpPr>
            <a:spLocks xmlns:a="http://schemas.openxmlformats.org/drawingml/2006/main" noGrp="1"/>
          </p:cNvSpPr>
          <p:nvPr/>
        </p:nvSpPr>
        <p:spPr>
          <a:xfrm xmlns:a="http://schemas.openxmlformats.org/drawingml/2006/main">
            <a:off x="609585" y="1920240"/>
            <a:ext cx="3454314"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BC9DB01-D93D-4A30-B05E-CE28E1D46809}"/>
              </a:ext>
            </a:extLst>
          </p:cNvPr>
          <p:cNvSpPr>
            <a:spLocks xmlns:a="http://schemas.openxmlformats.org/drawingml/2006/main" noGrp="1"/>
          </p:cNvSpPr>
          <p:nvPr/>
        </p:nvSpPr>
        <p:spPr>
          <a:xfrm xmlns:a="http://schemas.openxmlformats.org/drawingml/2006/main">
            <a:off x="609585" y="2087880"/>
            <a:ext cx="3454314"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2640" b="1">
                <a:solidFill>
                  <a:srgbClr val="151312"/>
                </a:solidFill>
                <a:latin typeface="Arial"/>
                <a:ea typeface="Arial"/>
                <a:cs typeface="Arial"/>
              </a:defRPr>
            </a:defPPr>
            <a:lvl1pPr algn="l">
              <a:defRPr sz="2640" b="1">
                <a:solidFill>
                  <a:srgbClr val="151312"/>
                </a:solidFill>
                <a:latin typeface="Arial"/>
                <a:ea typeface="Arial"/>
                <a:cs typeface="Arial"/>
              </a:defRPr>
            </a:lvl1pPr>
            <a:lvl2pPr algn="l">
              <a:defRPr sz="2640" b="1">
                <a:solidFill>
                  <a:srgbClr val="151312"/>
                </a:solidFill>
                <a:latin typeface="Arial"/>
                <a:ea typeface="Arial"/>
                <a:cs typeface="Arial"/>
              </a:defRPr>
            </a:lvl2pPr>
            <a:lvl3pPr algn="l">
              <a:defRPr sz="2640" b="1">
                <a:solidFill>
                  <a:srgbClr val="151312"/>
                </a:solidFill>
                <a:latin typeface="Arial"/>
                <a:ea typeface="Arial"/>
                <a:cs typeface="Arial"/>
              </a:defRPr>
            </a:lvl3pPr>
            <a:lvl4pPr algn="l">
              <a:defRPr sz="2640" b="1">
                <a:solidFill>
                  <a:srgbClr val="151312"/>
                </a:solidFill>
                <a:latin typeface="Arial"/>
                <a:ea typeface="Arial"/>
                <a:cs typeface="Arial"/>
              </a:defRPr>
            </a:lvl4pPr>
            <a:lvl5pPr algn="l">
              <a:defRPr sz="2640" b="1">
                <a:solidFill>
                  <a:srgbClr val="151312"/>
                </a:solidFill>
                <a:latin typeface="Arial"/>
                <a:ea typeface="Arial"/>
                <a:cs typeface="Arial"/>
              </a:defRPr>
            </a:lvl5pPr>
            <a:lvl6pPr algn="l">
              <a:defRPr sz="2640" b="1">
                <a:solidFill>
                  <a:srgbClr val="151312"/>
                </a:solidFill>
                <a:latin typeface="Arial"/>
                <a:ea typeface="Arial"/>
                <a:cs typeface="Arial"/>
              </a:defRPr>
            </a:lvl6pPr>
            <a:lvl7pPr algn="l">
              <a:defRPr sz="2640" b="1">
                <a:solidFill>
                  <a:srgbClr val="151312"/>
                </a:solidFill>
                <a:latin typeface="Arial"/>
                <a:ea typeface="Arial"/>
                <a:cs typeface="Arial"/>
              </a:defRPr>
            </a:lvl7pPr>
            <a:lvl8pPr algn="l">
              <a:defRPr sz="2640" b="1">
                <a:solidFill>
                  <a:srgbClr val="151312"/>
                </a:solidFill>
                <a:latin typeface="Arial"/>
                <a:ea typeface="Arial"/>
                <a:cs typeface="Arial"/>
              </a:defRPr>
            </a:lvl8pPr>
            <a:lvl9pPr algn="l">
              <a:defRPr sz="2640" b="1">
                <a:solidFill>
                  <a:srgbClr val="151312"/>
                </a:solidFill>
                <a:latin typeface="Arial"/>
                <a:ea typeface="Arial"/>
                <a:cs typeface="Arial"/>
              </a:defRPr>
            </a:lvl9pPr>
          </a:lstStyle>
          <a:p xmlns:a="http://schemas.openxmlformats.org/drawingml/2006/main">
            <a:pPr algn="l">
              <a:defRPr sz="2640" b="1">
                <a:solidFill>
                  <a:srgbClr val="151312"/>
                </a:solidFill>
                <a:latin typeface="Arial"/>
                <a:ea typeface="Arial"/>
                <a:cs typeface="Arial"/>
              </a:defRPr>
            </a:pPr>
            <a:r>
              <a:rPr sz="2640" b="1">
                <a:solidFill>
                  <a:srgbClr val="151312"/>
                </a:solidFill>
                <a:latin typeface="Arial"/>
                <a:ea typeface="Arial"/>
                <a:cs typeface="Arial"/>
              </a:rPr>
              <a:t>36</a:t>
            </a:r>
          </a:p>
        </p:txBody>
      </p:sp>
      <p:sp>
        <p:nvSpPr>
          <p:cNvPr id="16" name="">
            <a:extLst xmlns:a="http://schemas.openxmlformats.org/drawingml/2006/main">
              <a:ext uri="{FF2B5EF4-FFF2-40B4-BE49-F238E27FC236}">
                <a16:creationId xmlns:a16="http://schemas.microsoft.com/office/drawing/2014/main" id="{C7E86794-9271-4C57-99FC-748D66D683AB}"/>
              </a:ext>
            </a:extLst>
          </p:cNvPr>
          <p:cNvSpPr>
            <a:spLocks xmlns:a="http://schemas.openxmlformats.org/drawingml/2006/main" noGrp="1"/>
          </p:cNvSpPr>
          <p:nvPr/>
        </p:nvSpPr>
        <p:spPr>
          <a:xfrm xmlns:a="http://schemas.openxmlformats.org/drawingml/2006/main">
            <a:off x="609585" y="2758440"/>
            <a:ext cx="3454314"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JSON endpoints; reads revalidate by ETag, a 304 when unchanged</a:t>
            </a:r>
          </a:p>
        </p:txBody>
      </p:sp>
      <p:sp>
        <p:nvSpPr>
          <p:cNvPr id="17" name="">
            <a:extLst xmlns:a="http://schemas.openxmlformats.org/drawingml/2006/main">
              <a:ext uri="{FF2B5EF4-FFF2-40B4-BE49-F238E27FC236}">
                <a16:creationId xmlns:a16="http://schemas.microsoft.com/office/drawing/2014/main" id="{0465AE63-4637-45D1-A8EA-A352A0B3E2FF}"/>
              </a:ext>
            </a:extLst>
          </p:cNvPr>
          <p:cNvSpPr>
            <a:spLocks xmlns:a="http://schemas.openxmlformats.org/drawingml/2006/main" noGrp="1"/>
          </p:cNvSpPr>
          <p:nvPr/>
        </p:nvSpPr>
        <p:spPr>
          <a:xfrm xmlns:a="http://schemas.openxmlformats.org/drawingml/2006/main">
            <a:off x="4368691" y="1920240"/>
            <a:ext cx="3454314"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5875D23-6E37-4052-A503-32FC7BD58247}"/>
              </a:ext>
            </a:extLst>
          </p:cNvPr>
          <p:cNvSpPr>
            <a:spLocks xmlns:a="http://schemas.openxmlformats.org/drawingml/2006/main" noGrp="1"/>
          </p:cNvSpPr>
          <p:nvPr/>
        </p:nvSpPr>
        <p:spPr>
          <a:xfrm xmlns:a="http://schemas.openxmlformats.org/drawingml/2006/main">
            <a:off x="4368691" y="2087880"/>
            <a:ext cx="3454314"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800" b="1">
                <a:solidFill>
                  <a:srgbClr val="151312"/>
                </a:solidFill>
                <a:latin typeface="Arial"/>
                <a:ea typeface="Arial"/>
                <a:cs typeface="Arial"/>
              </a:defRPr>
            </a:defPPr>
            <a:lvl1pPr algn="l">
              <a:defRPr sz="1800" b="1">
                <a:solidFill>
                  <a:srgbClr val="151312"/>
                </a:solidFill>
                <a:latin typeface="Arial"/>
                <a:ea typeface="Arial"/>
                <a:cs typeface="Arial"/>
              </a:defRPr>
            </a:lvl1pPr>
            <a:lvl2pPr algn="l">
              <a:defRPr sz="1800" b="1">
                <a:solidFill>
                  <a:srgbClr val="151312"/>
                </a:solidFill>
                <a:latin typeface="Arial"/>
                <a:ea typeface="Arial"/>
                <a:cs typeface="Arial"/>
              </a:defRPr>
            </a:lvl2pPr>
            <a:lvl3pPr algn="l">
              <a:defRPr sz="1800" b="1">
                <a:solidFill>
                  <a:srgbClr val="151312"/>
                </a:solidFill>
                <a:latin typeface="Arial"/>
                <a:ea typeface="Arial"/>
                <a:cs typeface="Arial"/>
              </a:defRPr>
            </a:lvl3pPr>
            <a:lvl4pPr algn="l">
              <a:defRPr sz="1800" b="1">
                <a:solidFill>
                  <a:srgbClr val="151312"/>
                </a:solidFill>
                <a:latin typeface="Arial"/>
                <a:ea typeface="Arial"/>
                <a:cs typeface="Arial"/>
              </a:defRPr>
            </a:lvl4pPr>
            <a:lvl5pPr algn="l">
              <a:defRPr sz="1800" b="1">
                <a:solidFill>
                  <a:srgbClr val="151312"/>
                </a:solidFill>
                <a:latin typeface="Arial"/>
                <a:ea typeface="Arial"/>
                <a:cs typeface="Arial"/>
              </a:defRPr>
            </a:lvl5pPr>
            <a:lvl6pPr algn="l">
              <a:defRPr sz="1800" b="1">
                <a:solidFill>
                  <a:srgbClr val="151312"/>
                </a:solidFill>
                <a:latin typeface="Arial"/>
                <a:ea typeface="Arial"/>
                <a:cs typeface="Arial"/>
              </a:defRPr>
            </a:lvl6pPr>
            <a:lvl7pPr algn="l">
              <a:defRPr sz="1800" b="1">
                <a:solidFill>
                  <a:srgbClr val="151312"/>
                </a:solidFill>
                <a:latin typeface="Arial"/>
                <a:ea typeface="Arial"/>
                <a:cs typeface="Arial"/>
              </a:defRPr>
            </a:lvl7pPr>
            <a:lvl8pPr algn="l">
              <a:defRPr sz="1800" b="1">
                <a:solidFill>
                  <a:srgbClr val="151312"/>
                </a:solidFill>
                <a:latin typeface="Arial"/>
                <a:ea typeface="Arial"/>
                <a:cs typeface="Arial"/>
              </a:defRPr>
            </a:lvl8pPr>
            <a:lvl9pPr algn="l">
              <a:defRPr sz="1800" b="1">
                <a:solidFill>
                  <a:srgbClr val="151312"/>
                </a:solidFill>
                <a:latin typeface="Arial"/>
                <a:ea typeface="Arial"/>
                <a:cs typeface="Arial"/>
              </a:defRPr>
            </a:lvl9pPr>
          </a:lstStyle>
          <a:p xmlns:a="http://schemas.openxmlformats.org/drawingml/2006/main">
            <a:pPr algn="l">
              <a:defRPr sz="1800" b="1">
                <a:solidFill>
                  <a:srgbClr val="151312"/>
                </a:solidFill>
                <a:latin typeface="Arial"/>
                <a:ea typeface="Arial"/>
                <a:cs typeface="Arial"/>
              </a:defRPr>
            </a:pPr>
            <a:r>
              <a:rPr sz="1800" b="1">
                <a:solidFill>
                  <a:srgbClr val="151312"/>
                </a:solidFill>
                <a:latin typeface="Arial"/>
                <a:ea typeface="Arial"/>
                <a:cs typeface="Arial"/>
              </a:rPr>
              <a:t>/feed.xml</a:t>
            </a:r>
          </a:p>
        </p:txBody>
      </p:sp>
      <p:sp>
        <p:nvSpPr>
          <p:cNvPr id="19" name="">
            <a:extLst xmlns:a="http://schemas.openxmlformats.org/drawingml/2006/main">
              <a:ext uri="{FF2B5EF4-FFF2-40B4-BE49-F238E27FC236}">
                <a16:creationId xmlns:a16="http://schemas.microsoft.com/office/drawing/2014/main" id="{42CBCE75-9E94-45C6-AFAB-3BCC673556D6}"/>
              </a:ext>
            </a:extLst>
          </p:cNvPr>
          <p:cNvSpPr>
            <a:spLocks xmlns:a="http://schemas.openxmlformats.org/drawingml/2006/main" noGrp="1"/>
          </p:cNvSpPr>
          <p:nvPr/>
        </p:nvSpPr>
        <p:spPr>
          <a:xfrm xmlns:a="http://schemas.openxmlformats.org/drawingml/2006/main">
            <a:off x="4368691" y="2758440"/>
            <a:ext cx="3454314"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Atom feed: lean, percentile and the Fed's words for each new document</a:t>
            </a:r>
          </a:p>
        </p:txBody>
      </p:sp>
      <p:sp>
        <p:nvSpPr>
          <p:cNvPr id="20" name="">
            <a:extLst xmlns:a="http://schemas.openxmlformats.org/drawingml/2006/main">
              <a:ext uri="{FF2B5EF4-FFF2-40B4-BE49-F238E27FC236}">
                <a16:creationId xmlns:a16="http://schemas.microsoft.com/office/drawing/2014/main" id="{354C1C4F-17FB-4130-B707-23BA72995E80}"/>
              </a:ext>
            </a:extLst>
          </p:cNvPr>
          <p:cNvSpPr>
            <a:spLocks xmlns:a="http://schemas.openxmlformats.org/drawingml/2006/main" noGrp="1"/>
          </p:cNvSpPr>
          <p:nvPr/>
        </p:nvSpPr>
        <p:spPr>
          <a:xfrm xmlns:a="http://schemas.openxmlformats.org/drawingml/2006/main">
            <a:off x="8127797" y="1920240"/>
            <a:ext cx="3454314"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B1C00D7-8F10-4F99-AEDF-3FD3BC5E9485}"/>
              </a:ext>
            </a:extLst>
          </p:cNvPr>
          <p:cNvSpPr>
            <a:spLocks xmlns:a="http://schemas.openxmlformats.org/drawingml/2006/main" noGrp="1"/>
          </p:cNvSpPr>
          <p:nvPr/>
        </p:nvSpPr>
        <p:spPr>
          <a:xfrm xmlns:a="http://schemas.openxmlformats.org/drawingml/2006/main">
            <a:off x="8127797" y="2087880"/>
            <a:ext cx="3454314"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2640" b="1">
                <a:solidFill>
                  <a:srgbClr val="151312"/>
                </a:solidFill>
                <a:latin typeface="Arial"/>
                <a:ea typeface="Arial"/>
                <a:cs typeface="Arial"/>
              </a:defRPr>
            </a:defPPr>
            <a:lvl1pPr algn="l">
              <a:defRPr sz="2640" b="1">
                <a:solidFill>
                  <a:srgbClr val="151312"/>
                </a:solidFill>
                <a:latin typeface="Arial"/>
                <a:ea typeface="Arial"/>
                <a:cs typeface="Arial"/>
              </a:defRPr>
            </a:lvl1pPr>
            <a:lvl2pPr algn="l">
              <a:defRPr sz="2640" b="1">
                <a:solidFill>
                  <a:srgbClr val="151312"/>
                </a:solidFill>
                <a:latin typeface="Arial"/>
                <a:ea typeface="Arial"/>
                <a:cs typeface="Arial"/>
              </a:defRPr>
            </a:lvl2pPr>
            <a:lvl3pPr algn="l">
              <a:defRPr sz="2640" b="1">
                <a:solidFill>
                  <a:srgbClr val="151312"/>
                </a:solidFill>
                <a:latin typeface="Arial"/>
                <a:ea typeface="Arial"/>
                <a:cs typeface="Arial"/>
              </a:defRPr>
            </a:lvl3pPr>
            <a:lvl4pPr algn="l">
              <a:defRPr sz="2640" b="1">
                <a:solidFill>
                  <a:srgbClr val="151312"/>
                </a:solidFill>
                <a:latin typeface="Arial"/>
                <a:ea typeface="Arial"/>
                <a:cs typeface="Arial"/>
              </a:defRPr>
            </a:lvl4pPr>
            <a:lvl5pPr algn="l">
              <a:defRPr sz="2640" b="1">
                <a:solidFill>
                  <a:srgbClr val="151312"/>
                </a:solidFill>
                <a:latin typeface="Arial"/>
                <a:ea typeface="Arial"/>
                <a:cs typeface="Arial"/>
              </a:defRPr>
            </a:lvl5pPr>
            <a:lvl6pPr algn="l">
              <a:defRPr sz="2640" b="1">
                <a:solidFill>
                  <a:srgbClr val="151312"/>
                </a:solidFill>
                <a:latin typeface="Arial"/>
                <a:ea typeface="Arial"/>
                <a:cs typeface="Arial"/>
              </a:defRPr>
            </a:lvl6pPr>
            <a:lvl7pPr algn="l">
              <a:defRPr sz="2640" b="1">
                <a:solidFill>
                  <a:srgbClr val="151312"/>
                </a:solidFill>
                <a:latin typeface="Arial"/>
                <a:ea typeface="Arial"/>
                <a:cs typeface="Arial"/>
              </a:defRPr>
            </a:lvl7pPr>
            <a:lvl8pPr algn="l">
              <a:defRPr sz="2640" b="1">
                <a:solidFill>
                  <a:srgbClr val="151312"/>
                </a:solidFill>
                <a:latin typeface="Arial"/>
                <a:ea typeface="Arial"/>
                <a:cs typeface="Arial"/>
              </a:defRPr>
            </a:lvl8pPr>
            <a:lvl9pPr algn="l">
              <a:defRPr sz="2640" b="1">
                <a:solidFill>
                  <a:srgbClr val="151312"/>
                </a:solidFill>
                <a:latin typeface="Arial"/>
                <a:ea typeface="Arial"/>
                <a:cs typeface="Arial"/>
              </a:defRPr>
            </a:lvl9pPr>
          </a:lstStyle>
          <a:p xmlns:a="http://schemas.openxmlformats.org/drawingml/2006/main">
            <a:pPr algn="l">
              <a:defRPr sz="2640" b="1">
                <a:solidFill>
                  <a:srgbClr val="151312"/>
                </a:solidFill>
                <a:latin typeface="Arial"/>
                <a:ea typeface="Arial"/>
                <a:cs typeface="Arial"/>
              </a:defRPr>
            </a:pPr>
            <a:r>
              <a:rPr sz="2640" b="1">
                <a:solidFill>
                  <a:srgbClr val="151312"/>
                </a:solidFill>
                <a:latin typeface="Arial"/>
                <a:ea typeface="Arial"/>
                <a:cs typeface="Arial"/>
              </a:rPr>
              <a:t>0</a:t>
            </a:r>
          </a:p>
        </p:txBody>
      </p:sp>
      <p:sp>
        <p:nvSpPr>
          <p:cNvPr id="22" name="">
            <a:extLst xmlns:a="http://schemas.openxmlformats.org/drawingml/2006/main">
              <a:ext uri="{FF2B5EF4-FFF2-40B4-BE49-F238E27FC236}">
                <a16:creationId xmlns:a16="http://schemas.microsoft.com/office/drawing/2014/main" id="{849DC2E2-6AC0-4189-9F7B-365CE38668CE}"/>
              </a:ext>
            </a:extLst>
          </p:cNvPr>
          <p:cNvSpPr>
            <a:spLocks xmlns:a="http://schemas.openxmlformats.org/drawingml/2006/main" noGrp="1"/>
          </p:cNvSpPr>
          <p:nvPr/>
        </p:nvSpPr>
        <p:spPr>
          <a:xfrm xmlns:a="http://schemas.openxmlformats.org/drawingml/2006/main">
            <a:off x="8127797" y="2758440"/>
            <a:ext cx="3454314"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build steps: vanilla JavaScript, ECharts, self-hosted fonts and icons</a:t>
            </a:r>
          </a:p>
        </p:txBody>
      </p:sp>
      <p:sp>
        <p:nvSpPr>
          <p:cNvPr id="23" name="">
            <a:extLst xmlns:a="http://schemas.openxmlformats.org/drawingml/2006/main">
              <a:ext uri="{FF2B5EF4-FFF2-40B4-BE49-F238E27FC236}">
                <a16:creationId xmlns:a16="http://schemas.microsoft.com/office/drawing/2014/main" id="{D0D80D92-8490-40E0-9565-CC8BE5F03B1C}"/>
              </a:ext>
            </a:extLst>
          </p:cNvPr>
          <p:cNvSpPr>
            <a:spLocks xmlns:a="http://schemas.openxmlformats.org/drawingml/2006/main" noGrp="1"/>
          </p:cNvSpPr>
          <p:nvPr/>
        </p:nvSpPr>
        <p:spPr>
          <a:xfrm xmlns:a="http://schemas.openxmlformats.org/drawingml/2006/main">
            <a:off x="609585" y="4152900"/>
            <a:ext cx="3454314"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5D92B80-1617-4BA4-97A8-FA7E5DD09A78}"/>
              </a:ext>
            </a:extLst>
          </p:cNvPr>
          <p:cNvSpPr>
            <a:spLocks xmlns:a="http://schemas.openxmlformats.org/drawingml/2006/main" noGrp="1"/>
          </p:cNvSpPr>
          <p:nvPr/>
        </p:nvSpPr>
        <p:spPr>
          <a:xfrm xmlns:a="http://schemas.openxmlformats.org/drawingml/2006/main">
            <a:off x="609585" y="4320540"/>
            <a:ext cx="3454314"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800" b="1">
                <a:solidFill>
                  <a:srgbClr val="151312"/>
                </a:solidFill>
                <a:latin typeface="Arial"/>
                <a:ea typeface="Arial"/>
                <a:cs typeface="Arial"/>
              </a:defRPr>
            </a:defPPr>
            <a:lvl1pPr algn="l">
              <a:defRPr sz="1800" b="1">
                <a:solidFill>
                  <a:srgbClr val="151312"/>
                </a:solidFill>
                <a:latin typeface="Arial"/>
                <a:ea typeface="Arial"/>
                <a:cs typeface="Arial"/>
              </a:defRPr>
            </a:lvl1pPr>
            <a:lvl2pPr algn="l">
              <a:defRPr sz="1800" b="1">
                <a:solidFill>
                  <a:srgbClr val="151312"/>
                </a:solidFill>
                <a:latin typeface="Arial"/>
                <a:ea typeface="Arial"/>
                <a:cs typeface="Arial"/>
              </a:defRPr>
            </a:lvl2pPr>
            <a:lvl3pPr algn="l">
              <a:defRPr sz="1800" b="1">
                <a:solidFill>
                  <a:srgbClr val="151312"/>
                </a:solidFill>
                <a:latin typeface="Arial"/>
                <a:ea typeface="Arial"/>
                <a:cs typeface="Arial"/>
              </a:defRPr>
            </a:lvl3pPr>
            <a:lvl4pPr algn="l">
              <a:defRPr sz="1800" b="1">
                <a:solidFill>
                  <a:srgbClr val="151312"/>
                </a:solidFill>
                <a:latin typeface="Arial"/>
                <a:ea typeface="Arial"/>
                <a:cs typeface="Arial"/>
              </a:defRPr>
            </a:lvl4pPr>
            <a:lvl5pPr algn="l">
              <a:defRPr sz="1800" b="1">
                <a:solidFill>
                  <a:srgbClr val="151312"/>
                </a:solidFill>
                <a:latin typeface="Arial"/>
                <a:ea typeface="Arial"/>
                <a:cs typeface="Arial"/>
              </a:defRPr>
            </a:lvl5pPr>
            <a:lvl6pPr algn="l">
              <a:defRPr sz="1800" b="1">
                <a:solidFill>
                  <a:srgbClr val="151312"/>
                </a:solidFill>
                <a:latin typeface="Arial"/>
                <a:ea typeface="Arial"/>
                <a:cs typeface="Arial"/>
              </a:defRPr>
            </a:lvl6pPr>
            <a:lvl7pPr algn="l">
              <a:defRPr sz="1800" b="1">
                <a:solidFill>
                  <a:srgbClr val="151312"/>
                </a:solidFill>
                <a:latin typeface="Arial"/>
                <a:ea typeface="Arial"/>
                <a:cs typeface="Arial"/>
              </a:defRPr>
            </a:lvl7pPr>
            <a:lvl8pPr algn="l">
              <a:defRPr sz="1800" b="1">
                <a:solidFill>
                  <a:srgbClr val="151312"/>
                </a:solidFill>
                <a:latin typeface="Arial"/>
                <a:ea typeface="Arial"/>
                <a:cs typeface="Arial"/>
              </a:defRPr>
            </a:lvl8pPr>
            <a:lvl9pPr algn="l">
              <a:defRPr sz="1800" b="1">
                <a:solidFill>
                  <a:srgbClr val="151312"/>
                </a:solidFill>
                <a:latin typeface="Arial"/>
                <a:ea typeface="Arial"/>
                <a:cs typeface="Arial"/>
              </a:defRPr>
            </a:lvl9pPr>
          </a:lstStyle>
          <a:p xmlns:a="http://schemas.openxmlformats.org/drawingml/2006/main">
            <a:pPr algn="l">
              <a:defRPr sz="1800" b="1">
                <a:solidFill>
                  <a:srgbClr val="151312"/>
                </a:solidFill>
                <a:latin typeface="Arial"/>
                <a:ea typeface="Arial"/>
                <a:cs typeface="Arial"/>
              </a:defRPr>
            </a:pPr>
            <a:r>
              <a:rPr sz="1800" b="1">
                <a:solidFill>
                  <a:srgbClr val="151312"/>
                </a:solidFill>
                <a:latin typeface="Arial"/>
                <a:ea typeface="Arial"/>
                <a:cs typeface="Arial"/>
              </a:rPr>
              <a:t>Reproduce</a:t>
            </a:r>
          </a:p>
        </p:txBody>
      </p:sp>
      <p:sp>
        <p:nvSpPr>
          <p:cNvPr id="25" name="">
            <a:extLst xmlns:a="http://schemas.openxmlformats.org/drawingml/2006/main">
              <a:ext uri="{FF2B5EF4-FFF2-40B4-BE49-F238E27FC236}">
                <a16:creationId xmlns:a16="http://schemas.microsoft.com/office/drawing/2014/main" id="{D2256A02-8FA8-47F4-BF43-2380589FA732}"/>
              </a:ext>
            </a:extLst>
          </p:cNvPr>
          <p:cNvSpPr>
            <a:spLocks xmlns:a="http://schemas.openxmlformats.org/drawingml/2006/main" noGrp="1"/>
          </p:cNvSpPr>
          <p:nvPr/>
        </p:nvSpPr>
        <p:spPr>
          <a:xfrm xmlns:a="http://schemas.openxmlformats.org/drawingml/2006/main">
            <a:off x="609585" y="4991100"/>
            <a:ext cx="3454314"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make setup, make demo-data, then make serve. The supplied snapshot needs no API key.</a:t>
            </a:r>
          </a:p>
        </p:txBody>
      </p:sp>
      <p:sp>
        <p:nvSpPr>
          <p:cNvPr id="26" name="">
            <a:extLst xmlns:a="http://schemas.openxmlformats.org/drawingml/2006/main">
              <a:ext uri="{FF2B5EF4-FFF2-40B4-BE49-F238E27FC236}">
                <a16:creationId xmlns:a16="http://schemas.microsoft.com/office/drawing/2014/main" id="{A4BCEF3D-8D30-42F2-ABC0-7ED6BC236118}"/>
              </a:ext>
            </a:extLst>
          </p:cNvPr>
          <p:cNvSpPr>
            <a:spLocks xmlns:a="http://schemas.openxmlformats.org/drawingml/2006/main" noGrp="1"/>
          </p:cNvSpPr>
          <p:nvPr/>
        </p:nvSpPr>
        <p:spPr>
          <a:xfrm xmlns:a="http://schemas.openxmlformats.org/drawingml/2006/main">
            <a:off x="4368691" y="4152900"/>
            <a:ext cx="3454314"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9F85515-C759-423E-A3FC-FEB3E292992A}"/>
              </a:ext>
            </a:extLst>
          </p:cNvPr>
          <p:cNvSpPr>
            <a:spLocks xmlns:a="http://schemas.openxmlformats.org/drawingml/2006/main" noGrp="1"/>
          </p:cNvSpPr>
          <p:nvPr/>
        </p:nvSpPr>
        <p:spPr>
          <a:xfrm xmlns:a="http://schemas.openxmlformats.org/drawingml/2006/main">
            <a:off x="4368691" y="4320540"/>
            <a:ext cx="3454314"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800" b="1">
                <a:solidFill>
                  <a:srgbClr val="151312"/>
                </a:solidFill>
                <a:latin typeface="Arial"/>
                <a:ea typeface="Arial"/>
                <a:cs typeface="Arial"/>
              </a:defRPr>
            </a:defPPr>
            <a:lvl1pPr algn="l">
              <a:defRPr sz="1800" b="1">
                <a:solidFill>
                  <a:srgbClr val="151312"/>
                </a:solidFill>
                <a:latin typeface="Arial"/>
                <a:ea typeface="Arial"/>
                <a:cs typeface="Arial"/>
              </a:defRPr>
            </a:lvl1pPr>
            <a:lvl2pPr algn="l">
              <a:defRPr sz="1800" b="1">
                <a:solidFill>
                  <a:srgbClr val="151312"/>
                </a:solidFill>
                <a:latin typeface="Arial"/>
                <a:ea typeface="Arial"/>
                <a:cs typeface="Arial"/>
              </a:defRPr>
            </a:lvl2pPr>
            <a:lvl3pPr algn="l">
              <a:defRPr sz="1800" b="1">
                <a:solidFill>
                  <a:srgbClr val="151312"/>
                </a:solidFill>
                <a:latin typeface="Arial"/>
                <a:ea typeface="Arial"/>
                <a:cs typeface="Arial"/>
              </a:defRPr>
            </a:lvl3pPr>
            <a:lvl4pPr algn="l">
              <a:defRPr sz="1800" b="1">
                <a:solidFill>
                  <a:srgbClr val="151312"/>
                </a:solidFill>
                <a:latin typeface="Arial"/>
                <a:ea typeface="Arial"/>
                <a:cs typeface="Arial"/>
              </a:defRPr>
            </a:lvl4pPr>
            <a:lvl5pPr algn="l">
              <a:defRPr sz="1800" b="1">
                <a:solidFill>
                  <a:srgbClr val="151312"/>
                </a:solidFill>
                <a:latin typeface="Arial"/>
                <a:ea typeface="Arial"/>
                <a:cs typeface="Arial"/>
              </a:defRPr>
            </a:lvl5pPr>
            <a:lvl6pPr algn="l">
              <a:defRPr sz="1800" b="1">
                <a:solidFill>
                  <a:srgbClr val="151312"/>
                </a:solidFill>
                <a:latin typeface="Arial"/>
                <a:ea typeface="Arial"/>
                <a:cs typeface="Arial"/>
              </a:defRPr>
            </a:lvl6pPr>
            <a:lvl7pPr algn="l">
              <a:defRPr sz="1800" b="1">
                <a:solidFill>
                  <a:srgbClr val="151312"/>
                </a:solidFill>
                <a:latin typeface="Arial"/>
                <a:ea typeface="Arial"/>
                <a:cs typeface="Arial"/>
              </a:defRPr>
            </a:lvl7pPr>
            <a:lvl8pPr algn="l">
              <a:defRPr sz="1800" b="1">
                <a:solidFill>
                  <a:srgbClr val="151312"/>
                </a:solidFill>
                <a:latin typeface="Arial"/>
                <a:ea typeface="Arial"/>
                <a:cs typeface="Arial"/>
              </a:defRPr>
            </a:lvl8pPr>
            <a:lvl9pPr algn="l">
              <a:defRPr sz="1800" b="1">
                <a:solidFill>
                  <a:srgbClr val="151312"/>
                </a:solidFill>
                <a:latin typeface="Arial"/>
                <a:ea typeface="Arial"/>
                <a:cs typeface="Arial"/>
              </a:defRPr>
            </a:lvl9pPr>
          </a:lstStyle>
          <a:p xmlns:a="http://schemas.openxmlformats.org/drawingml/2006/main">
            <a:pPr algn="l">
              <a:defRPr sz="1800" b="1">
                <a:solidFill>
                  <a:srgbClr val="151312"/>
                </a:solidFill>
                <a:latin typeface="Arial"/>
                <a:ea typeface="Arial"/>
                <a:cs typeface="Arial"/>
              </a:defRPr>
            </a:pPr>
            <a:r>
              <a:rPr sz="1800" b="1">
                <a:solidFill>
                  <a:srgbClr val="151312"/>
                </a:solidFill>
                <a:latin typeface="Arial"/>
                <a:ea typeface="Arial"/>
                <a:cs typeface="Arial"/>
              </a:rPr>
              <a:t>One story</a:t>
            </a:r>
          </a:p>
        </p:txBody>
      </p:sp>
      <p:sp>
        <p:nvSpPr>
          <p:cNvPr id="28" name="">
            <a:extLst xmlns:a="http://schemas.openxmlformats.org/drawingml/2006/main">
              <a:ext uri="{FF2B5EF4-FFF2-40B4-BE49-F238E27FC236}">
                <a16:creationId xmlns:a16="http://schemas.microsoft.com/office/drawing/2014/main" id="{2FA7E8C5-E831-442F-8C68-21FC7B847874}"/>
              </a:ext>
            </a:extLst>
          </p:cNvPr>
          <p:cNvSpPr>
            <a:spLocks xmlns:a="http://schemas.openxmlformats.org/drawingml/2006/main" noGrp="1"/>
          </p:cNvSpPr>
          <p:nvPr/>
        </p:nvSpPr>
        <p:spPr>
          <a:xfrm xmlns:a="http://schemas.openxmlformats.org/drawingml/2006/main">
            <a:off x="4368691" y="4991100"/>
            <a:ext cx="3454314"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Introduction and technical detail; PDF and editable PowerPoint exports</a:t>
            </a:r>
          </a:p>
        </p:txBody>
      </p:sp>
      <p:sp>
        <p:nvSpPr>
          <p:cNvPr id="29" name="">
            <a:extLst xmlns:a="http://schemas.openxmlformats.org/drawingml/2006/main">
              <a:ext uri="{FF2B5EF4-FFF2-40B4-BE49-F238E27FC236}">
                <a16:creationId xmlns:a16="http://schemas.microsoft.com/office/drawing/2014/main" id="{0F16740D-F4EC-4146-8E6B-86C75D0DBA88}"/>
              </a:ext>
            </a:extLst>
          </p:cNvPr>
          <p:cNvSpPr>
            <a:spLocks xmlns:a="http://schemas.openxmlformats.org/drawingml/2006/main" noGrp="1"/>
          </p:cNvSpPr>
          <p:nvPr/>
        </p:nvSpPr>
        <p:spPr>
          <a:xfrm xmlns:a="http://schemas.openxmlformats.org/drawingml/2006/main">
            <a:off x="8127797" y="4152900"/>
            <a:ext cx="3454314"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BC37299-D4C4-4300-B741-0F0FA0E5C953}"/>
              </a:ext>
            </a:extLst>
          </p:cNvPr>
          <p:cNvSpPr>
            <a:spLocks xmlns:a="http://schemas.openxmlformats.org/drawingml/2006/main" noGrp="1"/>
          </p:cNvSpPr>
          <p:nvPr/>
        </p:nvSpPr>
        <p:spPr>
          <a:xfrm xmlns:a="http://schemas.openxmlformats.org/drawingml/2006/main">
            <a:off x="8127797" y="4320540"/>
            <a:ext cx="3454314"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2640" b="1">
                <a:solidFill>
                  <a:srgbClr val="151312"/>
                </a:solidFill>
                <a:latin typeface="Arial"/>
                <a:ea typeface="Arial"/>
                <a:cs typeface="Arial"/>
              </a:defRPr>
            </a:defPPr>
            <a:lvl1pPr algn="l">
              <a:defRPr sz="2640" b="1">
                <a:solidFill>
                  <a:srgbClr val="151312"/>
                </a:solidFill>
                <a:latin typeface="Arial"/>
                <a:ea typeface="Arial"/>
                <a:cs typeface="Arial"/>
              </a:defRPr>
            </a:lvl1pPr>
            <a:lvl2pPr algn="l">
              <a:defRPr sz="2640" b="1">
                <a:solidFill>
                  <a:srgbClr val="151312"/>
                </a:solidFill>
                <a:latin typeface="Arial"/>
                <a:ea typeface="Arial"/>
                <a:cs typeface="Arial"/>
              </a:defRPr>
            </a:lvl2pPr>
            <a:lvl3pPr algn="l">
              <a:defRPr sz="2640" b="1">
                <a:solidFill>
                  <a:srgbClr val="151312"/>
                </a:solidFill>
                <a:latin typeface="Arial"/>
                <a:ea typeface="Arial"/>
                <a:cs typeface="Arial"/>
              </a:defRPr>
            </a:lvl3pPr>
            <a:lvl4pPr algn="l">
              <a:defRPr sz="2640" b="1">
                <a:solidFill>
                  <a:srgbClr val="151312"/>
                </a:solidFill>
                <a:latin typeface="Arial"/>
                <a:ea typeface="Arial"/>
                <a:cs typeface="Arial"/>
              </a:defRPr>
            </a:lvl4pPr>
            <a:lvl5pPr algn="l">
              <a:defRPr sz="2640" b="1">
                <a:solidFill>
                  <a:srgbClr val="151312"/>
                </a:solidFill>
                <a:latin typeface="Arial"/>
                <a:ea typeface="Arial"/>
                <a:cs typeface="Arial"/>
              </a:defRPr>
            </a:lvl5pPr>
            <a:lvl6pPr algn="l">
              <a:defRPr sz="2640" b="1">
                <a:solidFill>
                  <a:srgbClr val="151312"/>
                </a:solidFill>
                <a:latin typeface="Arial"/>
                <a:ea typeface="Arial"/>
                <a:cs typeface="Arial"/>
              </a:defRPr>
            </a:lvl6pPr>
            <a:lvl7pPr algn="l">
              <a:defRPr sz="2640" b="1">
                <a:solidFill>
                  <a:srgbClr val="151312"/>
                </a:solidFill>
                <a:latin typeface="Arial"/>
                <a:ea typeface="Arial"/>
                <a:cs typeface="Arial"/>
              </a:defRPr>
            </a:lvl7pPr>
            <a:lvl8pPr algn="l">
              <a:defRPr sz="2640" b="1">
                <a:solidFill>
                  <a:srgbClr val="151312"/>
                </a:solidFill>
                <a:latin typeface="Arial"/>
                <a:ea typeface="Arial"/>
                <a:cs typeface="Arial"/>
              </a:defRPr>
            </a:lvl8pPr>
            <a:lvl9pPr algn="l">
              <a:defRPr sz="2640" b="1">
                <a:solidFill>
                  <a:srgbClr val="151312"/>
                </a:solidFill>
                <a:latin typeface="Arial"/>
                <a:ea typeface="Arial"/>
                <a:cs typeface="Arial"/>
              </a:defRPr>
            </a:lvl9pPr>
          </a:lstStyle>
          <a:p xmlns:a="http://schemas.openxmlformats.org/drawingml/2006/main">
            <a:pPr algn="l">
              <a:defRPr sz="2640" b="1">
                <a:solidFill>
                  <a:srgbClr val="151312"/>
                </a:solidFill>
                <a:latin typeface="Arial"/>
                <a:ea typeface="Arial"/>
                <a:cs typeface="Arial"/>
              </a:defRPr>
            </a:pPr>
            <a:r>
              <a:rPr sz="2640" b="1">
                <a:solidFill>
                  <a:srgbClr val="151312"/>
                </a:solidFill>
                <a:latin typeface="Arial"/>
                <a:ea typeface="Arial"/>
                <a:cs typeface="Arial"/>
              </a:rPr>
              <a:t>1,601</a:t>
            </a:r>
          </a:p>
        </p:txBody>
      </p:sp>
      <p:sp>
        <p:nvSpPr>
          <p:cNvPr id="31" name="">
            <a:extLst xmlns:a="http://schemas.openxmlformats.org/drawingml/2006/main">
              <a:ext uri="{FF2B5EF4-FFF2-40B4-BE49-F238E27FC236}">
                <a16:creationId xmlns:a16="http://schemas.microsoft.com/office/drawing/2014/main" id="{1078629F-EECD-4F61-8B70-221784EF4AB8}"/>
              </a:ext>
            </a:extLst>
          </p:cNvPr>
          <p:cNvSpPr>
            <a:spLocks xmlns:a="http://schemas.openxmlformats.org/drawingml/2006/main" noGrp="1"/>
          </p:cNvSpPr>
          <p:nvPr/>
        </p:nvSpPr>
        <p:spPr>
          <a:xfrm xmlns:a="http://schemas.openxmlformats.org/drawingml/2006/main">
            <a:off x="8127797" y="4991100"/>
            <a:ext cx="3454314"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source files cached by URL, so nothing is downloaded twice</a:t>
            </a:r>
          </a:p>
        </p:txBody>
      </p:sp>
    </p:spTree>
    <p:extLst>
      <p:ext uri="{BB962C8B-B14F-4D97-AF65-F5344CB8AC3E}">
        <p14:creationId xmlns:p14="http://schemas.microsoft.com/office/powerpoint/2010/main" val="2044177592"/>
      </p:ext>
    </p:extLst>
  </p:cSld>
</p:sld>
</file>

<file path=ppt/slides/slide39.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F3823964-6316-49DB-8225-FEF12C02BC49}"/>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C42232B4-55DA-47DA-9C4C-40C6F74D7EFD}"/>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FORWARD CHECKS AND SYSTEM</a:t>
            </a:r>
          </a:p>
        </p:txBody>
      </p:sp>
      <p:sp>
        <p:nvSpPr>
          <p:cNvPr id="3" name="">
            <a:extLst xmlns:a="http://schemas.openxmlformats.org/drawingml/2006/main">
              <a:ext uri="{FF2B5EF4-FFF2-40B4-BE49-F238E27FC236}">
                <a16:creationId xmlns:a16="http://schemas.microsoft.com/office/drawing/2014/main" id="{0D8730FE-A1EC-4A55-A99A-380D6FE3915B}"/>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39 / 46</a:t>
            </a:r>
          </a:p>
        </p:txBody>
      </p:sp>
      <p:sp>
        <p:nvSpPr>
          <p:cNvPr id="4" name="">
            <a:extLst xmlns:a="http://schemas.openxmlformats.org/drawingml/2006/main">
              <a:ext uri="{FF2B5EF4-FFF2-40B4-BE49-F238E27FC236}">
                <a16:creationId xmlns:a16="http://schemas.microsoft.com/office/drawing/2014/main" id="{4948BE6F-AB2C-4509-8B9D-319C872A19A2}"/>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65984A1-944E-430C-BE7B-1DC292A27661}"/>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Automated refresh and spending guards</a:t>
            </a:r>
          </a:p>
        </p:txBody>
      </p:sp>
      <p:sp>
        <p:nvSpPr>
          <p:cNvPr id="6" name="">
            <a:extLst xmlns:a="http://schemas.openxmlformats.org/drawingml/2006/main">
              <a:ext uri="{FF2B5EF4-FFF2-40B4-BE49-F238E27FC236}">
                <a16:creationId xmlns:a16="http://schemas.microsoft.com/office/drawing/2014/main" id="{55492A9B-97BD-498E-A5B4-0F006C47D087}"/>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Configured schedules, spending caps and checks for missing data</a:t>
            </a:r>
          </a:p>
        </p:txBody>
      </p:sp>
      <p:sp>
        <p:nvSpPr>
          <p:cNvPr id="7" name="">
            <a:extLst xmlns:a="http://schemas.openxmlformats.org/drawingml/2006/main">
              <a:ext uri="{FF2B5EF4-FFF2-40B4-BE49-F238E27FC236}">
                <a16:creationId xmlns:a16="http://schemas.microsoft.com/office/drawing/2014/main" id="{41045EE7-7082-489A-99A9-D261AA4ACC50}"/>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EBD9A24-BDBB-4523-B5F3-DC573AE9270C}"/>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.github/workflows/refresh.yml; docs/OPERATIONS.md.</a:t>
            </a:r>
          </a:p>
        </p:txBody>
      </p:sp>
      <p:sp>
        <p:nvSpPr>
          <p:cNvPr id="9" name="">
            <a:extLst xmlns:a="http://schemas.openxmlformats.org/drawingml/2006/main">
              <a:ext uri="{FF2B5EF4-FFF2-40B4-BE49-F238E27FC236}">
                <a16:creationId xmlns:a16="http://schemas.microsoft.com/office/drawing/2014/main" id="{06A29CE6-087C-4C25-8BEC-6954F09FDDA9}"/>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2B736EE-E590-4A86-8B59-91CE576A2B23}"/>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511FD77-C019-4A67-96FB-5CCAC87ED7C3}"/>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F2FF5E9-FF8C-4DDF-B8FE-87D208FF7F53}"/>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04CF1CD-D089-4E4E-8B3F-3663DE972975}"/>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DD42CFD-6236-4EE0-9760-53EFE6C8CDFA}"/>
              </a:ext>
            </a:extLst>
          </p:cNvPr>
          <p:cNvSpPr>
            <a:spLocks xmlns:a="http://schemas.openxmlformats.org/drawingml/2006/main" noGrp="1"/>
          </p:cNvSpPr>
          <p:nvPr/>
        </p:nvSpPr>
        <p:spPr>
          <a:xfrm xmlns:a="http://schemas.openxmlformats.org/drawingml/2006/main">
            <a:off x="609585" y="1920240"/>
            <a:ext cx="3454314" cy="1143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3A25F74-473A-4BE0-B92B-7C44CAE457A9}"/>
              </a:ext>
            </a:extLst>
          </p:cNvPr>
          <p:cNvSpPr>
            <a:spLocks xmlns:a="http://schemas.openxmlformats.org/drawingml/2006/main" noGrp="1"/>
          </p:cNvSpPr>
          <p:nvPr/>
        </p:nvSpPr>
        <p:spPr>
          <a:xfrm xmlns:a="http://schemas.openxmlformats.org/drawingml/2006/main">
            <a:off x="609585" y="2057400"/>
            <a:ext cx="3454314"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1">
                <a:solidFill>
                  <a:srgbClr val="C8401F"/>
                </a:solidFill>
                <a:latin typeface="Arial"/>
                <a:ea typeface="Arial"/>
                <a:cs typeface="Arial"/>
              </a:defRPr>
            </a:defPPr>
            <a:lvl1pPr algn="l">
              <a:defRPr sz="1320" b="1">
                <a:solidFill>
                  <a:srgbClr val="C8401F"/>
                </a:solidFill>
                <a:latin typeface="Arial"/>
                <a:ea typeface="Arial"/>
                <a:cs typeface="Arial"/>
              </a:defRPr>
            </a:lvl1pPr>
            <a:lvl2pPr algn="l">
              <a:defRPr sz="1320" b="1">
                <a:solidFill>
                  <a:srgbClr val="C8401F"/>
                </a:solidFill>
                <a:latin typeface="Arial"/>
                <a:ea typeface="Arial"/>
                <a:cs typeface="Arial"/>
              </a:defRPr>
            </a:lvl2pPr>
            <a:lvl3pPr algn="l">
              <a:defRPr sz="1320" b="1">
                <a:solidFill>
                  <a:srgbClr val="C8401F"/>
                </a:solidFill>
                <a:latin typeface="Arial"/>
                <a:ea typeface="Arial"/>
                <a:cs typeface="Arial"/>
              </a:defRPr>
            </a:lvl3pPr>
            <a:lvl4pPr algn="l">
              <a:defRPr sz="1320" b="1">
                <a:solidFill>
                  <a:srgbClr val="C8401F"/>
                </a:solidFill>
                <a:latin typeface="Arial"/>
                <a:ea typeface="Arial"/>
                <a:cs typeface="Arial"/>
              </a:defRPr>
            </a:lvl4pPr>
            <a:lvl5pPr algn="l">
              <a:defRPr sz="1320" b="1">
                <a:solidFill>
                  <a:srgbClr val="C8401F"/>
                </a:solidFill>
                <a:latin typeface="Arial"/>
                <a:ea typeface="Arial"/>
                <a:cs typeface="Arial"/>
              </a:defRPr>
            </a:lvl5pPr>
            <a:lvl6pPr algn="l">
              <a:defRPr sz="1320" b="1">
                <a:solidFill>
                  <a:srgbClr val="C8401F"/>
                </a:solidFill>
                <a:latin typeface="Arial"/>
                <a:ea typeface="Arial"/>
                <a:cs typeface="Arial"/>
              </a:defRPr>
            </a:lvl6pPr>
            <a:lvl7pPr algn="l">
              <a:defRPr sz="1320" b="1">
                <a:solidFill>
                  <a:srgbClr val="C8401F"/>
                </a:solidFill>
                <a:latin typeface="Arial"/>
                <a:ea typeface="Arial"/>
                <a:cs typeface="Arial"/>
              </a:defRPr>
            </a:lvl7pPr>
            <a:lvl8pPr algn="l">
              <a:defRPr sz="1320" b="1">
                <a:solidFill>
                  <a:srgbClr val="C8401F"/>
                </a:solidFill>
                <a:latin typeface="Arial"/>
                <a:ea typeface="Arial"/>
                <a:cs typeface="Arial"/>
              </a:defRPr>
            </a:lvl8pPr>
            <a:lvl9pPr algn="l">
              <a:defRPr sz="1320" b="1">
                <a:solidFill>
                  <a:srgbClr val="C8401F"/>
                </a:solidFill>
                <a:latin typeface="Arial"/>
                <a:ea typeface="Arial"/>
                <a:cs typeface="Arial"/>
              </a:defRPr>
            </a:lvl9pPr>
          </a:lstStyle>
          <a:p xmlns:a="http://schemas.openxmlformats.org/drawingml/2006/main">
            <a:pPr algn="l">
              <a:defRPr sz="1320" b="1">
                <a:solidFill>
                  <a:srgbClr val="C8401F"/>
                </a:solidFill>
                <a:latin typeface="Arial"/>
                <a:ea typeface="Arial"/>
                <a:cs typeface="Arial"/>
              </a:defRPr>
            </a:pPr>
            <a:r>
              <a:rPr sz="1320" b="1">
                <a:solidFill>
                  <a:srgbClr val="C8401F"/>
                </a:solidFill>
                <a:latin typeface="Arial"/>
                <a:ea typeface="Arial"/>
                <a:cs typeface="Arial"/>
              </a:rPr>
              <a:t>01</a:t>
            </a:r>
          </a:p>
        </p:txBody>
      </p:sp>
      <p:sp>
        <p:nvSpPr>
          <p:cNvPr id="16" name="">
            <a:extLst xmlns:a="http://schemas.openxmlformats.org/drawingml/2006/main">
              <a:ext uri="{FF2B5EF4-FFF2-40B4-BE49-F238E27FC236}">
                <a16:creationId xmlns:a16="http://schemas.microsoft.com/office/drawing/2014/main" id="{609F1213-C24B-4C6F-8DE2-142E4CB55D4B}"/>
              </a:ext>
            </a:extLst>
          </p:cNvPr>
          <p:cNvSpPr>
            <a:spLocks xmlns:a="http://schemas.openxmlformats.org/drawingml/2006/main" noGrp="1"/>
          </p:cNvSpPr>
          <p:nvPr/>
        </p:nvSpPr>
        <p:spPr>
          <a:xfrm xmlns:a="http://schemas.openxmlformats.org/drawingml/2006/main">
            <a:off x="609585" y="2392680"/>
            <a:ext cx="3454314" cy="396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680" b="1">
                <a:solidFill>
                  <a:srgbClr val="151312"/>
                </a:solidFill>
                <a:latin typeface="Arial"/>
                <a:ea typeface="Arial"/>
                <a:cs typeface="Arial"/>
              </a:defRPr>
            </a:defPPr>
            <a:lvl1pPr algn="l">
              <a:defRPr sz="1680" b="1">
                <a:solidFill>
                  <a:srgbClr val="151312"/>
                </a:solidFill>
                <a:latin typeface="Arial"/>
                <a:ea typeface="Arial"/>
                <a:cs typeface="Arial"/>
              </a:defRPr>
            </a:lvl1pPr>
            <a:lvl2pPr algn="l">
              <a:defRPr sz="1680" b="1">
                <a:solidFill>
                  <a:srgbClr val="151312"/>
                </a:solidFill>
                <a:latin typeface="Arial"/>
                <a:ea typeface="Arial"/>
                <a:cs typeface="Arial"/>
              </a:defRPr>
            </a:lvl2pPr>
            <a:lvl3pPr algn="l">
              <a:defRPr sz="1680" b="1">
                <a:solidFill>
                  <a:srgbClr val="151312"/>
                </a:solidFill>
                <a:latin typeface="Arial"/>
                <a:ea typeface="Arial"/>
                <a:cs typeface="Arial"/>
              </a:defRPr>
            </a:lvl3pPr>
            <a:lvl4pPr algn="l">
              <a:defRPr sz="1680" b="1">
                <a:solidFill>
                  <a:srgbClr val="151312"/>
                </a:solidFill>
                <a:latin typeface="Arial"/>
                <a:ea typeface="Arial"/>
                <a:cs typeface="Arial"/>
              </a:defRPr>
            </a:lvl4pPr>
            <a:lvl5pPr algn="l">
              <a:defRPr sz="1680" b="1">
                <a:solidFill>
                  <a:srgbClr val="151312"/>
                </a:solidFill>
                <a:latin typeface="Arial"/>
                <a:ea typeface="Arial"/>
                <a:cs typeface="Arial"/>
              </a:defRPr>
            </a:lvl5pPr>
            <a:lvl6pPr algn="l">
              <a:defRPr sz="1680" b="1">
                <a:solidFill>
                  <a:srgbClr val="151312"/>
                </a:solidFill>
                <a:latin typeface="Arial"/>
                <a:ea typeface="Arial"/>
                <a:cs typeface="Arial"/>
              </a:defRPr>
            </a:lvl6pPr>
            <a:lvl7pPr algn="l">
              <a:defRPr sz="1680" b="1">
                <a:solidFill>
                  <a:srgbClr val="151312"/>
                </a:solidFill>
                <a:latin typeface="Arial"/>
                <a:ea typeface="Arial"/>
                <a:cs typeface="Arial"/>
              </a:defRPr>
            </a:lvl7pPr>
            <a:lvl8pPr algn="l">
              <a:defRPr sz="1680" b="1">
                <a:solidFill>
                  <a:srgbClr val="151312"/>
                </a:solidFill>
                <a:latin typeface="Arial"/>
                <a:ea typeface="Arial"/>
                <a:cs typeface="Arial"/>
              </a:defRPr>
            </a:lvl8pPr>
            <a:lvl9pPr algn="l">
              <a:defRPr sz="1680" b="1">
                <a:solidFill>
                  <a:srgbClr val="151312"/>
                </a:solidFill>
                <a:latin typeface="Arial"/>
                <a:ea typeface="Arial"/>
                <a:cs typeface="Arial"/>
              </a:defRPr>
            </a:lvl9pPr>
          </a:lstStyle>
          <a:p xmlns:a="http://schemas.openxmlformats.org/drawingml/2006/main">
            <a:pPr algn="l">
              <a:defRPr sz="1680" b="1">
                <a:solidFill>
                  <a:srgbClr val="151312"/>
                </a:solidFill>
                <a:latin typeface="Arial"/>
                <a:ea typeface="Arial"/>
                <a:cs typeface="Arial"/>
              </a:defRPr>
            </a:pPr>
            <a:r>
              <a:rPr sz="1680" b="1">
                <a:solidFill>
                  <a:srgbClr val="151312"/>
                </a:solidFill>
                <a:latin typeface="Arial"/>
                <a:ea typeface="Arial"/>
                <a:cs typeface="Arial"/>
              </a:rPr>
              <a:t>Trigger</a:t>
            </a:r>
          </a:p>
        </p:txBody>
      </p:sp>
      <p:sp>
        <p:nvSpPr>
          <p:cNvPr id="17" name="">
            <a:extLst xmlns:a="http://schemas.openxmlformats.org/drawingml/2006/main">
              <a:ext uri="{FF2B5EF4-FFF2-40B4-BE49-F238E27FC236}">
                <a16:creationId xmlns:a16="http://schemas.microsoft.com/office/drawing/2014/main" id="{97C91248-5A03-44A0-A137-16F04AB226D6}"/>
              </a:ext>
            </a:extLst>
          </p:cNvPr>
          <p:cNvSpPr>
            <a:spLocks xmlns:a="http://schemas.openxmlformats.org/drawingml/2006/main" noGrp="1"/>
          </p:cNvSpPr>
          <p:nvPr/>
        </p:nvSpPr>
        <p:spPr>
          <a:xfrm xmlns:a="http://schemas.openxmlformats.org/drawingml/2006/main">
            <a:off x="609585" y="2887980"/>
            <a:ext cx="3454314"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Configured: 7:30 p.m. ET daily; 2:25 p.m. ET on release afternoons; every main push</a:t>
            </a:r>
          </a:p>
        </p:txBody>
      </p:sp>
      <p:sp>
        <p:nvSpPr>
          <p:cNvPr id="18" name="">
            <a:extLst xmlns:a="http://schemas.openxmlformats.org/drawingml/2006/main">
              <a:ext uri="{FF2B5EF4-FFF2-40B4-BE49-F238E27FC236}">
                <a16:creationId xmlns:a16="http://schemas.microsoft.com/office/drawing/2014/main" id="{4C13D670-AFA9-4D12-B966-FF292C37FE46}"/>
              </a:ext>
            </a:extLst>
          </p:cNvPr>
          <p:cNvSpPr>
            <a:spLocks xmlns:a="http://schemas.openxmlformats.org/drawingml/2006/main" noGrp="1"/>
          </p:cNvSpPr>
          <p:nvPr/>
        </p:nvSpPr>
        <p:spPr>
          <a:xfrm xmlns:a="http://schemas.openxmlformats.org/drawingml/2006/main">
            <a:off x="4368691" y="1920240"/>
            <a:ext cx="3454314" cy="1143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1D42104-0529-48C3-B57C-9FA71357ABEA}"/>
              </a:ext>
            </a:extLst>
          </p:cNvPr>
          <p:cNvSpPr>
            <a:spLocks xmlns:a="http://schemas.openxmlformats.org/drawingml/2006/main" noGrp="1"/>
          </p:cNvSpPr>
          <p:nvPr/>
        </p:nvSpPr>
        <p:spPr>
          <a:xfrm xmlns:a="http://schemas.openxmlformats.org/drawingml/2006/main">
            <a:off x="4368691" y="2057400"/>
            <a:ext cx="3454314"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1">
                <a:solidFill>
                  <a:srgbClr val="C8401F"/>
                </a:solidFill>
                <a:latin typeface="Arial"/>
                <a:ea typeface="Arial"/>
                <a:cs typeface="Arial"/>
              </a:defRPr>
            </a:defPPr>
            <a:lvl1pPr algn="l">
              <a:defRPr sz="1320" b="1">
                <a:solidFill>
                  <a:srgbClr val="C8401F"/>
                </a:solidFill>
                <a:latin typeface="Arial"/>
                <a:ea typeface="Arial"/>
                <a:cs typeface="Arial"/>
              </a:defRPr>
            </a:lvl1pPr>
            <a:lvl2pPr algn="l">
              <a:defRPr sz="1320" b="1">
                <a:solidFill>
                  <a:srgbClr val="C8401F"/>
                </a:solidFill>
                <a:latin typeface="Arial"/>
                <a:ea typeface="Arial"/>
                <a:cs typeface="Arial"/>
              </a:defRPr>
            </a:lvl2pPr>
            <a:lvl3pPr algn="l">
              <a:defRPr sz="1320" b="1">
                <a:solidFill>
                  <a:srgbClr val="C8401F"/>
                </a:solidFill>
                <a:latin typeface="Arial"/>
                <a:ea typeface="Arial"/>
                <a:cs typeface="Arial"/>
              </a:defRPr>
            </a:lvl3pPr>
            <a:lvl4pPr algn="l">
              <a:defRPr sz="1320" b="1">
                <a:solidFill>
                  <a:srgbClr val="C8401F"/>
                </a:solidFill>
                <a:latin typeface="Arial"/>
                <a:ea typeface="Arial"/>
                <a:cs typeface="Arial"/>
              </a:defRPr>
            </a:lvl4pPr>
            <a:lvl5pPr algn="l">
              <a:defRPr sz="1320" b="1">
                <a:solidFill>
                  <a:srgbClr val="C8401F"/>
                </a:solidFill>
                <a:latin typeface="Arial"/>
                <a:ea typeface="Arial"/>
                <a:cs typeface="Arial"/>
              </a:defRPr>
            </a:lvl5pPr>
            <a:lvl6pPr algn="l">
              <a:defRPr sz="1320" b="1">
                <a:solidFill>
                  <a:srgbClr val="C8401F"/>
                </a:solidFill>
                <a:latin typeface="Arial"/>
                <a:ea typeface="Arial"/>
                <a:cs typeface="Arial"/>
              </a:defRPr>
            </a:lvl6pPr>
            <a:lvl7pPr algn="l">
              <a:defRPr sz="1320" b="1">
                <a:solidFill>
                  <a:srgbClr val="C8401F"/>
                </a:solidFill>
                <a:latin typeface="Arial"/>
                <a:ea typeface="Arial"/>
                <a:cs typeface="Arial"/>
              </a:defRPr>
            </a:lvl7pPr>
            <a:lvl8pPr algn="l">
              <a:defRPr sz="1320" b="1">
                <a:solidFill>
                  <a:srgbClr val="C8401F"/>
                </a:solidFill>
                <a:latin typeface="Arial"/>
                <a:ea typeface="Arial"/>
                <a:cs typeface="Arial"/>
              </a:defRPr>
            </a:lvl8pPr>
            <a:lvl9pPr algn="l">
              <a:defRPr sz="1320" b="1">
                <a:solidFill>
                  <a:srgbClr val="C8401F"/>
                </a:solidFill>
                <a:latin typeface="Arial"/>
                <a:ea typeface="Arial"/>
                <a:cs typeface="Arial"/>
              </a:defRPr>
            </a:lvl9pPr>
          </a:lstStyle>
          <a:p xmlns:a="http://schemas.openxmlformats.org/drawingml/2006/main">
            <a:pPr algn="l">
              <a:defRPr sz="1320" b="1">
                <a:solidFill>
                  <a:srgbClr val="C8401F"/>
                </a:solidFill>
                <a:latin typeface="Arial"/>
                <a:ea typeface="Arial"/>
                <a:cs typeface="Arial"/>
              </a:defRPr>
            </a:pPr>
            <a:r>
              <a:rPr sz="1320" b="1">
                <a:solidFill>
                  <a:srgbClr val="C8401F"/>
                </a:solidFill>
                <a:latin typeface="Arial"/>
                <a:ea typeface="Arial"/>
                <a:cs typeface="Arial"/>
              </a:rPr>
              <a:t>02</a:t>
            </a:r>
          </a:p>
        </p:txBody>
      </p:sp>
      <p:sp>
        <p:nvSpPr>
          <p:cNvPr id="20" name="">
            <a:extLst xmlns:a="http://schemas.openxmlformats.org/drawingml/2006/main">
              <a:ext uri="{FF2B5EF4-FFF2-40B4-BE49-F238E27FC236}">
                <a16:creationId xmlns:a16="http://schemas.microsoft.com/office/drawing/2014/main" id="{67F7C671-9298-4238-82E5-91D67B94BE3A}"/>
              </a:ext>
            </a:extLst>
          </p:cNvPr>
          <p:cNvSpPr>
            <a:spLocks xmlns:a="http://schemas.openxmlformats.org/drawingml/2006/main" noGrp="1"/>
          </p:cNvSpPr>
          <p:nvPr/>
        </p:nvSpPr>
        <p:spPr>
          <a:xfrm xmlns:a="http://schemas.openxmlformats.org/drawingml/2006/main">
            <a:off x="4368691" y="2392680"/>
            <a:ext cx="3454314" cy="396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680" b="1">
                <a:solidFill>
                  <a:srgbClr val="151312"/>
                </a:solidFill>
                <a:latin typeface="Arial"/>
                <a:ea typeface="Arial"/>
                <a:cs typeface="Arial"/>
              </a:defRPr>
            </a:defPPr>
            <a:lvl1pPr algn="l">
              <a:defRPr sz="1680" b="1">
                <a:solidFill>
                  <a:srgbClr val="151312"/>
                </a:solidFill>
                <a:latin typeface="Arial"/>
                <a:ea typeface="Arial"/>
                <a:cs typeface="Arial"/>
              </a:defRPr>
            </a:lvl1pPr>
            <a:lvl2pPr algn="l">
              <a:defRPr sz="1680" b="1">
                <a:solidFill>
                  <a:srgbClr val="151312"/>
                </a:solidFill>
                <a:latin typeface="Arial"/>
                <a:ea typeface="Arial"/>
                <a:cs typeface="Arial"/>
              </a:defRPr>
            </a:lvl2pPr>
            <a:lvl3pPr algn="l">
              <a:defRPr sz="1680" b="1">
                <a:solidFill>
                  <a:srgbClr val="151312"/>
                </a:solidFill>
                <a:latin typeface="Arial"/>
                <a:ea typeface="Arial"/>
                <a:cs typeface="Arial"/>
              </a:defRPr>
            </a:lvl3pPr>
            <a:lvl4pPr algn="l">
              <a:defRPr sz="1680" b="1">
                <a:solidFill>
                  <a:srgbClr val="151312"/>
                </a:solidFill>
                <a:latin typeface="Arial"/>
                <a:ea typeface="Arial"/>
                <a:cs typeface="Arial"/>
              </a:defRPr>
            </a:lvl4pPr>
            <a:lvl5pPr algn="l">
              <a:defRPr sz="1680" b="1">
                <a:solidFill>
                  <a:srgbClr val="151312"/>
                </a:solidFill>
                <a:latin typeface="Arial"/>
                <a:ea typeface="Arial"/>
                <a:cs typeface="Arial"/>
              </a:defRPr>
            </a:lvl5pPr>
            <a:lvl6pPr algn="l">
              <a:defRPr sz="1680" b="1">
                <a:solidFill>
                  <a:srgbClr val="151312"/>
                </a:solidFill>
                <a:latin typeface="Arial"/>
                <a:ea typeface="Arial"/>
                <a:cs typeface="Arial"/>
              </a:defRPr>
            </a:lvl6pPr>
            <a:lvl7pPr algn="l">
              <a:defRPr sz="1680" b="1">
                <a:solidFill>
                  <a:srgbClr val="151312"/>
                </a:solidFill>
                <a:latin typeface="Arial"/>
                <a:ea typeface="Arial"/>
                <a:cs typeface="Arial"/>
              </a:defRPr>
            </a:lvl7pPr>
            <a:lvl8pPr algn="l">
              <a:defRPr sz="1680" b="1">
                <a:solidFill>
                  <a:srgbClr val="151312"/>
                </a:solidFill>
                <a:latin typeface="Arial"/>
                <a:ea typeface="Arial"/>
                <a:cs typeface="Arial"/>
              </a:defRPr>
            </a:lvl8pPr>
            <a:lvl9pPr algn="l">
              <a:defRPr sz="1680" b="1">
                <a:solidFill>
                  <a:srgbClr val="151312"/>
                </a:solidFill>
                <a:latin typeface="Arial"/>
                <a:ea typeface="Arial"/>
                <a:cs typeface="Arial"/>
              </a:defRPr>
            </a:lvl9pPr>
          </a:lstStyle>
          <a:p xmlns:a="http://schemas.openxmlformats.org/drawingml/2006/main">
            <a:pPr algn="l">
              <a:defRPr sz="1680" b="1">
                <a:solidFill>
                  <a:srgbClr val="151312"/>
                </a:solidFill>
                <a:latin typeface="Arial"/>
                <a:ea typeface="Arial"/>
                <a:cs typeface="Arial"/>
              </a:defRPr>
            </a:pPr>
            <a:r>
              <a:rPr sz="1680" b="1">
                <a:solidFill>
                  <a:srgbClr val="151312"/>
                </a:solidFill>
                <a:latin typeface="Arial"/>
                <a:ea typeface="Arial"/>
                <a:cs typeface="Arial"/>
              </a:rPr>
              <a:t>Refresh</a:t>
            </a:r>
          </a:p>
        </p:txBody>
      </p:sp>
      <p:sp>
        <p:nvSpPr>
          <p:cNvPr id="21" name="">
            <a:extLst xmlns:a="http://schemas.openxmlformats.org/drawingml/2006/main">
              <a:ext uri="{FF2B5EF4-FFF2-40B4-BE49-F238E27FC236}">
                <a16:creationId xmlns:a16="http://schemas.microsoft.com/office/drawing/2014/main" id="{FA2C5911-5857-46DB-BC3B-7F2CF77826A1}"/>
              </a:ext>
            </a:extLst>
          </p:cNvPr>
          <p:cNvSpPr>
            <a:spLocks xmlns:a="http://schemas.openxmlformats.org/drawingml/2006/main" noGrp="1"/>
          </p:cNvSpPr>
          <p:nvPr/>
        </p:nvSpPr>
        <p:spPr>
          <a:xfrm xmlns:a="http://schemas.openxmlformats.org/drawingml/2006/main">
            <a:off x="4368691" y="2887980"/>
            <a:ext cx="3454314"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documents and prices; Claude on what is new, at most 40 jobs and 5 USD a month</a:t>
            </a:r>
          </a:p>
        </p:txBody>
      </p:sp>
      <p:sp>
        <p:nvSpPr>
          <p:cNvPr id="22" name="">
            <a:extLst xmlns:a="http://schemas.openxmlformats.org/drawingml/2006/main">
              <a:ext uri="{FF2B5EF4-FFF2-40B4-BE49-F238E27FC236}">
                <a16:creationId xmlns:a16="http://schemas.microsoft.com/office/drawing/2014/main" id="{21446420-9B80-4610-AC5A-CAC1A5AF022B}"/>
              </a:ext>
            </a:extLst>
          </p:cNvPr>
          <p:cNvSpPr>
            <a:spLocks xmlns:a="http://schemas.openxmlformats.org/drawingml/2006/main" noGrp="1"/>
          </p:cNvSpPr>
          <p:nvPr/>
        </p:nvSpPr>
        <p:spPr>
          <a:xfrm xmlns:a="http://schemas.openxmlformats.org/drawingml/2006/main">
            <a:off x="8127797" y="1920240"/>
            <a:ext cx="3454314" cy="1143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00816E3-1B3E-45FF-BFEF-A602A0E973DE}"/>
              </a:ext>
            </a:extLst>
          </p:cNvPr>
          <p:cNvSpPr>
            <a:spLocks xmlns:a="http://schemas.openxmlformats.org/drawingml/2006/main" noGrp="1"/>
          </p:cNvSpPr>
          <p:nvPr/>
        </p:nvSpPr>
        <p:spPr>
          <a:xfrm xmlns:a="http://schemas.openxmlformats.org/drawingml/2006/main">
            <a:off x="8127797" y="2057400"/>
            <a:ext cx="3454314"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1">
                <a:solidFill>
                  <a:srgbClr val="C8401F"/>
                </a:solidFill>
                <a:latin typeface="Arial"/>
                <a:ea typeface="Arial"/>
                <a:cs typeface="Arial"/>
              </a:defRPr>
            </a:defPPr>
            <a:lvl1pPr algn="l">
              <a:defRPr sz="1320" b="1">
                <a:solidFill>
                  <a:srgbClr val="C8401F"/>
                </a:solidFill>
                <a:latin typeface="Arial"/>
                <a:ea typeface="Arial"/>
                <a:cs typeface="Arial"/>
              </a:defRPr>
            </a:lvl1pPr>
            <a:lvl2pPr algn="l">
              <a:defRPr sz="1320" b="1">
                <a:solidFill>
                  <a:srgbClr val="C8401F"/>
                </a:solidFill>
                <a:latin typeface="Arial"/>
                <a:ea typeface="Arial"/>
                <a:cs typeface="Arial"/>
              </a:defRPr>
            </a:lvl2pPr>
            <a:lvl3pPr algn="l">
              <a:defRPr sz="1320" b="1">
                <a:solidFill>
                  <a:srgbClr val="C8401F"/>
                </a:solidFill>
                <a:latin typeface="Arial"/>
                <a:ea typeface="Arial"/>
                <a:cs typeface="Arial"/>
              </a:defRPr>
            </a:lvl3pPr>
            <a:lvl4pPr algn="l">
              <a:defRPr sz="1320" b="1">
                <a:solidFill>
                  <a:srgbClr val="C8401F"/>
                </a:solidFill>
                <a:latin typeface="Arial"/>
                <a:ea typeface="Arial"/>
                <a:cs typeface="Arial"/>
              </a:defRPr>
            </a:lvl4pPr>
            <a:lvl5pPr algn="l">
              <a:defRPr sz="1320" b="1">
                <a:solidFill>
                  <a:srgbClr val="C8401F"/>
                </a:solidFill>
                <a:latin typeface="Arial"/>
                <a:ea typeface="Arial"/>
                <a:cs typeface="Arial"/>
              </a:defRPr>
            </a:lvl5pPr>
            <a:lvl6pPr algn="l">
              <a:defRPr sz="1320" b="1">
                <a:solidFill>
                  <a:srgbClr val="C8401F"/>
                </a:solidFill>
                <a:latin typeface="Arial"/>
                <a:ea typeface="Arial"/>
                <a:cs typeface="Arial"/>
              </a:defRPr>
            </a:lvl6pPr>
            <a:lvl7pPr algn="l">
              <a:defRPr sz="1320" b="1">
                <a:solidFill>
                  <a:srgbClr val="C8401F"/>
                </a:solidFill>
                <a:latin typeface="Arial"/>
                <a:ea typeface="Arial"/>
                <a:cs typeface="Arial"/>
              </a:defRPr>
            </a:lvl7pPr>
            <a:lvl8pPr algn="l">
              <a:defRPr sz="1320" b="1">
                <a:solidFill>
                  <a:srgbClr val="C8401F"/>
                </a:solidFill>
                <a:latin typeface="Arial"/>
                <a:ea typeface="Arial"/>
                <a:cs typeface="Arial"/>
              </a:defRPr>
            </a:lvl8pPr>
            <a:lvl9pPr algn="l">
              <a:defRPr sz="1320" b="1">
                <a:solidFill>
                  <a:srgbClr val="C8401F"/>
                </a:solidFill>
                <a:latin typeface="Arial"/>
                <a:ea typeface="Arial"/>
                <a:cs typeface="Arial"/>
              </a:defRPr>
            </a:lvl9pPr>
          </a:lstStyle>
          <a:p xmlns:a="http://schemas.openxmlformats.org/drawingml/2006/main">
            <a:pPr algn="l">
              <a:defRPr sz="1320" b="1">
                <a:solidFill>
                  <a:srgbClr val="C8401F"/>
                </a:solidFill>
                <a:latin typeface="Arial"/>
                <a:ea typeface="Arial"/>
                <a:cs typeface="Arial"/>
              </a:defRPr>
            </a:pPr>
            <a:r>
              <a:rPr sz="1320" b="1">
                <a:solidFill>
                  <a:srgbClr val="C8401F"/>
                </a:solidFill>
                <a:latin typeface="Arial"/>
                <a:ea typeface="Arial"/>
                <a:cs typeface="Arial"/>
              </a:rPr>
              <a:t>03</a:t>
            </a:r>
          </a:p>
        </p:txBody>
      </p:sp>
      <p:sp>
        <p:nvSpPr>
          <p:cNvPr id="24" name="">
            <a:extLst xmlns:a="http://schemas.openxmlformats.org/drawingml/2006/main">
              <a:ext uri="{FF2B5EF4-FFF2-40B4-BE49-F238E27FC236}">
                <a16:creationId xmlns:a16="http://schemas.microsoft.com/office/drawing/2014/main" id="{352C3DB0-59C2-4C3E-B101-28050361DEC6}"/>
              </a:ext>
            </a:extLst>
          </p:cNvPr>
          <p:cNvSpPr>
            <a:spLocks xmlns:a="http://schemas.openxmlformats.org/drawingml/2006/main" noGrp="1"/>
          </p:cNvSpPr>
          <p:nvPr/>
        </p:nvSpPr>
        <p:spPr>
          <a:xfrm xmlns:a="http://schemas.openxmlformats.org/drawingml/2006/main">
            <a:off x="8127797" y="2392680"/>
            <a:ext cx="3454314" cy="396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680" b="1">
                <a:solidFill>
                  <a:srgbClr val="151312"/>
                </a:solidFill>
                <a:latin typeface="Arial"/>
                <a:ea typeface="Arial"/>
                <a:cs typeface="Arial"/>
              </a:defRPr>
            </a:defPPr>
            <a:lvl1pPr algn="l">
              <a:defRPr sz="1680" b="1">
                <a:solidFill>
                  <a:srgbClr val="151312"/>
                </a:solidFill>
                <a:latin typeface="Arial"/>
                <a:ea typeface="Arial"/>
                <a:cs typeface="Arial"/>
              </a:defRPr>
            </a:lvl1pPr>
            <a:lvl2pPr algn="l">
              <a:defRPr sz="1680" b="1">
                <a:solidFill>
                  <a:srgbClr val="151312"/>
                </a:solidFill>
                <a:latin typeface="Arial"/>
                <a:ea typeface="Arial"/>
                <a:cs typeface="Arial"/>
              </a:defRPr>
            </a:lvl2pPr>
            <a:lvl3pPr algn="l">
              <a:defRPr sz="1680" b="1">
                <a:solidFill>
                  <a:srgbClr val="151312"/>
                </a:solidFill>
                <a:latin typeface="Arial"/>
                <a:ea typeface="Arial"/>
                <a:cs typeface="Arial"/>
              </a:defRPr>
            </a:lvl3pPr>
            <a:lvl4pPr algn="l">
              <a:defRPr sz="1680" b="1">
                <a:solidFill>
                  <a:srgbClr val="151312"/>
                </a:solidFill>
                <a:latin typeface="Arial"/>
                <a:ea typeface="Arial"/>
                <a:cs typeface="Arial"/>
              </a:defRPr>
            </a:lvl4pPr>
            <a:lvl5pPr algn="l">
              <a:defRPr sz="1680" b="1">
                <a:solidFill>
                  <a:srgbClr val="151312"/>
                </a:solidFill>
                <a:latin typeface="Arial"/>
                <a:ea typeface="Arial"/>
                <a:cs typeface="Arial"/>
              </a:defRPr>
            </a:lvl5pPr>
            <a:lvl6pPr algn="l">
              <a:defRPr sz="1680" b="1">
                <a:solidFill>
                  <a:srgbClr val="151312"/>
                </a:solidFill>
                <a:latin typeface="Arial"/>
                <a:ea typeface="Arial"/>
                <a:cs typeface="Arial"/>
              </a:defRPr>
            </a:lvl6pPr>
            <a:lvl7pPr algn="l">
              <a:defRPr sz="1680" b="1">
                <a:solidFill>
                  <a:srgbClr val="151312"/>
                </a:solidFill>
                <a:latin typeface="Arial"/>
                <a:ea typeface="Arial"/>
                <a:cs typeface="Arial"/>
              </a:defRPr>
            </a:lvl7pPr>
            <a:lvl8pPr algn="l">
              <a:defRPr sz="1680" b="1">
                <a:solidFill>
                  <a:srgbClr val="151312"/>
                </a:solidFill>
                <a:latin typeface="Arial"/>
                <a:ea typeface="Arial"/>
                <a:cs typeface="Arial"/>
              </a:defRPr>
            </a:lvl8pPr>
            <a:lvl9pPr algn="l">
              <a:defRPr sz="1680" b="1">
                <a:solidFill>
                  <a:srgbClr val="151312"/>
                </a:solidFill>
                <a:latin typeface="Arial"/>
                <a:ea typeface="Arial"/>
                <a:cs typeface="Arial"/>
              </a:defRPr>
            </a:lvl9pPr>
          </a:lstStyle>
          <a:p xmlns:a="http://schemas.openxmlformats.org/drawingml/2006/main">
            <a:pPr algn="l">
              <a:defRPr sz="1680" b="1">
                <a:solidFill>
                  <a:srgbClr val="151312"/>
                </a:solidFill>
                <a:latin typeface="Arial"/>
                <a:ea typeface="Arial"/>
                <a:cs typeface="Arial"/>
              </a:defRPr>
            </a:pPr>
            <a:r>
              <a:rPr sz="1680" b="1">
                <a:solidFill>
                  <a:srgbClr val="151312"/>
                </a:solidFill>
                <a:latin typeface="Arial"/>
                <a:ea typeface="Arial"/>
                <a:cs typeface="Arial"/>
              </a:rPr>
              <a:t>Build</a:t>
            </a:r>
          </a:p>
        </p:txBody>
      </p:sp>
      <p:sp>
        <p:nvSpPr>
          <p:cNvPr id="25" name="">
            <a:extLst xmlns:a="http://schemas.openxmlformats.org/drawingml/2006/main">
              <a:ext uri="{FF2B5EF4-FFF2-40B4-BE49-F238E27FC236}">
                <a16:creationId xmlns:a16="http://schemas.microsoft.com/office/drawing/2014/main" id="{0544ADE2-F736-4054-8834-8D77B42D69A9}"/>
              </a:ext>
            </a:extLst>
          </p:cNvPr>
          <p:cNvSpPr>
            <a:spLocks xmlns:a="http://schemas.openxmlformats.org/drawingml/2006/main" noGrp="1"/>
          </p:cNvSpPr>
          <p:nvPr/>
        </p:nvSpPr>
        <p:spPr>
          <a:xfrm xmlns:a="http://schemas.openxmlformats.org/drawingml/2006/main">
            <a:off x="8127797" y="2887980"/>
            <a:ext cx="3454314"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keyless sign-in (workload identity federation); Cloud Build to Artifact Registry</a:t>
            </a:r>
          </a:p>
        </p:txBody>
      </p:sp>
      <p:sp>
        <p:nvSpPr>
          <p:cNvPr id="26" name="">
            <a:extLst xmlns:a="http://schemas.openxmlformats.org/drawingml/2006/main">
              <a:ext uri="{FF2B5EF4-FFF2-40B4-BE49-F238E27FC236}">
                <a16:creationId xmlns:a16="http://schemas.microsoft.com/office/drawing/2014/main" id="{9EBF45FA-A1EC-4F62-80A2-F64399CC6C7F}"/>
              </a:ext>
            </a:extLst>
          </p:cNvPr>
          <p:cNvSpPr>
            <a:spLocks xmlns:a="http://schemas.openxmlformats.org/drawingml/2006/main" noGrp="1"/>
          </p:cNvSpPr>
          <p:nvPr/>
        </p:nvSpPr>
        <p:spPr>
          <a:xfrm xmlns:a="http://schemas.openxmlformats.org/drawingml/2006/main">
            <a:off x="609585" y="4152900"/>
            <a:ext cx="3454314" cy="1143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FCE8CFF-532A-45C6-BC90-AC460871A909}"/>
              </a:ext>
            </a:extLst>
          </p:cNvPr>
          <p:cNvSpPr>
            <a:spLocks xmlns:a="http://schemas.openxmlformats.org/drawingml/2006/main" noGrp="1"/>
          </p:cNvSpPr>
          <p:nvPr/>
        </p:nvSpPr>
        <p:spPr>
          <a:xfrm xmlns:a="http://schemas.openxmlformats.org/drawingml/2006/main">
            <a:off x="609585" y="4290060"/>
            <a:ext cx="3454314"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1">
                <a:solidFill>
                  <a:srgbClr val="C8401F"/>
                </a:solidFill>
                <a:latin typeface="Arial"/>
                <a:ea typeface="Arial"/>
                <a:cs typeface="Arial"/>
              </a:defRPr>
            </a:defPPr>
            <a:lvl1pPr algn="l">
              <a:defRPr sz="1320" b="1">
                <a:solidFill>
                  <a:srgbClr val="C8401F"/>
                </a:solidFill>
                <a:latin typeface="Arial"/>
                <a:ea typeface="Arial"/>
                <a:cs typeface="Arial"/>
              </a:defRPr>
            </a:lvl1pPr>
            <a:lvl2pPr algn="l">
              <a:defRPr sz="1320" b="1">
                <a:solidFill>
                  <a:srgbClr val="C8401F"/>
                </a:solidFill>
                <a:latin typeface="Arial"/>
                <a:ea typeface="Arial"/>
                <a:cs typeface="Arial"/>
              </a:defRPr>
            </a:lvl2pPr>
            <a:lvl3pPr algn="l">
              <a:defRPr sz="1320" b="1">
                <a:solidFill>
                  <a:srgbClr val="C8401F"/>
                </a:solidFill>
                <a:latin typeface="Arial"/>
                <a:ea typeface="Arial"/>
                <a:cs typeface="Arial"/>
              </a:defRPr>
            </a:lvl3pPr>
            <a:lvl4pPr algn="l">
              <a:defRPr sz="1320" b="1">
                <a:solidFill>
                  <a:srgbClr val="C8401F"/>
                </a:solidFill>
                <a:latin typeface="Arial"/>
                <a:ea typeface="Arial"/>
                <a:cs typeface="Arial"/>
              </a:defRPr>
            </a:lvl4pPr>
            <a:lvl5pPr algn="l">
              <a:defRPr sz="1320" b="1">
                <a:solidFill>
                  <a:srgbClr val="C8401F"/>
                </a:solidFill>
                <a:latin typeface="Arial"/>
                <a:ea typeface="Arial"/>
                <a:cs typeface="Arial"/>
              </a:defRPr>
            </a:lvl5pPr>
            <a:lvl6pPr algn="l">
              <a:defRPr sz="1320" b="1">
                <a:solidFill>
                  <a:srgbClr val="C8401F"/>
                </a:solidFill>
                <a:latin typeface="Arial"/>
                <a:ea typeface="Arial"/>
                <a:cs typeface="Arial"/>
              </a:defRPr>
            </a:lvl6pPr>
            <a:lvl7pPr algn="l">
              <a:defRPr sz="1320" b="1">
                <a:solidFill>
                  <a:srgbClr val="C8401F"/>
                </a:solidFill>
                <a:latin typeface="Arial"/>
                <a:ea typeface="Arial"/>
                <a:cs typeface="Arial"/>
              </a:defRPr>
            </a:lvl7pPr>
            <a:lvl8pPr algn="l">
              <a:defRPr sz="1320" b="1">
                <a:solidFill>
                  <a:srgbClr val="C8401F"/>
                </a:solidFill>
                <a:latin typeface="Arial"/>
                <a:ea typeface="Arial"/>
                <a:cs typeface="Arial"/>
              </a:defRPr>
            </a:lvl8pPr>
            <a:lvl9pPr algn="l">
              <a:defRPr sz="1320" b="1">
                <a:solidFill>
                  <a:srgbClr val="C8401F"/>
                </a:solidFill>
                <a:latin typeface="Arial"/>
                <a:ea typeface="Arial"/>
                <a:cs typeface="Arial"/>
              </a:defRPr>
            </a:lvl9pPr>
          </a:lstStyle>
          <a:p xmlns:a="http://schemas.openxmlformats.org/drawingml/2006/main">
            <a:pPr algn="l">
              <a:defRPr sz="1320" b="1">
                <a:solidFill>
                  <a:srgbClr val="C8401F"/>
                </a:solidFill>
                <a:latin typeface="Arial"/>
                <a:ea typeface="Arial"/>
                <a:cs typeface="Arial"/>
              </a:defRPr>
            </a:pPr>
            <a:r>
              <a:rPr sz="1320" b="1">
                <a:solidFill>
                  <a:srgbClr val="C8401F"/>
                </a:solidFill>
                <a:latin typeface="Arial"/>
                <a:ea typeface="Arial"/>
                <a:cs typeface="Arial"/>
              </a:rPr>
              <a:t>04</a:t>
            </a:r>
          </a:p>
        </p:txBody>
      </p:sp>
      <p:sp>
        <p:nvSpPr>
          <p:cNvPr id="28" name="">
            <a:extLst xmlns:a="http://schemas.openxmlformats.org/drawingml/2006/main">
              <a:ext uri="{FF2B5EF4-FFF2-40B4-BE49-F238E27FC236}">
                <a16:creationId xmlns:a16="http://schemas.microsoft.com/office/drawing/2014/main" id="{947E6B6A-58C3-4C38-8CDC-069CA35695B3}"/>
              </a:ext>
            </a:extLst>
          </p:cNvPr>
          <p:cNvSpPr>
            <a:spLocks xmlns:a="http://schemas.openxmlformats.org/drawingml/2006/main" noGrp="1"/>
          </p:cNvSpPr>
          <p:nvPr/>
        </p:nvSpPr>
        <p:spPr>
          <a:xfrm xmlns:a="http://schemas.openxmlformats.org/drawingml/2006/main">
            <a:off x="609585" y="4625340"/>
            <a:ext cx="3454314" cy="396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680" b="1">
                <a:solidFill>
                  <a:srgbClr val="151312"/>
                </a:solidFill>
                <a:latin typeface="Arial"/>
                <a:ea typeface="Arial"/>
                <a:cs typeface="Arial"/>
              </a:defRPr>
            </a:defPPr>
            <a:lvl1pPr algn="l">
              <a:defRPr sz="1680" b="1">
                <a:solidFill>
                  <a:srgbClr val="151312"/>
                </a:solidFill>
                <a:latin typeface="Arial"/>
                <a:ea typeface="Arial"/>
                <a:cs typeface="Arial"/>
              </a:defRPr>
            </a:lvl1pPr>
            <a:lvl2pPr algn="l">
              <a:defRPr sz="1680" b="1">
                <a:solidFill>
                  <a:srgbClr val="151312"/>
                </a:solidFill>
                <a:latin typeface="Arial"/>
                <a:ea typeface="Arial"/>
                <a:cs typeface="Arial"/>
              </a:defRPr>
            </a:lvl2pPr>
            <a:lvl3pPr algn="l">
              <a:defRPr sz="1680" b="1">
                <a:solidFill>
                  <a:srgbClr val="151312"/>
                </a:solidFill>
                <a:latin typeface="Arial"/>
                <a:ea typeface="Arial"/>
                <a:cs typeface="Arial"/>
              </a:defRPr>
            </a:lvl3pPr>
            <a:lvl4pPr algn="l">
              <a:defRPr sz="1680" b="1">
                <a:solidFill>
                  <a:srgbClr val="151312"/>
                </a:solidFill>
                <a:latin typeface="Arial"/>
                <a:ea typeface="Arial"/>
                <a:cs typeface="Arial"/>
              </a:defRPr>
            </a:lvl4pPr>
            <a:lvl5pPr algn="l">
              <a:defRPr sz="1680" b="1">
                <a:solidFill>
                  <a:srgbClr val="151312"/>
                </a:solidFill>
                <a:latin typeface="Arial"/>
                <a:ea typeface="Arial"/>
                <a:cs typeface="Arial"/>
              </a:defRPr>
            </a:lvl5pPr>
            <a:lvl6pPr algn="l">
              <a:defRPr sz="1680" b="1">
                <a:solidFill>
                  <a:srgbClr val="151312"/>
                </a:solidFill>
                <a:latin typeface="Arial"/>
                <a:ea typeface="Arial"/>
                <a:cs typeface="Arial"/>
              </a:defRPr>
            </a:lvl6pPr>
            <a:lvl7pPr algn="l">
              <a:defRPr sz="1680" b="1">
                <a:solidFill>
                  <a:srgbClr val="151312"/>
                </a:solidFill>
                <a:latin typeface="Arial"/>
                <a:ea typeface="Arial"/>
                <a:cs typeface="Arial"/>
              </a:defRPr>
            </a:lvl7pPr>
            <a:lvl8pPr algn="l">
              <a:defRPr sz="1680" b="1">
                <a:solidFill>
                  <a:srgbClr val="151312"/>
                </a:solidFill>
                <a:latin typeface="Arial"/>
                <a:ea typeface="Arial"/>
                <a:cs typeface="Arial"/>
              </a:defRPr>
            </a:lvl8pPr>
            <a:lvl9pPr algn="l">
              <a:defRPr sz="1680" b="1">
                <a:solidFill>
                  <a:srgbClr val="151312"/>
                </a:solidFill>
                <a:latin typeface="Arial"/>
                <a:ea typeface="Arial"/>
                <a:cs typeface="Arial"/>
              </a:defRPr>
            </a:lvl9pPr>
          </a:lstStyle>
          <a:p xmlns:a="http://schemas.openxmlformats.org/drawingml/2006/main">
            <a:pPr algn="l">
              <a:defRPr sz="1680" b="1">
                <a:solidFill>
                  <a:srgbClr val="151312"/>
                </a:solidFill>
                <a:latin typeface="Arial"/>
                <a:ea typeface="Arial"/>
                <a:cs typeface="Arial"/>
              </a:defRPr>
            </a:pPr>
            <a:r>
              <a:rPr sz="1680" b="1">
                <a:solidFill>
                  <a:srgbClr val="151312"/>
                </a:solidFill>
                <a:latin typeface="Arial"/>
                <a:ea typeface="Arial"/>
                <a:cs typeface="Arial"/>
              </a:rPr>
              <a:t>Serve</a:t>
            </a:r>
          </a:p>
        </p:txBody>
      </p:sp>
      <p:sp>
        <p:nvSpPr>
          <p:cNvPr id="29" name="">
            <a:extLst xmlns:a="http://schemas.openxmlformats.org/drawingml/2006/main">
              <a:ext uri="{FF2B5EF4-FFF2-40B4-BE49-F238E27FC236}">
                <a16:creationId xmlns:a16="http://schemas.microsoft.com/office/drawing/2014/main" id="{9842E760-1462-4925-9DEC-132DBDD1118A}"/>
              </a:ext>
            </a:extLst>
          </p:cNvPr>
          <p:cNvSpPr>
            <a:spLocks xmlns:a="http://schemas.openxmlformats.org/drawingml/2006/main" noGrp="1"/>
          </p:cNvSpPr>
          <p:nvPr/>
        </p:nvSpPr>
        <p:spPr>
          <a:xfrm xmlns:a="http://schemas.openxmlformats.org/drawingml/2006/main">
            <a:off x="609585" y="5120640"/>
            <a:ext cx="3454314"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Cloud Run, 1 vCPU, 1 GiB, 0 to 3 instances, warm by a free ping; fedtone.web.app</a:t>
            </a:r>
          </a:p>
        </p:txBody>
      </p:sp>
      <p:sp>
        <p:nvSpPr>
          <p:cNvPr id="30" name="">
            <a:extLst xmlns:a="http://schemas.openxmlformats.org/drawingml/2006/main">
              <a:ext uri="{FF2B5EF4-FFF2-40B4-BE49-F238E27FC236}">
                <a16:creationId xmlns:a16="http://schemas.microsoft.com/office/drawing/2014/main" id="{25D4985C-4784-4202-BED2-CF997308827D}"/>
              </a:ext>
            </a:extLst>
          </p:cNvPr>
          <p:cNvSpPr>
            <a:spLocks xmlns:a="http://schemas.openxmlformats.org/drawingml/2006/main" noGrp="1"/>
          </p:cNvSpPr>
          <p:nvPr/>
        </p:nvSpPr>
        <p:spPr>
          <a:xfrm xmlns:a="http://schemas.openxmlformats.org/drawingml/2006/main">
            <a:off x="4368691" y="4152900"/>
            <a:ext cx="3454314" cy="1143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AD6CDD1F-3C09-404C-8447-01911935563C}"/>
              </a:ext>
            </a:extLst>
          </p:cNvPr>
          <p:cNvSpPr>
            <a:spLocks xmlns:a="http://schemas.openxmlformats.org/drawingml/2006/main" noGrp="1"/>
          </p:cNvSpPr>
          <p:nvPr/>
        </p:nvSpPr>
        <p:spPr>
          <a:xfrm xmlns:a="http://schemas.openxmlformats.org/drawingml/2006/main">
            <a:off x="4368691" y="4290060"/>
            <a:ext cx="3454314"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1">
                <a:solidFill>
                  <a:srgbClr val="C8401F"/>
                </a:solidFill>
                <a:latin typeface="Arial"/>
                <a:ea typeface="Arial"/>
                <a:cs typeface="Arial"/>
              </a:defRPr>
            </a:defPPr>
            <a:lvl1pPr algn="l">
              <a:defRPr sz="1320" b="1">
                <a:solidFill>
                  <a:srgbClr val="C8401F"/>
                </a:solidFill>
                <a:latin typeface="Arial"/>
                <a:ea typeface="Arial"/>
                <a:cs typeface="Arial"/>
              </a:defRPr>
            </a:lvl1pPr>
            <a:lvl2pPr algn="l">
              <a:defRPr sz="1320" b="1">
                <a:solidFill>
                  <a:srgbClr val="C8401F"/>
                </a:solidFill>
                <a:latin typeface="Arial"/>
                <a:ea typeface="Arial"/>
                <a:cs typeface="Arial"/>
              </a:defRPr>
            </a:lvl2pPr>
            <a:lvl3pPr algn="l">
              <a:defRPr sz="1320" b="1">
                <a:solidFill>
                  <a:srgbClr val="C8401F"/>
                </a:solidFill>
                <a:latin typeface="Arial"/>
                <a:ea typeface="Arial"/>
                <a:cs typeface="Arial"/>
              </a:defRPr>
            </a:lvl3pPr>
            <a:lvl4pPr algn="l">
              <a:defRPr sz="1320" b="1">
                <a:solidFill>
                  <a:srgbClr val="C8401F"/>
                </a:solidFill>
                <a:latin typeface="Arial"/>
                <a:ea typeface="Arial"/>
                <a:cs typeface="Arial"/>
              </a:defRPr>
            </a:lvl4pPr>
            <a:lvl5pPr algn="l">
              <a:defRPr sz="1320" b="1">
                <a:solidFill>
                  <a:srgbClr val="C8401F"/>
                </a:solidFill>
                <a:latin typeface="Arial"/>
                <a:ea typeface="Arial"/>
                <a:cs typeface="Arial"/>
              </a:defRPr>
            </a:lvl5pPr>
            <a:lvl6pPr algn="l">
              <a:defRPr sz="1320" b="1">
                <a:solidFill>
                  <a:srgbClr val="C8401F"/>
                </a:solidFill>
                <a:latin typeface="Arial"/>
                <a:ea typeface="Arial"/>
                <a:cs typeface="Arial"/>
              </a:defRPr>
            </a:lvl6pPr>
            <a:lvl7pPr algn="l">
              <a:defRPr sz="1320" b="1">
                <a:solidFill>
                  <a:srgbClr val="C8401F"/>
                </a:solidFill>
                <a:latin typeface="Arial"/>
                <a:ea typeface="Arial"/>
                <a:cs typeface="Arial"/>
              </a:defRPr>
            </a:lvl7pPr>
            <a:lvl8pPr algn="l">
              <a:defRPr sz="1320" b="1">
                <a:solidFill>
                  <a:srgbClr val="C8401F"/>
                </a:solidFill>
                <a:latin typeface="Arial"/>
                <a:ea typeface="Arial"/>
                <a:cs typeface="Arial"/>
              </a:defRPr>
            </a:lvl8pPr>
            <a:lvl9pPr algn="l">
              <a:defRPr sz="1320" b="1">
                <a:solidFill>
                  <a:srgbClr val="C8401F"/>
                </a:solidFill>
                <a:latin typeface="Arial"/>
                <a:ea typeface="Arial"/>
                <a:cs typeface="Arial"/>
              </a:defRPr>
            </a:lvl9pPr>
          </a:lstStyle>
          <a:p xmlns:a="http://schemas.openxmlformats.org/drawingml/2006/main">
            <a:pPr algn="l">
              <a:defRPr sz="1320" b="1">
                <a:solidFill>
                  <a:srgbClr val="C8401F"/>
                </a:solidFill>
                <a:latin typeface="Arial"/>
                <a:ea typeface="Arial"/>
                <a:cs typeface="Arial"/>
              </a:defRPr>
            </a:pPr>
            <a:r>
              <a:rPr sz="1320" b="1">
                <a:solidFill>
                  <a:srgbClr val="C8401F"/>
                </a:solidFill>
                <a:latin typeface="Arial"/>
                <a:ea typeface="Arial"/>
                <a:cs typeface="Arial"/>
              </a:rPr>
              <a:t>05</a:t>
            </a:r>
          </a:p>
        </p:txBody>
      </p:sp>
      <p:sp>
        <p:nvSpPr>
          <p:cNvPr id="32" name="">
            <a:extLst xmlns:a="http://schemas.openxmlformats.org/drawingml/2006/main">
              <a:ext uri="{FF2B5EF4-FFF2-40B4-BE49-F238E27FC236}">
                <a16:creationId xmlns:a16="http://schemas.microsoft.com/office/drawing/2014/main" id="{57F62044-D4D2-4E43-AF4A-70BD0BB020D6}"/>
              </a:ext>
            </a:extLst>
          </p:cNvPr>
          <p:cNvSpPr>
            <a:spLocks xmlns:a="http://schemas.openxmlformats.org/drawingml/2006/main" noGrp="1"/>
          </p:cNvSpPr>
          <p:nvPr/>
        </p:nvSpPr>
        <p:spPr>
          <a:xfrm xmlns:a="http://schemas.openxmlformats.org/drawingml/2006/main">
            <a:off x="4368691" y="4625340"/>
            <a:ext cx="3454314" cy="396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680" b="1">
                <a:solidFill>
                  <a:srgbClr val="151312"/>
                </a:solidFill>
                <a:latin typeface="Arial"/>
                <a:ea typeface="Arial"/>
                <a:cs typeface="Arial"/>
              </a:defRPr>
            </a:defPPr>
            <a:lvl1pPr algn="l">
              <a:defRPr sz="1680" b="1">
                <a:solidFill>
                  <a:srgbClr val="151312"/>
                </a:solidFill>
                <a:latin typeface="Arial"/>
                <a:ea typeface="Arial"/>
                <a:cs typeface="Arial"/>
              </a:defRPr>
            </a:lvl1pPr>
            <a:lvl2pPr algn="l">
              <a:defRPr sz="1680" b="1">
                <a:solidFill>
                  <a:srgbClr val="151312"/>
                </a:solidFill>
                <a:latin typeface="Arial"/>
                <a:ea typeface="Arial"/>
                <a:cs typeface="Arial"/>
              </a:defRPr>
            </a:lvl2pPr>
            <a:lvl3pPr algn="l">
              <a:defRPr sz="1680" b="1">
                <a:solidFill>
                  <a:srgbClr val="151312"/>
                </a:solidFill>
                <a:latin typeface="Arial"/>
                <a:ea typeface="Arial"/>
                <a:cs typeface="Arial"/>
              </a:defRPr>
            </a:lvl3pPr>
            <a:lvl4pPr algn="l">
              <a:defRPr sz="1680" b="1">
                <a:solidFill>
                  <a:srgbClr val="151312"/>
                </a:solidFill>
                <a:latin typeface="Arial"/>
                <a:ea typeface="Arial"/>
                <a:cs typeface="Arial"/>
              </a:defRPr>
            </a:lvl4pPr>
            <a:lvl5pPr algn="l">
              <a:defRPr sz="1680" b="1">
                <a:solidFill>
                  <a:srgbClr val="151312"/>
                </a:solidFill>
                <a:latin typeface="Arial"/>
                <a:ea typeface="Arial"/>
                <a:cs typeface="Arial"/>
              </a:defRPr>
            </a:lvl5pPr>
            <a:lvl6pPr algn="l">
              <a:defRPr sz="1680" b="1">
                <a:solidFill>
                  <a:srgbClr val="151312"/>
                </a:solidFill>
                <a:latin typeface="Arial"/>
                <a:ea typeface="Arial"/>
                <a:cs typeface="Arial"/>
              </a:defRPr>
            </a:lvl6pPr>
            <a:lvl7pPr algn="l">
              <a:defRPr sz="1680" b="1">
                <a:solidFill>
                  <a:srgbClr val="151312"/>
                </a:solidFill>
                <a:latin typeface="Arial"/>
                <a:ea typeface="Arial"/>
                <a:cs typeface="Arial"/>
              </a:defRPr>
            </a:lvl7pPr>
            <a:lvl8pPr algn="l">
              <a:defRPr sz="1680" b="1">
                <a:solidFill>
                  <a:srgbClr val="151312"/>
                </a:solidFill>
                <a:latin typeface="Arial"/>
                <a:ea typeface="Arial"/>
                <a:cs typeface="Arial"/>
              </a:defRPr>
            </a:lvl8pPr>
            <a:lvl9pPr algn="l">
              <a:defRPr sz="1680" b="1">
                <a:solidFill>
                  <a:srgbClr val="151312"/>
                </a:solidFill>
                <a:latin typeface="Arial"/>
                <a:ea typeface="Arial"/>
                <a:cs typeface="Arial"/>
              </a:defRPr>
            </a:lvl9pPr>
          </a:lstStyle>
          <a:p xmlns:a="http://schemas.openxmlformats.org/drawingml/2006/main">
            <a:pPr algn="l">
              <a:defRPr sz="1680" b="1">
                <a:solidFill>
                  <a:srgbClr val="151312"/>
                </a:solidFill>
                <a:latin typeface="Arial"/>
                <a:ea typeface="Arial"/>
                <a:cs typeface="Arial"/>
              </a:defRPr>
            </a:pPr>
            <a:r>
              <a:rPr sz="1680" b="1">
                <a:solidFill>
                  <a:srgbClr val="151312"/>
                </a:solidFill>
                <a:latin typeface="Arial"/>
                <a:ea typeface="Arial"/>
                <a:cs typeface="Arial"/>
              </a:rPr>
              <a:t>Guard</a:t>
            </a:r>
          </a:p>
        </p:txBody>
      </p:sp>
      <p:sp>
        <p:nvSpPr>
          <p:cNvPr id="33" name="">
            <a:extLst xmlns:a="http://schemas.openxmlformats.org/drawingml/2006/main">
              <a:ext uri="{FF2B5EF4-FFF2-40B4-BE49-F238E27FC236}">
                <a16:creationId xmlns:a16="http://schemas.microsoft.com/office/drawing/2014/main" id="{3943DCF1-127A-4DDC-87B6-997F373A1CE7}"/>
              </a:ext>
            </a:extLst>
          </p:cNvPr>
          <p:cNvSpPr>
            <a:spLocks xmlns:a="http://schemas.openxmlformats.org/drawingml/2006/main" noGrp="1"/>
          </p:cNvSpPr>
          <p:nvPr/>
        </p:nvSpPr>
        <p:spPr>
          <a:xfrm xmlns:a="http://schemas.openxmlformats.org/drawingml/2006/main">
            <a:off x="4368691" y="5120640"/>
            <a:ext cx="3454314"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fomc doctor --strict: statements, minutes, prices and readings must keep arriving</a:t>
            </a:r>
          </a:p>
        </p:txBody>
      </p:sp>
      <p:sp>
        <p:nvSpPr>
          <p:cNvPr id="34" name="">
            <a:extLst xmlns:a="http://schemas.openxmlformats.org/drawingml/2006/main">
              <a:ext uri="{FF2B5EF4-FFF2-40B4-BE49-F238E27FC236}">
                <a16:creationId xmlns:a16="http://schemas.microsoft.com/office/drawing/2014/main" id="{101CE05E-C69D-4735-A933-7621C020F9DF}"/>
              </a:ext>
            </a:extLst>
          </p:cNvPr>
          <p:cNvSpPr>
            <a:spLocks xmlns:a="http://schemas.openxmlformats.org/drawingml/2006/main" noGrp="1"/>
          </p:cNvSpPr>
          <p:nvPr/>
        </p:nvSpPr>
        <p:spPr>
          <a:xfrm xmlns:a="http://schemas.openxmlformats.org/drawingml/2006/main">
            <a:off x="8127797" y="4152900"/>
            <a:ext cx="3454314" cy="1143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F47427F8-27F6-414C-BC26-A9A30CEB5841}"/>
              </a:ext>
            </a:extLst>
          </p:cNvPr>
          <p:cNvSpPr>
            <a:spLocks xmlns:a="http://schemas.openxmlformats.org/drawingml/2006/main" noGrp="1"/>
          </p:cNvSpPr>
          <p:nvPr/>
        </p:nvSpPr>
        <p:spPr>
          <a:xfrm xmlns:a="http://schemas.openxmlformats.org/drawingml/2006/main">
            <a:off x="8127797" y="4290060"/>
            <a:ext cx="3454314"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1">
                <a:solidFill>
                  <a:srgbClr val="C8401F"/>
                </a:solidFill>
                <a:latin typeface="Arial"/>
                <a:ea typeface="Arial"/>
                <a:cs typeface="Arial"/>
              </a:defRPr>
            </a:defPPr>
            <a:lvl1pPr algn="l">
              <a:defRPr sz="1320" b="1">
                <a:solidFill>
                  <a:srgbClr val="C8401F"/>
                </a:solidFill>
                <a:latin typeface="Arial"/>
                <a:ea typeface="Arial"/>
                <a:cs typeface="Arial"/>
              </a:defRPr>
            </a:lvl1pPr>
            <a:lvl2pPr algn="l">
              <a:defRPr sz="1320" b="1">
                <a:solidFill>
                  <a:srgbClr val="C8401F"/>
                </a:solidFill>
                <a:latin typeface="Arial"/>
                <a:ea typeface="Arial"/>
                <a:cs typeface="Arial"/>
              </a:defRPr>
            </a:lvl2pPr>
            <a:lvl3pPr algn="l">
              <a:defRPr sz="1320" b="1">
                <a:solidFill>
                  <a:srgbClr val="C8401F"/>
                </a:solidFill>
                <a:latin typeface="Arial"/>
                <a:ea typeface="Arial"/>
                <a:cs typeface="Arial"/>
              </a:defRPr>
            </a:lvl3pPr>
            <a:lvl4pPr algn="l">
              <a:defRPr sz="1320" b="1">
                <a:solidFill>
                  <a:srgbClr val="C8401F"/>
                </a:solidFill>
                <a:latin typeface="Arial"/>
                <a:ea typeface="Arial"/>
                <a:cs typeface="Arial"/>
              </a:defRPr>
            </a:lvl4pPr>
            <a:lvl5pPr algn="l">
              <a:defRPr sz="1320" b="1">
                <a:solidFill>
                  <a:srgbClr val="C8401F"/>
                </a:solidFill>
                <a:latin typeface="Arial"/>
                <a:ea typeface="Arial"/>
                <a:cs typeface="Arial"/>
              </a:defRPr>
            </a:lvl5pPr>
            <a:lvl6pPr algn="l">
              <a:defRPr sz="1320" b="1">
                <a:solidFill>
                  <a:srgbClr val="C8401F"/>
                </a:solidFill>
                <a:latin typeface="Arial"/>
                <a:ea typeface="Arial"/>
                <a:cs typeface="Arial"/>
              </a:defRPr>
            </a:lvl6pPr>
            <a:lvl7pPr algn="l">
              <a:defRPr sz="1320" b="1">
                <a:solidFill>
                  <a:srgbClr val="C8401F"/>
                </a:solidFill>
                <a:latin typeface="Arial"/>
                <a:ea typeface="Arial"/>
                <a:cs typeface="Arial"/>
              </a:defRPr>
            </a:lvl7pPr>
            <a:lvl8pPr algn="l">
              <a:defRPr sz="1320" b="1">
                <a:solidFill>
                  <a:srgbClr val="C8401F"/>
                </a:solidFill>
                <a:latin typeface="Arial"/>
                <a:ea typeface="Arial"/>
                <a:cs typeface="Arial"/>
              </a:defRPr>
            </a:lvl8pPr>
            <a:lvl9pPr algn="l">
              <a:defRPr sz="1320" b="1">
                <a:solidFill>
                  <a:srgbClr val="C8401F"/>
                </a:solidFill>
                <a:latin typeface="Arial"/>
                <a:ea typeface="Arial"/>
                <a:cs typeface="Arial"/>
              </a:defRPr>
            </a:lvl9pPr>
          </a:lstStyle>
          <a:p xmlns:a="http://schemas.openxmlformats.org/drawingml/2006/main">
            <a:pPr algn="l">
              <a:defRPr sz="1320" b="1">
                <a:solidFill>
                  <a:srgbClr val="C8401F"/>
                </a:solidFill>
                <a:latin typeface="Arial"/>
                <a:ea typeface="Arial"/>
                <a:cs typeface="Arial"/>
              </a:defRPr>
            </a:pPr>
            <a:r>
              <a:rPr sz="1320" b="1">
                <a:solidFill>
                  <a:srgbClr val="C8401F"/>
                </a:solidFill>
                <a:latin typeface="Arial"/>
                <a:ea typeface="Arial"/>
                <a:cs typeface="Arial"/>
              </a:rPr>
              <a:t>06</a:t>
            </a:r>
          </a:p>
        </p:txBody>
      </p:sp>
      <p:sp>
        <p:nvSpPr>
          <p:cNvPr id="36" name="">
            <a:extLst xmlns:a="http://schemas.openxmlformats.org/drawingml/2006/main">
              <a:ext uri="{FF2B5EF4-FFF2-40B4-BE49-F238E27FC236}">
                <a16:creationId xmlns:a16="http://schemas.microsoft.com/office/drawing/2014/main" id="{D307205A-07E4-46AA-AFE0-2D07CCFE9469}"/>
              </a:ext>
            </a:extLst>
          </p:cNvPr>
          <p:cNvSpPr>
            <a:spLocks xmlns:a="http://schemas.openxmlformats.org/drawingml/2006/main" noGrp="1"/>
          </p:cNvSpPr>
          <p:nvPr/>
        </p:nvSpPr>
        <p:spPr>
          <a:xfrm xmlns:a="http://schemas.openxmlformats.org/drawingml/2006/main">
            <a:off x="8127797" y="4625340"/>
            <a:ext cx="3454314" cy="396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680" b="1">
                <a:solidFill>
                  <a:srgbClr val="151312"/>
                </a:solidFill>
                <a:latin typeface="Arial"/>
                <a:ea typeface="Arial"/>
                <a:cs typeface="Arial"/>
              </a:defRPr>
            </a:defPPr>
            <a:lvl1pPr algn="l">
              <a:defRPr sz="1680" b="1">
                <a:solidFill>
                  <a:srgbClr val="151312"/>
                </a:solidFill>
                <a:latin typeface="Arial"/>
                <a:ea typeface="Arial"/>
                <a:cs typeface="Arial"/>
              </a:defRPr>
            </a:lvl1pPr>
            <a:lvl2pPr algn="l">
              <a:defRPr sz="1680" b="1">
                <a:solidFill>
                  <a:srgbClr val="151312"/>
                </a:solidFill>
                <a:latin typeface="Arial"/>
                <a:ea typeface="Arial"/>
                <a:cs typeface="Arial"/>
              </a:defRPr>
            </a:lvl2pPr>
            <a:lvl3pPr algn="l">
              <a:defRPr sz="1680" b="1">
                <a:solidFill>
                  <a:srgbClr val="151312"/>
                </a:solidFill>
                <a:latin typeface="Arial"/>
                <a:ea typeface="Arial"/>
                <a:cs typeface="Arial"/>
              </a:defRPr>
            </a:lvl3pPr>
            <a:lvl4pPr algn="l">
              <a:defRPr sz="1680" b="1">
                <a:solidFill>
                  <a:srgbClr val="151312"/>
                </a:solidFill>
                <a:latin typeface="Arial"/>
                <a:ea typeface="Arial"/>
                <a:cs typeface="Arial"/>
              </a:defRPr>
            </a:lvl4pPr>
            <a:lvl5pPr algn="l">
              <a:defRPr sz="1680" b="1">
                <a:solidFill>
                  <a:srgbClr val="151312"/>
                </a:solidFill>
                <a:latin typeface="Arial"/>
                <a:ea typeface="Arial"/>
                <a:cs typeface="Arial"/>
              </a:defRPr>
            </a:lvl5pPr>
            <a:lvl6pPr algn="l">
              <a:defRPr sz="1680" b="1">
                <a:solidFill>
                  <a:srgbClr val="151312"/>
                </a:solidFill>
                <a:latin typeface="Arial"/>
                <a:ea typeface="Arial"/>
                <a:cs typeface="Arial"/>
              </a:defRPr>
            </a:lvl6pPr>
            <a:lvl7pPr algn="l">
              <a:defRPr sz="1680" b="1">
                <a:solidFill>
                  <a:srgbClr val="151312"/>
                </a:solidFill>
                <a:latin typeface="Arial"/>
                <a:ea typeface="Arial"/>
                <a:cs typeface="Arial"/>
              </a:defRPr>
            </a:lvl7pPr>
            <a:lvl8pPr algn="l">
              <a:defRPr sz="1680" b="1">
                <a:solidFill>
                  <a:srgbClr val="151312"/>
                </a:solidFill>
                <a:latin typeface="Arial"/>
                <a:ea typeface="Arial"/>
                <a:cs typeface="Arial"/>
              </a:defRPr>
            </a:lvl8pPr>
            <a:lvl9pPr algn="l">
              <a:defRPr sz="1680" b="1">
                <a:solidFill>
                  <a:srgbClr val="151312"/>
                </a:solidFill>
                <a:latin typeface="Arial"/>
                <a:ea typeface="Arial"/>
                <a:cs typeface="Arial"/>
              </a:defRPr>
            </a:lvl9pPr>
          </a:lstStyle>
          <a:p xmlns:a="http://schemas.openxmlformats.org/drawingml/2006/main">
            <a:pPr algn="l">
              <a:defRPr sz="1680" b="1">
                <a:solidFill>
                  <a:srgbClr val="151312"/>
                </a:solidFill>
                <a:latin typeface="Arial"/>
                <a:ea typeface="Arial"/>
                <a:cs typeface="Arial"/>
              </a:defRPr>
            </a:pPr>
            <a:r>
              <a:rPr sz="1680" b="1">
                <a:solidFill>
                  <a:srgbClr val="151312"/>
                </a:solidFill>
                <a:latin typeface="Arial"/>
                <a:ea typeface="Arial"/>
                <a:cs typeface="Arial"/>
              </a:rPr>
              <a:t>Cap</a:t>
            </a:r>
          </a:p>
        </p:txBody>
      </p:sp>
      <p:sp>
        <p:nvSpPr>
          <p:cNvPr id="37" name="">
            <a:extLst xmlns:a="http://schemas.openxmlformats.org/drawingml/2006/main">
              <a:ext uri="{FF2B5EF4-FFF2-40B4-BE49-F238E27FC236}">
                <a16:creationId xmlns:a16="http://schemas.microsoft.com/office/drawing/2014/main" id="{224E0EFF-A51C-4D57-A4C5-1131D440DB8A}"/>
              </a:ext>
            </a:extLst>
          </p:cNvPr>
          <p:cNvSpPr>
            <a:spLocks xmlns:a="http://schemas.openxmlformats.org/drawingml/2006/main" noGrp="1"/>
          </p:cNvSpPr>
          <p:nvPr/>
        </p:nvSpPr>
        <p:spPr>
          <a:xfrm xmlns:a="http://schemas.openxmlformats.org/drawingml/2006/main">
            <a:off x="8127797" y="5120640"/>
            <a:ext cx="3454314" cy="967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a 1 USD budget unlinks billing through Pub/Sub and a function</a:t>
            </a:r>
          </a:p>
        </p:txBody>
      </p:sp>
    </p:spTree>
    <p:extLst>
      <p:ext uri="{BB962C8B-B14F-4D97-AF65-F5344CB8AC3E}">
        <p14:creationId xmlns:p14="http://schemas.microsoft.com/office/powerpoint/2010/main" val="949046238"/>
      </p:ext>
    </p:extLst>
  </p:cSld>
</p:sld>
</file>

<file path=ppt/slides/slide40.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92DC137E-DF9D-4E94-8672-34A13D73DF03}"/>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67F7D364-76FC-473C-997F-C31A72DA293B}"/>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FORWARD CHECKS AND SYSTEM</a:t>
            </a:r>
          </a:p>
        </p:txBody>
      </p:sp>
      <p:sp>
        <p:nvSpPr>
          <p:cNvPr id="3" name="">
            <a:extLst xmlns:a="http://schemas.openxmlformats.org/drawingml/2006/main">
              <a:ext uri="{FF2B5EF4-FFF2-40B4-BE49-F238E27FC236}">
                <a16:creationId xmlns:a16="http://schemas.microsoft.com/office/drawing/2014/main" id="{EF05A30C-31F1-4669-A060-DEAB706B8FE1}"/>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40 / 46</a:t>
            </a:r>
          </a:p>
        </p:txBody>
      </p:sp>
      <p:sp>
        <p:nvSpPr>
          <p:cNvPr id="4" name="">
            <a:extLst xmlns:a="http://schemas.openxmlformats.org/drawingml/2006/main">
              <a:ext uri="{FF2B5EF4-FFF2-40B4-BE49-F238E27FC236}">
                <a16:creationId xmlns:a16="http://schemas.microsoft.com/office/drawing/2014/main" id="{443B057D-4E19-40D7-BA54-7BE35BC06F6F}"/>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7894A7A-26F0-4081-A942-9249CDA52048}"/>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132 offline tests, no model calls</a:t>
            </a:r>
          </a:p>
        </p:txBody>
      </p:sp>
      <p:sp>
        <p:nvSpPr>
          <p:cNvPr id="6" name="">
            <a:extLst xmlns:a="http://schemas.openxmlformats.org/drawingml/2006/main">
              <a:ext uri="{FF2B5EF4-FFF2-40B4-BE49-F238E27FC236}">
                <a16:creationId xmlns:a16="http://schemas.microsoft.com/office/drawing/2014/main" id="{A8160C53-CA49-469D-AA26-6AEAFE9F3158}"/>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Checks cover timing, scoring, statistics, the API, operations and delivery</a:t>
            </a:r>
          </a:p>
        </p:txBody>
      </p:sp>
      <p:sp>
        <p:nvSpPr>
          <p:cNvPr id="7" name="">
            <a:extLst xmlns:a="http://schemas.openxmlformats.org/drawingml/2006/main">
              <a:ext uri="{FF2B5EF4-FFF2-40B4-BE49-F238E27FC236}">
                <a16:creationId xmlns:a16="http://schemas.microsoft.com/office/drawing/2014/main" id="{30D1D480-EE33-4012-BA11-49E05D3D12BB}"/>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AA14216-DE50-4131-A84F-AE84016F614C}"/>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pytest collection of this revision (src/fomc/test_inventory.json).</a:t>
            </a:r>
          </a:p>
        </p:txBody>
      </p:sp>
      <p:sp>
        <p:nvSpPr>
          <p:cNvPr id="9" name="">
            <a:extLst xmlns:a="http://schemas.openxmlformats.org/drawingml/2006/main">
              <a:ext uri="{FF2B5EF4-FFF2-40B4-BE49-F238E27FC236}">
                <a16:creationId xmlns:a16="http://schemas.microsoft.com/office/drawing/2014/main" id="{422E1149-B74C-4043-9A2D-BEE7ACA81619}"/>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656E933-4841-409B-A6FB-9ADF40696DA5}"/>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35E947B-D021-4BD4-AF92-50AC7D961309}"/>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E01E579-EC2B-4CE0-9AF0-F42786889398}"/>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EC91A85-462D-42EA-AEE9-66EF9E4A8647}"/>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F473853-E57C-42A0-AB33-5881AC8AF8F1}"/>
              </a:ext>
            </a:extLst>
          </p:cNvPr>
          <p:cNvSpPr>
            <a:spLocks xmlns:a="http://schemas.openxmlformats.org/drawingml/2006/main" noGrp="1"/>
          </p:cNvSpPr>
          <p:nvPr/>
        </p:nvSpPr>
        <p:spPr>
          <a:xfrm xmlns:a="http://schemas.openxmlformats.org/drawingml/2006/main">
            <a:off x="609585" y="1965960"/>
            <a:ext cx="2743131"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4560" b="1">
                <a:solidFill>
                  <a:srgbClr val="151312"/>
                </a:solidFill>
                <a:latin typeface="Arial"/>
                <a:ea typeface="Arial"/>
                <a:cs typeface="Arial"/>
              </a:defRPr>
            </a:defPPr>
            <a:lvl1pPr algn="l">
              <a:defRPr sz="4560" b="1">
                <a:solidFill>
                  <a:srgbClr val="151312"/>
                </a:solidFill>
                <a:latin typeface="Arial"/>
                <a:ea typeface="Arial"/>
                <a:cs typeface="Arial"/>
              </a:defRPr>
            </a:lvl1pPr>
            <a:lvl2pPr algn="l">
              <a:defRPr sz="4560" b="1">
                <a:solidFill>
                  <a:srgbClr val="151312"/>
                </a:solidFill>
                <a:latin typeface="Arial"/>
                <a:ea typeface="Arial"/>
                <a:cs typeface="Arial"/>
              </a:defRPr>
            </a:lvl2pPr>
            <a:lvl3pPr algn="l">
              <a:defRPr sz="4560" b="1">
                <a:solidFill>
                  <a:srgbClr val="151312"/>
                </a:solidFill>
                <a:latin typeface="Arial"/>
                <a:ea typeface="Arial"/>
                <a:cs typeface="Arial"/>
              </a:defRPr>
            </a:lvl3pPr>
            <a:lvl4pPr algn="l">
              <a:defRPr sz="4560" b="1">
                <a:solidFill>
                  <a:srgbClr val="151312"/>
                </a:solidFill>
                <a:latin typeface="Arial"/>
                <a:ea typeface="Arial"/>
                <a:cs typeface="Arial"/>
              </a:defRPr>
            </a:lvl4pPr>
            <a:lvl5pPr algn="l">
              <a:defRPr sz="4560" b="1">
                <a:solidFill>
                  <a:srgbClr val="151312"/>
                </a:solidFill>
                <a:latin typeface="Arial"/>
                <a:ea typeface="Arial"/>
                <a:cs typeface="Arial"/>
              </a:defRPr>
            </a:lvl5pPr>
            <a:lvl6pPr algn="l">
              <a:defRPr sz="4560" b="1">
                <a:solidFill>
                  <a:srgbClr val="151312"/>
                </a:solidFill>
                <a:latin typeface="Arial"/>
                <a:ea typeface="Arial"/>
                <a:cs typeface="Arial"/>
              </a:defRPr>
            </a:lvl6pPr>
            <a:lvl7pPr algn="l">
              <a:defRPr sz="4560" b="1">
                <a:solidFill>
                  <a:srgbClr val="151312"/>
                </a:solidFill>
                <a:latin typeface="Arial"/>
                <a:ea typeface="Arial"/>
                <a:cs typeface="Arial"/>
              </a:defRPr>
            </a:lvl7pPr>
            <a:lvl8pPr algn="l">
              <a:defRPr sz="4560" b="1">
                <a:solidFill>
                  <a:srgbClr val="151312"/>
                </a:solidFill>
                <a:latin typeface="Arial"/>
                <a:ea typeface="Arial"/>
                <a:cs typeface="Arial"/>
              </a:defRPr>
            </a:lvl8pPr>
            <a:lvl9pPr algn="l">
              <a:defRPr sz="4560" b="1">
                <a:solidFill>
                  <a:srgbClr val="151312"/>
                </a:solidFill>
                <a:latin typeface="Arial"/>
                <a:ea typeface="Arial"/>
                <a:cs typeface="Arial"/>
              </a:defRPr>
            </a:lvl9pPr>
          </a:lstStyle>
          <a:p xmlns:a="http://schemas.openxmlformats.org/drawingml/2006/main">
            <a:pPr algn="l">
              <a:defRPr sz="4560" b="1">
                <a:solidFill>
                  <a:srgbClr val="151312"/>
                </a:solidFill>
                <a:latin typeface="Arial"/>
                <a:ea typeface="Arial"/>
                <a:cs typeface="Arial"/>
              </a:defRPr>
            </a:pPr>
            <a:r>
              <a:rPr sz="4560" b="1">
                <a:solidFill>
                  <a:srgbClr val="151312"/>
                </a:solidFill>
                <a:latin typeface="Arial"/>
                <a:ea typeface="Arial"/>
                <a:cs typeface="Arial"/>
              </a:rPr>
              <a:t>132</a:t>
            </a:r>
          </a:p>
        </p:txBody>
      </p:sp>
      <p:sp>
        <p:nvSpPr>
          <p:cNvPr id="15" name="">
            <a:extLst xmlns:a="http://schemas.openxmlformats.org/drawingml/2006/main">
              <a:ext uri="{FF2B5EF4-FFF2-40B4-BE49-F238E27FC236}">
                <a16:creationId xmlns:a16="http://schemas.microsoft.com/office/drawing/2014/main" id="{0E0FEBB4-C43B-4D7A-B969-508BC6A8F488}"/>
              </a:ext>
            </a:extLst>
          </p:cNvPr>
          <p:cNvSpPr>
            <a:spLocks xmlns:a="http://schemas.openxmlformats.org/drawingml/2006/main" noGrp="1"/>
          </p:cNvSpPr>
          <p:nvPr/>
        </p:nvSpPr>
        <p:spPr>
          <a:xfrm xmlns:a="http://schemas.openxmlformats.org/drawingml/2006/main">
            <a:off x="609585" y="2781300"/>
            <a:ext cx="2743131"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45413C"/>
                </a:solidFill>
                <a:latin typeface="Arial"/>
                <a:ea typeface="Arial"/>
                <a:cs typeface="Arial"/>
              </a:defRPr>
            </a:defPPr>
            <a:lvl1pPr algn="l">
              <a:defRPr sz="1320" b="0">
                <a:solidFill>
                  <a:srgbClr val="45413C"/>
                </a:solidFill>
                <a:latin typeface="Arial"/>
                <a:ea typeface="Arial"/>
                <a:cs typeface="Arial"/>
              </a:defRPr>
            </a:lvl1pPr>
            <a:lvl2pPr algn="l">
              <a:defRPr sz="1320" b="0">
                <a:solidFill>
                  <a:srgbClr val="45413C"/>
                </a:solidFill>
                <a:latin typeface="Arial"/>
                <a:ea typeface="Arial"/>
                <a:cs typeface="Arial"/>
              </a:defRPr>
            </a:lvl2pPr>
            <a:lvl3pPr algn="l">
              <a:defRPr sz="1320" b="0">
                <a:solidFill>
                  <a:srgbClr val="45413C"/>
                </a:solidFill>
                <a:latin typeface="Arial"/>
                <a:ea typeface="Arial"/>
                <a:cs typeface="Arial"/>
              </a:defRPr>
            </a:lvl3pPr>
            <a:lvl4pPr algn="l">
              <a:defRPr sz="1320" b="0">
                <a:solidFill>
                  <a:srgbClr val="45413C"/>
                </a:solidFill>
                <a:latin typeface="Arial"/>
                <a:ea typeface="Arial"/>
                <a:cs typeface="Arial"/>
              </a:defRPr>
            </a:lvl4pPr>
            <a:lvl5pPr algn="l">
              <a:defRPr sz="1320" b="0">
                <a:solidFill>
                  <a:srgbClr val="45413C"/>
                </a:solidFill>
                <a:latin typeface="Arial"/>
                <a:ea typeface="Arial"/>
                <a:cs typeface="Arial"/>
              </a:defRPr>
            </a:lvl5pPr>
            <a:lvl6pPr algn="l">
              <a:defRPr sz="1320" b="0">
                <a:solidFill>
                  <a:srgbClr val="45413C"/>
                </a:solidFill>
                <a:latin typeface="Arial"/>
                <a:ea typeface="Arial"/>
                <a:cs typeface="Arial"/>
              </a:defRPr>
            </a:lvl6pPr>
            <a:lvl7pPr algn="l">
              <a:defRPr sz="1320" b="0">
                <a:solidFill>
                  <a:srgbClr val="45413C"/>
                </a:solidFill>
                <a:latin typeface="Arial"/>
                <a:ea typeface="Arial"/>
                <a:cs typeface="Arial"/>
              </a:defRPr>
            </a:lvl7pPr>
            <a:lvl8pPr algn="l">
              <a:defRPr sz="1320" b="0">
                <a:solidFill>
                  <a:srgbClr val="45413C"/>
                </a:solidFill>
                <a:latin typeface="Arial"/>
                <a:ea typeface="Arial"/>
                <a:cs typeface="Arial"/>
              </a:defRPr>
            </a:lvl8pPr>
            <a:lvl9pPr algn="l">
              <a:defRPr sz="1320" b="0">
                <a:solidFill>
                  <a:srgbClr val="45413C"/>
                </a:solidFill>
                <a:latin typeface="Arial"/>
                <a:ea typeface="Arial"/>
                <a:cs typeface="Arial"/>
              </a:defRPr>
            </a:lvl9pPr>
          </a:lstStyle>
          <a:p xmlns:a="http://schemas.openxmlformats.org/drawingml/2006/main">
            <a:pPr algn="l">
              <a:defRPr sz="1320" b="0">
                <a:solidFill>
                  <a:srgbClr val="45413C"/>
                </a:solidFill>
                <a:latin typeface="Arial"/>
                <a:ea typeface="Arial"/>
                <a:cs typeface="Arial"/>
              </a:defRPr>
            </a:pPr>
            <a:r>
              <a:rPr sz="1320" b="0">
                <a:solidFill>
                  <a:srgbClr val="45413C"/>
                </a:solidFill>
                <a:latin typeface="Arial"/>
                <a:ea typeface="Arial"/>
                <a:cs typeface="Arial"/>
              </a:rPr>
              <a:t>tests that pytest collects in this revision; none needs a key or calls a model</a:t>
            </a:r>
          </a:p>
        </p:txBody>
      </p:sp>
      <p:sp>
        <p:nvSpPr>
          <p:cNvPr id="16" name="">
            <a:extLst xmlns:a="http://schemas.openxmlformats.org/drawingml/2006/main">
              <a:ext uri="{FF2B5EF4-FFF2-40B4-BE49-F238E27FC236}">
                <a16:creationId xmlns:a16="http://schemas.microsoft.com/office/drawing/2014/main" id="{8FF38BE3-BBC8-4421-8C37-3BF9A4FB316A}"/>
              </a:ext>
            </a:extLst>
          </p:cNvPr>
          <p:cNvSpPr>
            <a:spLocks xmlns:a="http://schemas.openxmlformats.org/drawingml/2006/main" noGrp="1"/>
          </p:cNvSpPr>
          <p:nvPr/>
        </p:nvSpPr>
        <p:spPr>
          <a:xfrm xmlns:a="http://schemas.openxmlformats.org/drawingml/2006/main">
            <a:off x="609585" y="364236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3C318F1-E3F0-4B43-8C45-5040F3A4F683}"/>
              </a:ext>
            </a:extLst>
          </p:cNvPr>
          <p:cNvSpPr>
            <a:spLocks xmlns:a="http://schemas.openxmlformats.org/drawingml/2006/main" noGrp="1"/>
          </p:cNvSpPr>
          <p:nvPr/>
        </p:nvSpPr>
        <p:spPr>
          <a:xfrm xmlns:a="http://schemas.openxmlformats.org/drawingml/2006/main">
            <a:off x="609585" y="371856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Locked versions in requirements.lock, one file for every OS</a:t>
            </a:r>
          </a:p>
        </p:txBody>
      </p:sp>
      <p:sp>
        <p:nvSpPr>
          <p:cNvPr id="18" name="">
            <a:extLst xmlns:a="http://schemas.openxmlformats.org/drawingml/2006/main">
              <a:ext uri="{FF2B5EF4-FFF2-40B4-BE49-F238E27FC236}">
                <a16:creationId xmlns:a16="http://schemas.microsoft.com/office/drawing/2014/main" id="{BD8FB584-D382-4F69-AD7B-9D8C19CB7D35}"/>
              </a:ext>
            </a:extLst>
          </p:cNvPr>
          <p:cNvSpPr>
            <a:spLocks xmlns:a="http://schemas.openxmlformats.org/drawingml/2006/main" noGrp="1"/>
          </p:cNvSpPr>
          <p:nvPr/>
        </p:nvSpPr>
        <p:spPr>
          <a:xfrm xmlns:a="http://schemas.openxmlformats.org/drawingml/2006/main">
            <a:off x="609585" y="448564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0010FAB-2EAC-40E3-8943-EC9AB3DACF85}"/>
              </a:ext>
            </a:extLst>
          </p:cNvPr>
          <p:cNvSpPr>
            <a:spLocks xmlns:a="http://schemas.openxmlformats.org/drawingml/2006/main" noGrp="1"/>
          </p:cNvSpPr>
          <p:nvPr/>
        </p:nvSpPr>
        <p:spPr>
          <a:xfrm xmlns:a="http://schemas.openxmlformats.org/drawingml/2006/main">
            <a:off x="609585" y="456184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A guard keeps the research stack out of the hosted image</a:t>
            </a:r>
          </a:p>
        </p:txBody>
      </p:sp>
      <p:sp>
        <p:nvSpPr>
          <p:cNvPr id="20" name="">
            <a:extLst xmlns:a="http://schemas.openxmlformats.org/drawingml/2006/main">
              <a:ext uri="{FF2B5EF4-FFF2-40B4-BE49-F238E27FC236}">
                <a16:creationId xmlns:a16="http://schemas.microsoft.com/office/drawing/2014/main" id="{703C70C8-428A-4DF0-BD18-4890EE379ED7}"/>
              </a:ext>
            </a:extLst>
          </p:cNvPr>
          <p:cNvSpPr>
            <a:spLocks xmlns:a="http://schemas.openxmlformats.org/drawingml/2006/main" noGrp="1"/>
          </p:cNvSpPr>
          <p:nvPr/>
        </p:nvSpPr>
        <p:spPr>
          <a:xfrm xmlns:a="http://schemas.openxmlformats.org/drawingml/2006/main">
            <a:off x="609585" y="5328920"/>
            <a:ext cx="2743131"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4D6DA38-7AB9-43BE-AAD4-8BFD490C8555}"/>
              </a:ext>
            </a:extLst>
          </p:cNvPr>
          <p:cNvSpPr>
            <a:spLocks xmlns:a="http://schemas.openxmlformats.org/drawingml/2006/main" noGrp="1"/>
          </p:cNvSpPr>
          <p:nvPr/>
        </p:nvSpPr>
        <p:spPr>
          <a:xfrm xmlns:a="http://schemas.openxmlformats.org/drawingml/2006/main">
            <a:off x="609585" y="5405120"/>
            <a:ext cx="2743131" cy="713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00" b="0">
                <a:solidFill>
                  <a:srgbClr val="45413C"/>
                </a:solidFill>
                <a:latin typeface="Arial"/>
                <a:ea typeface="Arial"/>
                <a:cs typeface="Arial"/>
              </a:defRPr>
            </a:defPPr>
            <a:lvl1pPr algn="l">
              <a:defRPr sz="1200" b="0">
                <a:solidFill>
                  <a:srgbClr val="45413C"/>
                </a:solidFill>
                <a:latin typeface="Arial"/>
                <a:ea typeface="Arial"/>
                <a:cs typeface="Arial"/>
              </a:defRPr>
            </a:lvl1pPr>
            <a:lvl2pPr algn="l">
              <a:defRPr sz="1200" b="0">
                <a:solidFill>
                  <a:srgbClr val="45413C"/>
                </a:solidFill>
                <a:latin typeface="Arial"/>
                <a:ea typeface="Arial"/>
                <a:cs typeface="Arial"/>
              </a:defRPr>
            </a:lvl2pPr>
            <a:lvl3pPr algn="l">
              <a:defRPr sz="1200" b="0">
                <a:solidFill>
                  <a:srgbClr val="45413C"/>
                </a:solidFill>
                <a:latin typeface="Arial"/>
                <a:ea typeface="Arial"/>
                <a:cs typeface="Arial"/>
              </a:defRPr>
            </a:lvl3pPr>
            <a:lvl4pPr algn="l">
              <a:defRPr sz="1200" b="0">
                <a:solidFill>
                  <a:srgbClr val="45413C"/>
                </a:solidFill>
                <a:latin typeface="Arial"/>
                <a:ea typeface="Arial"/>
                <a:cs typeface="Arial"/>
              </a:defRPr>
            </a:lvl4pPr>
            <a:lvl5pPr algn="l">
              <a:defRPr sz="1200" b="0">
                <a:solidFill>
                  <a:srgbClr val="45413C"/>
                </a:solidFill>
                <a:latin typeface="Arial"/>
                <a:ea typeface="Arial"/>
                <a:cs typeface="Arial"/>
              </a:defRPr>
            </a:lvl5pPr>
            <a:lvl6pPr algn="l">
              <a:defRPr sz="1200" b="0">
                <a:solidFill>
                  <a:srgbClr val="45413C"/>
                </a:solidFill>
                <a:latin typeface="Arial"/>
                <a:ea typeface="Arial"/>
                <a:cs typeface="Arial"/>
              </a:defRPr>
            </a:lvl6pPr>
            <a:lvl7pPr algn="l">
              <a:defRPr sz="1200" b="0">
                <a:solidFill>
                  <a:srgbClr val="45413C"/>
                </a:solidFill>
                <a:latin typeface="Arial"/>
                <a:ea typeface="Arial"/>
                <a:cs typeface="Arial"/>
              </a:defRPr>
            </a:lvl7pPr>
            <a:lvl8pPr algn="l">
              <a:defRPr sz="1200" b="0">
                <a:solidFill>
                  <a:srgbClr val="45413C"/>
                </a:solidFill>
                <a:latin typeface="Arial"/>
                <a:ea typeface="Arial"/>
                <a:cs typeface="Arial"/>
              </a:defRPr>
            </a:lvl8pPr>
            <a:lvl9pPr algn="l">
              <a:defRPr sz="1200" b="0">
                <a:solidFill>
                  <a:srgbClr val="45413C"/>
                </a:solidFill>
                <a:latin typeface="Arial"/>
                <a:ea typeface="Arial"/>
                <a:cs typeface="Arial"/>
              </a:defRPr>
            </a:lvl9pPr>
          </a:lstStyle>
          <a:p xmlns:a="http://schemas.openxmlformats.org/drawingml/2006/main">
            <a:pPr algn="l">
              <a:defRPr sz="1200" b="0">
                <a:solidFill>
                  <a:srgbClr val="45413C"/>
                </a:solidFill>
                <a:latin typeface="Arial"/>
                <a:ea typeface="Arial"/>
                <a:cs typeface="Arial"/>
              </a:defRPr>
            </a:pPr>
            <a:r>
              <a:rPr sz="1200" b="0">
                <a:solidFill>
                  <a:srgbClr val="45413C"/>
                </a:solidFill>
                <a:latin typeface="Arial"/>
                <a:ea typeface="Arial"/>
                <a:cs typeface="Arial"/>
              </a:rPr>
              <a:t>Lint and a front-end check run beside the tests</a:t>
            </a:r>
          </a:p>
        </p:txBody>
      </p:sp>
      <p:graphicFrame>
        <p:nvGraphicFramePr>
          <p:cNvPr id="22" name="">
            <a:extLst xmlns:a="http://schemas.openxmlformats.org/drawingml/2006/main">
              <a:ext uri="{FF2B5EF4-FFF2-40B4-BE49-F238E27FC236}">
                <a16:creationId xmlns:a16="http://schemas.microsoft.com/office/drawing/2014/main" id="{1E908A84-2283-4FF9-9992-10491AF401B1}"/>
              </a:ext>
            </a:extLst>
          </p:cNvPr>
          <p:cNvGraphicFramePr/>
          <p:nvPr/>
        </p:nvGraphicFramePr>
        <p:xfrm>
          <a:off xmlns:a="http://schemas.openxmlformats.org/drawingml/2006/main" x="3718467" y="1920240"/>
          <a:ext xmlns:a="http://schemas.openxmlformats.org/drawingml/2006/main" cx="7863643" cy="4251960"/>
        </p:xfrm>
        <a:graphic xmlns:a="http://schemas.openxmlformats.org/drawingml/2006/main">
          <a:graphicData uri="http://schemas.openxmlformats.org/drawingml/2006/table">
            <a:tbl>
              <a:tblPr/>
              <a:tblGrid>
                <a:gridCol w="1965911"/>
                <a:gridCol w="629091"/>
                <a:gridCol w="5268641"/>
              </a:tblGrid>
              <a:tr h="472440">
                <a:tc>
                  <a:txBody>
                    <a:bodyPr/>
                    <a:lstStyle/>
                    <a:p>
                      <a:pPr algn="l"/>
                      <a:r>
                        <a:rPr sz="1080" b="1">
                          <a:solidFill>
                            <a:srgbClr val="151312"/>
                          </a:solidFill>
                          <a:latin typeface="Arial"/>
                          <a:ea typeface="Arial"/>
                          <a:cs typeface="Arial"/>
                        </a:rPr>
                        <a:t>Suite</a:t>
                      </a:r>
                    </a:p>
                  </a:txBody>
                  <a:tcPr marL="91440" marR="91440" marT="45720" marB="45720" anchor="ctr">
                    <a:lnL w="0">
                      <a:noFill/>
                    </a:lnL>
                    <a:lnR w="0">
                      <a:noFill/>
                    </a:lnR>
                    <a:lnT w="0">
                      <a:noFill/>
                    </a:lnT>
                    <a:lnB w="0">
                      <a:noFill/>
                    </a:lnB>
                    <a:solidFill>
                      <a:srgbClr val="F3F0E9"/>
                    </a:solidFill>
                  </a:tcPr>
                </a:tc>
                <a:tc>
                  <a:txBody>
                    <a:bodyPr/>
                    <a:lstStyle/>
                    <a:p>
                      <a:pPr algn="r"/>
                      <a:r>
                        <a:rPr sz="1080" b="1">
                          <a:solidFill>
                            <a:srgbClr val="151312"/>
                          </a:solidFill>
                          <a:latin typeface="Arial"/>
                          <a:ea typeface="Arial"/>
                          <a:cs typeface="Arial"/>
                        </a:rPr>
                        <a:t>Tests</a:t>
                      </a:r>
                    </a:p>
                  </a:txBody>
                  <a:tcPr marL="91440" marR="91440" marT="45720" marB="45720" anchor="ctr">
                    <a:lnR w="0">
                      <a:noFill/>
                    </a:lnR>
                    <a:lnT w="0">
                      <a:noFill/>
                    </a:lnT>
                    <a:lnB w="0">
                      <a:noFill/>
                    </a:lnB>
                    <a:solidFill>
                      <a:srgbClr val="F3F0E9"/>
                    </a:solidFill>
                  </a:tcPr>
                </a:tc>
                <a:tc>
                  <a:txBody>
                    <a:bodyPr/>
                    <a:lstStyle/>
                    <a:p>
                      <a:pPr algn="l"/>
                      <a:r>
                        <a:rPr sz="1080" b="1">
                          <a:solidFill>
                            <a:srgbClr val="151312"/>
                          </a:solidFill>
                          <a:latin typeface="Arial"/>
                          <a:ea typeface="Arial"/>
                          <a:cs typeface="Arial"/>
                        </a:rPr>
                        <a:t>Guards</a:t>
                      </a:r>
                    </a:p>
                  </a:txBody>
                  <a:tcPr marL="91440" marR="91440" marT="45720" marB="45720" anchor="ctr">
                    <a:lnR w="0">
                      <a:noFill/>
                    </a:lnR>
                    <a:lnT w="0">
                      <a:noFill/>
                    </a:lnT>
                    <a:lnB w="0">
                      <a:noFill/>
                    </a:lnB>
                    <a:solidFill>
                      <a:srgbClr val="F3F0E9"/>
                    </a:solidFill>
                  </a:tcPr>
                </a:tc>
              </a:tr>
              <a:tr h="314960">
                <a:tc>
                  <a:txBody>
                    <a:bodyPr/>
                    <a:lstStyle/>
                    <a:p>
                      <a:pPr algn="l"/>
                      <a:r>
                        <a:rPr sz="1200" b="1">
                          <a:solidFill>
                            <a:srgbClr val="45413C"/>
                          </a:solidFill>
                          <a:latin typeface="Arial"/>
                          <a:ea typeface="Arial"/>
                          <a:cs typeface="Arial"/>
                        </a:rPr>
                        <a:t>duration</a:t>
                      </a:r>
                    </a:p>
                  </a:txBody>
                  <a:tcPr marL="91440" marR="91440" marT="45720" marB="45720" anchor="ctr">
                    <a:lnL w="0">
                      <a:noFill/>
                    </a:lnL>
                    <a:lnR w="0">
                      <a:noFill/>
                    </a:lnR>
                    <a:lnB w="0">
                      <a:noFill/>
                    </a:lnB>
                    <a:solidFill>
                      <a:srgbClr val="FFFEFB"/>
                    </a:solidFill>
                  </a:tcPr>
                </a:tc>
                <a:tc>
                  <a:txBody>
                    <a:bodyPr/>
                    <a:lstStyle/>
                    <a:p>
                      <a:pPr algn="r"/>
                      <a:r>
                        <a:rPr sz="1200" b="0">
                          <a:solidFill>
                            <a:srgbClr val="45413C"/>
                          </a:solidFill>
                          <a:latin typeface="Arial"/>
                          <a:ea typeface="Arial"/>
                          <a:cs typeface="Arial"/>
                        </a:rPr>
                        <a:t>37</a:t>
                      </a:r>
                    </a:p>
                  </a:txBody>
                  <a:tcPr marL="91440" marR="91440" marT="45720" marB="45720" anchor="ctr">
                    <a:lnR w="0">
                      <a:noFill/>
                    </a:lnR>
                    <a:lnB w="0">
                      <a:noFill/>
                    </a:lnB>
                    <a:solidFill>
                      <a:srgbClr val="FFFEFB"/>
                    </a:solidFill>
                  </a:tcPr>
                </a:tc>
                <a:tc>
                  <a:txBody>
                    <a:bodyPr/>
                    <a:lstStyle/>
                    <a:p>
                      <a:pPr algn="l"/>
                      <a:r>
                        <a:rPr sz="1200" b="0">
                          <a:solidFill>
                            <a:srgbClr val="45413C"/>
                          </a:solidFill>
                          <a:latin typeface="Arial"/>
                          <a:ea typeface="Arial"/>
                          <a:cs typeface="Arial"/>
                        </a:rPr>
                        <a:t>duration sizing, prior-only signals, source badges, input checks</a:t>
                      </a:r>
                    </a:p>
                  </a:txBody>
                  <a:tcPr marL="91440" marR="91440" marT="45720" marB="45720" anchor="ctr">
                    <a:lnR w="0">
                      <a:noFill/>
                    </a:lnR>
                    <a:lnB w="0">
                      <a:noFill/>
                    </a:lnB>
                    <a:solidFill>
                      <a:srgbClr val="FFFEFB"/>
                    </a:solidFill>
                  </a:tcPr>
                </a:tc>
              </a:tr>
              <a:tr h="314960">
                <a:tc>
                  <a:txBody>
                    <a:bodyPr/>
                    <a:lstStyle/>
                    <a:p>
                      <a:pPr algn="l"/>
                      <a:r>
                        <a:rPr sz="1200" b="1">
                          <a:solidFill>
                            <a:srgbClr val="45413C"/>
                          </a:solidFill>
                          <a:latin typeface="Arial"/>
                          <a:ea typeface="Arial"/>
                          <a:cs typeface="Arial"/>
                        </a:rPr>
                        <a:t>store_api</a:t>
                      </a:r>
                    </a:p>
                  </a:txBody>
                  <a:tcPr marL="91440" marR="91440" marT="45720" marB="45720" anchor="ctr">
                    <a:lnL w="0">
                      <a:noFill/>
                    </a:lnL>
                    <a:lnR w="0">
                      <a:noFill/>
                    </a:lnR>
                    <a:lnB w="0">
                      <a:noFill/>
                    </a:lnB>
                    <a:solidFill>
                      <a:srgbClr val="FFFEFB"/>
                    </a:solidFill>
                  </a:tcPr>
                </a:tc>
                <a:tc>
                  <a:txBody>
                    <a:bodyPr/>
                    <a:lstStyle/>
                    <a:p>
                      <a:pPr algn="r"/>
                      <a:r>
                        <a:rPr sz="1200" b="0">
                          <a:solidFill>
                            <a:srgbClr val="45413C"/>
                          </a:solidFill>
                          <a:latin typeface="Arial"/>
                          <a:ea typeface="Arial"/>
                          <a:cs typeface="Arial"/>
                        </a:rPr>
                        <a:t>32</a:t>
                      </a:r>
                    </a:p>
                  </a:txBody>
                  <a:tcPr marL="91440" marR="91440" marT="45720" marB="45720" anchor="ctr">
                    <a:lnR w="0">
                      <a:noFill/>
                    </a:lnR>
                    <a:lnB w="0">
                      <a:noFill/>
                    </a:lnB>
                    <a:solidFill>
                      <a:srgbClr val="FFFEFB"/>
                    </a:solidFill>
                  </a:tcPr>
                </a:tc>
                <a:tc>
                  <a:txBody>
                    <a:bodyPr/>
                    <a:lstStyle/>
                    <a:p>
                      <a:pPr algn="l"/>
                      <a:r>
                        <a:rPr sz="1200" b="0">
                          <a:solidFill>
                            <a:srgbClr val="45413C"/>
                          </a:solidFill>
                          <a:latin typeface="Arial"/>
                          <a:ea typeface="Arial"/>
                          <a:cs typeface="Arial"/>
                        </a:rPr>
                        <a:t>store, migrations, API, public mode, feed, the decks</a:t>
                      </a:r>
                    </a:p>
                  </a:txBody>
                  <a:tcPr marL="91440" marR="91440" marT="45720" marB="45720" anchor="ctr">
                    <a:lnR w="0">
                      <a:noFill/>
                    </a:lnR>
                    <a:lnB w="0">
                      <a:noFill/>
                    </a:lnB>
                    <a:solidFill>
                      <a:srgbClr val="FFFEFB"/>
                    </a:solidFill>
                  </a:tcPr>
                </a:tc>
              </a:tr>
              <a:tr h="314960">
                <a:tc>
                  <a:txBody>
                    <a:bodyPr/>
                    <a:lstStyle/>
                    <a:p>
                      <a:pPr algn="l"/>
                      <a:r>
                        <a:rPr sz="1200" b="1">
                          <a:solidFill>
                            <a:srgbClr val="45413C"/>
                          </a:solidFill>
                          <a:latin typeface="Arial"/>
                          <a:ea typeface="Arial"/>
                          <a:cs typeface="Arial"/>
                        </a:rPr>
                        <a:t>research</a:t>
                      </a:r>
                    </a:p>
                  </a:txBody>
                  <a:tcPr marL="91440" marR="91440" marT="45720" marB="45720" anchor="ctr">
                    <a:lnL w="0">
                      <a:noFill/>
                    </a:lnL>
                    <a:lnR w="0">
                      <a:noFill/>
                    </a:lnR>
                    <a:lnB w="0">
                      <a:noFill/>
                    </a:lnB>
                    <a:solidFill>
                      <a:srgbClr val="FFFEFB"/>
                    </a:solidFill>
                  </a:tcPr>
                </a:tc>
                <a:tc>
                  <a:txBody>
                    <a:bodyPr/>
                    <a:lstStyle/>
                    <a:p>
                      <a:pPr algn="r"/>
                      <a:r>
                        <a:rPr sz="1200" b="0">
                          <a:solidFill>
                            <a:srgbClr val="45413C"/>
                          </a:solidFill>
                          <a:latin typeface="Arial"/>
                          <a:ea typeface="Arial"/>
                          <a:cs typeface="Arial"/>
                        </a:rPr>
                        <a:t>16</a:t>
                      </a:r>
                    </a:p>
                  </a:txBody>
                  <a:tcPr marL="91440" marR="91440" marT="45720" marB="45720" anchor="ctr">
                    <a:lnR w="0">
                      <a:noFill/>
                    </a:lnR>
                    <a:lnB w="0">
                      <a:noFill/>
                    </a:lnB>
                    <a:solidFill>
                      <a:srgbClr val="FFFEFB"/>
                    </a:solidFill>
                  </a:tcPr>
                </a:tc>
                <a:tc>
                  <a:txBody>
                    <a:bodyPr/>
                    <a:lstStyle/>
                    <a:p>
                      <a:pPr algn="l"/>
                      <a:r>
                        <a:rPr sz="1200" b="0">
                          <a:solidFill>
                            <a:srgbClr val="45413C"/>
                          </a:solidFill>
                          <a:latin typeface="Arial"/>
                          <a:ea typeface="Arial"/>
                          <a:cs typeface="Arial"/>
                        </a:rPr>
                        <a:t>decisions, false discovery, PSR and DSR, event panels</a:t>
                      </a:r>
                    </a:p>
                  </a:txBody>
                  <a:tcPr marL="91440" marR="91440" marT="45720" marB="45720" anchor="ctr">
                    <a:lnR w="0">
                      <a:noFill/>
                    </a:lnR>
                    <a:lnB w="0">
                      <a:noFill/>
                    </a:lnB>
                    <a:solidFill>
                      <a:srgbClr val="FFFEFB"/>
                    </a:solidFill>
                  </a:tcPr>
                </a:tc>
              </a:tr>
              <a:tr h="314960">
                <a:tc>
                  <a:txBody>
                    <a:bodyPr/>
                    <a:lstStyle/>
                    <a:p>
                      <a:pPr algn="l"/>
                      <a:r>
                        <a:rPr sz="1200" b="1">
                          <a:solidFill>
                            <a:srgbClr val="45413C"/>
                          </a:solidFill>
                          <a:latin typeface="Arial"/>
                          <a:ea typeface="Arial"/>
                          <a:cs typeface="Arial"/>
                        </a:rPr>
                        <a:t>ops</a:t>
                      </a:r>
                    </a:p>
                  </a:txBody>
                  <a:tcPr marL="91440" marR="91440" marT="45720" marB="45720" anchor="ctr">
                    <a:lnL w="0">
                      <a:noFill/>
                    </a:lnL>
                    <a:lnR w="0">
                      <a:noFill/>
                    </a:lnR>
                    <a:lnB w="0">
                      <a:noFill/>
                    </a:lnB>
                    <a:solidFill>
                      <a:srgbClr val="FFFEFB"/>
                    </a:solidFill>
                  </a:tcPr>
                </a:tc>
                <a:tc>
                  <a:txBody>
                    <a:bodyPr/>
                    <a:lstStyle/>
                    <a:p>
                      <a:pPr algn="r"/>
                      <a:r>
                        <a:rPr sz="1200" b="0">
                          <a:solidFill>
                            <a:srgbClr val="45413C"/>
                          </a:solidFill>
                          <a:latin typeface="Arial"/>
                          <a:ea typeface="Arial"/>
                          <a:cs typeface="Arial"/>
                        </a:rPr>
                        <a:t>8</a:t>
                      </a:r>
                    </a:p>
                  </a:txBody>
                  <a:tcPr marL="91440" marR="91440" marT="45720" marB="45720" anchor="ctr">
                    <a:lnR w="0">
                      <a:noFill/>
                    </a:lnR>
                    <a:lnB w="0">
                      <a:noFill/>
                    </a:lnB>
                    <a:solidFill>
                      <a:srgbClr val="FFFEFB"/>
                    </a:solidFill>
                  </a:tcPr>
                </a:tc>
                <a:tc>
                  <a:txBody>
                    <a:bodyPr/>
                    <a:lstStyle/>
                    <a:p>
                      <a:pPr algn="l"/>
                      <a:r>
                        <a:rPr sz="1200" b="0">
                          <a:solidFill>
                            <a:srgbClr val="45413C"/>
                          </a:solidFill>
                          <a:latin typeface="Arial"/>
                          <a:ea typeface="Arial"/>
                          <a:cs typeface="Arial"/>
                        </a:rPr>
                        <a:t>release days, the monthly cap, drift, the strict check</a:t>
                      </a:r>
                    </a:p>
                  </a:txBody>
                  <a:tcPr marL="91440" marR="91440" marT="45720" marB="45720" anchor="ctr">
                    <a:lnR w="0">
                      <a:noFill/>
                    </a:lnR>
                    <a:lnB w="0">
                      <a:noFill/>
                    </a:lnB>
                    <a:solidFill>
                      <a:srgbClr val="FFFEFB"/>
                    </a:solidFill>
                  </a:tcPr>
                </a:tc>
              </a:tr>
              <a:tr h="314960">
                <a:tc>
                  <a:txBody>
                    <a:bodyPr/>
                    <a:lstStyle/>
                    <a:p>
                      <a:pPr algn="l"/>
                      <a:r>
                        <a:rPr sz="1200" b="1">
                          <a:solidFill>
                            <a:srgbClr val="45413C"/>
                          </a:solidFill>
                          <a:latin typeface="Arial"/>
                          <a:ea typeface="Arial"/>
                          <a:cs typeface="Arial"/>
                        </a:rPr>
                        <a:t>submission</a:t>
                      </a:r>
                    </a:p>
                  </a:txBody>
                  <a:tcPr marL="91440" marR="91440" marT="45720" marB="45720" anchor="ctr">
                    <a:lnL w="0">
                      <a:noFill/>
                    </a:lnL>
                    <a:lnR w="0">
                      <a:noFill/>
                    </a:lnR>
                    <a:lnB w="0">
                      <a:noFill/>
                    </a:lnB>
                    <a:solidFill>
                      <a:srgbClr val="FFFEFB"/>
                    </a:solidFill>
                  </a:tcPr>
                </a:tc>
                <a:tc>
                  <a:txBody>
                    <a:bodyPr/>
                    <a:lstStyle/>
                    <a:p>
                      <a:pPr algn="r"/>
                      <a:r>
                        <a:rPr sz="1200" b="0">
                          <a:solidFill>
                            <a:srgbClr val="45413C"/>
                          </a:solidFill>
                          <a:latin typeface="Arial"/>
                          <a:ea typeface="Arial"/>
                          <a:cs typeface="Arial"/>
                        </a:rPr>
                        <a:t>8</a:t>
                      </a:r>
                    </a:p>
                  </a:txBody>
                  <a:tcPr marL="91440" marR="91440" marT="45720" marB="45720" anchor="ctr">
                    <a:lnR w="0">
                      <a:noFill/>
                    </a:lnR>
                    <a:lnB w="0">
                      <a:noFill/>
                    </a:lnB>
                    <a:solidFill>
                      <a:srgbClr val="FFFEFB"/>
                    </a:solidFill>
                  </a:tcPr>
                </a:tc>
                <a:tc>
                  <a:txBody>
                    <a:bodyPr/>
                    <a:lstStyle/>
                    <a:p>
                      <a:pPr algn="l"/>
                      <a:r>
                        <a:rPr sz="1200" b="0">
                          <a:solidFill>
                            <a:srgbClr val="45413C"/>
                          </a:solidFill>
                          <a:latin typeface="Arial"/>
                          <a:ea typeface="Arial"/>
                          <a:cs typeface="Arial"/>
                        </a:rPr>
                        <a:t>the code archive, the four deliverables, this test count</a:t>
                      </a:r>
                    </a:p>
                  </a:txBody>
                  <a:tcPr marL="91440" marR="91440" marT="45720" marB="45720" anchor="ctr">
                    <a:lnR w="0">
                      <a:noFill/>
                    </a:lnR>
                    <a:lnB w="0">
                      <a:noFill/>
                    </a:lnB>
                    <a:solidFill>
                      <a:srgbClr val="FFFEFB"/>
                    </a:solidFill>
                  </a:tcPr>
                </a:tc>
              </a:tr>
              <a:tr h="314960">
                <a:tc>
                  <a:txBody>
                    <a:bodyPr/>
                    <a:lstStyle/>
                    <a:p>
                      <a:pPr algn="l"/>
                      <a:r>
                        <a:rPr sz="1200" b="1">
                          <a:solidFill>
                            <a:srgbClr val="45413C"/>
                          </a:solidFill>
                          <a:latin typeface="Arial"/>
                          <a:ea typeface="Arial"/>
                          <a:cs typeface="Arial"/>
                        </a:rPr>
                        <a:t>timing</a:t>
                      </a:r>
                    </a:p>
                  </a:txBody>
                  <a:tcPr marL="91440" marR="91440" marT="45720" marB="45720" anchor="ctr">
                    <a:lnL w="0">
                      <a:noFill/>
                    </a:lnL>
                    <a:lnR w="0">
                      <a:noFill/>
                    </a:lnR>
                    <a:lnB w="0">
                      <a:noFill/>
                    </a:lnB>
                    <a:solidFill>
                      <a:srgbClr val="FFFEFB"/>
                    </a:solidFill>
                  </a:tcPr>
                </a:tc>
                <a:tc>
                  <a:txBody>
                    <a:bodyPr/>
                    <a:lstStyle/>
                    <a:p>
                      <a:pPr algn="r"/>
                      <a:r>
                        <a:rPr sz="1200" b="0">
                          <a:solidFill>
                            <a:srgbClr val="45413C"/>
                          </a:solidFill>
                          <a:latin typeface="Arial"/>
                          <a:ea typeface="Arial"/>
                          <a:cs typeface="Arial"/>
                        </a:rPr>
                        <a:t>8</a:t>
                      </a:r>
                    </a:p>
                  </a:txBody>
                  <a:tcPr marL="91440" marR="91440" marT="45720" marB="45720" anchor="ctr">
                    <a:lnR w="0">
                      <a:noFill/>
                    </a:lnR>
                    <a:lnB w="0">
                      <a:noFill/>
                    </a:lnB>
                    <a:solidFill>
                      <a:srgbClr val="FFFEFB"/>
                    </a:solidFill>
                  </a:tcPr>
                </a:tc>
                <a:tc>
                  <a:txBody>
                    <a:bodyPr/>
                    <a:lstStyle/>
                    <a:p>
                      <a:pPr algn="l"/>
                      <a:r>
                        <a:rPr sz="1200" b="0">
                          <a:solidFill>
                            <a:srgbClr val="45413C"/>
                          </a:solidFill>
                          <a:latin typeface="Arial"/>
                          <a:ea typeface="Arial"/>
                          <a:cs typeface="Arial"/>
                        </a:rPr>
                        <a:t>release windows, holidays, entries that earn only later</a:t>
                      </a:r>
                    </a:p>
                  </a:txBody>
                  <a:tcPr marL="91440" marR="91440" marT="45720" marB="45720" anchor="ctr">
                    <a:lnR w="0">
                      <a:noFill/>
                    </a:lnR>
                    <a:lnB w="0">
                      <a:noFill/>
                    </a:lnB>
                    <a:solidFill>
                      <a:srgbClr val="FFFEFB"/>
                    </a:solidFill>
                  </a:tcPr>
                </a:tc>
              </a:tr>
              <a:tr h="314960">
                <a:tc>
                  <a:txBody>
                    <a:bodyPr/>
                    <a:lstStyle/>
                    <a:p>
                      <a:pPr algn="l"/>
                      <a:r>
                        <a:rPr sz="1200" b="1">
                          <a:solidFill>
                            <a:srgbClr val="45413C"/>
                          </a:solidFill>
                          <a:latin typeface="Arial"/>
                          <a:ea typeface="Arial"/>
                          <a:cs typeface="Arial"/>
                        </a:rPr>
                        <a:t>text_and_scoring</a:t>
                      </a:r>
                    </a:p>
                  </a:txBody>
                  <a:tcPr marL="91440" marR="91440" marT="45720" marB="45720" anchor="ctr">
                    <a:lnL w="0">
                      <a:noFill/>
                    </a:lnL>
                    <a:lnR w="0">
                      <a:noFill/>
                    </a:lnR>
                    <a:lnB w="0">
                      <a:noFill/>
                    </a:lnB>
                    <a:solidFill>
                      <a:srgbClr val="FFFEFB"/>
                    </a:solidFill>
                  </a:tcPr>
                </a:tc>
                <a:tc>
                  <a:txBody>
                    <a:bodyPr/>
                    <a:lstStyle/>
                    <a:p>
                      <a:pPr algn="r"/>
                      <a:r>
                        <a:rPr sz="1200" b="0">
                          <a:solidFill>
                            <a:srgbClr val="45413C"/>
                          </a:solidFill>
                          <a:latin typeface="Arial"/>
                          <a:ea typeface="Arial"/>
                          <a:cs typeface="Arial"/>
                        </a:rPr>
                        <a:t>7</a:t>
                      </a:r>
                    </a:p>
                  </a:txBody>
                  <a:tcPr marL="91440" marR="91440" marT="45720" marB="45720" anchor="ctr">
                    <a:lnR w="0">
                      <a:noFill/>
                    </a:lnR>
                    <a:lnB w="0">
                      <a:noFill/>
                    </a:lnB>
                    <a:solidFill>
                      <a:srgbClr val="FFFEFB"/>
                    </a:solidFill>
                  </a:tcPr>
                </a:tc>
                <a:tc>
                  <a:txBody>
                    <a:bodyPr/>
                    <a:lstStyle/>
                    <a:p>
                      <a:pPr algn="l"/>
                      <a:r>
                        <a:rPr sz="1200" b="0">
                          <a:solidFill>
                            <a:srgbClr val="45413C"/>
                          </a:solidFill>
                          <a:latin typeface="Arial"/>
                          <a:ea typeface="Arial"/>
                          <a:cs typeface="Arial"/>
                        </a:rPr>
                        <a:t>cleaning, sentences, dictionary signs, quote checks</a:t>
                      </a:r>
                    </a:p>
                  </a:txBody>
                  <a:tcPr marL="91440" marR="91440" marT="45720" marB="45720" anchor="ctr">
                    <a:lnR w="0">
                      <a:noFill/>
                    </a:lnR>
                    <a:lnB w="0">
                      <a:noFill/>
                    </a:lnB>
                    <a:solidFill>
                      <a:srgbClr val="FFFEFB"/>
                    </a:solidFill>
                  </a:tcPr>
                </a:tc>
              </a:tr>
              <a:tr h="314960">
                <a:tc>
                  <a:txBody>
                    <a:bodyPr/>
                    <a:lstStyle/>
                    <a:p>
                      <a:pPr algn="l"/>
                      <a:r>
                        <a:rPr sz="1200" b="1">
                          <a:solidFill>
                            <a:srgbClr val="45413C"/>
                          </a:solidFill>
                          <a:latin typeface="Arial"/>
                          <a:ea typeface="Arial"/>
                          <a:cs typeface="Arial"/>
                        </a:rPr>
                        <a:t>finetune</a:t>
                      </a:r>
                    </a:p>
                  </a:txBody>
                  <a:tcPr marL="91440" marR="91440" marT="45720" marB="45720" anchor="ctr">
                    <a:lnL w="0">
                      <a:noFill/>
                    </a:lnL>
                    <a:lnR w="0">
                      <a:noFill/>
                    </a:lnR>
                    <a:lnB w="0">
                      <a:noFill/>
                    </a:lnB>
                    <a:solidFill>
                      <a:srgbClr val="FFFEFB"/>
                    </a:solidFill>
                  </a:tcPr>
                </a:tc>
                <a:tc>
                  <a:txBody>
                    <a:bodyPr/>
                    <a:lstStyle/>
                    <a:p>
                      <a:pPr algn="r"/>
                      <a:r>
                        <a:rPr sz="1200" b="0">
                          <a:solidFill>
                            <a:srgbClr val="45413C"/>
                          </a:solidFill>
                          <a:latin typeface="Arial"/>
                          <a:ea typeface="Arial"/>
                          <a:cs typeface="Arial"/>
                        </a:rPr>
                        <a:t>4</a:t>
                      </a:r>
                    </a:p>
                  </a:txBody>
                  <a:tcPr marL="91440" marR="91440" marT="45720" marB="45720" anchor="ctr">
                    <a:lnR w="0">
                      <a:noFill/>
                    </a:lnR>
                    <a:lnB w="0">
                      <a:noFill/>
                    </a:lnB>
                    <a:solidFill>
                      <a:srgbClr val="FFFEFB"/>
                    </a:solidFill>
                  </a:tcPr>
                </a:tc>
                <a:tc>
                  <a:txBody>
                    <a:bodyPr/>
                    <a:lstStyle/>
                    <a:p>
                      <a:pPr algn="l"/>
                      <a:r>
                        <a:rPr sz="1200" b="0">
                          <a:solidFill>
                            <a:srgbClr val="45413C"/>
                          </a:solidFill>
                          <a:latin typeface="Arial"/>
                          <a:ea typeface="Arial"/>
                          <a:cs typeface="Arial"/>
                        </a:rPr>
                        <a:t>fine-tuning bookkeeping, without PyTorch</a:t>
                      </a:r>
                    </a:p>
                  </a:txBody>
                  <a:tcPr marL="91440" marR="91440" marT="45720" marB="45720" anchor="ctr">
                    <a:lnR w="0">
                      <a:noFill/>
                    </a:lnR>
                    <a:lnB w="0">
                      <a:noFill/>
                    </a:lnB>
                    <a:solidFill>
                      <a:srgbClr val="FFFEFB"/>
                    </a:solidFill>
                  </a:tcPr>
                </a:tc>
              </a:tr>
              <a:tr h="314960">
                <a:tc>
                  <a:txBody>
                    <a:bodyPr/>
                    <a:lstStyle/>
                    <a:p>
                      <a:pPr algn="l"/>
                      <a:r>
                        <a:rPr sz="1200" b="1">
                          <a:solidFill>
                            <a:srgbClr val="45413C"/>
                          </a:solidFill>
                          <a:latin typeface="Arial"/>
                          <a:ea typeface="Arial"/>
                          <a:cs typeface="Arial"/>
                        </a:rPr>
                        <a:t>members</a:t>
                      </a:r>
                    </a:p>
                  </a:txBody>
                  <a:tcPr marL="91440" marR="91440" marT="45720" marB="45720" anchor="ctr">
                    <a:lnL w="0">
                      <a:noFill/>
                    </a:lnL>
                    <a:lnR w="0">
                      <a:noFill/>
                    </a:lnR>
                    <a:lnB w="0">
                      <a:noFill/>
                    </a:lnB>
                    <a:solidFill>
                      <a:srgbClr val="FFFEFB"/>
                    </a:solidFill>
                  </a:tcPr>
                </a:tc>
                <a:tc>
                  <a:txBody>
                    <a:bodyPr/>
                    <a:lstStyle/>
                    <a:p>
                      <a:pPr algn="r"/>
                      <a:r>
                        <a:rPr sz="1200" b="0">
                          <a:solidFill>
                            <a:srgbClr val="45413C"/>
                          </a:solidFill>
                          <a:latin typeface="Arial"/>
                          <a:ea typeface="Arial"/>
                          <a:cs typeface="Arial"/>
                        </a:rPr>
                        <a:t>4</a:t>
                      </a:r>
                    </a:p>
                  </a:txBody>
                  <a:tcPr marL="91440" marR="91440" marT="45720" marB="45720" anchor="ctr">
                    <a:lnR w="0">
                      <a:noFill/>
                    </a:lnR>
                    <a:lnB w="0">
                      <a:noFill/>
                    </a:lnB>
                    <a:solidFill>
                      <a:srgbClr val="FFFEFB"/>
                    </a:solidFill>
                  </a:tcPr>
                </a:tc>
                <a:tc>
                  <a:txBody>
                    <a:bodyPr/>
                    <a:lstStyle/>
                    <a:p>
                      <a:pPr algn="l"/>
                      <a:r>
                        <a:rPr sz="1200" b="0">
                          <a:solidFill>
                            <a:srgbClr val="45413C"/>
                          </a:solidFill>
                          <a:latin typeface="Arial"/>
                          <a:ea typeface="Arial"/>
                          <a:cs typeface="Arial"/>
                        </a:rPr>
                        <a:t>quoted biographies, shifts in tone, what changed</a:t>
                      </a:r>
                    </a:p>
                  </a:txBody>
                  <a:tcPr marL="91440" marR="91440" marT="45720" marB="45720" anchor="ctr">
                    <a:lnR w="0">
                      <a:noFill/>
                    </a:lnR>
                    <a:lnB w="0">
                      <a:noFill/>
                    </a:lnB>
                    <a:solidFill>
                      <a:srgbClr val="FFFEFB"/>
                    </a:solidFill>
                  </a:tcPr>
                </a:tc>
              </a:tr>
              <a:tr h="314960">
                <a:tc>
                  <a:txBody>
                    <a:bodyPr/>
                    <a:lstStyle/>
                    <a:p>
                      <a:pPr algn="l"/>
                      <a:r>
                        <a:rPr sz="1200" b="1">
                          <a:solidFill>
                            <a:srgbClr val="45413C"/>
                          </a:solidFill>
                          <a:latin typeface="Arial"/>
                          <a:ea typeface="Arial"/>
                          <a:cs typeface="Arial"/>
                        </a:rPr>
                        <a:t>scorer_offline</a:t>
                      </a:r>
                    </a:p>
                  </a:txBody>
                  <a:tcPr marL="91440" marR="91440" marT="45720" marB="45720" anchor="ctr">
                    <a:lnL w="0">
                      <a:noFill/>
                    </a:lnL>
                    <a:lnR w="0">
                      <a:noFill/>
                    </a:lnR>
                    <a:lnB w="0">
                      <a:noFill/>
                    </a:lnB>
                    <a:solidFill>
                      <a:srgbClr val="FFFEFB"/>
                    </a:solidFill>
                  </a:tcPr>
                </a:tc>
                <a:tc>
                  <a:txBody>
                    <a:bodyPr/>
                    <a:lstStyle/>
                    <a:p>
                      <a:pPr algn="r"/>
                      <a:r>
                        <a:rPr sz="1200" b="0">
                          <a:solidFill>
                            <a:srgbClr val="45413C"/>
                          </a:solidFill>
                          <a:latin typeface="Arial"/>
                          <a:ea typeface="Arial"/>
                          <a:cs typeface="Arial"/>
                        </a:rPr>
                        <a:t>4</a:t>
                      </a:r>
                    </a:p>
                  </a:txBody>
                  <a:tcPr marL="91440" marR="91440" marT="45720" marB="45720" anchor="ctr">
                    <a:lnR w="0">
                      <a:noFill/>
                    </a:lnR>
                    <a:lnB w="0">
                      <a:noFill/>
                    </a:lnB>
                    <a:solidFill>
                      <a:srgbClr val="FFFEFB"/>
                    </a:solidFill>
                  </a:tcPr>
                </a:tc>
                <a:tc>
                  <a:txBody>
                    <a:bodyPr/>
                    <a:lstStyle/>
                    <a:p>
                      <a:pPr algn="l"/>
                      <a:r>
                        <a:rPr sz="1200" b="0">
                          <a:solidFill>
                            <a:srgbClr val="45413C"/>
                          </a:solidFill>
                          <a:latin typeface="Arial"/>
                          <a:ea typeface="Arial"/>
                          <a:cs typeface="Arial"/>
                        </a:rPr>
                        <a:t>the scoring engine against a stub client, no key</a:t>
                      </a:r>
                    </a:p>
                  </a:txBody>
                  <a:tcPr marL="91440" marR="91440" marT="45720" marB="45720" anchor="ctr">
                    <a:lnR w="0">
                      <a:noFill/>
                    </a:lnR>
                    <a:lnB w="0">
                      <a:noFill/>
                    </a:lnB>
                    <a:solidFill>
                      <a:srgbClr val="FFFEFB"/>
                    </a:solidFill>
                  </a:tcPr>
                </a:tc>
              </a:tr>
              <a:tr h="314960">
                <a:tc>
                  <a:txBody>
                    <a:bodyPr/>
                    <a:lstStyle/>
                    <a:p>
                      <a:pPr algn="l"/>
                      <a:r>
                        <a:rPr sz="1200" b="1">
                          <a:solidFill>
                            <a:srgbClr val="45413C"/>
                          </a:solidFill>
                          <a:latin typeface="Arial"/>
                          <a:ea typeface="Arial"/>
                          <a:cs typeface="Arial"/>
                        </a:rPr>
                        <a:t>forward</a:t>
                      </a:r>
                    </a:p>
                  </a:txBody>
                  <a:tcPr marL="91440" marR="91440" marT="45720" marB="45720" anchor="ctr">
                    <a:lnL w="0">
                      <a:noFill/>
                    </a:lnL>
                    <a:lnR w="0">
                      <a:noFill/>
                    </a:lnR>
                    <a:lnB w="0">
                      <a:noFill/>
                    </a:lnB>
                    <a:solidFill>
                      <a:srgbClr val="FFFEFB"/>
                    </a:solidFill>
                  </a:tcPr>
                </a:tc>
                <a:tc>
                  <a:txBody>
                    <a:bodyPr/>
                    <a:lstStyle/>
                    <a:p>
                      <a:pPr algn="r"/>
                      <a:r>
                        <a:rPr sz="1200" b="0">
                          <a:solidFill>
                            <a:srgbClr val="45413C"/>
                          </a:solidFill>
                          <a:latin typeface="Arial"/>
                          <a:ea typeface="Arial"/>
                          <a:cs typeface="Arial"/>
                        </a:rPr>
                        <a:t>3</a:t>
                      </a:r>
                    </a:p>
                  </a:txBody>
                  <a:tcPr marL="91440" marR="91440" marT="45720" marB="45720" anchor="ctr">
                    <a:lnR w="0">
                      <a:noFill/>
                    </a:lnR>
                    <a:lnB w="0">
                      <a:noFill/>
                    </a:lnB>
                    <a:solidFill>
                      <a:srgbClr val="FFFEFB"/>
                    </a:solidFill>
                  </a:tcPr>
                </a:tc>
                <a:tc>
                  <a:txBody>
                    <a:bodyPr/>
                    <a:lstStyle/>
                    <a:p>
                      <a:pPr algn="l"/>
                      <a:r>
                        <a:rPr sz="1200" b="0">
                          <a:solidFill>
                            <a:srgbClr val="45413C"/>
                          </a:solidFill>
                          <a:latin typeface="Arial"/>
                          <a:ea typeface="Arial"/>
                          <a:cs typeface="Arial"/>
                        </a:rPr>
                        <a:t>the freeze: returns after it only, rules that cannot move</a:t>
                      </a:r>
                    </a:p>
                  </a:txBody>
                  <a:tcPr marL="91440" marR="91440" marT="45720" marB="45720" anchor="ctr">
                    <a:lnR w="0">
                      <a:noFill/>
                    </a:lnR>
                    <a:lnB w="0">
                      <a:noFill/>
                    </a:lnB>
                    <a:solidFill>
                      <a:srgbClr val="FFFEFB"/>
                    </a:solidFill>
                  </a:tcPr>
                </a:tc>
              </a:tr>
              <a:tr h="314960">
                <a:tc>
                  <a:txBody>
                    <a:bodyPr/>
                    <a:lstStyle/>
                    <a:p>
                      <a:pPr algn="l"/>
                      <a:r>
                        <a:rPr sz="1200" b="1">
                          <a:solidFill>
                            <a:srgbClr val="45413C"/>
                          </a:solidFill>
                          <a:latin typeface="Arial"/>
                          <a:ea typeface="Arial"/>
                          <a:cs typeface="Arial"/>
                        </a:rPr>
                        <a:t>forecast</a:t>
                      </a:r>
                    </a:p>
                  </a:txBody>
                  <a:tcPr marL="91440" marR="91440" marT="45720" marB="45720" anchor="ctr">
                    <a:lnL w="0">
                      <a:noFill/>
                    </a:lnL>
                    <a:lnR w="0">
                      <a:noFill/>
                    </a:lnR>
                    <a:lnB w="0">
                      <a:noFill/>
                    </a:lnB>
                    <a:solidFill>
                      <a:srgbClr val="FFFEFB"/>
                    </a:solidFill>
                  </a:tcPr>
                </a:tc>
                <a:tc>
                  <a:txBody>
                    <a:bodyPr/>
                    <a:lstStyle/>
                    <a:p>
                      <a:pPr algn="r"/>
                      <a:r>
                        <a:rPr sz="1200" b="0">
                          <a:solidFill>
                            <a:srgbClr val="45413C"/>
                          </a:solidFill>
                          <a:latin typeface="Arial"/>
                          <a:ea typeface="Arial"/>
                          <a:cs typeface="Arial"/>
                        </a:rPr>
                        <a:t>1</a:t>
                      </a:r>
                    </a:p>
                  </a:txBody>
                  <a:tcPr marL="91440" marR="91440" marT="45720" marB="45720" anchor="ctr">
                    <a:lnR w="0">
                      <a:noFill/>
                    </a:lnR>
                    <a:lnB w="0">
                      <a:noFill/>
                    </a:lnB>
                    <a:solidFill>
                      <a:srgbClr val="FFFEFB"/>
                    </a:solidFill>
                  </a:tcPr>
                </a:tc>
                <a:tc>
                  <a:txBody>
                    <a:bodyPr/>
                    <a:lstStyle/>
                    <a:p>
                      <a:pPr algn="l"/>
                      <a:r>
                        <a:rPr sz="1200" b="0">
                          <a:solidFill>
                            <a:srgbClr val="45413C"/>
                          </a:solidFill>
                          <a:latin typeface="Arial"/>
                          <a:ea typeface="Arial"/>
                          <a:cs typeface="Arial"/>
                        </a:rPr>
                        <a:t>the next-decision inputs never look ahead</a:t>
                      </a:r>
                    </a:p>
                  </a:txBody>
                  <a:tcPr marL="91440" marR="91440" marT="45720" marB="45720" anchor="ctr">
                    <a:lnR w="0">
                      <a:noFill/>
                    </a:lnR>
                    <a:lnB w="0">
                      <a:noFill/>
                    </a:lnB>
                    <a:solidFill>
                      <a:srgbClr val="FFFEFB"/>
                    </a:solidFill>
                  </a:tcPr>
                </a:tc>
              </a:tr>
            </a:tbl>
          </a:graphicData>
        </a:graphic>
      </p:graphicFrame>
      <p:sp>
        <p:nvSpPr>
          <p:cNvPr id="23" name="">
            <a:extLst xmlns:a="http://schemas.openxmlformats.org/drawingml/2006/main">
              <a:ext uri="{FF2B5EF4-FFF2-40B4-BE49-F238E27FC236}">
                <a16:creationId xmlns:a16="http://schemas.microsoft.com/office/drawing/2014/main" id="{023BB172-0A8B-4365-A109-035AA7CBE499}"/>
              </a:ext>
            </a:extLst>
          </p:cNvPr>
          <p:cNvSpPr>
            <a:spLocks xmlns:a="http://schemas.openxmlformats.org/drawingml/2006/main" noGrp="1"/>
          </p:cNvSpPr>
          <p:nvPr/>
        </p:nvSpPr>
        <p:spPr>
          <a:xfrm xmlns:a="http://schemas.openxmlformats.org/drawingml/2006/main">
            <a:off x="3718467" y="2392680"/>
            <a:ext cx="7863643"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2210812-C843-477B-9347-51C469D68544}"/>
              </a:ext>
            </a:extLst>
          </p:cNvPr>
          <p:cNvSpPr>
            <a:spLocks xmlns:a="http://schemas.openxmlformats.org/drawingml/2006/main" noGrp="1"/>
          </p:cNvSpPr>
          <p:nvPr/>
        </p:nvSpPr>
        <p:spPr>
          <a:xfrm xmlns:a="http://schemas.openxmlformats.org/drawingml/2006/main">
            <a:off x="3718467" y="270764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6B12B19-29DC-4777-9920-BCC96E23C5A4}"/>
              </a:ext>
            </a:extLst>
          </p:cNvPr>
          <p:cNvSpPr>
            <a:spLocks xmlns:a="http://schemas.openxmlformats.org/drawingml/2006/main" noGrp="1"/>
          </p:cNvSpPr>
          <p:nvPr/>
        </p:nvSpPr>
        <p:spPr>
          <a:xfrm xmlns:a="http://schemas.openxmlformats.org/drawingml/2006/main">
            <a:off x="3718467" y="302260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184BBAE-9F34-4A4A-AD7F-C43D7EB5E0A6}"/>
              </a:ext>
            </a:extLst>
          </p:cNvPr>
          <p:cNvSpPr>
            <a:spLocks xmlns:a="http://schemas.openxmlformats.org/drawingml/2006/main" noGrp="1"/>
          </p:cNvSpPr>
          <p:nvPr/>
        </p:nvSpPr>
        <p:spPr>
          <a:xfrm xmlns:a="http://schemas.openxmlformats.org/drawingml/2006/main">
            <a:off x="3718467" y="333756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DEEE7F3-4EEC-4EDA-9026-75D00E283AA4}"/>
              </a:ext>
            </a:extLst>
          </p:cNvPr>
          <p:cNvSpPr>
            <a:spLocks xmlns:a="http://schemas.openxmlformats.org/drawingml/2006/main" noGrp="1"/>
          </p:cNvSpPr>
          <p:nvPr/>
        </p:nvSpPr>
        <p:spPr>
          <a:xfrm xmlns:a="http://schemas.openxmlformats.org/drawingml/2006/main">
            <a:off x="3718467" y="365252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1E667EF-C80C-4C9A-8C05-FECAEF9C7445}"/>
              </a:ext>
            </a:extLst>
          </p:cNvPr>
          <p:cNvSpPr>
            <a:spLocks xmlns:a="http://schemas.openxmlformats.org/drawingml/2006/main" noGrp="1"/>
          </p:cNvSpPr>
          <p:nvPr/>
        </p:nvSpPr>
        <p:spPr>
          <a:xfrm xmlns:a="http://schemas.openxmlformats.org/drawingml/2006/main">
            <a:off x="3718467" y="396748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08EAF79-A81B-4B1A-8430-E2916E51EE39}"/>
              </a:ext>
            </a:extLst>
          </p:cNvPr>
          <p:cNvSpPr>
            <a:spLocks xmlns:a="http://schemas.openxmlformats.org/drawingml/2006/main" noGrp="1"/>
          </p:cNvSpPr>
          <p:nvPr/>
        </p:nvSpPr>
        <p:spPr>
          <a:xfrm xmlns:a="http://schemas.openxmlformats.org/drawingml/2006/main">
            <a:off x="3718467" y="428244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E9FFB97D-B531-4EA2-8C0A-4351A0477982}"/>
              </a:ext>
            </a:extLst>
          </p:cNvPr>
          <p:cNvSpPr>
            <a:spLocks xmlns:a="http://schemas.openxmlformats.org/drawingml/2006/main" noGrp="1"/>
          </p:cNvSpPr>
          <p:nvPr/>
        </p:nvSpPr>
        <p:spPr>
          <a:xfrm xmlns:a="http://schemas.openxmlformats.org/drawingml/2006/main">
            <a:off x="3718467" y="459740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A1A47D42-7270-4F38-A4A8-12535AA56660}"/>
              </a:ext>
            </a:extLst>
          </p:cNvPr>
          <p:cNvSpPr>
            <a:spLocks xmlns:a="http://schemas.openxmlformats.org/drawingml/2006/main" noGrp="1"/>
          </p:cNvSpPr>
          <p:nvPr/>
        </p:nvSpPr>
        <p:spPr>
          <a:xfrm xmlns:a="http://schemas.openxmlformats.org/drawingml/2006/main">
            <a:off x="3718467" y="491236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E4CE52CE-1E61-413D-83D5-EFE39FD0DB7C}"/>
              </a:ext>
            </a:extLst>
          </p:cNvPr>
          <p:cNvSpPr>
            <a:spLocks xmlns:a="http://schemas.openxmlformats.org/drawingml/2006/main" noGrp="1"/>
          </p:cNvSpPr>
          <p:nvPr/>
        </p:nvSpPr>
        <p:spPr>
          <a:xfrm xmlns:a="http://schemas.openxmlformats.org/drawingml/2006/main">
            <a:off x="3718467" y="522732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6549D83-3B36-4C2A-BABB-6CBF0CBE3243}"/>
              </a:ext>
            </a:extLst>
          </p:cNvPr>
          <p:cNvSpPr>
            <a:spLocks xmlns:a="http://schemas.openxmlformats.org/drawingml/2006/main" noGrp="1"/>
          </p:cNvSpPr>
          <p:nvPr/>
        </p:nvSpPr>
        <p:spPr>
          <a:xfrm xmlns:a="http://schemas.openxmlformats.org/drawingml/2006/main">
            <a:off x="3718467" y="554228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F2782BAA-6691-41CD-9603-3308B5732177}"/>
              </a:ext>
            </a:extLst>
          </p:cNvPr>
          <p:cNvSpPr>
            <a:spLocks xmlns:a="http://schemas.openxmlformats.org/drawingml/2006/main" noGrp="1"/>
          </p:cNvSpPr>
          <p:nvPr/>
        </p:nvSpPr>
        <p:spPr>
          <a:xfrm xmlns:a="http://schemas.openxmlformats.org/drawingml/2006/main">
            <a:off x="3718467" y="585724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4EE63115-E784-4698-AFA7-50CF964DEB7D}"/>
              </a:ext>
            </a:extLst>
          </p:cNvPr>
          <p:cNvSpPr>
            <a:spLocks xmlns:a="http://schemas.openxmlformats.org/drawingml/2006/main" noGrp="1"/>
          </p:cNvSpPr>
          <p:nvPr/>
        </p:nvSpPr>
        <p:spPr>
          <a:xfrm xmlns:a="http://schemas.openxmlformats.org/drawingml/2006/main">
            <a:off x="3718467" y="6172200"/>
            <a:ext cx="7863643" cy="5334"/>
          </a:xfrm>
          <a:prstGeom xmlns:a="http://schemas.openxmlformats.org/drawingml/2006/main" prst="rect">
            <a:avLst/>
          </a:prstGeom>
          <a:solidFill xmlns:a="http://schemas.openxmlformats.org/drawingml/2006/main">
            <a:srgbClr val="DDD8CF"/>
          </a:solidFill>
          <a:ln xmlns:a="http://schemas.openxmlformats.org/drawingml/2006/main" w="0">
            <a:noFill/>
          </a:ln>
        </p:spPr>
      </p:sp>
    </p:spTree>
    <p:extLst>
      <p:ext uri="{BB962C8B-B14F-4D97-AF65-F5344CB8AC3E}">
        <p14:creationId xmlns:p14="http://schemas.microsoft.com/office/powerpoint/2010/main" val="248498846"/>
      </p:ext>
    </p:extLst>
  </p:cSld>
</p:sld>
</file>

<file path=ppt/slides/slide41.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AE13EB5-E806-45BB-A07C-CBAEF6F4026F}"/>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B1DDE498-7B20-43D1-81F8-5A751EE87ECF}"/>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FORWARD CHECKS AND SYSTEM</a:t>
            </a:r>
          </a:p>
        </p:txBody>
      </p:sp>
      <p:sp>
        <p:nvSpPr>
          <p:cNvPr id="3" name="">
            <a:extLst xmlns:a="http://schemas.openxmlformats.org/drawingml/2006/main">
              <a:ext uri="{FF2B5EF4-FFF2-40B4-BE49-F238E27FC236}">
                <a16:creationId xmlns:a16="http://schemas.microsoft.com/office/drawing/2014/main" id="{63C626F1-0B2F-4B4A-A906-C35C7F70C166}"/>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41 / 46</a:t>
            </a:r>
          </a:p>
        </p:txBody>
      </p:sp>
      <p:sp>
        <p:nvSpPr>
          <p:cNvPr id="4" name="">
            <a:extLst xmlns:a="http://schemas.openxmlformats.org/drawingml/2006/main">
              <a:ext uri="{FF2B5EF4-FFF2-40B4-BE49-F238E27FC236}">
                <a16:creationId xmlns:a16="http://schemas.microsoft.com/office/drawing/2014/main" id="{CF94CB33-709A-4BEF-AAA2-0220B432123E}"/>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262EB3B-10F0-4A32-AF30-CB657C896D60}"/>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A dashboard a rates desk could open every morning</a:t>
            </a:r>
          </a:p>
        </p:txBody>
      </p:sp>
      <p:sp>
        <p:nvSpPr>
          <p:cNvPr id="6" name="">
            <a:extLst xmlns:a="http://schemas.openxmlformats.org/drawingml/2006/main">
              <a:ext uri="{FF2B5EF4-FFF2-40B4-BE49-F238E27FC236}">
                <a16:creationId xmlns:a16="http://schemas.microsoft.com/office/drawing/2014/main" id="{87141440-1EA7-4343-A698-13C69220E51E}"/>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Source documents, clearer comparisons and a linked duration workspace</a:t>
            </a:r>
          </a:p>
        </p:txBody>
      </p:sp>
      <p:sp>
        <p:nvSpPr>
          <p:cNvPr id="7" name="">
            <a:extLst xmlns:a="http://schemas.openxmlformats.org/drawingml/2006/main">
              <a:ext uri="{FF2B5EF4-FFF2-40B4-BE49-F238E27FC236}">
                <a16:creationId xmlns:a16="http://schemas.microsoft.com/office/drawing/2014/main" id="{1101222D-2DC6-4A7D-B47D-C48FA249C508}"/>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4D0DD1A-552D-49C2-8665-63714108D34E}"/>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fedtone.web.app (read-only demo).</a:t>
            </a:r>
          </a:p>
        </p:txBody>
      </p:sp>
      <p:sp>
        <p:nvSpPr>
          <p:cNvPr id="9" name="">
            <a:extLst xmlns:a="http://schemas.openxmlformats.org/drawingml/2006/main">
              <a:ext uri="{FF2B5EF4-FFF2-40B4-BE49-F238E27FC236}">
                <a16:creationId xmlns:a16="http://schemas.microsoft.com/office/drawing/2014/main" id="{BA644596-4E03-436C-8301-DAC8EF4712D2}"/>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9EEF735-AE7B-4880-8577-2394C2CF52F9}"/>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1DFD15B-C797-4BE5-8A40-9647AC5ADCCA}"/>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3AD681C-37AA-4388-9B8B-72BA06CF2FCF}"/>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8F62785-A649-4400-B419-C89C5734E6F0}"/>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29F31C8E-4CE2-4AD0-AD5B-4D8B59D84C55}"/>
              </a:ext>
            </a:extLst>
          </p:cNvPr>
          <p:cNvPicPr>
            <a:picLocks xmlns:a="http://schemas.openxmlformats.org/drawingml/2006/main" noChangeAspect="1"/>
          </p:cNvPicPr>
          <p:nvPr/>
        </p:nvPicPr>
        <p:blipFill>
          <a:blip xmlns:r="http://schemas.openxmlformats.org/officeDocument/2006/relationships" xmlns:a="http://schemas.openxmlformats.org/drawingml/2006/main" r:embed="R117a89da7e2f4431"/>
          <a:stretch xmlns:a="http://schemas.openxmlformats.org/drawingml/2006/main"/>
        </p:blipFill>
        <p:spPr>
          <a:xfrm xmlns:a="http://schemas.openxmlformats.org/drawingml/2006/main">
            <a:off x="609585" y="1920293"/>
            <a:ext cx="10972526" cy="4251854"/>
          </a:xfrm>
          <a:prstGeom xmlns:a="http://schemas.openxmlformats.org/drawingml/2006/main" prst="rect">
            <a:avLst/>
          </a:prstGeom>
        </p:spPr>
      </p:pic>
    </p:spTree>
    <p:extLst>
      <p:ext uri="{BB962C8B-B14F-4D97-AF65-F5344CB8AC3E}">
        <p14:creationId xmlns:p14="http://schemas.microsoft.com/office/powerpoint/2010/main" val="151199102"/>
      </p:ext>
    </p:extLst>
  </p:cSld>
</p:sld>
</file>

<file path=ppt/slides/slide42.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E2BB47B2-29AA-4652-860C-090E855DF60B}"/>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D6AD9475-5848-4BC5-9968-B57C397C82B7}"/>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CONCLUSIONS AND LIMITS</a:t>
            </a:r>
          </a:p>
        </p:txBody>
      </p:sp>
      <p:sp>
        <p:nvSpPr>
          <p:cNvPr id="3" name="">
            <a:extLst xmlns:a="http://schemas.openxmlformats.org/drawingml/2006/main">
              <a:ext uri="{FF2B5EF4-FFF2-40B4-BE49-F238E27FC236}">
                <a16:creationId xmlns:a16="http://schemas.microsoft.com/office/drawing/2014/main" id="{2307A534-782E-443B-9AA6-9A3D69B12BB6}"/>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42 / 46</a:t>
            </a:r>
          </a:p>
        </p:txBody>
      </p:sp>
      <p:sp>
        <p:nvSpPr>
          <p:cNvPr id="4" name="">
            <a:extLst xmlns:a="http://schemas.openxmlformats.org/drawingml/2006/main">
              <a:ext uri="{FF2B5EF4-FFF2-40B4-BE49-F238E27FC236}">
                <a16:creationId xmlns:a16="http://schemas.microsoft.com/office/drawing/2014/main" id="{4DFE014A-2E3B-40A9-A41F-F3BF18623CDE}"/>
              </a:ext>
            </a:extLst>
          </p:cNvPr>
          <p:cNvSpPr>
            <a:spLocks xmlns:a="http://schemas.openxmlformats.org/drawingml/2006/main" noGrp="1"/>
          </p:cNvSpPr>
          <p:nvPr/>
        </p:nvSpPr>
        <p:spPr>
          <a:xfrm xmlns:a="http://schemas.openxmlformats.org/drawingml/2006/main">
            <a:off x="609585" y="556260"/>
            <a:ext cx="10972526" cy="2286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F359162-1E4B-4493-BD35-96D190EF2239}"/>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What we added beyond the brief</a:t>
            </a:r>
          </a:p>
        </p:txBody>
      </p:sp>
      <p:sp>
        <p:nvSpPr>
          <p:cNvPr id="6" name="">
            <a:extLst xmlns:a="http://schemas.openxmlformats.org/drawingml/2006/main">
              <a:ext uri="{FF2B5EF4-FFF2-40B4-BE49-F238E27FC236}">
                <a16:creationId xmlns:a16="http://schemas.microsoft.com/office/drawing/2014/main" id="{0EE3E13D-8324-4D13-BAF8-DE0FB40B11CC}"/>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Measurement checks, a forward test, and a system that keeps the evidence auditable</a:t>
            </a:r>
          </a:p>
        </p:txBody>
      </p:sp>
      <p:sp>
        <p:nvSpPr>
          <p:cNvPr id="7" name="">
            <a:extLst xmlns:a="http://schemas.openxmlformats.org/drawingml/2006/main">
              <a:ext uri="{FF2B5EF4-FFF2-40B4-BE49-F238E27FC236}">
                <a16:creationId xmlns:a16="http://schemas.microsoft.com/office/drawing/2014/main" id="{A59E0163-C401-420F-89D1-5F8D5AE53070}"/>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7F4E2E4-F581-4F4F-826F-2F05983534CC}"/>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Project code; docs/ASSIGNMENT.md.</a:t>
            </a:r>
          </a:p>
        </p:txBody>
      </p:sp>
      <p:sp>
        <p:nvSpPr>
          <p:cNvPr id="9" name="">
            <a:extLst xmlns:a="http://schemas.openxmlformats.org/drawingml/2006/main">
              <a:ext uri="{FF2B5EF4-FFF2-40B4-BE49-F238E27FC236}">
                <a16:creationId xmlns:a16="http://schemas.microsoft.com/office/drawing/2014/main" id="{00FF0984-11A1-4E66-B543-0D24DE65E6FB}"/>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F1490B2-865C-41DA-9DAE-ECD34A528A3B}"/>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0CEDBDC-A7D3-4C8D-979F-D25545606D44}"/>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31736FF-C66B-43DF-B209-3A0B7D441483}"/>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0A568A0-505B-4705-B682-EFDD87050343}"/>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BF188EA-86A2-434C-ADB2-A5937A58D680}"/>
              </a:ext>
            </a:extLst>
          </p:cNvPr>
          <p:cNvSpPr>
            <a:spLocks xmlns:a="http://schemas.openxmlformats.org/drawingml/2006/main" noGrp="1"/>
          </p:cNvSpPr>
          <p:nvPr/>
        </p:nvSpPr>
        <p:spPr>
          <a:xfrm xmlns:a="http://schemas.openxmlformats.org/drawingml/2006/main">
            <a:off x="609585" y="1920240"/>
            <a:ext cx="2514537"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08B7AEF-C007-445D-B38E-A8A3C6532181}"/>
              </a:ext>
            </a:extLst>
          </p:cNvPr>
          <p:cNvSpPr>
            <a:spLocks xmlns:a="http://schemas.openxmlformats.org/drawingml/2006/main" noGrp="1"/>
          </p:cNvSpPr>
          <p:nvPr/>
        </p:nvSpPr>
        <p:spPr>
          <a:xfrm xmlns:a="http://schemas.openxmlformats.org/drawingml/2006/main">
            <a:off x="609585" y="2087880"/>
            <a:ext cx="2514537"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800" b="1">
                <a:solidFill>
                  <a:srgbClr val="151312"/>
                </a:solidFill>
                <a:latin typeface="Arial"/>
                <a:ea typeface="Arial"/>
                <a:cs typeface="Arial"/>
              </a:defRPr>
            </a:defPPr>
            <a:lvl1pPr algn="l">
              <a:defRPr sz="1800" b="1">
                <a:solidFill>
                  <a:srgbClr val="151312"/>
                </a:solidFill>
                <a:latin typeface="Arial"/>
                <a:ea typeface="Arial"/>
                <a:cs typeface="Arial"/>
              </a:defRPr>
            </a:lvl1pPr>
            <a:lvl2pPr algn="l">
              <a:defRPr sz="1800" b="1">
                <a:solidFill>
                  <a:srgbClr val="151312"/>
                </a:solidFill>
                <a:latin typeface="Arial"/>
                <a:ea typeface="Arial"/>
                <a:cs typeface="Arial"/>
              </a:defRPr>
            </a:lvl2pPr>
            <a:lvl3pPr algn="l">
              <a:defRPr sz="1800" b="1">
                <a:solidFill>
                  <a:srgbClr val="151312"/>
                </a:solidFill>
                <a:latin typeface="Arial"/>
                <a:ea typeface="Arial"/>
                <a:cs typeface="Arial"/>
              </a:defRPr>
            </a:lvl3pPr>
            <a:lvl4pPr algn="l">
              <a:defRPr sz="1800" b="1">
                <a:solidFill>
                  <a:srgbClr val="151312"/>
                </a:solidFill>
                <a:latin typeface="Arial"/>
                <a:ea typeface="Arial"/>
                <a:cs typeface="Arial"/>
              </a:defRPr>
            </a:lvl4pPr>
            <a:lvl5pPr algn="l">
              <a:defRPr sz="1800" b="1">
                <a:solidFill>
                  <a:srgbClr val="151312"/>
                </a:solidFill>
                <a:latin typeface="Arial"/>
                <a:ea typeface="Arial"/>
                <a:cs typeface="Arial"/>
              </a:defRPr>
            </a:lvl5pPr>
            <a:lvl6pPr algn="l">
              <a:defRPr sz="1800" b="1">
                <a:solidFill>
                  <a:srgbClr val="151312"/>
                </a:solidFill>
                <a:latin typeface="Arial"/>
                <a:ea typeface="Arial"/>
                <a:cs typeface="Arial"/>
              </a:defRPr>
            </a:lvl6pPr>
            <a:lvl7pPr algn="l">
              <a:defRPr sz="1800" b="1">
                <a:solidFill>
                  <a:srgbClr val="151312"/>
                </a:solidFill>
                <a:latin typeface="Arial"/>
                <a:ea typeface="Arial"/>
                <a:cs typeface="Arial"/>
              </a:defRPr>
            </a:lvl7pPr>
            <a:lvl8pPr algn="l">
              <a:defRPr sz="1800" b="1">
                <a:solidFill>
                  <a:srgbClr val="151312"/>
                </a:solidFill>
                <a:latin typeface="Arial"/>
                <a:ea typeface="Arial"/>
                <a:cs typeface="Arial"/>
              </a:defRPr>
            </a:lvl8pPr>
            <a:lvl9pPr algn="l">
              <a:defRPr sz="1800" b="1">
                <a:solidFill>
                  <a:srgbClr val="151312"/>
                </a:solidFill>
                <a:latin typeface="Arial"/>
                <a:ea typeface="Arial"/>
                <a:cs typeface="Arial"/>
              </a:defRPr>
            </a:lvl9pPr>
          </a:lstStyle>
          <a:p xmlns:a="http://schemas.openxmlformats.org/drawingml/2006/main">
            <a:pPr algn="l">
              <a:defRPr sz="1800" b="1">
                <a:solidFill>
                  <a:srgbClr val="151312"/>
                </a:solidFill>
                <a:latin typeface="Arial"/>
                <a:ea typeface="Arial"/>
                <a:cs typeface="Arial"/>
              </a:defRPr>
            </a:pPr>
            <a:r>
              <a:rPr sz="1800" b="1">
                <a:solidFill>
                  <a:srgbClr val="151312"/>
                </a:solidFill>
                <a:latin typeface="Arial"/>
                <a:ea typeface="Arial"/>
                <a:cs typeface="Arial"/>
              </a:rPr>
              <a:t>RoBERTa</a:t>
            </a:r>
          </a:p>
        </p:txBody>
      </p:sp>
      <p:sp>
        <p:nvSpPr>
          <p:cNvPr id="16" name="">
            <a:extLst xmlns:a="http://schemas.openxmlformats.org/drawingml/2006/main">
              <a:ext uri="{FF2B5EF4-FFF2-40B4-BE49-F238E27FC236}">
                <a16:creationId xmlns:a16="http://schemas.microsoft.com/office/drawing/2014/main" id="{0B118091-F701-4283-BBD4-39D8964BA395}"/>
              </a:ext>
            </a:extLst>
          </p:cNvPr>
          <p:cNvSpPr>
            <a:spLocks xmlns:a="http://schemas.openxmlformats.org/drawingml/2006/main" noGrp="1"/>
          </p:cNvSpPr>
          <p:nvPr/>
        </p:nvSpPr>
        <p:spPr>
          <a:xfrm xmlns:a="http://schemas.openxmlformats.org/drawingml/2006/main">
            <a:off x="609585" y="2758440"/>
            <a:ext cx="2514537"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0">
                <a:solidFill>
                  <a:srgbClr val="45413C"/>
                </a:solidFill>
                <a:latin typeface="Arial"/>
                <a:ea typeface="Arial"/>
                <a:cs typeface="Arial"/>
              </a:defRPr>
            </a:defPPr>
            <a:lvl1pPr algn="l">
              <a:defRPr sz="1260" b="0">
                <a:solidFill>
                  <a:srgbClr val="45413C"/>
                </a:solidFill>
                <a:latin typeface="Arial"/>
                <a:ea typeface="Arial"/>
                <a:cs typeface="Arial"/>
              </a:defRPr>
            </a:lvl1pPr>
            <a:lvl2pPr algn="l">
              <a:defRPr sz="1260" b="0">
                <a:solidFill>
                  <a:srgbClr val="45413C"/>
                </a:solidFill>
                <a:latin typeface="Arial"/>
                <a:ea typeface="Arial"/>
                <a:cs typeface="Arial"/>
              </a:defRPr>
            </a:lvl2pPr>
            <a:lvl3pPr algn="l">
              <a:defRPr sz="1260" b="0">
                <a:solidFill>
                  <a:srgbClr val="45413C"/>
                </a:solidFill>
                <a:latin typeface="Arial"/>
                <a:ea typeface="Arial"/>
                <a:cs typeface="Arial"/>
              </a:defRPr>
            </a:lvl3pPr>
            <a:lvl4pPr algn="l">
              <a:defRPr sz="1260" b="0">
                <a:solidFill>
                  <a:srgbClr val="45413C"/>
                </a:solidFill>
                <a:latin typeface="Arial"/>
                <a:ea typeface="Arial"/>
                <a:cs typeface="Arial"/>
              </a:defRPr>
            </a:lvl4pPr>
            <a:lvl5pPr algn="l">
              <a:defRPr sz="1260" b="0">
                <a:solidFill>
                  <a:srgbClr val="45413C"/>
                </a:solidFill>
                <a:latin typeface="Arial"/>
                <a:ea typeface="Arial"/>
                <a:cs typeface="Arial"/>
              </a:defRPr>
            </a:lvl5pPr>
            <a:lvl6pPr algn="l">
              <a:defRPr sz="1260" b="0">
                <a:solidFill>
                  <a:srgbClr val="45413C"/>
                </a:solidFill>
                <a:latin typeface="Arial"/>
                <a:ea typeface="Arial"/>
                <a:cs typeface="Arial"/>
              </a:defRPr>
            </a:lvl6pPr>
            <a:lvl7pPr algn="l">
              <a:defRPr sz="1260" b="0">
                <a:solidFill>
                  <a:srgbClr val="45413C"/>
                </a:solidFill>
                <a:latin typeface="Arial"/>
                <a:ea typeface="Arial"/>
                <a:cs typeface="Arial"/>
              </a:defRPr>
            </a:lvl7pPr>
            <a:lvl8pPr algn="l">
              <a:defRPr sz="1260" b="0">
                <a:solidFill>
                  <a:srgbClr val="45413C"/>
                </a:solidFill>
                <a:latin typeface="Arial"/>
                <a:ea typeface="Arial"/>
                <a:cs typeface="Arial"/>
              </a:defRPr>
            </a:lvl8pPr>
            <a:lvl9pPr algn="l">
              <a:defRPr sz="1260" b="0">
                <a:solidFill>
                  <a:srgbClr val="45413C"/>
                </a:solidFill>
                <a:latin typeface="Arial"/>
                <a:ea typeface="Arial"/>
                <a:cs typeface="Arial"/>
              </a:defRPr>
            </a:lvl9pPr>
          </a:lstStyle>
          <a:p xmlns:a="http://schemas.openxmlformats.org/drawingml/2006/main">
            <a:pPr algn="l">
              <a:defRPr sz="1260" b="0">
                <a:solidFill>
                  <a:srgbClr val="45413C"/>
                </a:solidFill>
                <a:latin typeface="Arial"/>
                <a:ea typeface="Arial"/>
                <a:cs typeface="Arial"/>
              </a:defRPr>
            </a:pPr>
            <a:r>
              <a:rPr sz="1260" b="0">
                <a:solidFill>
                  <a:srgbClr val="45413C"/>
                </a:solidFill>
                <a:latin typeface="Arial"/>
                <a:ea typeface="Arial"/>
                <a:cs typeface="Arial"/>
              </a:rPr>
              <a:t>Fine-tuned on the same labels; a reference added after the results, outside H1</a:t>
            </a:r>
          </a:p>
        </p:txBody>
      </p:sp>
      <p:sp>
        <p:nvSpPr>
          <p:cNvPr id="17" name="">
            <a:extLst xmlns:a="http://schemas.openxmlformats.org/drawingml/2006/main">
              <a:ext uri="{FF2B5EF4-FFF2-40B4-BE49-F238E27FC236}">
                <a16:creationId xmlns:a16="http://schemas.microsoft.com/office/drawing/2014/main" id="{A16C5EB3-98EE-4EC2-B5D5-D00F7458761B}"/>
              </a:ext>
            </a:extLst>
          </p:cNvPr>
          <p:cNvSpPr>
            <a:spLocks xmlns:a="http://schemas.openxmlformats.org/drawingml/2006/main" noGrp="1"/>
          </p:cNvSpPr>
          <p:nvPr/>
        </p:nvSpPr>
        <p:spPr>
          <a:xfrm xmlns:a="http://schemas.openxmlformats.org/drawingml/2006/main">
            <a:off x="3428914" y="1920240"/>
            <a:ext cx="2514537"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41F159C-7513-4C58-BB9A-9E515D7E9A43}"/>
              </a:ext>
            </a:extLst>
          </p:cNvPr>
          <p:cNvSpPr>
            <a:spLocks xmlns:a="http://schemas.openxmlformats.org/drawingml/2006/main" noGrp="1"/>
          </p:cNvSpPr>
          <p:nvPr/>
        </p:nvSpPr>
        <p:spPr>
          <a:xfrm xmlns:a="http://schemas.openxmlformats.org/drawingml/2006/main">
            <a:off x="3428914" y="2087880"/>
            <a:ext cx="2514537"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800" b="1">
                <a:solidFill>
                  <a:srgbClr val="151312"/>
                </a:solidFill>
                <a:latin typeface="Arial"/>
                <a:ea typeface="Arial"/>
                <a:cs typeface="Arial"/>
              </a:defRPr>
            </a:defPPr>
            <a:lvl1pPr algn="l">
              <a:defRPr sz="1800" b="1">
                <a:solidFill>
                  <a:srgbClr val="151312"/>
                </a:solidFill>
                <a:latin typeface="Arial"/>
                <a:ea typeface="Arial"/>
                <a:cs typeface="Arial"/>
              </a:defRPr>
            </a:lvl1pPr>
            <a:lvl2pPr algn="l">
              <a:defRPr sz="1800" b="1">
                <a:solidFill>
                  <a:srgbClr val="151312"/>
                </a:solidFill>
                <a:latin typeface="Arial"/>
                <a:ea typeface="Arial"/>
                <a:cs typeface="Arial"/>
              </a:defRPr>
            </a:lvl2pPr>
            <a:lvl3pPr algn="l">
              <a:defRPr sz="1800" b="1">
                <a:solidFill>
                  <a:srgbClr val="151312"/>
                </a:solidFill>
                <a:latin typeface="Arial"/>
                <a:ea typeface="Arial"/>
                <a:cs typeface="Arial"/>
              </a:defRPr>
            </a:lvl3pPr>
            <a:lvl4pPr algn="l">
              <a:defRPr sz="1800" b="1">
                <a:solidFill>
                  <a:srgbClr val="151312"/>
                </a:solidFill>
                <a:latin typeface="Arial"/>
                <a:ea typeface="Arial"/>
                <a:cs typeface="Arial"/>
              </a:defRPr>
            </a:lvl4pPr>
            <a:lvl5pPr algn="l">
              <a:defRPr sz="1800" b="1">
                <a:solidFill>
                  <a:srgbClr val="151312"/>
                </a:solidFill>
                <a:latin typeface="Arial"/>
                <a:ea typeface="Arial"/>
                <a:cs typeface="Arial"/>
              </a:defRPr>
            </a:lvl5pPr>
            <a:lvl6pPr algn="l">
              <a:defRPr sz="1800" b="1">
                <a:solidFill>
                  <a:srgbClr val="151312"/>
                </a:solidFill>
                <a:latin typeface="Arial"/>
                <a:ea typeface="Arial"/>
                <a:cs typeface="Arial"/>
              </a:defRPr>
            </a:lvl6pPr>
            <a:lvl7pPr algn="l">
              <a:defRPr sz="1800" b="1">
                <a:solidFill>
                  <a:srgbClr val="151312"/>
                </a:solidFill>
                <a:latin typeface="Arial"/>
                <a:ea typeface="Arial"/>
                <a:cs typeface="Arial"/>
              </a:defRPr>
            </a:lvl7pPr>
            <a:lvl8pPr algn="l">
              <a:defRPr sz="1800" b="1">
                <a:solidFill>
                  <a:srgbClr val="151312"/>
                </a:solidFill>
                <a:latin typeface="Arial"/>
                <a:ea typeface="Arial"/>
                <a:cs typeface="Arial"/>
              </a:defRPr>
            </a:lvl8pPr>
            <a:lvl9pPr algn="l">
              <a:defRPr sz="1800" b="1">
                <a:solidFill>
                  <a:srgbClr val="151312"/>
                </a:solidFill>
                <a:latin typeface="Arial"/>
                <a:ea typeface="Arial"/>
                <a:cs typeface="Arial"/>
              </a:defRPr>
            </a:lvl9pPr>
          </a:lstStyle>
          <a:p xmlns:a="http://schemas.openxmlformats.org/drawingml/2006/main">
            <a:pPr algn="l">
              <a:defRPr sz="1800" b="1">
                <a:solidFill>
                  <a:srgbClr val="151312"/>
                </a:solidFill>
                <a:latin typeface="Arial"/>
                <a:ea typeface="Arial"/>
                <a:cs typeface="Arial"/>
              </a:defRPr>
            </a:pPr>
            <a:r>
              <a:rPr sz="1800" b="1">
                <a:solidFill>
                  <a:srgbClr val="151312"/>
                </a:solidFill>
                <a:latin typeface="Arial"/>
                <a:ea typeface="Arial"/>
                <a:cs typeface="Arial"/>
              </a:rPr>
              <a:t>Forward test</a:t>
            </a:r>
          </a:p>
        </p:txBody>
      </p:sp>
      <p:sp>
        <p:nvSpPr>
          <p:cNvPr id="19" name="">
            <a:extLst xmlns:a="http://schemas.openxmlformats.org/drawingml/2006/main">
              <a:ext uri="{FF2B5EF4-FFF2-40B4-BE49-F238E27FC236}">
                <a16:creationId xmlns:a16="http://schemas.microsoft.com/office/drawing/2014/main" id="{EA9F6AB3-720A-4EEC-B855-BC2C594BED8A}"/>
              </a:ext>
            </a:extLst>
          </p:cNvPr>
          <p:cNvSpPr>
            <a:spLocks xmlns:a="http://schemas.openxmlformats.org/drawingml/2006/main" noGrp="1"/>
          </p:cNvSpPr>
          <p:nvPr/>
        </p:nvSpPr>
        <p:spPr>
          <a:xfrm xmlns:a="http://schemas.openxmlformats.org/drawingml/2006/main">
            <a:off x="3428914" y="2758440"/>
            <a:ext cx="2514537"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0">
                <a:solidFill>
                  <a:srgbClr val="45413C"/>
                </a:solidFill>
                <a:latin typeface="Arial"/>
                <a:ea typeface="Arial"/>
                <a:cs typeface="Arial"/>
              </a:defRPr>
            </a:defPPr>
            <a:lvl1pPr algn="l">
              <a:defRPr sz="1260" b="0">
                <a:solidFill>
                  <a:srgbClr val="45413C"/>
                </a:solidFill>
                <a:latin typeface="Arial"/>
                <a:ea typeface="Arial"/>
                <a:cs typeface="Arial"/>
              </a:defRPr>
            </a:lvl1pPr>
            <a:lvl2pPr algn="l">
              <a:defRPr sz="1260" b="0">
                <a:solidFill>
                  <a:srgbClr val="45413C"/>
                </a:solidFill>
                <a:latin typeface="Arial"/>
                <a:ea typeface="Arial"/>
                <a:cs typeface="Arial"/>
              </a:defRPr>
            </a:lvl2pPr>
            <a:lvl3pPr algn="l">
              <a:defRPr sz="1260" b="0">
                <a:solidFill>
                  <a:srgbClr val="45413C"/>
                </a:solidFill>
                <a:latin typeface="Arial"/>
                <a:ea typeface="Arial"/>
                <a:cs typeface="Arial"/>
              </a:defRPr>
            </a:lvl3pPr>
            <a:lvl4pPr algn="l">
              <a:defRPr sz="1260" b="0">
                <a:solidFill>
                  <a:srgbClr val="45413C"/>
                </a:solidFill>
                <a:latin typeface="Arial"/>
                <a:ea typeface="Arial"/>
                <a:cs typeface="Arial"/>
              </a:defRPr>
            </a:lvl4pPr>
            <a:lvl5pPr algn="l">
              <a:defRPr sz="1260" b="0">
                <a:solidFill>
                  <a:srgbClr val="45413C"/>
                </a:solidFill>
                <a:latin typeface="Arial"/>
                <a:ea typeface="Arial"/>
                <a:cs typeface="Arial"/>
              </a:defRPr>
            </a:lvl5pPr>
            <a:lvl6pPr algn="l">
              <a:defRPr sz="1260" b="0">
                <a:solidFill>
                  <a:srgbClr val="45413C"/>
                </a:solidFill>
                <a:latin typeface="Arial"/>
                <a:ea typeface="Arial"/>
                <a:cs typeface="Arial"/>
              </a:defRPr>
            </a:lvl6pPr>
            <a:lvl7pPr algn="l">
              <a:defRPr sz="1260" b="0">
                <a:solidFill>
                  <a:srgbClr val="45413C"/>
                </a:solidFill>
                <a:latin typeface="Arial"/>
                <a:ea typeface="Arial"/>
                <a:cs typeface="Arial"/>
              </a:defRPr>
            </a:lvl7pPr>
            <a:lvl8pPr algn="l">
              <a:defRPr sz="1260" b="0">
                <a:solidFill>
                  <a:srgbClr val="45413C"/>
                </a:solidFill>
                <a:latin typeface="Arial"/>
                <a:ea typeface="Arial"/>
                <a:cs typeface="Arial"/>
              </a:defRPr>
            </a:lvl8pPr>
            <a:lvl9pPr algn="l">
              <a:defRPr sz="1260" b="0">
                <a:solidFill>
                  <a:srgbClr val="45413C"/>
                </a:solidFill>
                <a:latin typeface="Arial"/>
                <a:ea typeface="Arial"/>
                <a:cs typeface="Arial"/>
              </a:defRPr>
            </a:lvl9pPr>
          </a:lstStyle>
          <a:p xmlns:a="http://schemas.openxmlformats.org/drawingml/2006/main">
            <a:pPr algn="l">
              <a:defRPr sz="1260" b="0">
                <a:solidFill>
                  <a:srgbClr val="45413C"/>
                </a:solidFill>
                <a:latin typeface="Arial"/>
                <a:ea typeface="Arial"/>
                <a:cs typeface="Arial"/>
              </a:defRPr>
            </a:pPr>
            <a:r>
              <a:rPr sz="1260" b="0">
                <a:solidFill>
                  <a:srgbClr val="45413C"/>
                </a:solidFill>
                <a:latin typeface="Arial"/>
                <a:ea typeface="Arial"/>
                <a:cs typeface="Arial"/>
              </a:rPr>
              <a:t>Frozen coefficients and trading rules applied only to releases after the freeze</a:t>
            </a:r>
          </a:p>
        </p:txBody>
      </p:sp>
      <p:sp>
        <p:nvSpPr>
          <p:cNvPr id="20" name="">
            <a:extLst xmlns:a="http://schemas.openxmlformats.org/drawingml/2006/main">
              <a:ext uri="{FF2B5EF4-FFF2-40B4-BE49-F238E27FC236}">
                <a16:creationId xmlns:a16="http://schemas.microsoft.com/office/drawing/2014/main" id="{8B058B15-777E-4935-894A-91F408A907C0}"/>
              </a:ext>
            </a:extLst>
          </p:cNvPr>
          <p:cNvSpPr>
            <a:spLocks xmlns:a="http://schemas.openxmlformats.org/drawingml/2006/main" noGrp="1"/>
          </p:cNvSpPr>
          <p:nvPr/>
        </p:nvSpPr>
        <p:spPr>
          <a:xfrm xmlns:a="http://schemas.openxmlformats.org/drawingml/2006/main">
            <a:off x="6248244" y="1920240"/>
            <a:ext cx="2514537"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436ECD2-B6FA-4526-89E5-BEA733DC5891}"/>
              </a:ext>
            </a:extLst>
          </p:cNvPr>
          <p:cNvSpPr>
            <a:spLocks xmlns:a="http://schemas.openxmlformats.org/drawingml/2006/main" noGrp="1"/>
          </p:cNvSpPr>
          <p:nvPr/>
        </p:nvSpPr>
        <p:spPr>
          <a:xfrm xmlns:a="http://schemas.openxmlformats.org/drawingml/2006/main">
            <a:off x="6248244" y="2087880"/>
            <a:ext cx="2514537"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800" b="1">
                <a:solidFill>
                  <a:srgbClr val="151312"/>
                </a:solidFill>
                <a:latin typeface="Arial"/>
                <a:ea typeface="Arial"/>
                <a:cs typeface="Arial"/>
              </a:defRPr>
            </a:defPPr>
            <a:lvl1pPr algn="l">
              <a:defRPr sz="1800" b="1">
                <a:solidFill>
                  <a:srgbClr val="151312"/>
                </a:solidFill>
                <a:latin typeface="Arial"/>
                <a:ea typeface="Arial"/>
                <a:cs typeface="Arial"/>
              </a:defRPr>
            </a:lvl1pPr>
            <a:lvl2pPr algn="l">
              <a:defRPr sz="1800" b="1">
                <a:solidFill>
                  <a:srgbClr val="151312"/>
                </a:solidFill>
                <a:latin typeface="Arial"/>
                <a:ea typeface="Arial"/>
                <a:cs typeface="Arial"/>
              </a:defRPr>
            </a:lvl2pPr>
            <a:lvl3pPr algn="l">
              <a:defRPr sz="1800" b="1">
                <a:solidFill>
                  <a:srgbClr val="151312"/>
                </a:solidFill>
                <a:latin typeface="Arial"/>
                <a:ea typeface="Arial"/>
                <a:cs typeface="Arial"/>
              </a:defRPr>
            </a:lvl3pPr>
            <a:lvl4pPr algn="l">
              <a:defRPr sz="1800" b="1">
                <a:solidFill>
                  <a:srgbClr val="151312"/>
                </a:solidFill>
                <a:latin typeface="Arial"/>
                <a:ea typeface="Arial"/>
                <a:cs typeface="Arial"/>
              </a:defRPr>
            </a:lvl4pPr>
            <a:lvl5pPr algn="l">
              <a:defRPr sz="1800" b="1">
                <a:solidFill>
                  <a:srgbClr val="151312"/>
                </a:solidFill>
                <a:latin typeface="Arial"/>
                <a:ea typeface="Arial"/>
                <a:cs typeface="Arial"/>
              </a:defRPr>
            </a:lvl5pPr>
            <a:lvl6pPr algn="l">
              <a:defRPr sz="1800" b="1">
                <a:solidFill>
                  <a:srgbClr val="151312"/>
                </a:solidFill>
                <a:latin typeface="Arial"/>
                <a:ea typeface="Arial"/>
                <a:cs typeface="Arial"/>
              </a:defRPr>
            </a:lvl6pPr>
            <a:lvl7pPr algn="l">
              <a:defRPr sz="1800" b="1">
                <a:solidFill>
                  <a:srgbClr val="151312"/>
                </a:solidFill>
                <a:latin typeface="Arial"/>
                <a:ea typeface="Arial"/>
                <a:cs typeface="Arial"/>
              </a:defRPr>
            </a:lvl7pPr>
            <a:lvl8pPr algn="l">
              <a:defRPr sz="1800" b="1">
                <a:solidFill>
                  <a:srgbClr val="151312"/>
                </a:solidFill>
                <a:latin typeface="Arial"/>
                <a:ea typeface="Arial"/>
                <a:cs typeface="Arial"/>
              </a:defRPr>
            </a:lvl8pPr>
            <a:lvl9pPr algn="l">
              <a:defRPr sz="1800" b="1">
                <a:solidFill>
                  <a:srgbClr val="151312"/>
                </a:solidFill>
                <a:latin typeface="Arial"/>
                <a:ea typeface="Arial"/>
                <a:cs typeface="Arial"/>
              </a:defRPr>
            </a:lvl9pPr>
          </a:lstStyle>
          <a:p xmlns:a="http://schemas.openxmlformats.org/drawingml/2006/main">
            <a:pPr algn="l">
              <a:defRPr sz="1800" b="1">
                <a:solidFill>
                  <a:srgbClr val="151312"/>
                </a:solidFill>
                <a:latin typeface="Arial"/>
                <a:ea typeface="Arial"/>
                <a:cs typeface="Arial"/>
              </a:defRPr>
            </a:pPr>
            <a:r>
              <a:rPr sz="1800" b="1">
                <a:solidFill>
                  <a:srgbClr val="151312"/>
                </a:solidFill>
                <a:latin typeface="Arial"/>
                <a:ea typeface="Arial"/>
                <a:cs typeface="Arial"/>
              </a:rPr>
              <a:t>Monthly re-reads</a:t>
            </a:r>
          </a:p>
        </p:txBody>
      </p:sp>
      <p:sp>
        <p:nvSpPr>
          <p:cNvPr id="22" name="">
            <a:extLst xmlns:a="http://schemas.openxmlformats.org/drawingml/2006/main">
              <a:ext uri="{FF2B5EF4-FFF2-40B4-BE49-F238E27FC236}">
                <a16:creationId xmlns:a16="http://schemas.microsoft.com/office/drawing/2014/main" id="{3F28CF46-58C1-4A6B-8E17-3D7275E06F75}"/>
              </a:ext>
            </a:extLst>
          </p:cNvPr>
          <p:cNvSpPr>
            <a:spLocks xmlns:a="http://schemas.openxmlformats.org/drawingml/2006/main" noGrp="1"/>
          </p:cNvSpPr>
          <p:nvPr/>
        </p:nvSpPr>
        <p:spPr>
          <a:xfrm xmlns:a="http://schemas.openxmlformats.org/drawingml/2006/main">
            <a:off x="6248244" y="2758440"/>
            <a:ext cx="2514537"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0">
                <a:solidFill>
                  <a:srgbClr val="45413C"/>
                </a:solidFill>
                <a:latin typeface="Arial"/>
                <a:ea typeface="Arial"/>
                <a:cs typeface="Arial"/>
              </a:defRPr>
            </a:defPPr>
            <a:lvl1pPr algn="l">
              <a:defRPr sz="1260" b="0">
                <a:solidFill>
                  <a:srgbClr val="45413C"/>
                </a:solidFill>
                <a:latin typeface="Arial"/>
                <a:ea typeface="Arial"/>
                <a:cs typeface="Arial"/>
              </a:defRPr>
            </a:lvl1pPr>
            <a:lvl2pPr algn="l">
              <a:defRPr sz="1260" b="0">
                <a:solidFill>
                  <a:srgbClr val="45413C"/>
                </a:solidFill>
                <a:latin typeface="Arial"/>
                <a:ea typeface="Arial"/>
                <a:cs typeface="Arial"/>
              </a:defRPr>
            </a:lvl2pPr>
            <a:lvl3pPr algn="l">
              <a:defRPr sz="1260" b="0">
                <a:solidFill>
                  <a:srgbClr val="45413C"/>
                </a:solidFill>
                <a:latin typeface="Arial"/>
                <a:ea typeface="Arial"/>
                <a:cs typeface="Arial"/>
              </a:defRPr>
            </a:lvl3pPr>
            <a:lvl4pPr algn="l">
              <a:defRPr sz="1260" b="0">
                <a:solidFill>
                  <a:srgbClr val="45413C"/>
                </a:solidFill>
                <a:latin typeface="Arial"/>
                <a:ea typeface="Arial"/>
                <a:cs typeface="Arial"/>
              </a:defRPr>
            </a:lvl4pPr>
            <a:lvl5pPr algn="l">
              <a:defRPr sz="1260" b="0">
                <a:solidFill>
                  <a:srgbClr val="45413C"/>
                </a:solidFill>
                <a:latin typeface="Arial"/>
                <a:ea typeface="Arial"/>
                <a:cs typeface="Arial"/>
              </a:defRPr>
            </a:lvl5pPr>
            <a:lvl6pPr algn="l">
              <a:defRPr sz="1260" b="0">
                <a:solidFill>
                  <a:srgbClr val="45413C"/>
                </a:solidFill>
                <a:latin typeface="Arial"/>
                <a:ea typeface="Arial"/>
                <a:cs typeface="Arial"/>
              </a:defRPr>
            </a:lvl6pPr>
            <a:lvl7pPr algn="l">
              <a:defRPr sz="1260" b="0">
                <a:solidFill>
                  <a:srgbClr val="45413C"/>
                </a:solidFill>
                <a:latin typeface="Arial"/>
                <a:ea typeface="Arial"/>
                <a:cs typeface="Arial"/>
              </a:defRPr>
            </a:lvl7pPr>
            <a:lvl8pPr algn="l">
              <a:defRPr sz="1260" b="0">
                <a:solidFill>
                  <a:srgbClr val="45413C"/>
                </a:solidFill>
                <a:latin typeface="Arial"/>
                <a:ea typeface="Arial"/>
                <a:cs typeface="Arial"/>
              </a:defRPr>
            </a:lvl8pPr>
            <a:lvl9pPr algn="l">
              <a:defRPr sz="1260" b="0">
                <a:solidFill>
                  <a:srgbClr val="45413C"/>
                </a:solidFill>
                <a:latin typeface="Arial"/>
                <a:ea typeface="Arial"/>
                <a:cs typeface="Arial"/>
              </a:defRPr>
            </a:lvl9pPr>
          </a:lstStyle>
          <a:p xmlns:a="http://schemas.openxmlformats.org/drawingml/2006/main">
            <a:pPr algn="l">
              <a:defRPr sz="1260" b="0">
                <a:solidFill>
                  <a:srgbClr val="45413C"/>
                </a:solidFill>
                <a:latin typeface="Arial"/>
                <a:ea typeface="Arial"/>
                <a:cs typeface="Arial"/>
              </a:defRPr>
            </a:pPr>
            <a:r>
              <a:rPr sz="1260" b="0">
                <a:solidFill>
                  <a:srgbClr val="45413C"/>
                </a:solidFill>
                <a:latin typeface="Arial"/>
                <a:ea typeface="Arial"/>
                <a:cs typeface="Arial"/>
              </a:rPr>
              <a:t>The same anchor documents reveal changes in the model or scoring pipeline</a:t>
            </a:r>
          </a:p>
        </p:txBody>
      </p:sp>
      <p:sp>
        <p:nvSpPr>
          <p:cNvPr id="23" name="">
            <a:extLst xmlns:a="http://schemas.openxmlformats.org/drawingml/2006/main">
              <a:ext uri="{FF2B5EF4-FFF2-40B4-BE49-F238E27FC236}">
                <a16:creationId xmlns:a16="http://schemas.microsoft.com/office/drawing/2014/main" id="{EF1D1E7F-8D8D-4F1C-8305-AFE797E42A03}"/>
              </a:ext>
            </a:extLst>
          </p:cNvPr>
          <p:cNvSpPr>
            <a:spLocks xmlns:a="http://schemas.openxmlformats.org/drawingml/2006/main" noGrp="1"/>
          </p:cNvSpPr>
          <p:nvPr/>
        </p:nvSpPr>
        <p:spPr>
          <a:xfrm xmlns:a="http://schemas.openxmlformats.org/drawingml/2006/main">
            <a:off x="9067573" y="1920240"/>
            <a:ext cx="2514537"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EBFB96B-952E-401F-8841-92EDDCE0D866}"/>
              </a:ext>
            </a:extLst>
          </p:cNvPr>
          <p:cNvSpPr>
            <a:spLocks xmlns:a="http://schemas.openxmlformats.org/drawingml/2006/main" noGrp="1"/>
          </p:cNvSpPr>
          <p:nvPr/>
        </p:nvSpPr>
        <p:spPr>
          <a:xfrm xmlns:a="http://schemas.openxmlformats.org/drawingml/2006/main">
            <a:off x="9067573" y="2087880"/>
            <a:ext cx="2514537"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800" b="1">
                <a:solidFill>
                  <a:srgbClr val="151312"/>
                </a:solidFill>
                <a:latin typeface="Arial"/>
                <a:ea typeface="Arial"/>
                <a:cs typeface="Arial"/>
              </a:defRPr>
            </a:defPPr>
            <a:lvl1pPr algn="l">
              <a:defRPr sz="1800" b="1">
                <a:solidFill>
                  <a:srgbClr val="151312"/>
                </a:solidFill>
                <a:latin typeface="Arial"/>
                <a:ea typeface="Arial"/>
                <a:cs typeface="Arial"/>
              </a:defRPr>
            </a:lvl1pPr>
            <a:lvl2pPr algn="l">
              <a:defRPr sz="1800" b="1">
                <a:solidFill>
                  <a:srgbClr val="151312"/>
                </a:solidFill>
                <a:latin typeface="Arial"/>
                <a:ea typeface="Arial"/>
                <a:cs typeface="Arial"/>
              </a:defRPr>
            </a:lvl2pPr>
            <a:lvl3pPr algn="l">
              <a:defRPr sz="1800" b="1">
                <a:solidFill>
                  <a:srgbClr val="151312"/>
                </a:solidFill>
                <a:latin typeface="Arial"/>
                <a:ea typeface="Arial"/>
                <a:cs typeface="Arial"/>
              </a:defRPr>
            </a:lvl3pPr>
            <a:lvl4pPr algn="l">
              <a:defRPr sz="1800" b="1">
                <a:solidFill>
                  <a:srgbClr val="151312"/>
                </a:solidFill>
                <a:latin typeface="Arial"/>
                <a:ea typeface="Arial"/>
                <a:cs typeface="Arial"/>
              </a:defRPr>
            </a:lvl4pPr>
            <a:lvl5pPr algn="l">
              <a:defRPr sz="1800" b="1">
                <a:solidFill>
                  <a:srgbClr val="151312"/>
                </a:solidFill>
                <a:latin typeface="Arial"/>
                <a:ea typeface="Arial"/>
                <a:cs typeface="Arial"/>
              </a:defRPr>
            </a:lvl5pPr>
            <a:lvl6pPr algn="l">
              <a:defRPr sz="1800" b="1">
                <a:solidFill>
                  <a:srgbClr val="151312"/>
                </a:solidFill>
                <a:latin typeface="Arial"/>
                <a:ea typeface="Arial"/>
                <a:cs typeface="Arial"/>
              </a:defRPr>
            </a:lvl6pPr>
            <a:lvl7pPr algn="l">
              <a:defRPr sz="1800" b="1">
                <a:solidFill>
                  <a:srgbClr val="151312"/>
                </a:solidFill>
                <a:latin typeface="Arial"/>
                <a:ea typeface="Arial"/>
                <a:cs typeface="Arial"/>
              </a:defRPr>
            </a:lvl7pPr>
            <a:lvl8pPr algn="l">
              <a:defRPr sz="1800" b="1">
                <a:solidFill>
                  <a:srgbClr val="151312"/>
                </a:solidFill>
                <a:latin typeface="Arial"/>
                <a:ea typeface="Arial"/>
                <a:cs typeface="Arial"/>
              </a:defRPr>
            </a:lvl8pPr>
            <a:lvl9pPr algn="l">
              <a:defRPr sz="1800" b="1">
                <a:solidFill>
                  <a:srgbClr val="151312"/>
                </a:solidFill>
                <a:latin typeface="Arial"/>
                <a:ea typeface="Arial"/>
                <a:cs typeface="Arial"/>
              </a:defRPr>
            </a:lvl9pPr>
          </a:lstStyle>
          <a:p xmlns:a="http://schemas.openxmlformats.org/drawingml/2006/main">
            <a:pPr algn="l">
              <a:defRPr sz="1800" b="1">
                <a:solidFill>
                  <a:srgbClr val="151312"/>
                </a:solidFill>
                <a:latin typeface="Arial"/>
                <a:ea typeface="Arial"/>
                <a:cs typeface="Arial"/>
              </a:defRPr>
            </a:pPr>
            <a:r>
              <a:rPr sz="1800" b="1">
                <a:solidFill>
                  <a:srgbClr val="151312"/>
                </a:solidFill>
                <a:latin typeface="Arial"/>
                <a:ea typeface="Arial"/>
                <a:cs typeface="Arial"/>
              </a:rPr>
              <a:t>Member timelines</a:t>
            </a:r>
          </a:p>
        </p:txBody>
      </p:sp>
      <p:sp>
        <p:nvSpPr>
          <p:cNvPr id="25" name="">
            <a:extLst xmlns:a="http://schemas.openxmlformats.org/drawingml/2006/main">
              <a:ext uri="{FF2B5EF4-FFF2-40B4-BE49-F238E27FC236}">
                <a16:creationId xmlns:a16="http://schemas.microsoft.com/office/drawing/2014/main" id="{8E3C3838-16D1-4E0D-AE94-AFED0B66BF88}"/>
              </a:ext>
            </a:extLst>
          </p:cNvPr>
          <p:cNvSpPr>
            <a:spLocks xmlns:a="http://schemas.openxmlformats.org/drawingml/2006/main" noGrp="1"/>
          </p:cNvSpPr>
          <p:nvPr/>
        </p:nvSpPr>
        <p:spPr>
          <a:xfrm xmlns:a="http://schemas.openxmlformats.org/drawingml/2006/main">
            <a:off x="9067573" y="2758440"/>
            <a:ext cx="2514537"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0">
                <a:solidFill>
                  <a:srgbClr val="45413C"/>
                </a:solidFill>
                <a:latin typeface="Arial"/>
                <a:ea typeface="Arial"/>
                <a:cs typeface="Arial"/>
              </a:defRPr>
            </a:defPPr>
            <a:lvl1pPr algn="l">
              <a:defRPr sz="1260" b="0">
                <a:solidFill>
                  <a:srgbClr val="45413C"/>
                </a:solidFill>
                <a:latin typeface="Arial"/>
                <a:ea typeface="Arial"/>
                <a:cs typeface="Arial"/>
              </a:defRPr>
            </a:lvl1pPr>
            <a:lvl2pPr algn="l">
              <a:defRPr sz="1260" b="0">
                <a:solidFill>
                  <a:srgbClr val="45413C"/>
                </a:solidFill>
                <a:latin typeface="Arial"/>
                <a:ea typeface="Arial"/>
                <a:cs typeface="Arial"/>
              </a:defRPr>
            </a:lvl2pPr>
            <a:lvl3pPr algn="l">
              <a:defRPr sz="1260" b="0">
                <a:solidFill>
                  <a:srgbClr val="45413C"/>
                </a:solidFill>
                <a:latin typeface="Arial"/>
                <a:ea typeface="Arial"/>
                <a:cs typeface="Arial"/>
              </a:defRPr>
            </a:lvl3pPr>
            <a:lvl4pPr algn="l">
              <a:defRPr sz="1260" b="0">
                <a:solidFill>
                  <a:srgbClr val="45413C"/>
                </a:solidFill>
                <a:latin typeface="Arial"/>
                <a:ea typeface="Arial"/>
                <a:cs typeface="Arial"/>
              </a:defRPr>
            </a:lvl4pPr>
            <a:lvl5pPr algn="l">
              <a:defRPr sz="1260" b="0">
                <a:solidFill>
                  <a:srgbClr val="45413C"/>
                </a:solidFill>
                <a:latin typeface="Arial"/>
                <a:ea typeface="Arial"/>
                <a:cs typeface="Arial"/>
              </a:defRPr>
            </a:lvl5pPr>
            <a:lvl6pPr algn="l">
              <a:defRPr sz="1260" b="0">
                <a:solidFill>
                  <a:srgbClr val="45413C"/>
                </a:solidFill>
                <a:latin typeface="Arial"/>
                <a:ea typeface="Arial"/>
                <a:cs typeface="Arial"/>
              </a:defRPr>
            </a:lvl6pPr>
            <a:lvl7pPr algn="l">
              <a:defRPr sz="1260" b="0">
                <a:solidFill>
                  <a:srgbClr val="45413C"/>
                </a:solidFill>
                <a:latin typeface="Arial"/>
                <a:ea typeface="Arial"/>
                <a:cs typeface="Arial"/>
              </a:defRPr>
            </a:lvl7pPr>
            <a:lvl8pPr algn="l">
              <a:defRPr sz="1260" b="0">
                <a:solidFill>
                  <a:srgbClr val="45413C"/>
                </a:solidFill>
                <a:latin typeface="Arial"/>
                <a:ea typeface="Arial"/>
                <a:cs typeface="Arial"/>
              </a:defRPr>
            </a:lvl8pPr>
            <a:lvl9pPr algn="l">
              <a:defRPr sz="1260" b="0">
                <a:solidFill>
                  <a:srgbClr val="45413C"/>
                </a:solidFill>
                <a:latin typeface="Arial"/>
                <a:ea typeface="Arial"/>
                <a:cs typeface="Arial"/>
              </a:defRPr>
            </a:lvl9pPr>
          </a:lstStyle>
          <a:p xmlns:a="http://schemas.openxmlformats.org/drawingml/2006/main">
            <a:pPr algn="l">
              <a:defRPr sz="1260" b="0">
                <a:solidFill>
                  <a:srgbClr val="45413C"/>
                </a:solidFill>
                <a:latin typeface="Arial"/>
                <a:ea typeface="Arial"/>
                <a:cs typeface="Arial"/>
              </a:defRPr>
            </a:pPr>
            <a:r>
              <a:rPr sz="1260" b="0">
                <a:solidFill>
                  <a:srgbClr val="45413C"/>
                </a:solidFill>
                <a:latin typeface="Arial"/>
                <a:ea typeface="Arial"/>
                <a:cs typeface="Arial"/>
              </a:rPr>
              <a:t>Fed biographies, speech-tone turning points, titles and dissent histories</a:t>
            </a:r>
          </a:p>
        </p:txBody>
      </p:sp>
      <p:sp>
        <p:nvSpPr>
          <p:cNvPr id="26" name="">
            <a:extLst xmlns:a="http://schemas.openxmlformats.org/drawingml/2006/main">
              <a:ext uri="{FF2B5EF4-FFF2-40B4-BE49-F238E27FC236}">
                <a16:creationId xmlns:a16="http://schemas.microsoft.com/office/drawing/2014/main" id="{630997A1-64D9-48DA-9CBF-6D6918D9D065}"/>
              </a:ext>
            </a:extLst>
          </p:cNvPr>
          <p:cNvSpPr>
            <a:spLocks xmlns:a="http://schemas.openxmlformats.org/drawingml/2006/main" noGrp="1"/>
          </p:cNvSpPr>
          <p:nvPr/>
        </p:nvSpPr>
        <p:spPr>
          <a:xfrm xmlns:a="http://schemas.openxmlformats.org/drawingml/2006/main">
            <a:off x="609585" y="4152900"/>
            <a:ext cx="2514537"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4A51F2D-BFC7-4800-B3C1-44EC8A0F0DDE}"/>
              </a:ext>
            </a:extLst>
          </p:cNvPr>
          <p:cNvSpPr>
            <a:spLocks xmlns:a="http://schemas.openxmlformats.org/drawingml/2006/main" noGrp="1"/>
          </p:cNvSpPr>
          <p:nvPr/>
        </p:nvSpPr>
        <p:spPr>
          <a:xfrm xmlns:a="http://schemas.openxmlformats.org/drawingml/2006/main">
            <a:off x="609585" y="4320540"/>
            <a:ext cx="2514537"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800" b="1">
                <a:solidFill>
                  <a:srgbClr val="151312"/>
                </a:solidFill>
                <a:latin typeface="Arial"/>
                <a:ea typeface="Arial"/>
                <a:cs typeface="Arial"/>
              </a:defRPr>
            </a:defPPr>
            <a:lvl1pPr algn="l">
              <a:defRPr sz="1800" b="1">
                <a:solidFill>
                  <a:srgbClr val="151312"/>
                </a:solidFill>
                <a:latin typeface="Arial"/>
                <a:ea typeface="Arial"/>
                <a:cs typeface="Arial"/>
              </a:defRPr>
            </a:lvl1pPr>
            <a:lvl2pPr algn="l">
              <a:defRPr sz="1800" b="1">
                <a:solidFill>
                  <a:srgbClr val="151312"/>
                </a:solidFill>
                <a:latin typeface="Arial"/>
                <a:ea typeface="Arial"/>
                <a:cs typeface="Arial"/>
              </a:defRPr>
            </a:lvl2pPr>
            <a:lvl3pPr algn="l">
              <a:defRPr sz="1800" b="1">
                <a:solidFill>
                  <a:srgbClr val="151312"/>
                </a:solidFill>
                <a:latin typeface="Arial"/>
                <a:ea typeface="Arial"/>
                <a:cs typeface="Arial"/>
              </a:defRPr>
            </a:lvl3pPr>
            <a:lvl4pPr algn="l">
              <a:defRPr sz="1800" b="1">
                <a:solidFill>
                  <a:srgbClr val="151312"/>
                </a:solidFill>
                <a:latin typeface="Arial"/>
                <a:ea typeface="Arial"/>
                <a:cs typeface="Arial"/>
              </a:defRPr>
            </a:lvl4pPr>
            <a:lvl5pPr algn="l">
              <a:defRPr sz="1800" b="1">
                <a:solidFill>
                  <a:srgbClr val="151312"/>
                </a:solidFill>
                <a:latin typeface="Arial"/>
                <a:ea typeface="Arial"/>
                <a:cs typeface="Arial"/>
              </a:defRPr>
            </a:lvl5pPr>
            <a:lvl6pPr algn="l">
              <a:defRPr sz="1800" b="1">
                <a:solidFill>
                  <a:srgbClr val="151312"/>
                </a:solidFill>
                <a:latin typeface="Arial"/>
                <a:ea typeface="Arial"/>
                <a:cs typeface="Arial"/>
              </a:defRPr>
            </a:lvl6pPr>
            <a:lvl7pPr algn="l">
              <a:defRPr sz="1800" b="1">
                <a:solidFill>
                  <a:srgbClr val="151312"/>
                </a:solidFill>
                <a:latin typeface="Arial"/>
                <a:ea typeface="Arial"/>
                <a:cs typeface="Arial"/>
              </a:defRPr>
            </a:lvl7pPr>
            <a:lvl8pPr algn="l">
              <a:defRPr sz="1800" b="1">
                <a:solidFill>
                  <a:srgbClr val="151312"/>
                </a:solidFill>
                <a:latin typeface="Arial"/>
                <a:ea typeface="Arial"/>
                <a:cs typeface="Arial"/>
              </a:defRPr>
            </a:lvl8pPr>
            <a:lvl9pPr algn="l">
              <a:defRPr sz="1800" b="1">
                <a:solidFill>
                  <a:srgbClr val="151312"/>
                </a:solidFill>
                <a:latin typeface="Arial"/>
                <a:ea typeface="Arial"/>
                <a:cs typeface="Arial"/>
              </a:defRPr>
            </a:lvl9pPr>
          </a:lstStyle>
          <a:p xmlns:a="http://schemas.openxmlformats.org/drawingml/2006/main">
            <a:pPr algn="l">
              <a:defRPr sz="1800" b="1">
                <a:solidFill>
                  <a:srgbClr val="151312"/>
                </a:solidFill>
                <a:latin typeface="Arial"/>
                <a:ea typeface="Arial"/>
                <a:cs typeface="Arial"/>
              </a:defRPr>
            </a:pPr>
            <a:r>
              <a:rPr sz="1800" b="1">
                <a:solidFill>
                  <a:srgbClr val="151312"/>
                </a:solidFill>
                <a:latin typeface="Arial"/>
                <a:ea typeface="Arial"/>
                <a:cs typeface="Arial"/>
              </a:rPr>
              <a:t>Atom feed</a:t>
            </a:r>
          </a:p>
        </p:txBody>
      </p:sp>
      <p:sp>
        <p:nvSpPr>
          <p:cNvPr id="28" name="">
            <a:extLst xmlns:a="http://schemas.openxmlformats.org/drawingml/2006/main">
              <a:ext uri="{FF2B5EF4-FFF2-40B4-BE49-F238E27FC236}">
                <a16:creationId xmlns:a16="http://schemas.microsoft.com/office/drawing/2014/main" id="{4945DC4B-9AF8-442B-A3C8-063C7C185911}"/>
              </a:ext>
            </a:extLst>
          </p:cNvPr>
          <p:cNvSpPr>
            <a:spLocks xmlns:a="http://schemas.openxmlformats.org/drawingml/2006/main" noGrp="1"/>
          </p:cNvSpPr>
          <p:nvPr/>
        </p:nvSpPr>
        <p:spPr>
          <a:xfrm xmlns:a="http://schemas.openxmlformats.org/drawingml/2006/main">
            <a:off x="609585" y="4991100"/>
            <a:ext cx="2514537"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0">
                <a:solidFill>
                  <a:srgbClr val="45413C"/>
                </a:solidFill>
                <a:latin typeface="Arial"/>
                <a:ea typeface="Arial"/>
                <a:cs typeface="Arial"/>
              </a:defRPr>
            </a:defPPr>
            <a:lvl1pPr algn="l">
              <a:defRPr sz="1260" b="0">
                <a:solidFill>
                  <a:srgbClr val="45413C"/>
                </a:solidFill>
                <a:latin typeface="Arial"/>
                <a:ea typeface="Arial"/>
                <a:cs typeface="Arial"/>
              </a:defRPr>
            </a:lvl1pPr>
            <a:lvl2pPr algn="l">
              <a:defRPr sz="1260" b="0">
                <a:solidFill>
                  <a:srgbClr val="45413C"/>
                </a:solidFill>
                <a:latin typeface="Arial"/>
                <a:ea typeface="Arial"/>
                <a:cs typeface="Arial"/>
              </a:defRPr>
            </a:lvl2pPr>
            <a:lvl3pPr algn="l">
              <a:defRPr sz="1260" b="0">
                <a:solidFill>
                  <a:srgbClr val="45413C"/>
                </a:solidFill>
                <a:latin typeface="Arial"/>
                <a:ea typeface="Arial"/>
                <a:cs typeface="Arial"/>
              </a:defRPr>
            </a:lvl3pPr>
            <a:lvl4pPr algn="l">
              <a:defRPr sz="1260" b="0">
                <a:solidFill>
                  <a:srgbClr val="45413C"/>
                </a:solidFill>
                <a:latin typeface="Arial"/>
                <a:ea typeface="Arial"/>
                <a:cs typeface="Arial"/>
              </a:defRPr>
            </a:lvl4pPr>
            <a:lvl5pPr algn="l">
              <a:defRPr sz="1260" b="0">
                <a:solidFill>
                  <a:srgbClr val="45413C"/>
                </a:solidFill>
                <a:latin typeface="Arial"/>
                <a:ea typeface="Arial"/>
                <a:cs typeface="Arial"/>
              </a:defRPr>
            </a:lvl5pPr>
            <a:lvl6pPr algn="l">
              <a:defRPr sz="1260" b="0">
                <a:solidFill>
                  <a:srgbClr val="45413C"/>
                </a:solidFill>
                <a:latin typeface="Arial"/>
                <a:ea typeface="Arial"/>
                <a:cs typeface="Arial"/>
              </a:defRPr>
            </a:lvl6pPr>
            <a:lvl7pPr algn="l">
              <a:defRPr sz="1260" b="0">
                <a:solidFill>
                  <a:srgbClr val="45413C"/>
                </a:solidFill>
                <a:latin typeface="Arial"/>
                <a:ea typeface="Arial"/>
                <a:cs typeface="Arial"/>
              </a:defRPr>
            </a:lvl7pPr>
            <a:lvl8pPr algn="l">
              <a:defRPr sz="1260" b="0">
                <a:solidFill>
                  <a:srgbClr val="45413C"/>
                </a:solidFill>
                <a:latin typeface="Arial"/>
                <a:ea typeface="Arial"/>
                <a:cs typeface="Arial"/>
              </a:defRPr>
            </a:lvl8pPr>
            <a:lvl9pPr algn="l">
              <a:defRPr sz="1260" b="0">
                <a:solidFill>
                  <a:srgbClr val="45413C"/>
                </a:solidFill>
                <a:latin typeface="Arial"/>
                <a:ea typeface="Arial"/>
                <a:cs typeface="Arial"/>
              </a:defRPr>
            </a:lvl9pPr>
          </a:lstStyle>
          <a:p xmlns:a="http://schemas.openxmlformats.org/drawingml/2006/main">
            <a:pPr algn="l">
              <a:defRPr sz="1260" b="0">
                <a:solidFill>
                  <a:srgbClr val="45413C"/>
                </a:solidFill>
                <a:latin typeface="Arial"/>
                <a:ea typeface="Arial"/>
                <a:cs typeface="Arial"/>
              </a:defRPr>
            </a:pPr>
            <a:r>
              <a:rPr sz="1260" b="0">
                <a:solidFill>
                  <a:srgbClr val="45413C"/>
                </a:solidFill>
                <a:latin typeface="Arial"/>
                <a:ea typeface="Arial"/>
                <a:cs typeface="Arial"/>
              </a:rPr>
              <a:t>Subscribe to new releases, their tone and links to the Fed's source documents</a:t>
            </a:r>
          </a:p>
        </p:txBody>
      </p:sp>
      <p:sp>
        <p:nvSpPr>
          <p:cNvPr id="29" name="">
            <a:extLst xmlns:a="http://schemas.openxmlformats.org/drawingml/2006/main">
              <a:ext uri="{FF2B5EF4-FFF2-40B4-BE49-F238E27FC236}">
                <a16:creationId xmlns:a16="http://schemas.microsoft.com/office/drawing/2014/main" id="{A8A1B111-7EA1-4FC0-88C3-89BED192C610}"/>
              </a:ext>
            </a:extLst>
          </p:cNvPr>
          <p:cNvSpPr>
            <a:spLocks xmlns:a="http://schemas.openxmlformats.org/drawingml/2006/main" noGrp="1"/>
          </p:cNvSpPr>
          <p:nvPr/>
        </p:nvSpPr>
        <p:spPr>
          <a:xfrm xmlns:a="http://schemas.openxmlformats.org/drawingml/2006/main">
            <a:off x="3428914" y="4152900"/>
            <a:ext cx="2514537"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67AF764B-6F0E-4B7C-8B21-1503AE12ADEC}"/>
              </a:ext>
            </a:extLst>
          </p:cNvPr>
          <p:cNvSpPr>
            <a:spLocks xmlns:a="http://schemas.openxmlformats.org/drawingml/2006/main" noGrp="1"/>
          </p:cNvSpPr>
          <p:nvPr/>
        </p:nvSpPr>
        <p:spPr>
          <a:xfrm xmlns:a="http://schemas.openxmlformats.org/drawingml/2006/main">
            <a:off x="3428914" y="4320540"/>
            <a:ext cx="2514537"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800" b="1">
                <a:solidFill>
                  <a:srgbClr val="151312"/>
                </a:solidFill>
                <a:latin typeface="Arial"/>
                <a:ea typeface="Arial"/>
                <a:cs typeface="Arial"/>
              </a:defRPr>
            </a:defPPr>
            <a:lvl1pPr algn="l">
              <a:defRPr sz="1800" b="1">
                <a:solidFill>
                  <a:srgbClr val="151312"/>
                </a:solidFill>
                <a:latin typeface="Arial"/>
                <a:ea typeface="Arial"/>
                <a:cs typeface="Arial"/>
              </a:defRPr>
            </a:lvl1pPr>
            <a:lvl2pPr algn="l">
              <a:defRPr sz="1800" b="1">
                <a:solidFill>
                  <a:srgbClr val="151312"/>
                </a:solidFill>
                <a:latin typeface="Arial"/>
                <a:ea typeface="Arial"/>
                <a:cs typeface="Arial"/>
              </a:defRPr>
            </a:lvl2pPr>
            <a:lvl3pPr algn="l">
              <a:defRPr sz="1800" b="1">
                <a:solidFill>
                  <a:srgbClr val="151312"/>
                </a:solidFill>
                <a:latin typeface="Arial"/>
                <a:ea typeface="Arial"/>
                <a:cs typeface="Arial"/>
              </a:defRPr>
            </a:lvl3pPr>
            <a:lvl4pPr algn="l">
              <a:defRPr sz="1800" b="1">
                <a:solidFill>
                  <a:srgbClr val="151312"/>
                </a:solidFill>
                <a:latin typeface="Arial"/>
                <a:ea typeface="Arial"/>
                <a:cs typeface="Arial"/>
              </a:defRPr>
            </a:lvl4pPr>
            <a:lvl5pPr algn="l">
              <a:defRPr sz="1800" b="1">
                <a:solidFill>
                  <a:srgbClr val="151312"/>
                </a:solidFill>
                <a:latin typeface="Arial"/>
                <a:ea typeface="Arial"/>
                <a:cs typeface="Arial"/>
              </a:defRPr>
            </a:lvl5pPr>
            <a:lvl6pPr algn="l">
              <a:defRPr sz="1800" b="1">
                <a:solidFill>
                  <a:srgbClr val="151312"/>
                </a:solidFill>
                <a:latin typeface="Arial"/>
                <a:ea typeface="Arial"/>
                <a:cs typeface="Arial"/>
              </a:defRPr>
            </a:lvl6pPr>
            <a:lvl7pPr algn="l">
              <a:defRPr sz="1800" b="1">
                <a:solidFill>
                  <a:srgbClr val="151312"/>
                </a:solidFill>
                <a:latin typeface="Arial"/>
                <a:ea typeface="Arial"/>
                <a:cs typeface="Arial"/>
              </a:defRPr>
            </a:lvl7pPr>
            <a:lvl8pPr algn="l">
              <a:defRPr sz="1800" b="1">
                <a:solidFill>
                  <a:srgbClr val="151312"/>
                </a:solidFill>
                <a:latin typeface="Arial"/>
                <a:ea typeface="Arial"/>
                <a:cs typeface="Arial"/>
              </a:defRPr>
            </a:lvl8pPr>
            <a:lvl9pPr algn="l">
              <a:defRPr sz="1800" b="1">
                <a:solidFill>
                  <a:srgbClr val="151312"/>
                </a:solidFill>
                <a:latin typeface="Arial"/>
                <a:ea typeface="Arial"/>
                <a:cs typeface="Arial"/>
              </a:defRPr>
            </a:lvl9pPr>
          </a:lstStyle>
          <a:p xmlns:a="http://schemas.openxmlformats.org/drawingml/2006/main">
            <a:pPr algn="l">
              <a:defRPr sz="1800" b="1">
                <a:solidFill>
                  <a:srgbClr val="151312"/>
                </a:solidFill>
                <a:latin typeface="Arial"/>
                <a:ea typeface="Arial"/>
                <a:cs typeface="Arial"/>
              </a:defRPr>
            </a:pPr>
            <a:r>
              <a:rPr sz="1800" b="1">
                <a:solidFill>
                  <a:srgbClr val="151312"/>
                </a:solidFill>
                <a:latin typeface="Arial"/>
                <a:ea typeface="Arial"/>
                <a:cs typeface="Arial"/>
              </a:rPr>
              <a:t>Freeze guards</a:t>
            </a:r>
          </a:p>
        </p:txBody>
      </p:sp>
      <p:sp>
        <p:nvSpPr>
          <p:cNvPr id="31" name="">
            <a:extLst xmlns:a="http://schemas.openxmlformats.org/drawingml/2006/main">
              <a:ext uri="{FF2B5EF4-FFF2-40B4-BE49-F238E27FC236}">
                <a16:creationId xmlns:a16="http://schemas.microsoft.com/office/drawing/2014/main" id="{7A6A37DF-FD36-4324-B328-00FD72E601A6}"/>
              </a:ext>
            </a:extLst>
          </p:cNvPr>
          <p:cNvSpPr>
            <a:spLocks xmlns:a="http://schemas.openxmlformats.org/drawingml/2006/main" noGrp="1"/>
          </p:cNvSpPr>
          <p:nvPr/>
        </p:nvSpPr>
        <p:spPr>
          <a:xfrm xmlns:a="http://schemas.openxmlformats.org/drawingml/2006/main">
            <a:off x="3428914" y="4991100"/>
            <a:ext cx="2514537"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0">
                <a:solidFill>
                  <a:srgbClr val="45413C"/>
                </a:solidFill>
                <a:latin typeface="Arial"/>
                <a:ea typeface="Arial"/>
                <a:cs typeface="Arial"/>
              </a:defRPr>
            </a:defPPr>
            <a:lvl1pPr algn="l">
              <a:defRPr sz="1260" b="0">
                <a:solidFill>
                  <a:srgbClr val="45413C"/>
                </a:solidFill>
                <a:latin typeface="Arial"/>
                <a:ea typeface="Arial"/>
                <a:cs typeface="Arial"/>
              </a:defRPr>
            </a:lvl1pPr>
            <a:lvl2pPr algn="l">
              <a:defRPr sz="1260" b="0">
                <a:solidFill>
                  <a:srgbClr val="45413C"/>
                </a:solidFill>
                <a:latin typeface="Arial"/>
                <a:ea typeface="Arial"/>
                <a:cs typeface="Arial"/>
              </a:defRPr>
            </a:lvl2pPr>
            <a:lvl3pPr algn="l">
              <a:defRPr sz="1260" b="0">
                <a:solidFill>
                  <a:srgbClr val="45413C"/>
                </a:solidFill>
                <a:latin typeface="Arial"/>
                <a:ea typeface="Arial"/>
                <a:cs typeface="Arial"/>
              </a:defRPr>
            </a:lvl3pPr>
            <a:lvl4pPr algn="l">
              <a:defRPr sz="1260" b="0">
                <a:solidFill>
                  <a:srgbClr val="45413C"/>
                </a:solidFill>
                <a:latin typeface="Arial"/>
                <a:ea typeface="Arial"/>
                <a:cs typeface="Arial"/>
              </a:defRPr>
            </a:lvl4pPr>
            <a:lvl5pPr algn="l">
              <a:defRPr sz="1260" b="0">
                <a:solidFill>
                  <a:srgbClr val="45413C"/>
                </a:solidFill>
                <a:latin typeface="Arial"/>
                <a:ea typeface="Arial"/>
                <a:cs typeface="Arial"/>
              </a:defRPr>
            </a:lvl5pPr>
            <a:lvl6pPr algn="l">
              <a:defRPr sz="1260" b="0">
                <a:solidFill>
                  <a:srgbClr val="45413C"/>
                </a:solidFill>
                <a:latin typeface="Arial"/>
                <a:ea typeface="Arial"/>
                <a:cs typeface="Arial"/>
              </a:defRPr>
            </a:lvl6pPr>
            <a:lvl7pPr algn="l">
              <a:defRPr sz="1260" b="0">
                <a:solidFill>
                  <a:srgbClr val="45413C"/>
                </a:solidFill>
                <a:latin typeface="Arial"/>
                <a:ea typeface="Arial"/>
                <a:cs typeface="Arial"/>
              </a:defRPr>
            </a:lvl7pPr>
            <a:lvl8pPr algn="l">
              <a:defRPr sz="1260" b="0">
                <a:solidFill>
                  <a:srgbClr val="45413C"/>
                </a:solidFill>
                <a:latin typeface="Arial"/>
                <a:ea typeface="Arial"/>
                <a:cs typeface="Arial"/>
              </a:defRPr>
            </a:lvl8pPr>
            <a:lvl9pPr algn="l">
              <a:defRPr sz="1260" b="0">
                <a:solidFill>
                  <a:srgbClr val="45413C"/>
                </a:solidFill>
                <a:latin typeface="Arial"/>
                <a:ea typeface="Arial"/>
                <a:cs typeface="Arial"/>
              </a:defRPr>
            </a:lvl9pPr>
          </a:lstStyle>
          <a:p xmlns:a="http://schemas.openxmlformats.org/drawingml/2006/main">
            <a:pPr algn="l">
              <a:defRPr sz="1260" b="0">
                <a:solidFill>
                  <a:srgbClr val="45413C"/>
                </a:solidFill>
                <a:latin typeface="Arial"/>
                <a:ea typeface="Arial"/>
                <a:cs typeface="Arial"/>
              </a:defRPr>
            </a:pPr>
            <a:r>
              <a:rPr sz="1260" b="0">
                <a:solidFill>
                  <a:srgbClr val="45413C"/>
                </a:solidFill>
                <a:latin typeface="Arial"/>
                <a:ea typeface="Arial"/>
                <a:cs typeface="Arial"/>
              </a:rPr>
              <a:t>Research and baseline results stay fixed while new documents receive scores</a:t>
            </a:r>
          </a:p>
        </p:txBody>
      </p:sp>
      <p:sp>
        <p:nvSpPr>
          <p:cNvPr id="32" name="">
            <a:extLst xmlns:a="http://schemas.openxmlformats.org/drawingml/2006/main">
              <a:ext uri="{FF2B5EF4-FFF2-40B4-BE49-F238E27FC236}">
                <a16:creationId xmlns:a16="http://schemas.microsoft.com/office/drawing/2014/main" id="{B0868731-D10E-4E79-93D7-1A7B6881D650}"/>
              </a:ext>
            </a:extLst>
          </p:cNvPr>
          <p:cNvSpPr>
            <a:spLocks xmlns:a="http://schemas.openxmlformats.org/drawingml/2006/main" noGrp="1"/>
          </p:cNvSpPr>
          <p:nvPr/>
        </p:nvSpPr>
        <p:spPr>
          <a:xfrm xmlns:a="http://schemas.openxmlformats.org/drawingml/2006/main">
            <a:off x="6248244" y="4152900"/>
            <a:ext cx="2514537"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E347895C-66FA-4EC5-9096-226D1E25C4E2}"/>
              </a:ext>
            </a:extLst>
          </p:cNvPr>
          <p:cNvSpPr>
            <a:spLocks xmlns:a="http://schemas.openxmlformats.org/drawingml/2006/main" noGrp="1"/>
          </p:cNvSpPr>
          <p:nvPr/>
        </p:nvSpPr>
        <p:spPr>
          <a:xfrm xmlns:a="http://schemas.openxmlformats.org/drawingml/2006/main">
            <a:off x="6248244" y="4320540"/>
            <a:ext cx="2514537"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800" b="1">
                <a:solidFill>
                  <a:srgbClr val="151312"/>
                </a:solidFill>
                <a:latin typeface="Arial"/>
                <a:ea typeface="Arial"/>
                <a:cs typeface="Arial"/>
              </a:defRPr>
            </a:defPPr>
            <a:lvl1pPr algn="l">
              <a:defRPr sz="1800" b="1">
                <a:solidFill>
                  <a:srgbClr val="151312"/>
                </a:solidFill>
                <a:latin typeface="Arial"/>
                <a:ea typeface="Arial"/>
                <a:cs typeface="Arial"/>
              </a:defRPr>
            </a:lvl1pPr>
            <a:lvl2pPr algn="l">
              <a:defRPr sz="1800" b="1">
                <a:solidFill>
                  <a:srgbClr val="151312"/>
                </a:solidFill>
                <a:latin typeface="Arial"/>
                <a:ea typeface="Arial"/>
                <a:cs typeface="Arial"/>
              </a:defRPr>
            </a:lvl2pPr>
            <a:lvl3pPr algn="l">
              <a:defRPr sz="1800" b="1">
                <a:solidFill>
                  <a:srgbClr val="151312"/>
                </a:solidFill>
                <a:latin typeface="Arial"/>
                <a:ea typeface="Arial"/>
                <a:cs typeface="Arial"/>
              </a:defRPr>
            </a:lvl3pPr>
            <a:lvl4pPr algn="l">
              <a:defRPr sz="1800" b="1">
                <a:solidFill>
                  <a:srgbClr val="151312"/>
                </a:solidFill>
                <a:latin typeface="Arial"/>
                <a:ea typeface="Arial"/>
                <a:cs typeface="Arial"/>
              </a:defRPr>
            </a:lvl4pPr>
            <a:lvl5pPr algn="l">
              <a:defRPr sz="1800" b="1">
                <a:solidFill>
                  <a:srgbClr val="151312"/>
                </a:solidFill>
                <a:latin typeface="Arial"/>
                <a:ea typeface="Arial"/>
                <a:cs typeface="Arial"/>
              </a:defRPr>
            </a:lvl5pPr>
            <a:lvl6pPr algn="l">
              <a:defRPr sz="1800" b="1">
                <a:solidFill>
                  <a:srgbClr val="151312"/>
                </a:solidFill>
                <a:latin typeface="Arial"/>
                <a:ea typeface="Arial"/>
                <a:cs typeface="Arial"/>
              </a:defRPr>
            </a:lvl6pPr>
            <a:lvl7pPr algn="l">
              <a:defRPr sz="1800" b="1">
                <a:solidFill>
                  <a:srgbClr val="151312"/>
                </a:solidFill>
                <a:latin typeface="Arial"/>
                <a:ea typeface="Arial"/>
                <a:cs typeface="Arial"/>
              </a:defRPr>
            </a:lvl7pPr>
            <a:lvl8pPr algn="l">
              <a:defRPr sz="1800" b="1">
                <a:solidFill>
                  <a:srgbClr val="151312"/>
                </a:solidFill>
                <a:latin typeface="Arial"/>
                <a:ea typeface="Arial"/>
                <a:cs typeface="Arial"/>
              </a:defRPr>
            </a:lvl8pPr>
            <a:lvl9pPr algn="l">
              <a:defRPr sz="1800" b="1">
                <a:solidFill>
                  <a:srgbClr val="151312"/>
                </a:solidFill>
                <a:latin typeface="Arial"/>
                <a:ea typeface="Arial"/>
                <a:cs typeface="Arial"/>
              </a:defRPr>
            </a:lvl9pPr>
          </a:lstStyle>
          <a:p xmlns:a="http://schemas.openxmlformats.org/drawingml/2006/main">
            <a:pPr algn="l">
              <a:defRPr sz="1800" b="1">
                <a:solidFill>
                  <a:srgbClr val="151312"/>
                </a:solidFill>
                <a:latin typeface="Arial"/>
                <a:ea typeface="Arial"/>
                <a:cs typeface="Arial"/>
              </a:defRPr>
            </a:pPr>
            <a:r>
              <a:rPr sz="1800" b="1">
                <a:solidFill>
                  <a:srgbClr val="151312"/>
                </a:solidFill>
                <a:latin typeface="Arial"/>
                <a:ea typeface="Arial"/>
                <a:cs typeface="Arial"/>
              </a:rPr>
              <a:t>Refresh and caps</a:t>
            </a:r>
          </a:p>
        </p:txBody>
      </p:sp>
      <p:sp>
        <p:nvSpPr>
          <p:cNvPr id="34" name="">
            <a:extLst xmlns:a="http://schemas.openxmlformats.org/drawingml/2006/main">
              <a:ext uri="{FF2B5EF4-FFF2-40B4-BE49-F238E27FC236}">
                <a16:creationId xmlns:a16="http://schemas.microsoft.com/office/drawing/2014/main" id="{12BAF10A-59BA-4561-AF9E-3FCE108CE89F}"/>
              </a:ext>
            </a:extLst>
          </p:cNvPr>
          <p:cNvSpPr>
            <a:spLocks xmlns:a="http://schemas.openxmlformats.org/drawingml/2006/main" noGrp="1"/>
          </p:cNvSpPr>
          <p:nvPr/>
        </p:nvSpPr>
        <p:spPr>
          <a:xfrm xmlns:a="http://schemas.openxmlformats.org/drawingml/2006/main">
            <a:off x="6248244" y="4991100"/>
            <a:ext cx="2514537"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0">
                <a:solidFill>
                  <a:srgbClr val="45413C"/>
                </a:solidFill>
                <a:latin typeface="Arial"/>
                <a:ea typeface="Arial"/>
                <a:cs typeface="Arial"/>
              </a:defRPr>
            </a:defPPr>
            <a:lvl1pPr algn="l">
              <a:defRPr sz="1260" b="0">
                <a:solidFill>
                  <a:srgbClr val="45413C"/>
                </a:solidFill>
                <a:latin typeface="Arial"/>
                <a:ea typeface="Arial"/>
                <a:cs typeface="Arial"/>
              </a:defRPr>
            </a:lvl1pPr>
            <a:lvl2pPr algn="l">
              <a:defRPr sz="1260" b="0">
                <a:solidFill>
                  <a:srgbClr val="45413C"/>
                </a:solidFill>
                <a:latin typeface="Arial"/>
                <a:ea typeface="Arial"/>
                <a:cs typeface="Arial"/>
              </a:defRPr>
            </a:lvl2pPr>
            <a:lvl3pPr algn="l">
              <a:defRPr sz="1260" b="0">
                <a:solidFill>
                  <a:srgbClr val="45413C"/>
                </a:solidFill>
                <a:latin typeface="Arial"/>
                <a:ea typeface="Arial"/>
                <a:cs typeface="Arial"/>
              </a:defRPr>
            </a:lvl3pPr>
            <a:lvl4pPr algn="l">
              <a:defRPr sz="1260" b="0">
                <a:solidFill>
                  <a:srgbClr val="45413C"/>
                </a:solidFill>
                <a:latin typeface="Arial"/>
                <a:ea typeface="Arial"/>
                <a:cs typeface="Arial"/>
              </a:defRPr>
            </a:lvl4pPr>
            <a:lvl5pPr algn="l">
              <a:defRPr sz="1260" b="0">
                <a:solidFill>
                  <a:srgbClr val="45413C"/>
                </a:solidFill>
                <a:latin typeface="Arial"/>
                <a:ea typeface="Arial"/>
                <a:cs typeface="Arial"/>
              </a:defRPr>
            </a:lvl5pPr>
            <a:lvl6pPr algn="l">
              <a:defRPr sz="1260" b="0">
                <a:solidFill>
                  <a:srgbClr val="45413C"/>
                </a:solidFill>
                <a:latin typeface="Arial"/>
                <a:ea typeface="Arial"/>
                <a:cs typeface="Arial"/>
              </a:defRPr>
            </a:lvl6pPr>
            <a:lvl7pPr algn="l">
              <a:defRPr sz="1260" b="0">
                <a:solidFill>
                  <a:srgbClr val="45413C"/>
                </a:solidFill>
                <a:latin typeface="Arial"/>
                <a:ea typeface="Arial"/>
                <a:cs typeface="Arial"/>
              </a:defRPr>
            </a:lvl7pPr>
            <a:lvl8pPr algn="l">
              <a:defRPr sz="1260" b="0">
                <a:solidFill>
                  <a:srgbClr val="45413C"/>
                </a:solidFill>
                <a:latin typeface="Arial"/>
                <a:ea typeface="Arial"/>
                <a:cs typeface="Arial"/>
              </a:defRPr>
            </a:lvl8pPr>
            <a:lvl9pPr algn="l">
              <a:defRPr sz="1260" b="0">
                <a:solidFill>
                  <a:srgbClr val="45413C"/>
                </a:solidFill>
                <a:latin typeface="Arial"/>
                <a:ea typeface="Arial"/>
                <a:cs typeface="Arial"/>
              </a:defRPr>
            </a:lvl9pPr>
          </a:lstStyle>
          <a:p xmlns:a="http://schemas.openxmlformats.org/drawingml/2006/main">
            <a:pPr algn="l">
              <a:defRPr sz="1260" b="0">
                <a:solidFill>
                  <a:srgbClr val="45413C"/>
                </a:solidFill>
                <a:latin typeface="Arial"/>
                <a:ea typeface="Arial"/>
                <a:cs typeface="Arial"/>
              </a:defRPr>
            </a:pPr>
            <a:r>
              <a:rPr sz="1260" b="0">
                <a:solidFill>
                  <a:srgbClr val="45413C"/>
                </a:solidFill>
                <a:latin typeface="Arial"/>
                <a:ea typeface="Arial"/>
                <a:cs typeface="Arial"/>
              </a:rPr>
              <a:t>Automatic collection and refresh, with spending limits and freshness checks</a:t>
            </a:r>
          </a:p>
        </p:txBody>
      </p:sp>
      <p:sp>
        <p:nvSpPr>
          <p:cNvPr id="35" name="">
            <a:extLst xmlns:a="http://schemas.openxmlformats.org/drawingml/2006/main">
              <a:ext uri="{FF2B5EF4-FFF2-40B4-BE49-F238E27FC236}">
                <a16:creationId xmlns:a16="http://schemas.microsoft.com/office/drawing/2014/main" id="{E890B5C8-EFEF-49BC-A07C-39F7B25C7FFE}"/>
              </a:ext>
            </a:extLst>
          </p:cNvPr>
          <p:cNvSpPr>
            <a:spLocks xmlns:a="http://schemas.openxmlformats.org/drawingml/2006/main" noGrp="1"/>
          </p:cNvSpPr>
          <p:nvPr/>
        </p:nvSpPr>
        <p:spPr>
          <a:xfrm xmlns:a="http://schemas.openxmlformats.org/drawingml/2006/main">
            <a:off x="9067573" y="4152900"/>
            <a:ext cx="2514537"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3DFC9517-E15D-44A5-8C92-DFA8532F0EA2}"/>
              </a:ext>
            </a:extLst>
          </p:cNvPr>
          <p:cNvSpPr>
            <a:spLocks xmlns:a="http://schemas.openxmlformats.org/drawingml/2006/main" noGrp="1"/>
          </p:cNvSpPr>
          <p:nvPr/>
        </p:nvSpPr>
        <p:spPr>
          <a:xfrm xmlns:a="http://schemas.openxmlformats.org/drawingml/2006/main">
            <a:off x="9067573" y="4320540"/>
            <a:ext cx="2514537"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800" b="1">
                <a:solidFill>
                  <a:srgbClr val="151312"/>
                </a:solidFill>
                <a:latin typeface="Arial"/>
                <a:ea typeface="Arial"/>
                <a:cs typeface="Arial"/>
              </a:defRPr>
            </a:defPPr>
            <a:lvl1pPr algn="l">
              <a:defRPr sz="1800" b="1">
                <a:solidFill>
                  <a:srgbClr val="151312"/>
                </a:solidFill>
                <a:latin typeface="Arial"/>
                <a:ea typeface="Arial"/>
                <a:cs typeface="Arial"/>
              </a:defRPr>
            </a:lvl1pPr>
            <a:lvl2pPr algn="l">
              <a:defRPr sz="1800" b="1">
                <a:solidFill>
                  <a:srgbClr val="151312"/>
                </a:solidFill>
                <a:latin typeface="Arial"/>
                <a:ea typeface="Arial"/>
                <a:cs typeface="Arial"/>
              </a:defRPr>
            </a:lvl2pPr>
            <a:lvl3pPr algn="l">
              <a:defRPr sz="1800" b="1">
                <a:solidFill>
                  <a:srgbClr val="151312"/>
                </a:solidFill>
                <a:latin typeface="Arial"/>
                <a:ea typeface="Arial"/>
                <a:cs typeface="Arial"/>
              </a:defRPr>
            </a:lvl3pPr>
            <a:lvl4pPr algn="l">
              <a:defRPr sz="1800" b="1">
                <a:solidFill>
                  <a:srgbClr val="151312"/>
                </a:solidFill>
                <a:latin typeface="Arial"/>
                <a:ea typeface="Arial"/>
                <a:cs typeface="Arial"/>
              </a:defRPr>
            </a:lvl4pPr>
            <a:lvl5pPr algn="l">
              <a:defRPr sz="1800" b="1">
                <a:solidFill>
                  <a:srgbClr val="151312"/>
                </a:solidFill>
                <a:latin typeface="Arial"/>
                <a:ea typeface="Arial"/>
                <a:cs typeface="Arial"/>
              </a:defRPr>
            </a:lvl5pPr>
            <a:lvl6pPr algn="l">
              <a:defRPr sz="1800" b="1">
                <a:solidFill>
                  <a:srgbClr val="151312"/>
                </a:solidFill>
                <a:latin typeface="Arial"/>
                <a:ea typeface="Arial"/>
                <a:cs typeface="Arial"/>
              </a:defRPr>
            </a:lvl6pPr>
            <a:lvl7pPr algn="l">
              <a:defRPr sz="1800" b="1">
                <a:solidFill>
                  <a:srgbClr val="151312"/>
                </a:solidFill>
                <a:latin typeface="Arial"/>
                <a:ea typeface="Arial"/>
                <a:cs typeface="Arial"/>
              </a:defRPr>
            </a:lvl7pPr>
            <a:lvl8pPr algn="l">
              <a:defRPr sz="1800" b="1">
                <a:solidFill>
                  <a:srgbClr val="151312"/>
                </a:solidFill>
                <a:latin typeface="Arial"/>
                <a:ea typeface="Arial"/>
                <a:cs typeface="Arial"/>
              </a:defRPr>
            </a:lvl8pPr>
            <a:lvl9pPr algn="l">
              <a:defRPr sz="1800" b="1">
                <a:solidFill>
                  <a:srgbClr val="151312"/>
                </a:solidFill>
                <a:latin typeface="Arial"/>
                <a:ea typeface="Arial"/>
                <a:cs typeface="Arial"/>
              </a:defRPr>
            </a:lvl9pPr>
          </a:lstStyle>
          <a:p xmlns:a="http://schemas.openxmlformats.org/drawingml/2006/main">
            <a:pPr algn="l">
              <a:defRPr sz="1800" b="1">
                <a:solidFill>
                  <a:srgbClr val="151312"/>
                </a:solidFill>
                <a:latin typeface="Arial"/>
                <a:ea typeface="Arial"/>
                <a:cs typeface="Arial"/>
              </a:defRPr>
            </a:pPr>
            <a:r>
              <a:rPr sz="1800" b="1">
                <a:solidFill>
                  <a:srgbClr val="151312"/>
                </a:solidFill>
                <a:latin typeface="Arial"/>
                <a:ea typeface="Arial"/>
                <a:cs typeface="Arial"/>
              </a:rPr>
              <a:t>Shared store</a:t>
            </a:r>
          </a:p>
        </p:txBody>
      </p:sp>
      <p:sp>
        <p:nvSpPr>
          <p:cNvPr id="37" name="">
            <a:extLst xmlns:a="http://schemas.openxmlformats.org/drawingml/2006/main">
              <a:ext uri="{FF2B5EF4-FFF2-40B4-BE49-F238E27FC236}">
                <a16:creationId xmlns:a16="http://schemas.microsoft.com/office/drawing/2014/main" id="{1C00BBD3-9892-42E8-B626-12AAC786462D}"/>
              </a:ext>
            </a:extLst>
          </p:cNvPr>
          <p:cNvSpPr>
            <a:spLocks xmlns:a="http://schemas.openxmlformats.org/drawingml/2006/main" noGrp="1"/>
          </p:cNvSpPr>
          <p:nvPr/>
        </p:nvSpPr>
        <p:spPr>
          <a:xfrm xmlns:a="http://schemas.openxmlformats.org/drawingml/2006/main">
            <a:off x="9067573" y="4991100"/>
            <a:ext cx="2514537"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0">
                <a:solidFill>
                  <a:srgbClr val="45413C"/>
                </a:solidFill>
                <a:latin typeface="Arial"/>
                <a:ea typeface="Arial"/>
                <a:cs typeface="Arial"/>
              </a:defRPr>
            </a:defPPr>
            <a:lvl1pPr algn="l">
              <a:defRPr sz="1260" b="0">
                <a:solidFill>
                  <a:srgbClr val="45413C"/>
                </a:solidFill>
                <a:latin typeface="Arial"/>
                <a:ea typeface="Arial"/>
                <a:cs typeface="Arial"/>
              </a:defRPr>
            </a:lvl1pPr>
            <a:lvl2pPr algn="l">
              <a:defRPr sz="1260" b="0">
                <a:solidFill>
                  <a:srgbClr val="45413C"/>
                </a:solidFill>
                <a:latin typeface="Arial"/>
                <a:ea typeface="Arial"/>
                <a:cs typeface="Arial"/>
              </a:defRPr>
            </a:lvl2pPr>
            <a:lvl3pPr algn="l">
              <a:defRPr sz="1260" b="0">
                <a:solidFill>
                  <a:srgbClr val="45413C"/>
                </a:solidFill>
                <a:latin typeface="Arial"/>
                <a:ea typeface="Arial"/>
                <a:cs typeface="Arial"/>
              </a:defRPr>
            </a:lvl3pPr>
            <a:lvl4pPr algn="l">
              <a:defRPr sz="1260" b="0">
                <a:solidFill>
                  <a:srgbClr val="45413C"/>
                </a:solidFill>
                <a:latin typeface="Arial"/>
                <a:ea typeface="Arial"/>
                <a:cs typeface="Arial"/>
              </a:defRPr>
            </a:lvl4pPr>
            <a:lvl5pPr algn="l">
              <a:defRPr sz="1260" b="0">
                <a:solidFill>
                  <a:srgbClr val="45413C"/>
                </a:solidFill>
                <a:latin typeface="Arial"/>
                <a:ea typeface="Arial"/>
                <a:cs typeface="Arial"/>
              </a:defRPr>
            </a:lvl5pPr>
            <a:lvl6pPr algn="l">
              <a:defRPr sz="1260" b="0">
                <a:solidFill>
                  <a:srgbClr val="45413C"/>
                </a:solidFill>
                <a:latin typeface="Arial"/>
                <a:ea typeface="Arial"/>
                <a:cs typeface="Arial"/>
              </a:defRPr>
            </a:lvl6pPr>
            <a:lvl7pPr algn="l">
              <a:defRPr sz="1260" b="0">
                <a:solidFill>
                  <a:srgbClr val="45413C"/>
                </a:solidFill>
                <a:latin typeface="Arial"/>
                <a:ea typeface="Arial"/>
                <a:cs typeface="Arial"/>
              </a:defRPr>
            </a:lvl7pPr>
            <a:lvl8pPr algn="l">
              <a:defRPr sz="1260" b="0">
                <a:solidFill>
                  <a:srgbClr val="45413C"/>
                </a:solidFill>
                <a:latin typeface="Arial"/>
                <a:ea typeface="Arial"/>
                <a:cs typeface="Arial"/>
              </a:defRPr>
            </a:lvl8pPr>
            <a:lvl9pPr algn="l">
              <a:defRPr sz="1260" b="0">
                <a:solidFill>
                  <a:srgbClr val="45413C"/>
                </a:solidFill>
                <a:latin typeface="Arial"/>
                <a:ea typeface="Arial"/>
                <a:cs typeface="Arial"/>
              </a:defRPr>
            </a:lvl9pPr>
          </a:lstStyle>
          <a:p xmlns:a="http://schemas.openxmlformats.org/drawingml/2006/main">
            <a:pPr algn="l">
              <a:defRPr sz="1260" b="0">
                <a:solidFill>
                  <a:srgbClr val="45413C"/>
                </a:solidFill>
                <a:latin typeface="Arial"/>
                <a:ea typeface="Arial"/>
                <a:cs typeface="Arial"/>
              </a:defRPr>
            </a:pPr>
            <a:r>
              <a:rPr sz="1260" b="0">
                <a:solidFill>
                  <a:srgbClr val="45413C"/>
                </a:solidFill>
                <a:latin typeface="Arial"/>
                <a:ea typeface="Arial"/>
                <a:cs typeface="Arial"/>
              </a:rPr>
              <a:t>The unified story and read-only dashboard read the same versioned store</a:t>
            </a:r>
          </a:p>
        </p:txBody>
      </p:sp>
    </p:spTree>
    <p:extLst>
      <p:ext uri="{BB962C8B-B14F-4D97-AF65-F5344CB8AC3E}">
        <p14:creationId xmlns:p14="http://schemas.microsoft.com/office/powerpoint/2010/main" val="1105542283"/>
      </p:ext>
    </p:extLst>
  </p:cSld>
</p:sld>
</file>

<file path=ppt/slides/slide43.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43B2232-A1BA-4C49-98EC-834628AE5B5A}"/>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3D8C3BD7-1B20-4AE3-A2DB-9949AA0204A4}"/>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CONCLUSIONS AND LIMITS</a:t>
            </a:r>
          </a:p>
        </p:txBody>
      </p:sp>
      <p:sp>
        <p:nvSpPr>
          <p:cNvPr id="3" name="">
            <a:extLst xmlns:a="http://schemas.openxmlformats.org/drawingml/2006/main">
              <a:ext uri="{FF2B5EF4-FFF2-40B4-BE49-F238E27FC236}">
                <a16:creationId xmlns:a16="http://schemas.microsoft.com/office/drawing/2014/main" id="{30620CC2-9114-4A27-ACE1-504CB826E12B}"/>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43 / 46</a:t>
            </a:r>
          </a:p>
        </p:txBody>
      </p:sp>
      <p:sp>
        <p:nvSpPr>
          <p:cNvPr id="4" name="">
            <a:extLst xmlns:a="http://schemas.openxmlformats.org/drawingml/2006/main">
              <a:ext uri="{FF2B5EF4-FFF2-40B4-BE49-F238E27FC236}">
                <a16:creationId xmlns:a16="http://schemas.microsoft.com/office/drawing/2014/main" id="{6A211B1C-ABCC-41EE-BD56-AE2E45F5C6ED}"/>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708470D-98CC-4C7E-9590-3D9BF585EA19}"/>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Topic 4 coverage and its limits</a:t>
            </a:r>
          </a:p>
        </p:txBody>
      </p:sp>
      <p:sp>
        <p:nvSpPr>
          <p:cNvPr id="6" name="">
            <a:extLst xmlns:a="http://schemas.openxmlformats.org/drawingml/2006/main">
              <a:ext uri="{FF2B5EF4-FFF2-40B4-BE49-F238E27FC236}">
                <a16:creationId xmlns:a16="http://schemas.microsoft.com/office/drawing/2014/main" id="{E65E69A4-F629-4621-91CF-4055E7375D51}"/>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Seven functional requirements have evidence, with profitability reported honestly</a:t>
            </a:r>
          </a:p>
        </p:txBody>
      </p:sp>
      <p:sp>
        <p:nvSpPr>
          <p:cNvPr id="7" name="">
            <a:extLst xmlns:a="http://schemas.openxmlformats.org/drawingml/2006/main">
              <a:ext uri="{FF2B5EF4-FFF2-40B4-BE49-F238E27FC236}">
                <a16:creationId xmlns:a16="http://schemas.microsoft.com/office/drawing/2014/main" id="{3A1EE4A4-E0A4-4B0D-B837-01634D51AEBF}"/>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95BDD17-7297-4C86-BF72-07A4DCCBBBF9}"/>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docs/ASSIGNMENT.md and docs/BRIEF_AUDIT.md.</a:t>
            </a:r>
          </a:p>
        </p:txBody>
      </p:sp>
      <p:sp>
        <p:nvSpPr>
          <p:cNvPr id="9" name="">
            <a:extLst xmlns:a="http://schemas.openxmlformats.org/drawingml/2006/main">
              <a:ext uri="{FF2B5EF4-FFF2-40B4-BE49-F238E27FC236}">
                <a16:creationId xmlns:a16="http://schemas.microsoft.com/office/drawing/2014/main" id="{BCD4E163-4599-4459-BEEF-40684EF075F6}"/>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61DA731-E846-4F1A-8271-C6EDB7C8C64C}"/>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C549A39-6BC1-479C-A5FC-7ACDED7E3675}"/>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4228C36-7CED-4753-984D-B0A29CD2569D}"/>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4AF1546-48B3-4F3C-B0F8-388CD2FE7154}"/>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graphicFrame>
        <p:nvGraphicFramePr>
          <p:cNvPr id="14" name="">
            <a:extLst xmlns:a="http://schemas.openxmlformats.org/drawingml/2006/main">
              <a:ext uri="{FF2B5EF4-FFF2-40B4-BE49-F238E27FC236}">
                <a16:creationId xmlns:a16="http://schemas.microsoft.com/office/drawing/2014/main" id="{5B2524DA-B9D0-49A4-9461-D1954350F8FB}"/>
              </a:ext>
            </a:extLst>
          </p:cNvPr>
          <p:cNvGraphicFramePr/>
          <p:nvPr/>
        </p:nvGraphicFramePr>
        <p:xfrm>
          <a:off xmlns:a="http://schemas.openxmlformats.org/drawingml/2006/main" x="609585" y="1920240"/>
          <a:ext xmlns:a="http://schemas.openxmlformats.org/drawingml/2006/main" cx="10972526" cy="4251960"/>
        </p:xfrm>
        <a:graphic xmlns:a="http://schemas.openxmlformats.org/drawingml/2006/main">
          <a:graphicData uri="http://schemas.openxmlformats.org/drawingml/2006/table">
            <a:tbl>
              <a:tblPr/>
              <a:tblGrid>
                <a:gridCol w="2666933"/>
                <a:gridCol w="4419489"/>
                <a:gridCol w="3886103"/>
              </a:tblGrid>
              <a:tr h="472440">
                <a:tc>
                  <a:txBody>
                    <a:bodyPr/>
                    <a:lstStyle/>
                    <a:p>
                      <a:pPr algn="l"/>
                      <a:r>
                        <a:rPr sz="1080" b="1">
                          <a:solidFill>
                            <a:srgbClr val="151312"/>
                          </a:solidFill>
                          <a:latin typeface="Arial"/>
                          <a:ea typeface="Arial"/>
                          <a:cs typeface="Arial"/>
                        </a:rPr>
                        <a:t>Requirement</a:t>
                      </a:r>
                    </a:p>
                  </a:txBody>
                  <a:tcPr marL="91440" marR="91440" marT="45720" marB="45720" anchor="ctr">
                    <a:lnL w="0">
                      <a:noFill/>
                    </a:lnL>
                    <a:lnR w="0">
                      <a:noFill/>
                    </a:lnR>
                    <a:lnT w="0">
                      <a:noFill/>
                    </a:lnT>
                    <a:lnB w="0">
                      <a:noFill/>
                    </a:lnB>
                    <a:solidFill>
                      <a:srgbClr val="F3F0E9"/>
                    </a:solidFill>
                  </a:tcPr>
                </a:tc>
                <a:tc>
                  <a:txBody>
                    <a:bodyPr/>
                    <a:lstStyle/>
                    <a:p>
                      <a:pPr algn="l"/>
                      <a:r>
                        <a:rPr sz="1080" b="1">
                          <a:solidFill>
                            <a:srgbClr val="151312"/>
                          </a:solidFill>
                          <a:latin typeface="Arial"/>
                          <a:ea typeface="Arial"/>
                          <a:cs typeface="Arial"/>
                        </a:rPr>
                        <a:t>Delivered evidence</a:t>
                      </a:r>
                    </a:p>
                  </a:txBody>
                  <a:tcPr marL="91440" marR="91440" marT="45720" marB="45720" anchor="ctr">
                    <a:lnR w="0">
                      <a:noFill/>
                    </a:lnR>
                    <a:lnT w="0">
                      <a:noFill/>
                    </a:lnT>
                    <a:lnB w="0">
                      <a:noFill/>
                    </a:lnB>
                    <a:solidFill>
                      <a:srgbClr val="F3F0E9"/>
                    </a:solidFill>
                  </a:tcPr>
                </a:tc>
                <a:tc>
                  <a:txBody>
                    <a:bodyPr/>
                    <a:lstStyle/>
                    <a:p>
                      <a:pPr algn="l"/>
                      <a:r>
                        <a:rPr sz="1080" b="1">
                          <a:solidFill>
                            <a:srgbClr val="151312"/>
                          </a:solidFill>
                          <a:latin typeface="Arial"/>
                          <a:ea typeface="Arial"/>
                          <a:cs typeface="Arial"/>
                        </a:rPr>
                        <a:t>Boundary</a:t>
                      </a:r>
                    </a:p>
                  </a:txBody>
                  <a:tcPr marL="91440" marR="91440" marT="45720" marB="45720" anchor="ctr">
                    <a:lnR w="0">
                      <a:noFill/>
                    </a:lnR>
                    <a:lnT w="0">
                      <a:noFill/>
                    </a:lnT>
                    <a:lnB w="0">
                      <a:noFill/>
                    </a:lnB>
                    <a:solidFill>
                      <a:srgbClr val="F3F0E9"/>
                    </a:solidFill>
                  </a:tcPr>
                </a:tc>
              </a:tr>
              <a:tr h="539931">
                <a:tc>
                  <a:txBody>
                    <a:bodyPr/>
                    <a:lstStyle/>
                    <a:p>
                      <a:pPr algn="l"/>
                      <a:r>
                        <a:rPr sz="1440" b="1">
                          <a:solidFill>
                            <a:srgbClr val="45413C"/>
                          </a:solidFill>
                          <a:latin typeface="Arial"/>
                          <a:ea typeface="Arial"/>
                          <a:cs typeface="Arial"/>
                        </a:rPr>
                        <a:t>Four Fed text types</a:t>
                      </a:r>
                    </a:p>
                  </a:txBody>
                  <a:tcPr marL="91440" marR="91440" marT="45720" marB="45720" anchor="ctr">
                    <a:lnL w="0">
                      <a:noFill/>
                    </a:lnL>
                    <a:lnR w="0">
                      <a:noFill/>
                    </a:lnR>
                    <a:lnB w="0">
                      <a:noFill/>
                    </a:lnB>
                    <a:solidFill>
                      <a:srgbClr val="FFFEFB"/>
                    </a:solidFill>
                  </a:tcPr>
                </a:tc>
                <a:tc>
                  <a:txBody>
                    <a:bodyPr/>
                    <a:lstStyle/>
                    <a:p>
                      <a:pPr algn="l"/>
                      <a:r>
                        <a:rPr sz="1440" b="0">
                          <a:solidFill>
                            <a:srgbClr val="45413C"/>
                          </a:solidFill>
                          <a:latin typeface="Arial"/>
                          <a:ea typeface="Arial"/>
                          <a:cs typeface="Arial"/>
                        </a:rPr>
                        <a:t>1,509 documents</a:t>
                      </a:r>
                    </a:p>
                  </a:txBody>
                  <a:tcPr marL="91440" marR="91440" marT="45720" marB="45720" anchor="ctr">
                    <a:lnR w="0">
                      <a:noFill/>
                    </a:lnR>
                    <a:lnB w="0">
                      <a:noFill/>
                    </a:lnB>
                    <a:solidFill>
                      <a:srgbClr val="FFFEFB"/>
                    </a:solidFill>
                  </a:tcPr>
                </a:tc>
                <a:tc>
                  <a:txBody>
                    <a:bodyPr/>
                    <a:lstStyle/>
                    <a:p>
                      <a:pPr algn="l"/>
                      <a:r>
                        <a:rPr sz="1440" b="0">
                          <a:solidFill>
                            <a:srgbClr val="45413C"/>
                          </a:solidFill>
                          <a:latin typeface="Arial"/>
                          <a:ea typeface="Arial"/>
                          <a:cs typeface="Arial"/>
                        </a:rPr>
                        <a:t>Board speeches only</a:t>
                      </a:r>
                    </a:p>
                  </a:txBody>
                  <a:tcPr marL="91440" marR="91440" marT="45720" marB="45720" anchor="ctr">
                    <a:lnR w="0">
                      <a:noFill/>
                    </a:lnR>
                    <a:lnB w="0">
                      <a:noFill/>
                    </a:lnB>
                    <a:solidFill>
                      <a:srgbClr val="FFFEFB"/>
                    </a:solidFill>
                  </a:tcPr>
                </a:tc>
              </a:tr>
              <a:tr h="539931">
                <a:tc>
                  <a:txBody>
                    <a:bodyPr/>
                    <a:lstStyle/>
                    <a:p>
                      <a:pPr algn="l"/>
                      <a:r>
                        <a:rPr sz="1440" b="1">
                          <a:solidFill>
                            <a:srgbClr val="45413C"/>
                          </a:solidFill>
                          <a:latin typeface="Arial"/>
                          <a:ea typeface="Arial"/>
                          <a:cs typeface="Arial"/>
                        </a:rPr>
                        <a:t>Claude rubric and evidence</a:t>
                      </a:r>
                    </a:p>
                  </a:txBody>
                  <a:tcPr marL="91440" marR="91440" marT="45720" marB="45720" anchor="ctr">
                    <a:lnL w="0">
                      <a:noFill/>
                    </a:lnL>
                    <a:lnR w="0">
                      <a:noFill/>
                    </a:lnR>
                    <a:lnB w="0">
                      <a:noFill/>
                    </a:lnB>
                    <a:solidFill>
                      <a:srgbClr val="FFFEFB"/>
                    </a:solidFill>
                  </a:tcPr>
                </a:tc>
                <a:tc>
                  <a:txBody>
                    <a:bodyPr/>
                    <a:lstStyle/>
                    <a:p>
                      <a:pPr algn="l"/>
                      <a:r>
                        <a:rPr sz="1440" b="0">
                          <a:solidFill>
                            <a:srgbClr val="45413C"/>
                          </a:solidFill>
                          <a:latin typeface="Arial"/>
                          <a:ea typeface="Arial"/>
                          <a:cs typeface="Arial"/>
                        </a:rPr>
                        <a:t>1,509 main readings</a:t>
                      </a:r>
                    </a:p>
                  </a:txBody>
                  <a:tcPr marL="91440" marR="91440" marT="45720" marB="45720" anchor="ctr">
                    <a:lnR w="0">
                      <a:noFill/>
                    </a:lnR>
                    <a:lnB w="0">
                      <a:noFill/>
                    </a:lnB>
                    <a:solidFill>
                      <a:srgbClr val="FFFEFB"/>
                    </a:solidFill>
                  </a:tcPr>
                </a:tc>
                <a:tc>
                  <a:txBody>
                    <a:bodyPr/>
                    <a:lstStyle/>
                    <a:p>
                      <a:pPr algn="l"/>
                      <a:r>
                        <a:rPr sz="1440" b="0">
                          <a:solidFill>
                            <a:srgbClr val="45413C"/>
                          </a:solidFill>
                          <a:latin typeface="Arial"/>
                          <a:ea typeface="Arial"/>
                          <a:cs typeface="Arial"/>
                        </a:rPr>
                        <a:t>Recognition remains possible</a:t>
                      </a:r>
                    </a:p>
                  </a:txBody>
                  <a:tcPr marL="91440" marR="91440" marT="45720" marB="45720" anchor="ctr">
                    <a:lnR w="0">
                      <a:noFill/>
                    </a:lnR>
                    <a:lnB w="0">
                      <a:noFill/>
                    </a:lnB>
                    <a:solidFill>
                      <a:srgbClr val="FFFEFB"/>
                    </a:solidFill>
                  </a:tcPr>
                </a:tc>
              </a:tr>
              <a:tr h="539931">
                <a:tc>
                  <a:txBody>
                    <a:bodyPr/>
                    <a:lstStyle/>
                    <a:p>
                      <a:pPr algn="l"/>
                      <a:r>
                        <a:rPr sz="1440" b="1">
                          <a:solidFill>
                            <a:srgbClr val="45413C"/>
                          </a:solidFill>
                          <a:latin typeface="Arial"/>
                          <a:ea typeface="Arial"/>
                          <a:cs typeface="Arial"/>
                        </a:rPr>
                        <a:t>Simpler text baselines</a:t>
                      </a:r>
                    </a:p>
                  </a:txBody>
                  <a:tcPr marL="91440" marR="91440" marT="45720" marB="45720" anchor="ctr">
                    <a:lnL w="0">
                      <a:noFill/>
                    </a:lnL>
                    <a:lnR w="0">
                      <a:noFill/>
                    </a:lnR>
                    <a:lnB w="0">
                      <a:noFill/>
                    </a:lnB>
                    <a:solidFill>
                      <a:srgbClr val="FFFEFB"/>
                    </a:solidFill>
                  </a:tcPr>
                </a:tc>
                <a:tc>
                  <a:txBody>
                    <a:bodyPr/>
                    <a:lstStyle/>
                    <a:p>
                      <a:pPr algn="l"/>
                      <a:r>
                        <a:rPr sz="1440" b="0">
                          <a:solidFill>
                            <a:srgbClr val="45413C"/>
                          </a:solidFill>
                          <a:latin typeface="Arial"/>
                          <a:ea typeface="Arial"/>
                          <a:cs typeface="Arial"/>
                        </a:rPr>
                        <a:t>Dictionary, TF-IDF, embeddings</a:t>
                      </a:r>
                    </a:p>
                  </a:txBody>
                  <a:tcPr marL="91440" marR="91440" marT="45720" marB="45720" anchor="ctr">
                    <a:lnR w="0">
                      <a:noFill/>
                    </a:lnR>
                    <a:lnB w="0">
                      <a:noFill/>
                    </a:lnB>
                    <a:solidFill>
                      <a:srgbClr val="FFFEFB"/>
                    </a:solidFill>
                  </a:tcPr>
                </a:tc>
                <a:tc>
                  <a:txBody>
                    <a:bodyPr/>
                    <a:lstStyle/>
                    <a:p>
                      <a:pPr algn="l"/>
                      <a:r>
                        <a:rPr sz="1440" b="0">
                          <a:solidFill>
                            <a:srgbClr val="45413C"/>
                          </a:solidFill>
                          <a:latin typeface="Arial"/>
                          <a:ea typeface="Arial"/>
                          <a:cs typeface="Arial"/>
                        </a:rPr>
                        <a:t>Public expert labels</a:t>
                      </a:r>
                    </a:p>
                  </a:txBody>
                  <a:tcPr marL="91440" marR="91440" marT="45720" marB="45720" anchor="ctr">
                    <a:lnR w="0">
                      <a:noFill/>
                    </a:lnR>
                    <a:lnB w="0">
                      <a:noFill/>
                    </a:lnB>
                    <a:solidFill>
                      <a:srgbClr val="FFFEFB"/>
                    </a:solidFill>
                  </a:tcPr>
                </a:tc>
              </a:tr>
              <a:tr h="539931">
                <a:tc>
                  <a:txBody>
                    <a:bodyPr/>
                    <a:lstStyle/>
                    <a:p>
                      <a:pPr algn="l"/>
                      <a:r>
                        <a:rPr sz="1440" b="1">
                          <a:solidFill>
                            <a:srgbClr val="45413C"/>
                          </a:solidFill>
                          <a:latin typeface="Arial"/>
                          <a:ea typeface="Arial"/>
                          <a:cs typeface="Arial"/>
                        </a:rPr>
                        <a:t>Treasury curve test</a:t>
                      </a:r>
                    </a:p>
                  </a:txBody>
                  <a:tcPr marL="91440" marR="91440" marT="45720" marB="45720" anchor="ctr">
                    <a:lnL w="0">
                      <a:noFill/>
                    </a:lnL>
                    <a:lnR w="0">
                      <a:noFill/>
                    </a:lnR>
                    <a:lnB w="0">
                      <a:noFill/>
                    </a:lnB>
                    <a:solidFill>
                      <a:srgbClr val="FFFEFB"/>
                    </a:solidFill>
                  </a:tcPr>
                </a:tc>
                <a:tc>
                  <a:txBody>
                    <a:bodyPr/>
                    <a:lstStyle/>
                    <a:p>
                      <a:pPr algn="l"/>
                      <a:r>
                        <a:rPr sz="1440" b="0">
                          <a:solidFill>
                            <a:srgbClr val="45413C"/>
                          </a:solidFill>
                          <a:latin typeface="Arial"/>
                          <a:ea typeface="Arial"/>
                          <a:cs typeface="Arial"/>
                        </a:rPr>
                        <a:t>3m, 2y, 5y, 10y and 30y</a:t>
                      </a:r>
                    </a:p>
                  </a:txBody>
                  <a:tcPr marL="91440" marR="91440" marT="45720" marB="45720" anchor="ctr">
                    <a:lnR w="0">
                      <a:noFill/>
                    </a:lnR>
                    <a:lnB w="0">
                      <a:noFill/>
                    </a:lnB>
                    <a:solidFill>
                      <a:srgbClr val="FFFEFB"/>
                    </a:solidFill>
                  </a:tcPr>
                </a:tc>
                <a:tc>
                  <a:txBody>
                    <a:bodyPr/>
                    <a:lstStyle/>
                    <a:p>
                      <a:pPr algn="l"/>
                      <a:r>
                        <a:rPr sz="1440" b="0">
                          <a:solidFill>
                            <a:srgbClr val="45413C"/>
                          </a:solidFill>
                          <a:latin typeface="Arial"/>
                          <a:ea typeface="Arial"/>
                          <a:cs typeface="Arial"/>
                        </a:rPr>
                        <a:t>Treasury fallback disclosed</a:t>
                      </a:r>
                    </a:p>
                  </a:txBody>
                  <a:tcPr marL="91440" marR="91440" marT="45720" marB="45720" anchor="ctr">
                    <a:lnR w="0">
                      <a:noFill/>
                    </a:lnR>
                    <a:lnB w="0">
                      <a:noFill/>
                    </a:lnB>
                    <a:solidFill>
                      <a:srgbClr val="FFFEFB"/>
                    </a:solidFill>
                  </a:tcPr>
                </a:tc>
              </a:tr>
              <a:tr h="539931">
                <a:tc>
                  <a:txBody>
                    <a:bodyPr/>
                    <a:lstStyle/>
                    <a:p>
                      <a:pPr algn="l"/>
                      <a:r>
                        <a:rPr sz="1440" b="1">
                          <a:solidFill>
                            <a:srgbClr val="45413C"/>
                          </a:solidFill>
                          <a:latin typeface="Arial"/>
                          <a:ea typeface="Arial"/>
                          <a:cs typeface="Arial"/>
                        </a:rPr>
                        <a:t>Bond portfolio duration tilt</a:t>
                      </a:r>
                    </a:p>
                  </a:txBody>
                  <a:tcPr marL="91440" marR="91440" marT="45720" marB="45720" anchor="ctr">
                    <a:lnL w="0">
                      <a:noFill/>
                    </a:lnL>
                    <a:lnR w="0">
                      <a:noFill/>
                    </a:lnR>
                    <a:lnB w="0">
                      <a:noFill/>
                    </a:lnB>
                    <a:solidFill>
                      <a:srgbClr val="FFFEFB"/>
                    </a:solidFill>
                  </a:tcPr>
                </a:tc>
                <a:tc>
                  <a:txBody>
                    <a:bodyPr/>
                    <a:lstStyle/>
                    <a:p>
                      <a:pPr algn="l"/>
                      <a:r>
                        <a:rPr sz="1440" b="0">
                          <a:solidFill>
                            <a:srgbClr val="45413C"/>
                          </a:solidFill>
                          <a:latin typeface="Arial"/>
                          <a:ea typeface="Arial"/>
                          <a:cs typeface="Arial"/>
                        </a:rPr>
                        <a:t>116 variants, AGG / IEI</a:t>
                      </a:r>
                    </a:p>
                  </a:txBody>
                  <a:tcPr marL="91440" marR="91440" marT="45720" marB="45720" anchor="ctr">
                    <a:lnR w="0">
                      <a:noFill/>
                    </a:lnR>
                    <a:lnB w="0">
                      <a:noFill/>
                    </a:lnB>
                    <a:solidFill>
                      <a:srgbClr val="FFFEFB"/>
                    </a:solidFill>
                  </a:tcPr>
                </a:tc>
                <a:tc>
                  <a:txBody>
                    <a:bodyPr/>
                    <a:lstStyle/>
                    <a:p>
                      <a:pPr algn="l"/>
                      <a:r>
                        <a:rPr sz="1440" b="0">
                          <a:solidFill>
                            <a:srgbClr val="45413C"/>
                          </a:solidFill>
                          <a:latin typeface="Arial"/>
                          <a:ea typeface="Arial"/>
                          <a:cs typeface="Arial"/>
                        </a:rPr>
                        <a:t>Fixed risk assumptions</a:t>
                      </a:r>
                    </a:p>
                  </a:txBody>
                  <a:tcPr marL="91440" marR="91440" marT="45720" marB="45720" anchor="ctr">
                    <a:lnR w="0">
                      <a:noFill/>
                    </a:lnR>
                    <a:lnB w="0">
                      <a:noFill/>
                    </a:lnB>
                    <a:solidFill>
                      <a:srgbClr val="FFFEFB"/>
                    </a:solidFill>
                  </a:tcPr>
                </a:tc>
              </a:tr>
              <a:tr h="539931">
                <a:tc>
                  <a:txBody>
                    <a:bodyPr/>
                    <a:lstStyle/>
                    <a:p>
                      <a:pPr algn="l"/>
                      <a:r>
                        <a:rPr sz="1440" b="1">
                          <a:solidFill>
                            <a:srgbClr val="45413C"/>
                          </a:solidFill>
                          <a:latin typeface="Arial"/>
                          <a:ea typeface="Arial"/>
                          <a:cs typeface="Arial"/>
                        </a:rPr>
                        <a:t>Release-time backtest</a:t>
                      </a:r>
                    </a:p>
                  </a:txBody>
                  <a:tcPr marL="91440" marR="91440" marT="45720" marB="45720" anchor="ctr">
                    <a:lnL w="0">
                      <a:noFill/>
                    </a:lnL>
                    <a:lnR w="0">
                      <a:noFill/>
                    </a:lnR>
                    <a:lnB w="0">
                      <a:noFill/>
                    </a:lnB>
                    <a:solidFill>
                      <a:srgbClr val="FFFEFB"/>
                    </a:solidFill>
                  </a:tcPr>
                </a:tc>
                <a:tc>
                  <a:txBody>
                    <a:bodyPr/>
                    <a:lstStyle/>
                    <a:p>
                      <a:pPr algn="l"/>
                      <a:r>
                        <a:rPr sz="1440" b="0">
                          <a:solidFill>
                            <a:srgbClr val="45413C"/>
                          </a:solidFill>
                          <a:latin typeface="Arial"/>
                          <a:ea typeface="Arial"/>
                          <a:cs typeface="Arial"/>
                        </a:rPr>
                        <a:t>Delayed entry, costs, placebos</a:t>
                      </a:r>
                    </a:p>
                  </a:txBody>
                  <a:tcPr marL="91440" marR="91440" marT="45720" marB="45720" anchor="ctr">
                    <a:lnR w="0">
                      <a:noFill/>
                    </a:lnR>
                    <a:lnB w="0">
                      <a:noFill/>
                    </a:lnB>
                    <a:solidFill>
                      <a:srgbClr val="FFFEFB"/>
                    </a:solidFill>
                  </a:tcPr>
                </a:tc>
                <a:tc>
                  <a:txBody>
                    <a:bodyPr/>
                    <a:lstStyle/>
                    <a:p>
                      <a:pPr algn="l"/>
                      <a:r>
                        <a:rPr sz="1440" b="0">
                          <a:solidFill>
                            <a:srgbClr val="45413C"/>
                          </a:solidFill>
                          <a:latin typeface="Arial"/>
                          <a:ea typeface="Arial"/>
                          <a:cs typeface="Arial"/>
                        </a:rPr>
                        <a:t>Daily data, not ticks</a:t>
                      </a:r>
                    </a:p>
                  </a:txBody>
                  <a:tcPr marL="91440" marR="91440" marT="45720" marB="45720" anchor="ctr">
                    <a:lnR w="0">
                      <a:noFill/>
                    </a:lnR>
                    <a:lnB w="0">
                      <a:noFill/>
                    </a:lnB>
                    <a:solidFill>
                      <a:srgbClr val="FFFEFB"/>
                    </a:solidFill>
                  </a:tcPr>
                </a:tc>
              </a:tr>
              <a:tr h="539931">
                <a:tc>
                  <a:txBody>
                    <a:bodyPr/>
                    <a:lstStyle/>
                    <a:p>
                      <a:pPr algn="l"/>
                      <a:r>
                        <a:rPr sz="1440" b="1">
                          <a:solidFill>
                            <a:srgbClr val="45413C"/>
                          </a:solidFill>
                          <a:latin typeface="Arial"/>
                          <a:ea typeface="Arial"/>
                          <a:cs typeface="Arial"/>
                        </a:rPr>
                        <a:t>Minutes, speeches and shifts</a:t>
                      </a:r>
                    </a:p>
                  </a:txBody>
                  <a:tcPr marL="91440" marR="91440" marT="45720" marB="45720" anchor="ctr">
                    <a:lnL w="0">
                      <a:noFill/>
                    </a:lnL>
                    <a:lnR w="0">
                      <a:noFill/>
                    </a:lnR>
                    <a:lnB w="0">
                      <a:noFill/>
                    </a:lnB>
                    <a:solidFill>
                      <a:srgbClr val="FFFEFB"/>
                    </a:solidFill>
                  </a:tcPr>
                </a:tc>
                <a:tc>
                  <a:txBody>
                    <a:bodyPr/>
                    <a:lstStyle/>
                    <a:p>
                      <a:pPr algn="l"/>
                      <a:r>
                        <a:rPr sz="1440" b="0">
                          <a:solidFill>
                            <a:srgbClr val="45413C"/>
                          </a:solidFill>
                          <a:latin typeface="Arial"/>
                          <a:ea typeface="Arial"/>
                          <a:cs typeface="Arial"/>
                        </a:rPr>
                        <a:t>Primary and exploratory tests</a:t>
                      </a:r>
                    </a:p>
                  </a:txBody>
                  <a:tcPr marL="91440" marR="91440" marT="45720" marB="45720" anchor="ctr">
                    <a:lnR w="0">
                      <a:noFill/>
                    </a:lnR>
                    <a:lnB w="0">
                      <a:noFill/>
                    </a:lnB>
                    <a:solidFill>
                      <a:srgbClr val="FFFEFB"/>
                    </a:solidFill>
                  </a:tcPr>
                </a:tc>
                <a:tc>
                  <a:txBody>
                    <a:bodyPr/>
                    <a:lstStyle/>
                    <a:p>
                      <a:pPr algn="l"/>
                      <a:r>
                        <a:rPr sz="1440" b="0">
                          <a:solidFill>
                            <a:srgbClr val="45413C"/>
                          </a:solidFill>
                          <a:latin typeface="Arial"/>
                          <a:ea typeface="Arial"/>
                          <a:cs typeface="Arial"/>
                        </a:rPr>
                        <a:t>No reliable H3 edge</a:t>
                      </a:r>
                    </a:p>
                  </a:txBody>
                  <a:tcPr marL="91440" marR="91440" marT="45720" marB="45720" anchor="ctr">
                    <a:lnR w="0">
                      <a:noFill/>
                    </a:lnR>
                    <a:lnB w="0">
                      <a:noFill/>
                    </a:lnB>
                    <a:solidFill>
                      <a:srgbClr val="FFFEFB"/>
                    </a:solidFill>
                  </a:tcPr>
                </a:tc>
              </a:tr>
            </a:tbl>
          </a:graphicData>
        </a:graphic>
      </p:graphicFrame>
      <p:sp>
        <p:nvSpPr>
          <p:cNvPr id="15" name="">
            <a:extLst xmlns:a="http://schemas.openxmlformats.org/drawingml/2006/main">
              <a:ext uri="{FF2B5EF4-FFF2-40B4-BE49-F238E27FC236}">
                <a16:creationId xmlns:a16="http://schemas.microsoft.com/office/drawing/2014/main" id="{151B9193-34D8-4266-97C4-7CE634DF1DDF}"/>
              </a:ext>
            </a:extLst>
          </p:cNvPr>
          <p:cNvSpPr>
            <a:spLocks xmlns:a="http://schemas.openxmlformats.org/drawingml/2006/main" noGrp="1"/>
          </p:cNvSpPr>
          <p:nvPr/>
        </p:nvSpPr>
        <p:spPr>
          <a:xfrm xmlns:a="http://schemas.openxmlformats.org/drawingml/2006/main">
            <a:off x="609585" y="2392680"/>
            <a:ext cx="10972526" cy="1143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6981BCC-8044-46FA-9D6E-880EB6A08B90}"/>
              </a:ext>
            </a:extLst>
          </p:cNvPr>
          <p:cNvSpPr>
            <a:spLocks xmlns:a="http://schemas.openxmlformats.org/drawingml/2006/main" noGrp="1"/>
          </p:cNvSpPr>
          <p:nvPr/>
        </p:nvSpPr>
        <p:spPr>
          <a:xfrm xmlns:a="http://schemas.openxmlformats.org/drawingml/2006/main">
            <a:off x="609585" y="2932611"/>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D23EC96-CE35-47ED-B72A-856BDEB6EEE7}"/>
              </a:ext>
            </a:extLst>
          </p:cNvPr>
          <p:cNvSpPr>
            <a:spLocks xmlns:a="http://schemas.openxmlformats.org/drawingml/2006/main" noGrp="1"/>
          </p:cNvSpPr>
          <p:nvPr/>
        </p:nvSpPr>
        <p:spPr>
          <a:xfrm xmlns:a="http://schemas.openxmlformats.org/drawingml/2006/main">
            <a:off x="609585" y="3472543"/>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3FC7720-F344-4E7E-8B73-5A1C4835D94F}"/>
              </a:ext>
            </a:extLst>
          </p:cNvPr>
          <p:cNvSpPr>
            <a:spLocks xmlns:a="http://schemas.openxmlformats.org/drawingml/2006/main" noGrp="1"/>
          </p:cNvSpPr>
          <p:nvPr/>
        </p:nvSpPr>
        <p:spPr>
          <a:xfrm xmlns:a="http://schemas.openxmlformats.org/drawingml/2006/main">
            <a:off x="609585" y="4012474"/>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C0CE8C1-F46A-4E66-A8AA-3CC7EA67EB87}"/>
              </a:ext>
            </a:extLst>
          </p:cNvPr>
          <p:cNvSpPr>
            <a:spLocks xmlns:a="http://schemas.openxmlformats.org/drawingml/2006/main" noGrp="1"/>
          </p:cNvSpPr>
          <p:nvPr/>
        </p:nvSpPr>
        <p:spPr>
          <a:xfrm xmlns:a="http://schemas.openxmlformats.org/drawingml/2006/main">
            <a:off x="609585" y="4552406"/>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C530691-7D9B-473E-BE67-8CD5208D5B55}"/>
              </a:ext>
            </a:extLst>
          </p:cNvPr>
          <p:cNvSpPr>
            <a:spLocks xmlns:a="http://schemas.openxmlformats.org/drawingml/2006/main" noGrp="1"/>
          </p:cNvSpPr>
          <p:nvPr/>
        </p:nvSpPr>
        <p:spPr>
          <a:xfrm xmlns:a="http://schemas.openxmlformats.org/drawingml/2006/main">
            <a:off x="609585" y="5092337"/>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6B302A4-B09F-4608-9B94-4F36C8600CA6}"/>
              </a:ext>
            </a:extLst>
          </p:cNvPr>
          <p:cNvSpPr>
            <a:spLocks xmlns:a="http://schemas.openxmlformats.org/drawingml/2006/main" noGrp="1"/>
          </p:cNvSpPr>
          <p:nvPr/>
        </p:nvSpPr>
        <p:spPr>
          <a:xfrm xmlns:a="http://schemas.openxmlformats.org/drawingml/2006/main">
            <a:off x="609585" y="5632269"/>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B56BCDF-8782-4127-B8E7-35E8A258E968}"/>
              </a:ext>
            </a:extLst>
          </p:cNvPr>
          <p:cNvSpPr>
            <a:spLocks xmlns:a="http://schemas.openxmlformats.org/drawingml/2006/main" noGrp="1"/>
          </p:cNvSpPr>
          <p:nvPr/>
        </p:nvSpPr>
        <p:spPr>
          <a:xfrm xmlns:a="http://schemas.openxmlformats.org/drawingml/2006/main">
            <a:off x="609585" y="6172200"/>
            <a:ext cx="10972526" cy="5334"/>
          </a:xfrm>
          <a:prstGeom xmlns:a="http://schemas.openxmlformats.org/drawingml/2006/main" prst="rect">
            <a:avLst/>
          </a:prstGeom>
          <a:solidFill xmlns:a="http://schemas.openxmlformats.org/drawingml/2006/main">
            <a:srgbClr val="DDD8CF"/>
          </a:solidFill>
          <a:ln xmlns:a="http://schemas.openxmlformats.org/drawingml/2006/main" w="0">
            <a:noFill/>
          </a:ln>
        </p:spPr>
      </p:sp>
    </p:spTree>
    <p:extLst>
      <p:ext uri="{BB962C8B-B14F-4D97-AF65-F5344CB8AC3E}">
        <p14:creationId xmlns:p14="http://schemas.microsoft.com/office/powerpoint/2010/main" val="927869438"/>
      </p:ext>
    </p:extLst>
  </p:cSld>
</p:sld>
</file>

<file path=ppt/slides/slide44.xml><?xml version="1.0" encoding="utf-8"?>
<p:sld xmlns:p="http://schemas.openxmlformats.org/presentationml/2006/main">
  <p:cSld>
    <p:bg>
      <p:bgPr>
        <a:solidFill xmlns:a="http://schemas.openxmlformats.org/drawingml/2006/main">
          <a:srgbClr val="F1ECE2"/>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771FE5D-5D36-4E7B-9DC1-7FB146F8D0A6}"/>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AB1D36E9-244D-4CA4-83B9-9A36D165A513}"/>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CONCLUSIONS AND LIMITS</a:t>
            </a:r>
          </a:p>
        </p:txBody>
      </p:sp>
      <p:sp>
        <p:nvSpPr>
          <p:cNvPr id="3" name="">
            <a:extLst xmlns:a="http://schemas.openxmlformats.org/drawingml/2006/main">
              <a:ext uri="{FF2B5EF4-FFF2-40B4-BE49-F238E27FC236}">
                <a16:creationId xmlns:a16="http://schemas.microsoft.com/office/drawing/2014/main" id="{4704D9EF-1666-423E-AE8C-DF2671242634}"/>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44 / 46</a:t>
            </a:r>
          </a:p>
        </p:txBody>
      </p:sp>
      <p:sp>
        <p:nvSpPr>
          <p:cNvPr id="4" name="">
            <a:extLst xmlns:a="http://schemas.openxmlformats.org/drawingml/2006/main">
              <a:ext uri="{FF2B5EF4-FFF2-40B4-BE49-F238E27FC236}">
                <a16:creationId xmlns:a16="http://schemas.microsoft.com/office/drawing/2014/main" id="{2A766EA9-8A01-4BA5-AE41-4D1F1621892A}"/>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A68BCD3-47B8-4C97-BDE6-CC8D633C43A4}"/>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Three things a rates desk can use</a:t>
            </a:r>
          </a:p>
        </p:txBody>
      </p:sp>
      <p:sp>
        <p:nvSpPr>
          <p:cNvPr id="6" name="">
            <a:extLst xmlns:a="http://schemas.openxmlformats.org/drawingml/2006/main">
              <a:ext uri="{FF2B5EF4-FFF2-40B4-BE49-F238E27FC236}">
                <a16:creationId xmlns:a16="http://schemas.microsoft.com/office/drawing/2014/main" id="{E15E26CF-5D37-4643-A84C-D46371738B44}"/>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What the evidence supports, and how to use it</a:t>
            </a:r>
          </a:p>
        </p:txBody>
      </p:sp>
      <p:sp>
        <p:nvSpPr>
          <p:cNvPr id="7" name="">
            <a:extLst xmlns:a="http://schemas.openxmlformats.org/drawingml/2006/main">
              <a:ext uri="{FF2B5EF4-FFF2-40B4-BE49-F238E27FC236}">
                <a16:creationId xmlns:a16="http://schemas.microsoft.com/office/drawing/2014/main" id="{C4535C0E-F312-4C97-985B-B033F9D88D5E}"/>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02B27B5-464C-40C3-843D-91DE9FE5DC7B}"/>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Project results, frozen 21 October 2026.</a:t>
            </a:r>
          </a:p>
        </p:txBody>
      </p:sp>
      <p:sp>
        <p:nvSpPr>
          <p:cNvPr id="9" name="">
            <a:extLst xmlns:a="http://schemas.openxmlformats.org/drawingml/2006/main">
              <a:ext uri="{FF2B5EF4-FFF2-40B4-BE49-F238E27FC236}">
                <a16:creationId xmlns:a16="http://schemas.microsoft.com/office/drawing/2014/main" id="{226B4F6B-1C5C-4653-B388-BC19CE747F63}"/>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7C8E68B-C0A3-451B-8BA1-6ACF33B77F56}"/>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F0D510F-D499-48D7-9721-7DD32620F3C5}"/>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5039CA2-811B-4422-9670-8A47B0AF2689}"/>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267305A-0ED3-43D2-A344-17D26CD5E1E3}"/>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D68B9AB-61BF-4F16-92F9-4EB0A8D73BAE}"/>
              </a:ext>
            </a:extLst>
          </p:cNvPr>
          <p:cNvSpPr>
            <a:spLocks xmlns:a="http://schemas.openxmlformats.org/drawingml/2006/main" noGrp="1"/>
          </p:cNvSpPr>
          <p:nvPr/>
        </p:nvSpPr>
        <p:spPr>
          <a:xfrm xmlns:a="http://schemas.openxmlformats.org/drawingml/2006/main">
            <a:off x="609585" y="1920240"/>
            <a:ext cx="3515272" cy="3048000"/>
          </a:xfrm>
          <a:prstGeom xmlns:a="http://schemas.openxmlformats.org/drawingml/2006/main" prst="rect">
            <a:avLst/>
          </a:prstGeom>
          <a:solidFill xmlns:a="http://schemas.openxmlformats.org/drawingml/2006/main">
            <a:srgbClr val="FAF8F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50B72A6-3192-49B1-94C6-B1D45CF6837E}"/>
              </a:ext>
            </a:extLst>
          </p:cNvPr>
          <p:cNvSpPr>
            <a:spLocks xmlns:a="http://schemas.openxmlformats.org/drawingml/2006/main" noGrp="1"/>
          </p:cNvSpPr>
          <p:nvPr/>
        </p:nvSpPr>
        <p:spPr>
          <a:xfrm xmlns:a="http://schemas.openxmlformats.org/drawingml/2006/main">
            <a:off x="609585" y="1920240"/>
            <a:ext cx="3515272" cy="2286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B8C6ABE-B858-445C-A06F-3ECF1DE84DE3}"/>
              </a:ext>
            </a:extLst>
          </p:cNvPr>
          <p:cNvSpPr>
            <a:spLocks xmlns:a="http://schemas.openxmlformats.org/drawingml/2006/main" noGrp="1"/>
          </p:cNvSpPr>
          <p:nvPr/>
        </p:nvSpPr>
        <p:spPr>
          <a:xfrm xmlns:a="http://schemas.openxmlformats.org/drawingml/2006/main">
            <a:off x="807700" y="2103120"/>
            <a:ext cx="3119042"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1">
                <a:solidFill>
                  <a:srgbClr val="C8401F"/>
                </a:solidFill>
                <a:latin typeface="Arial"/>
                <a:ea typeface="Arial"/>
                <a:cs typeface="Arial"/>
              </a:defRPr>
            </a:defPPr>
            <a:lvl1pPr algn="l">
              <a:defRPr sz="1320" b="1">
                <a:solidFill>
                  <a:srgbClr val="C8401F"/>
                </a:solidFill>
                <a:latin typeface="Arial"/>
                <a:ea typeface="Arial"/>
                <a:cs typeface="Arial"/>
              </a:defRPr>
            </a:lvl1pPr>
            <a:lvl2pPr algn="l">
              <a:defRPr sz="1320" b="1">
                <a:solidFill>
                  <a:srgbClr val="C8401F"/>
                </a:solidFill>
                <a:latin typeface="Arial"/>
                <a:ea typeface="Arial"/>
                <a:cs typeface="Arial"/>
              </a:defRPr>
            </a:lvl2pPr>
            <a:lvl3pPr algn="l">
              <a:defRPr sz="1320" b="1">
                <a:solidFill>
                  <a:srgbClr val="C8401F"/>
                </a:solidFill>
                <a:latin typeface="Arial"/>
                <a:ea typeface="Arial"/>
                <a:cs typeface="Arial"/>
              </a:defRPr>
            </a:lvl3pPr>
            <a:lvl4pPr algn="l">
              <a:defRPr sz="1320" b="1">
                <a:solidFill>
                  <a:srgbClr val="C8401F"/>
                </a:solidFill>
                <a:latin typeface="Arial"/>
                <a:ea typeface="Arial"/>
                <a:cs typeface="Arial"/>
              </a:defRPr>
            </a:lvl4pPr>
            <a:lvl5pPr algn="l">
              <a:defRPr sz="1320" b="1">
                <a:solidFill>
                  <a:srgbClr val="C8401F"/>
                </a:solidFill>
                <a:latin typeface="Arial"/>
                <a:ea typeface="Arial"/>
                <a:cs typeface="Arial"/>
              </a:defRPr>
            </a:lvl5pPr>
            <a:lvl6pPr algn="l">
              <a:defRPr sz="1320" b="1">
                <a:solidFill>
                  <a:srgbClr val="C8401F"/>
                </a:solidFill>
                <a:latin typeface="Arial"/>
                <a:ea typeface="Arial"/>
                <a:cs typeface="Arial"/>
              </a:defRPr>
            </a:lvl6pPr>
            <a:lvl7pPr algn="l">
              <a:defRPr sz="1320" b="1">
                <a:solidFill>
                  <a:srgbClr val="C8401F"/>
                </a:solidFill>
                <a:latin typeface="Arial"/>
                <a:ea typeface="Arial"/>
                <a:cs typeface="Arial"/>
              </a:defRPr>
            </a:lvl7pPr>
            <a:lvl8pPr algn="l">
              <a:defRPr sz="1320" b="1">
                <a:solidFill>
                  <a:srgbClr val="C8401F"/>
                </a:solidFill>
                <a:latin typeface="Arial"/>
                <a:ea typeface="Arial"/>
                <a:cs typeface="Arial"/>
              </a:defRPr>
            </a:lvl8pPr>
            <a:lvl9pPr algn="l">
              <a:defRPr sz="1320" b="1">
                <a:solidFill>
                  <a:srgbClr val="C8401F"/>
                </a:solidFill>
                <a:latin typeface="Arial"/>
                <a:ea typeface="Arial"/>
                <a:cs typeface="Arial"/>
              </a:defRPr>
            </a:lvl9pPr>
          </a:lstStyle>
          <a:p xmlns:a="http://schemas.openxmlformats.org/drawingml/2006/main">
            <a:pPr algn="l">
              <a:defRPr sz="1320" b="1">
                <a:solidFill>
                  <a:srgbClr val="C8401F"/>
                </a:solidFill>
                <a:latin typeface="Arial"/>
                <a:ea typeface="Arial"/>
                <a:cs typeface="Arial"/>
              </a:defRPr>
            </a:pPr>
            <a:r>
              <a:rPr sz="1320" b="1">
                <a:solidFill>
                  <a:srgbClr val="C8401F"/>
                </a:solidFill>
                <a:latin typeface="Arial"/>
                <a:ea typeface="Arial"/>
                <a:cs typeface="Arial"/>
              </a:rPr>
              <a:t>01</a:t>
            </a:r>
          </a:p>
        </p:txBody>
      </p:sp>
      <p:sp>
        <p:nvSpPr>
          <p:cNvPr id="17" name="">
            <a:extLst xmlns:a="http://schemas.openxmlformats.org/drawingml/2006/main">
              <a:ext uri="{FF2B5EF4-FFF2-40B4-BE49-F238E27FC236}">
                <a16:creationId xmlns:a16="http://schemas.microsoft.com/office/drawing/2014/main" id="{7496F5DE-9F65-4EB1-A4C9-CB7E535931DA}"/>
              </a:ext>
            </a:extLst>
          </p:cNvPr>
          <p:cNvSpPr>
            <a:spLocks xmlns:a="http://schemas.openxmlformats.org/drawingml/2006/main" noGrp="1"/>
          </p:cNvSpPr>
          <p:nvPr/>
        </p:nvSpPr>
        <p:spPr>
          <a:xfrm xmlns:a="http://schemas.openxmlformats.org/drawingml/2006/main">
            <a:off x="807700" y="2438400"/>
            <a:ext cx="311904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680" b="0">
                <a:solidFill>
                  <a:srgbClr val="151312"/>
                </a:solidFill>
                <a:latin typeface="Georgia"/>
                <a:ea typeface="Georgia"/>
                <a:cs typeface="Georgia"/>
              </a:defRPr>
            </a:defPPr>
            <a:lvl1pPr algn="l">
              <a:defRPr sz="1680" b="0">
                <a:solidFill>
                  <a:srgbClr val="151312"/>
                </a:solidFill>
                <a:latin typeface="Georgia"/>
                <a:ea typeface="Georgia"/>
                <a:cs typeface="Georgia"/>
              </a:defRPr>
            </a:lvl1pPr>
            <a:lvl2pPr algn="l">
              <a:defRPr sz="1680" b="0">
                <a:solidFill>
                  <a:srgbClr val="151312"/>
                </a:solidFill>
                <a:latin typeface="Georgia"/>
                <a:ea typeface="Georgia"/>
                <a:cs typeface="Georgia"/>
              </a:defRPr>
            </a:lvl2pPr>
            <a:lvl3pPr algn="l">
              <a:defRPr sz="1680" b="0">
                <a:solidFill>
                  <a:srgbClr val="151312"/>
                </a:solidFill>
                <a:latin typeface="Georgia"/>
                <a:ea typeface="Georgia"/>
                <a:cs typeface="Georgia"/>
              </a:defRPr>
            </a:lvl3pPr>
            <a:lvl4pPr algn="l">
              <a:defRPr sz="1680" b="0">
                <a:solidFill>
                  <a:srgbClr val="151312"/>
                </a:solidFill>
                <a:latin typeface="Georgia"/>
                <a:ea typeface="Georgia"/>
                <a:cs typeface="Georgia"/>
              </a:defRPr>
            </a:lvl4pPr>
            <a:lvl5pPr algn="l">
              <a:defRPr sz="1680" b="0">
                <a:solidFill>
                  <a:srgbClr val="151312"/>
                </a:solidFill>
                <a:latin typeface="Georgia"/>
                <a:ea typeface="Georgia"/>
                <a:cs typeface="Georgia"/>
              </a:defRPr>
            </a:lvl5pPr>
            <a:lvl6pPr algn="l">
              <a:defRPr sz="1680" b="0">
                <a:solidFill>
                  <a:srgbClr val="151312"/>
                </a:solidFill>
                <a:latin typeface="Georgia"/>
                <a:ea typeface="Georgia"/>
                <a:cs typeface="Georgia"/>
              </a:defRPr>
            </a:lvl6pPr>
            <a:lvl7pPr algn="l">
              <a:defRPr sz="1680" b="0">
                <a:solidFill>
                  <a:srgbClr val="151312"/>
                </a:solidFill>
                <a:latin typeface="Georgia"/>
                <a:ea typeface="Georgia"/>
                <a:cs typeface="Georgia"/>
              </a:defRPr>
            </a:lvl7pPr>
            <a:lvl8pPr algn="l">
              <a:defRPr sz="1680" b="0">
                <a:solidFill>
                  <a:srgbClr val="151312"/>
                </a:solidFill>
                <a:latin typeface="Georgia"/>
                <a:ea typeface="Georgia"/>
                <a:cs typeface="Georgia"/>
              </a:defRPr>
            </a:lvl8pPr>
            <a:lvl9pPr algn="l">
              <a:defRPr sz="1680" b="0">
                <a:solidFill>
                  <a:srgbClr val="151312"/>
                </a:solidFill>
                <a:latin typeface="Georgia"/>
                <a:ea typeface="Georgia"/>
                <a:cs typeface="Georgia"/>
              </a:defRPr>
            </a:lvl9pPr>
          </a:lstStyle>
          <a:p xmlns:a="http://schemas.openxmlformats.org/drawingml/2006/main">
            <a:pPr algn="l">
              <a:defRPr sz="1680" b="0">
                <a:solidFill>
                  <a:srgbClr val="151312"/>
                </a:solidFill>
                <a:latin typeface="Georgia"/>
                <a:ea typeface="Georgia"/>
                <a:cs typeface="Georgia"/>
              </a:defRPr>
            </a:pPr>
            <a:r>
              <a:rPr sz="1680" b="0">
                <a:solidFill>
                  <a:srgbClr val="151312"/>
                </a:solidFill>
                <a:latin typeface="Georgia"/>
                <a:ea typeface="Georgia"/>
                <a:cs typeface="Georgia"/>
              </a:rPr>
              <a:t>Higher agreement on public expert labels</a:t>
            </a:r>
          </a:p>
        </p:txBody>
      </p:sp>
      <p:sp>
        <p:nvSpPr>
          <p:cNvPr id="18" name="">
            <a:extLst xmlns:a="http://schemas.openxmlformats.org/drawingml/2006/main">
              <a:ext uri="{FF2B5EF4-FFF2-40B4-BE49-F238E27FC236}">
                <a16:creationId xmlns:a16="http://schemas.microsoft.com/office/drawing/2014/main" id="{BF1BDDF8-9D1F-42D7-B449-6F41AA2E7BF0}"/>
              </a:ext>
            </a:extLst>
          </p:cNvPr>
          <p:cNvSpPr>
            <a:spLocks xmlns:a="http://schemas.openxmlformats.org/drawingml/2006/main" noGrp="1"/>
          </p:cNvSpPr>
          <p:nvPr/>
        </p:nvSpPr>
        <p:spPr>
          <a:xfrm xmlns:a="http://schemas.openxmlformats.org/drawingml/2006/main">
            <a:off x="807700" y="3154680"/>
            <a:ext cx="3119042" cy="1661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380" b="0">
                <a:solidFill>
                  <a:srgbClr val="45413C"/>
                </a:solidFill>
                <a:latin typeface="Arial"/>
                <a:ea typeface="Arial"/>
                <a:cs typeface="Arial"/>
              </a:defRPr>
            </a:defPPr>
            <a:lvl1pPr algn="l">
              <a:defRPr sz="1380" b="0">
                <a:solidFill>
                  <a:srgbClr val="45413C"/>
                </a:solidFill>
                <a:latin typeface="Arial"/>
                <a:ea typeface="Arial"/>
                <a:cs typeface="Arial"/>
              </a:defRPr>
            </a:lvl1pPr>
            <a:lvl2pPr algn="l">
              <a:defRPr sz="1380" b="0">
                <a:solidFill>
                  <a:srgbClr val="45413C"/>
                </a:solidFill>
                <a:latin typeface="Arial"/>
                <a:ea typeface="Arial"/>
                <a:cs typeface="Arial"/>
              </a:defRPr>
            </a:lvl2pPr>
            <a:lvl3pPr algn="l">
              <a:defRPr sz="1380" b="0">
                <a:solidFill>
                  <a:srgbClr val="45413C"/>
                </a:solidFill>
                <a:latin typeface="Arial"/>
                <a:ea typeface="Arial"/>
                <a:cs typeface="Arial"/>
              </a:defRPr>
            </a:lvl3pPr>
            <a:lvl4pPr algn="l">
              <a:defRPr sz="1380" b="0">
                <a:solidFill>
                  <a:srgbClr val="45413C"/>
                </a:solidFill>
                <a:latin typeface="Arial"/>
                <a:ea typeface="Arial"/>
                <a:cs typeface="Arial"/>
              </a:defRPr>
            </a:lvl4pPr>
            <a:lvl5pPr algn="l">
              <a:defRPr sz="1380" b="0">
                <a:solidFill>
                  <a:srgbClr val="45413C"/>
                </a:solidFill>
                <a:latin typeface="Arial"/>
                <a:ea typeface="Arial"/>
                <a:cs typeface="Arial"/>
              </a:defRPr>
            </a:lvl5pPr>
            <a:lvl6pPr algn="l">
              <a:defRPr sz="1380" b="0">
                <a:solidFill>
                  <a:srgbClr val="45413C"/>
                </a:solidFill>
                <a:latin typeface="Arial"/>
                <a:ea typeface="Arial"/>
                <a:cs typeface="Arial"/>
              </a:defRPr>
            </a:lvl6pPr>
            <a:lvl7pPr algn="l">
              <a:defRPr sz="1380" b="0">
                <a:solidFill>
                  <a:srgbClr val="45413C"/>
                </a:solidFill>
                <a:latin typeface="Arial"/>
                <a:ea typeface="Arial"/>
                <a:cs typeface="Arial"/>
              </a:defRPr>
            </a:lvl7pPr>
            <a:lvl8pPr algn="l">
              <a:defRPr sz="1380" b="0">
                <a:solidFill>
                  <a:srgbClr val="45413C"/>
                </a:solidFill>
                <a:latin typeface="Arial"/>
                <a:ea typeface="Arial"/>
                <a:cs typeface="Arial"/>
              </a:defRPr>
            </a:lvl8pPr>
            <a:lvl9pPr algn="l">
              <a:defRPr sz="1380" b="0">
                <a:solidFill>
                  <a:srgbClr val="45413C"/>
                </a:solidFill>
                <a:latin typeface="Arial"/>
                <a:ea typeface="Arial"/>
                <a:cs typeface="Arial"/>
              </a:defRPr>
            </a:lvl9pPr>
          </a:lstStyle>
          <a:p xmlns:a="http://schemas.openxmlformats.org/drawingml/2006/main">
            <a:pPr algn="l">
              <a:defRPr sz="1380" b="0">
                <a:solidFill>
                  <a:srgbClr val="45413C"/>
                </a:solidFill>
                <a:latin typeface="Arial"/>
                <a:ea typeface="Arial"/>
                <a:cs typeface="Arial"/>
              </a:defRPr>
            </a:pPr>
            <a:r>
              <a:rPr sz="1380" b="0">
                <a:solidFill>
                  <a:srgbClr val="45413C"/>
                </a:solidFill>
                <a:latin typeface="Arial"/>
                <a:ea typeface="Arial"/>
                <a:cs typeface="Arial"/>
              </a:rPr>
              <a:t>Public-label macro-F1 0.66 against 0.58 for the best baseline without task-specific training (trained RoBERTa: 0.74); no post-cutoff human validation was run.</a:t>
            </a:r>
          </a:p>
        </p:txBody>
      </p:sp>
      <p:sp>
        <p:nvSpPr>
          <p:cNvPr id="19" name="">
            <a:extLst xmlns:a="http://schemas.openxmlformats.org/drawingml/2006/main">
              <a:ext uri="{FF2B5EF4-FFF2-40B4-BE49-F238E27FC236}">
                <a16:creationId xmlns:a16="http://schemas.microsoft.com/office/drawing/2014/main" id="{094FC19B-742D-402F-A093-934E106FE12F}"/>
              </a:ext>
            </a:extLst>
          </p:cNvPr>
          <p:cNvSpPr>
            <a:spLocks xmlns:a="http://schemas.openxmlformats.org/drawingml/2006/main" noGrp="1"/>
          </p:cNvSpPr>
          <p:nvPr/>
        </p:nvSpPr>
        <p:spPr>
          <a:xfrm xmlns:a="http://schemas.openxmlformats.org/drawingml/2006/main">
            <a:off x="4338211" y="1920240"/>
            <a:ext cx="3515272" cy="3048000"/>
          </a:xfrm>
          <a:prstGeom xmlns:a="http://schemas.openxmlformats.org/drawingml/2006/main" prst="rect">
            <a:avLst/>
          </a:prstGeom>
          <a:solidFill xmlns:a="http://schemas.openxmlformats.org/drawingml/2006/main">
            <a:srgbClr val="FAF8F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FE51FB1-D005-40E1-8491-82DA756B4892}"/>
              </a:ext>
            </a:extLst>
          </p:cNvPr>
          <p:cNvSpPr>
            <a:spLocks xmlns:a="http://schemas.openxmlformats.org/drawingml/2006/main" noGrp="1"/>
          </p:cNvSpPr>
          <p:nvPr/>
        </p:nvSpPr>
        <p:spPr>
          <a:xfrm xmlns:a="http://schemas.openxmlformats.org/drawingml/2006/main">
            <a:off x="4338211" y="1920240"/>
            <a:ext cx="3515272" cy="2286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F3B8924-7122-4624-841D-799E514EC1E3}"/>
              </a:ext>
            </a:extLst>
          </p:cNvPr>
          <p:cNvSpPr>
            <a:spLocks xmlns:a="http://schemas.openxmlformats.org/drawingml/2006/main" noGrp="1"/>
          </p:cNvSpPr>
          <p:nvPr/>
        </p:nvSpPr>
        <p:spPr>
          <a:xfrm xmlns:a="http://schemas.openxmlformats.org/drawingml/2006/main">
            <a:off x="4536327" y="2103120"/>
            <a:ext cx="3119042"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1">
                <a:solidFill>
                  <a:srgbClr val="C8401F"/>
                </a:solidFill>
                <a:latin typeface="Arial"/>
                <a:ea typeface="Arial"/>
                <a:cs typeface="Arial"/>
              </a:defRPr>
            </a:defPPr>
            <a:lvl1pPr algn="l">
              <a:defRPr sz="1320" b="1">
                <a:solidFill>
                  <a:srgbClr val="C8401F"/>
                </a:solidFill>
                <a:latin typeface="Arial"/>
                <a:ea typeface="Arial"/>
                <a:cs typeface="Arial"/>
              </a:defRPr>
            </a:lvl1pPr>
            <a:lvl2pPr algn="l">
              <a:defRPr sz="1320" b="1">
                <a:solidFill>
                  <a:srgbClr val="C8401F"/>
                </a:solidFill>
                <a:latin typeface="Arial"/>
                <a:ea typeface="Arial"/>
                <a:cs typeface="Arial"/>
              </a:defRPr>
            </a:lvl2pPr>
            <a:lvl3pPr algn="l">
              <a:defRPr sz="1320" b="1">
                <a:solidFill>
                  <a:srgbClr val="C8401F"/>
                </a:solidFill>
                <a:latin typeface="Arial"/>
                <a:ea typeface="Arial"/>
                <a:cs typeface="Arial"/>
              </a:defRPr>
            </a:lvl3pPr>
            <a:lvl4pPr algn="l">
              <a:defRPr sz="1320" b="1">
                <a:solidFill>
                  <a:srgbClr val="C8401F"/>
                </a:solidFill>
                <a:latin typeface="Arial"/>
                <a:ea typeface="Arial"/>
                <a:cs typeface="Arial"/>
              </a:defRPr>
            </a:lvl4pPr>
            <a:lvl5pPr algn="l">
              <a:defRPr sz="1320" b="1">
                <a:solidFill>
                  <a:srgbClr val="C8401F"/>
                </a:solidFill>
                <a:latin typeface="Arial"/>
                <a:ea typeface="Arial"/>
                <a:cs typeface="Arial"/>
              </a:defRPr>
            </a:lvl5pPr>
            <a:lvl6pPr algn="l">
              <a:defRPr sz="1320" b="1">
                <a:solidFill>
                  <a:srgbClr val="C8401F"/>
                </a:solidFill>
                <a:latin typeface="Arial"/>
                <a:ea typeface="Arial"/>
                <a:cs typeface="Arial"/>
              </a:defRPr>
            </a:lvl6pPr>
            <a:lvl7pPr algn="l">
              <a:defRPr sz="1320" b="1">
                <a:solidFill>
                  <a:srgbClr val="C8401F"/>
                </a:solidFill>
                <a:latin typeface="Arial"/>
                <a:ea typeface="Arial"/>
                <a:cs typeface="Arial"/>
              </a:defRPr>
            </a:lvl7pPr>
            <a:lvl8pPr algn="l">
              <a:defRPr sz="1320" b="1">
                <a:solidFill>
                  <a:srgbClr val="C8401F"/>
                </a:solidFill>
                <a:latin typeface="Arial"/>
                <a:ea typeface="Arial"/>
                <a:cs typeface="Arial"/>
              </a:defRPr>
            </a:lvl8pPr>
            <a:lvl9pPr algn="l">
              <a:defRPr sz="1320" b="1">
                <a:solidFill>
                  <a:srgbClr val="C8401F"/>
                </a:solidFill>
                <a:latin typeface="Arial"/>
                <a:ea typeface="Arial"/>
                <a:cs typeface="Arial"/>
              </a:defRPr>
            </a:lvl9pPr>
          </a:lstStyle>
          <a:p xmlns:a="http://schemas.openxmlformats.org/drawingml/2006/main">
            <a:pPr algn="l">
              <a:defRPr sz="1320" b="1">
                <a:solidFill>
                  <a:srgbClr val="C8401F"/>
                </a:solidFill>
                <a:latin typeface="Arial"/>
                <a:ea typeface="Arial"/>
                <a:cs typeface="Arial"/>
              </a:defRPr>
            </a:pPr>
            <a:r>
              <a:rPr sz="1320" b="1">
                <a:solidFill>
                  <a:srgbClr val="C8401F"/>
                </a:solidFill>
                <a:latin typeface="Arial"/>
                <a:ea typeface="Arial"/>
                <a:cs typeface="Arial"/>
              </a:rPr>
              <a:t>02</a:t>
            </a:r>
          </a:p>
        </p:txBody>
      </p:sp>
      <p:sp>
        <p:nvSpPr>
          <p:cNvPr id="22" name="">
            <a:extLst xmlns:a="http://schemas.openxmlformats.org/drawingml/2006/main">
              <a:ext uri="{FF2B5EF4-FFF2-40B4-BE49-F238E27FC236}">
                <a16:creationId xmlns:a16="http://schemas.microsoft.com/office/drawing/2014/main" id="{F10A4553-44D3-40C7-BE39-5394017852CB}"/>
              </a:ext>
            </a:extLst>
          </p:cNvPr>
          <p:cNvSpPr>
            <a:spLocks xmlns:a="http://schemas.openxmlformats.org/drawingml/2006/main" noGrp="1"/>
          </p:cNvSpPr>
          <p:nvPr/>
        </p:nvSpPr>
        <p:spPr>
          <a:xfrm xmlns:a="http://schemas.openxmlformats.org/drawingml/2006/main">
            <a:off x="4536327" y="2438400"/>
            <a:ext cx="311904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680" b="0">
                <a:solidFill>
                  <a:srgbClr val="151312"/>
                </a:solidFill>
                <a:latin typeface="Georgia"/>
                <a:ea typeface="Georgia"/>
                <a:cs typeface="Georgia"/>
              </a:defRPr>
            </a:defPPr>
            <a:lvl1pPr algn="l">
              <a:defRPr sz="1680" b="0">
                <a:solidFill>
                  <a:srgbClr val="151312"/>
                </a:solidFill>
                <a:latin typeface="Georgia"/>
                <a:ea typeface="Georgia"/>
                <a:cs typeface="Georgia"/>
              </a:defRPr>
            </a:lvl1pPr>
            <a:lvl2pPr algn="l">
              <a:defRPr sz="1680" b="0">
                <a:solidFill>
                  <a:srgbClr val="151312"/>
                </a:solidFill>
                <a:latin typeface="Georgia"/>
                <a:ea typeface="Georgia"/>
                <a:cs typeface="Georgia"/>
              </a:defRPr>
            </a:lvl2pPr>
            <a:lvl3pPr algn="l">
              <a:defRPr sz="1680" b="0">
                <a:solidFill>
                  <a:srgbClr val="151312"/>
                </a:solidFill>
                <a:latin typeface="Georgia"/>
                <a:ea typeface="Georgia"/>
                <a:cs typeface="Georgia"/>
              </a:defRPr>
            </a:lvl3pPr>
            <a:lvl4pPr algn="l">
              <a:defRPr sz="1680" b="0">
                <a:solidFill>
                  <a:srgbClr val="151312"/>
                </a:solidFill>
                <a:latin typeface="Georgia"/>
                <a:ea typeface="Georgia"/>
                <a:cs typeface="Georgia"/>
              </a:defRPr>
            </a:lvl4pPr>
            <a:lvl5pPr algn="l">
              <a:defRPr sz="1680" b="0">
                <a:solidFill>
                  <a:srgbClr val="151312"/>
                </a:solidFill>
                <a:latin typeface="Georgia"/>
                <a:ea typeface="Georgia"/>
                <a:cs typeface="Georgia"/>
              </a:defRPr>
            </a:lvl5pPr>
            <a:lvl6pPr algn="l">
              <a:defRPr sz="1680" b="0">
                <a:solidFill>
                  <a:srgbClr val="151312"/>
                </a:solidFill>
                <a:latin typeface="Georgia"/>
                <a:ea typeface="Georgia"/>
                <a:cs typeface="Georgia"/>
              </a:defRPr>
            </a:lvl6pPr>
            <a:lvl7pPr algn="l">
              <a:defRPr sz="1680" b="0">
                <a:solidFill>
                  <a:srgbClr val="151312"/>
                </a:solidFill>
                <a:latin typeface="Georgia"/>
                <a:ea typeface="Georgia"/>
                <a:cs typeface="Georgia"/>
              </a:defRPr>
            </a:lvl7pPr>
            <a:lvl8pPr algn="l">
              <a:defRPr sz="1680" b="0">
                <a:solidFill>
                  <a:srgbClr val="151312"/>
                </a:solidFill>
                <a:latin typeface="Georgia"/>
                <a:ea typeface="Georgia"/>
                <a:cs typeface="Georgia"/>
              </a:defRPr>
            </a:lvl8pPr>
            <a:lvl9pPr algn="l">
              <a:defRPr sz="1680" b="0">
                <a:solidFill>
                  <a:srgbClr val="151312"/>
                </a:solidFill>
                <a:latin typeface="Georgia"/>
                <a:ea typeface="Georgia"/>
                <a:cs typeface="Georgia"/>
              </a:defRPr>
            </a:lvl9pPr>
          </a:lstStyle>
          <a:p xmlns:a="http://schemas.openxmlformats.org/drawingml/2006/main">
            <a:pPr algn="l">
              <a:defRPr sz="1680" b="0">
                <a:solidFill>
                  <a:srgbClr val="151312"/>
                </a:solidFill>
                <a:latin typeface="Georgia"/>
                <a:ea typeface="Georgia"/>
                <a:cs typeface="Georgia"/>
              </a:defRPr>
            </a:pPr>
            <a:r>
              <a:rPr sz="1680" b="0">
                <a:solidFill>
                  <a:srgbClr val="151312"/>
                </a:solidFill>
                <a:latin typeface="Georgia"/>
                <a:ea typeface="Georgia"/>
                <a:cs typeface="Georgia"/>
              </a:rPr>
              <a:t>Tone accompanies release-window repricing</a:t>
            </a:r>
          </a:p>
        </p:txBody>
      </p:sp>
      <p:sp>
        <p:nvSpPr>
          <p:cNvPr id="23" name="">
            <a:extLst xmlns:a="http://schemas.openxmlformats.org/drawingml/2006/main">
              <a:ext uri="{FF2B5EF4-FFF2-40B4-BE49-F238E27FC236}">
                <a16:creationId xmlns:a16="http://schemas.microsoft.com/office/drawing/2014/main" id="{DDFF094D-3AF6-4701-9CC8-3F8372FC7818}"/>
              </a:ext>
            </a:extLst>
          </p:cNvPr>
          <p:cNvSpPr>
            <a:spLocks xmlns:a="http://schemas.openxmlformats.org/drawingml/2006/main" noGrp="1"/>
          </p:cNvSpPr>
          <p:nvPr/>
        </p:nvSpPr>
        <p:spPr>
          <a:xfrm xmlns:a="http://schemas.openxmlformats.org/drawingml/2006/main">
            <a:off x="4536327" y="3154680"/>
            <a:ext cx="3119042" cy="1661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380" b="0">
                <a:solidFill>
                  <a:srgbClr val="45413C"/>
                </a:solidFill>
                <a:latin typeface="Arial"/>
                <a:ea typeface="Arial"/>
                <a:cs typeface="Arial"/>
              </a:defRPr>
            </a:defPPr>
            <a:lvl1pPr algn="l">
              <a:defRPr sz="1380" b="0">
                <a:solidFill>
                  <a:srgbClr val="45413C"/>
                </a:solidFill>
                <a:latin typeface="Arial"/>
                <a:ea typeface="Arial"/>
                <a:cs typeface="Arial"/>
              </a:defRPr>
            </a:lvl1pPr>
            <a:lvl2pPr algn="l">
              <a:defRPr sz="1380" b="0">
                <a:solidFill>
                  <a:srgbClr val="45413C"/>
                </a:solidFill>
                <a:latin typeface="Arial"/>
                <a:ea typeface="Arial"/>
                <a:cs typeface="Arial"/>
              </a:defRPr>
            </a:lvl2pPr>
            <a:lvl3pPr algn="l">
              <a:defRPr sz="1380" b="0">
                <a:solidFill>
                  <a:srgbClr val="45413C"/>
                </a:solidFill>
                <a:latin typeface="Arial"/>
                <a:ea typeface="Arial"/>
                <a:cs typeface="Arial"/>
              </a:defRPr>
            </a:lvl3pPr>
            <a:lvl4pPr algn="l">
              <a:defRPr sz="1380" b="0">
                <a:solidFill>
                  <a:srgbClr val="45413C"/>
                </a:solidFill>
                <a:latin typeface="Arial"/>
                <a:ea typeface="Arial"/>
                <a:cs typeface="Arial"/>
              </a:defRPr>
            </a:lvl4pPr>
            <a:lvl5pPr algn="l">
              <a:defRPr sz="1380" b="0">
                <a:solidFill>
                  <a:srgbClr val="45413C"/>
                </a:solidFill>
                <a:latin typeface="Arial"/>
                <a:ea typeface="Arial"/>
                <a:cs typeface="Arial"/>
              </a:defRPr>
            </a:lvl5pPr>
            <a:lvl6pPr algn="l">
              <a:defRPr sz="1380" b="0">
                <a:solidFill>
                  <a:srgbClr val="45413C"/>
                </a:solidFill>
                <a:latin typeface="Arial"/>
                <a:ea typeface="Arial"/>
                <a:cs typeface="Arial"/>
              </a:defRPr>
            </a:lvl6pPr>
            <a:lvl7pPr algn="l">
              <a:defRPr sz="1380" b="0">
                <a:solidFill>
                  <a:srgbClr val="45413C"/>
                </a:solidFill>
                <a:latin typeface="Arial"/>
                <a:ea typeface="Arial"/>
                <a:cs typeface="Arial"/>
              </a:defRPr>
            </a:lvl7pPr>
            <a:lvl8pPr algn="l">
              <a:defRPr sz="1380" b="0">
                <a:solidFill>
                  <a:srgbClr val="45413C"/>
                </a:solidFill>
                <a:latin typeface="Arial"/>
                <a:ea typeface="Arial"/>
                <a:cs typeface="Arial"/>
              </a:defRPr>
            </a:lvl8pPr>
            <a:lvl9pPr algn="l">
              <a:defRPr sz="1380" b="0">
                <a:solidFill>
                  <a:srgbClr val="45413C"/>
                </a:solidFill>
                <a:latin typeface="Arial"/>
                <a:ea typeface="Arial"/>
                <a:cs typeface="Arial"/>
              </a:defRPr>
            </a:lvl9pPr>
          </a:lstStyle>
          <a:p xmlns:a="http://schemas.openxmlformats.org/drawingml/2006/main">
            <a:pPr algn="l">
              <a:defRPr sz="1380" b="0">
                <a:solidFill>
                  <a:srgbClr val="45413C"/>
                </a:solidFill>
                <a:latin typeface="Arial"/>
                <a:ea typeface="Arial"/>
                <a:cs typeface="Arial"/>
              </a:defRPr>
            </a:pPr>
            <a:r>
              <a:rPr sz="1380" b="0">
                <a:solidFill>
                  <a:srgbClr val="45413C"/>
                </a:solidFill>
                <a:latin typeface="Arial"/>
                <a:ea typeface="Arial"/>
                <a:cs typeface="Arial"/>
              </a:rPr>
              <a:t>26 of 198 exploratory release-window tests survive adjustment, 16 on Claude’s reading. Shared news and overlapping releases prevent a causal interpretation.</a:t>
            </a:r>
          </a:p>
        </p:txBody>
      </p:sp>
      <p:sp>
        <p:nvSpPr>
          <p:cNvPr id="24" name="">
            <a:extLst xmlns:a="http://schemas.openxmlformats.org/drawingml/2006/main">
              <a:ext uri="{FF2B5EF4-FFF2-40B4-BE49-F238E27FC236}">
                <a16:creationId xmlns:a16="http://schemas.microsoft.com/office/drawing/2014/main" id="{922E5ACE-705C-4CD7-BACA-84CDA082A80E}"/>
              </a:ext>
            </a:extLst>
          </p:cNvPr>
          <p:cNvSpPr>
            <a:spLocks xmlns:a="http://schemas.openxmlformats.org/drawingml/2006/main" noGrp="1"/>
          </p:cNvSpPr>
          <p:nvPr/>
        </p:nvSpPr>
        <p:spPr>
          <a:xfrm xmlns:a="http://schemas.openxmlformats.org/drawingml/2006/main">
            <a:off x="8066838" y="1920240"/>
            <a:ext cx="3515272" cy="3048000"/>
          </a:xfrm>
          <a:prstGeom xmlns:a="http://schemas.openxmlformats.org/drawingml/2006/main" prst="rect">
            <a:avLst/>
          </a:prstGeom>
          <a:solidFill xmlns:a="http://schemas.openxmlformats.org/drawingml/2006/main">
            <a:srgbClr val="FAF8F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8252C5C-3C28-4EC8-B5BC-CFC534E9FD1F}"/>
              </a:ext>
            </a:extLst>
          </p:cNvPr>
          <p:cNvSpPr>
            <a:spLocks xmlns:a="http://schemas.openxmlformats.org/drawingml/2006/main" noGrp="1"/>
          </p:cNvSpPr>
          <p:nvPr/>
        </p:nvSpPr>
        <p:spPr>
          <a:xfrm xmlns:a="http://schemas.openxmlformats.org/drawingml/2006/main">
            <a:off x="8066838" y="1920240"/>
            <a:ext cx="3515272" cy="2286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091BD37-C6DB-44C2-9A8E-3F96D6666639}"/>
              </a:ext>
            </a:extLst>
          </p:cNvPr>
          <p:cNvSpPr>
            <a:spLocks xmlns:a="http://schemas.openxmlformats.org/drawingml/2006/main" noGrp="1"/>
          </p:cNvSpPr>
          <p:nvPr/>
        </p:nvSpPr>
        <p:spPr>
          <a:xfrm xmlns:a="http://schemas.openxmlformats.org/drawingml/2006/main">
            <a:off x="8264953" y="2103120"/>
            <a:ext cx="3119042"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1">
                <a:solidFill>
                  <a:srgbClr val="C8401F"/>
                </a:solidFill>
                <a:latin typeface="Arial"/>
                <a:ea typeface="Arial"/>
                <a:cs typeface="Arial"/>
              </a:defRPr>
            </a:defPPr>
            <a:lvl1pPr algn="l">
              <a:defRPr sz="1320" b="1">
                <a:solidFill>
                  <a:srgbClr val="C8401F"/>
                </a:solidFill>
                <a:latin typeface="Arial"/>
                <a:ea typeface="Arial"/>
                <a:cs typeface="Arial"/>
              </a:defRPr>
            </a:lvl1pPr>
            <a:lvl2pPr algn="l">
              <a:defRPr sz="1320" b="1">
                <a:solidFill>
                  <a:srgbClr val="C8401F"/>
                </a:solidFill>
                <a:latin typeface="Arial"/>
                <a:ea typeface="Arial"/>
                <a:cs typeface="Arial"/>
              </a:defRPr>
            </a:lvl2pPr>
            <a:lvl3pPr algn="l">
              <a:defRPr sz="1320" b="1">
                <a:solidFill>
                  <a:srgbClr val="C8401F"/>
                </a:solidFill>
                <a:latin typeface="Arial"/>
                <a:ea typeface="Arial"/>
                <a:cs typeface="Arial"/>
              </a:defRPr>
            </a:lvl3pPr>
            <a:lvl4pPr algn="l">
              <a:defRPr sz="1320" b="1">
                <a:solidFill>
                  <a:srgbClr val="C8401F"/>
                </a:solidFill>
                <a:latin typeface="Arial"/>
                <a:ea typeface="Arial"/>
                <a:cs typeface="Arial"/>
              </a:defRPr>
            </a:lvl4pPr>
            <a:lvl5pPr algn="l">
              <a:defRPr sz="1320" b="1">
                <a:solidFill>
                  <a:srgbClr val="C8401F"/>
                </a:solidFill>
                <a:latin typeface="Arial"/>
                <a:ea typeface="Arial"/>
                <a:cs typeface="Arial"/>
              </a:defRPr>
            </a:lvl5pPr>
            <a:lvl6pPr algn="l">
              <a:defRPr sz="1320" b="1">
                <a:solidFill>
                  <a:srgbClr val="C8401F"/>
                </a:solidFill>
                <a:latin typeface="Arial"/>
                <a:ea typeface="Arial"/>
                <a:cs typeface="Arial"/>
              </a:defRPr>
            </a:lvl6pPr>
            <a:lvl7pPr algn="l">
              <a:defRPr sz="1320" b="1">
                <a:solidFill>
                  <a:srgbClr val="C8401F"/>
                </a:solidFill>
                <a:latin typeface="Arial"/>
                <a:ea typeface="Arial"/>
                <a:cs typeface="Arial"/>
              </a:defRPr>
            </a:lvl7pPr>
            <a:lvl8pPr algn="l">
              <a:defRPr sz="1320" b="1">
                <a:solidFill>
                  <a:srgbClr val="C8401F"/>
                </a:solidFill>
                <a:latin typeface="Arial"/>
                <a:ea typeface="Arial"/>
                <a:cs typeface="Arial"/>
              </a:defRPr>
            </a:lvl8pPr>
            <a:lvl9pPr algn="l">
              <a:defRPr sz="1320" b="1">
                <a:solidFill>
                  <a:srgbClr val="C8401F"/>
                </a:solidFill>
                <a:latin typeface="Arial"/>
                <a:ea typeface="Arial"/>
                <a:cs typeface="Arial"/>
              </a:defRPr>
            </a:lvl9pPr>
          </a:lstStyle>
          <a:p xmlns:a="http://schemas.openxmlformats.org/drawingml/2006/main">
            <a:pPr algn="l">
              <a:defRPr sz="1320" b="1">
                <a:solidFill>
                  <a:srgbClr val="C8401F"/>
                </a:solidFill>
                <a:latin typeface="Arial"/>
                <a:ea typeface="Arial"/>
                <a:cs typeface="Arial"/>
              </a:defRPr>
            </a:pPr>
            <a:r>
              <a:rPr sz="1320" b="1">
                <a:solidFill>
                  <a:srgbClr val="C8401F"/>
                </a:solidFill>
                <a:latin typeface="Arial"/>
                <a:ea typeface="Arial"/>
                <a:cs typeface="Arial"/>
              </a:rPr>
              <a:t>03</a:t>
            </a:r>
          </a:p>
        </p:txBody>
      </p:sp>
      <p:sp>
        <p:nvSpPr>
          <p:cNvPr id="27" name="">
            <a:extLst xmlns:a="http://schemas.openxmlformats.org/drawingml/2006/main">
              <a:ext uri="{FF2B5EF4-FFF2-40B4-BE49-F238E27FC236}">
                <a16:creationId xmlns:a16="http://schemas.microsoft.com/office/drawing/2014/main" id="{064D6E31-D1A0-49EF-B659-0A01A5E45D3A}"/>
              </a:ext>
            </a:extLst>
          </p:cNvPr>
          <p:cNvSpPr>
            <a:spLocks xmlns:a="http://schemas.openxmlformats.org/drawingml/2006/main" noGrp="1"/>
          </p:cNvSpPr>
          <p:nvPr/>
        </p:nvSpPr>
        <p:spPr>
          <a:xfrm xmlns:a="http://schemas.openxmlformats.org/drawingml/2006/main">
            <a:off x="8264953" y="2438400"/>
            <a:ext cx="3119042"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680" b="0">
                <a:solidFill>
                  <a:srgbClr val="151312"/>
                </a:solidFill>
                <a:latin typeface="Georgia"/>
                <a:ea typeface="Georgia"/>
                <a:cs typeface="Georgia"/>
              </a:defRPr>
            </a:defPPr>
            <a:lvl1pPr algn="l">
              <a:defRPr sz="1680" b="0">
                <a:solidFill>
                  <a:srgbClr val="151312"/>
                </a:solidFill>
                <a:latin typeface="Georgia"/>
                <a:ea typeface="Georgia"/>
                <a:cs typeface="Georgia"/>
              </a:defRPr>
            </a:lvl1pPr>
            <a:lvl2pPr algn="l">
              <a:defRPr sz="1680" b="0">
                <a:solidFill>
                  <a:srgbClr val="151312"/>
                </a:solidFill>
                <a:latin typeface="Georgia"/>
                <a:ea typeface="Georgia"/>
                <a:cs typeface="Georgia"/>
              </a:defRPr>
            </a:lvl2pPr>
            <a:lvl3pPr algn="l">
              <a:defRPr sz="1680" b="0">
                <a:solidFill>
                  <a:srgbClr val="151312"/>
                </a:solidFill>
                <a:latin typeface="Georgia"/>
                <a:ea typeface="Georgia"/>
                <a:cs typeface="Georgia"/>
              </a:defRPr>
            </a:lvl3pPr>
            <a:lvl4pPr algn="l">
              <a:defRPr sz="1680" b="0">
                <a:solidFill>
                  <a:srgbClr val="151312"/>
                </a:solidFill>
                <a:latin typeface="Georgia"/>
                <a:ea typeface="Georgia"/>
                <a:cs typeface="Georgia"/>
              </a:defRPr>
            </a:lvl4pPr>
            <a:lvl5pPr algn="l">
              <a:defRPr sz="1680" b="0">
                <a:solidFill>
                  <a:srgbClr val="151312"/>
                </a:solidFill>
                <a:latin typeface="Georgia"/>
                <a:ea typeface="Georgia"/>
                <a:cs typeface="Georgia"/>
              </a:defRPr>
            </a:lvl5pPr>
            <a:lvl6pPr algn="l">
              <a:defRPr sz="1680" b="0">
                <a:solidFill>
                  <a:srgbClr val="151312"/>
                </a:solidFill>
                <a:latin typeface="Georgia"/>
                <a:ea typeface="Georgia"/>
                <a:cs typeface="Georgia"/>
              </a:defRPr>
            </a:lvl6pPr>
            <a:lvl7pPr algn="l">
              <a:defRPr sz="1680" b="0">
                <a:solidFill>
                  <a:srgbClr val="151312"/>
                </a:solidFill>
                <a:latin typeface="Georgia"/>
                <a:ea typeface="Georgia"/>
                <a:cs typeface="Georgia"/>
              </a:defRPr>
            </a:lvl7pPr>
            <a:lvl8pPr algn="l">
              <a:defRPr sz="1680" b="0">
                <a:solidFill>
                  <a:srgbClr val="151312"/>
                </a:solidFill>
                <a:latin typeface="Georgia"/>
                <a:ea typeface="Georgia"/>
                <a:cs typeface="Georgia"/>
              </a:defRPr>
            </a:lvl8pPr>
            <a:lvl9pPr algn="l">
              <a:defRPr sz="1680" b="0">
                <a:solidFill>
                  <a:srgbClr val="151312"/>
                </a:solidFill>
                <a:latin typeface="Georgia"/>
                <a:ea typeface="Georgia"/>
                <a:cs typeface="Georgia"/>
              </a:defRPr>
            </a:lvl9pPr>
          </a:lstStyle>
          <a:p xmlns:a="http://schemas.openxmlformats.org/drawingml/2006/main">
            <a:pPr algn="l">
              <a:defRPr sz="1680" b="0">
                <a:solidFill>
                  <a:srgbClr val="151312"/>
                </a:solidFill>
                <a:latin typeface="Georgia"/>
                <a:ea typeface="Georgia"/>
                <a:cs typeface="Georgia"/>
              </a:defRPr>
            </a:pPr>
            <a:r>
              <a:rPr sz="1680" b="0">
                <a:solidFill>
                  <a:srgbClr val="151312"/>
                </a:solidFill>
                <a:latin typeface="Georgia"/>
                <a:ea typeface="Georgia"/>
                <a:cs typeface="Georgia"/>
              </a:rPr>
              <a:t>No delayed trading edge detected</a:t>
            </a:r>
          </a:p>
        </p:txBody>
      </p:sp>
      <p:sp>
        <p:nvSpPr>
          <p:cNvPr id="28" name="">
            <a:extLst xmlns:a="http://schemas.openxmlformats.org/drawingml/2006/main">
              <a:ext uri="{FF2B5EF4-FFF2-40B4-BE49-F238E27FC236}">
                <a16:creationId xmlns:a16="http://schemas.microsoft.com/office/drawing/2014/main" id="{D619C095-F078-4C75-8A3D-9EA883EE5B02}"/>
              </a:ext>
            </a:extLst>
          </p:cNvPr>
          <p:cNvSpPr>
            <a:spLocks xmlns:a="http://schemas.openxmlformats.org/drawingml/2006/main" noGrp="1"/>
          </p:cNvSpPr>
          <p:nvPr/>
        </p:nvSpPr>
        <p:spPr>
          <a:xfrm xmlns:a="http://schemas.openxmlformats.org/drawingml/2006/main">
            <a:off x="8264953" y="3154680"/>
            <a:ext cx="3119042" cy="1661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380" b="0">
                <a:solidFill>
                  <a:srgbClr val="45413C"/>
                </a:solidFill>
                <a:latin typeface="Arial"/>
                <a:ea typeface="Arial"/>
                <a:cs typeface="Arial"/>
              </a:defRPr>
            </a:defPPr>
            <a:lvl1pPr algn="l">
              <a:defRPr sz="1380" b="0">
                <a:solidFill>
                  <a:srgbClr val="45413C"/>
                </a:solidFill>
                <a:latin typeface="Arial"/>
                <a:ea typeface="Arial"/>
                <a:cs typeface="Arial"/>
              </a:defRPr>
            </a:lvl1pPr>
            <a:lvl2pPr algn="l">
              <a:defRPr sz="1380" b="0">
                <a:solidFill>
                  <a:srgbClr val="45413C"/>
                </a:solidFill>
                <a:latin typeface="Arial"/>
                <a:ea typeface="Arial"/>
                <a:cs typeface="Arial"/>
              </a:defRPr>
            </a:lvl2pPr>
            <a:lvl3pPr algn="l">
              <a:defRPr sz="1380" b="0">
                <a:solidFill>
                  <a:srgbClr val="45413C"/>
                </a:solidFill>
                <a:latin typeface="Arial"/>
                <a:ea typeface="Arial"/>
                <a:cs typeface="Arial"/>
              </a:defRPr>
            </a:lvl3pPr>
            <a:lvl4pPr algn="l">
              <a:defRPr sz="1380" b="0">
                <a:solidFill>
                  <a:srgbClr val="45413C"/>
                </a:solidFill>
                <a:latin typeface="Arial"/>
                <a:ea typeface="Arial"/>
                <a:cs typeface="Arial"/>
              </a:defRPr>
            </a:lvl4pPr>
            <a:lvl5pPr algn="l">
              <a:defRPr sz="1380" b="0">
                <a:solidFill>
                  <a:srgbClr val="45413C"/>
                </a:solidFill>
                <a:latin typeface="Arial"/>
                <a:ea typeface="Arial"/>
                <a:cs typeface="Arial"/>
              </a:defRPr>
            </a:lvl5pPr>
            <a:lvl6pPr algn="l">
              <a:defRPr sz="1380" b="0">
                <a:solidFill>
                  <a:srgbClr val="45413C"/>
                </a:solidFill>
                <a:latin typeface="Arial"/>
                <a:ea typeface="Arial"/>
                <a:cs typeface="Arial"/>
              </a:defRPr>
            </a:lvl6pPr>
            <a:lvl7pPr algn="l">
              <a:defRPr sz="1380" b="0">
                <a:solidFill>
                  <a:srgbClr val="45413C"/>
                </a:solidFill>
                <a:latin typeface="Arial"/>
                <a:ea typeface="Arial"/>
                <a:cs typeface="Arial"/>
              </a:defRPr>
            </a:lvl7pPr>
            <a:lvl8pPr algn="l">
              <a:defRPr sz="1380" b="0">
                <a:solidFill>
                  <a:srgbClr val="45413C"/>
                </a:solidFill>
                <a:latin typeface="Arial"/>
                <a:ea typeface="Arial"/>
                <a:cs typeface="Arial"/>
              </a:defRPr>
            </a:lvl8pPr>
            <a:lvl9pPr algn="l">
              <a:defRPr sz="1380" b="0">
                <a:solidFill>
                  <a:srgbClr val="45413C"/>
                </a:solidFill>
                <a:latin typeface="Arial"/>
                <a:ea typeface="Arial"/>
                <a:cs typeface="Arial"/>
              </a:defRPr>
            </a:lvl9pPr>
          </a:lstStyle>
          <a:p xmlns:a="http://schemas.openxmlformats.org/drawingml/2006/main">
            <a:pPr algn="l">
              <a:defRPr sz="1380" b="0">
                <a:solidFill>
                  <a:srgbClr val="45413C"/>
                </a:solidFill>
                <a:latin typeface="Arial"/>
                <a:ea typeface="Arial"/>
                <a:cs typeface="Arial"/>
              </a:defRPr>
            </a:pPr>
            <a:r>
              <a:rPr sz="1380" b="0">
                <a:solidFill>
                  <a:srgbClr val="45413C"/>
                </a:solidFill>
                <a:latin typeface="Arial"/>
                <a:ea typeface="Arial"/>
                <a:cs typeface="Arial"/>
              </a:rPr>
              <a:t>The pre-registered trade has a Sharpe of −0.18 (placebo p = 0.28); no variant clears the luck hurdle.</a:t>
            </a:r>
          </a:p>
        </p:txBody>
      </p:sp>
    </p:spTree>
    <p:extLst>
      <p:ext uri="{BB962C8B-B14F-4D97-AF65-F5344CB8AC3E}">
        <p14:creationId xmlns:p14="http://schemas.microsoft.com/office/powerpoint/2010/main" val="1737942305"/>
      </p:ext>
    </p:extLst>
  </p:cSld>
</p:sld>
</file>

<file path=ppt/slides/slide45.xml><?xml version="1.0" encoding="utf-8"?>
<p:sld xmlns:p="http://schemas.openxmlformats.org/presentationml/2006/main">
  <p:cSld>
    <p:bg>
      <p:bgPr>
        <a:solidFill xmlns:a="http://schemas.openxmlformats.org/drawingml/2006/main">
          <a:srgbClr val="F1ECE2"/>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B06D525-3179-40F0-92B1-5DD4E82CA9C4}"/>
              </a:ext>
            </a:extLst>
          </p:cNvPr>
          <p:cNvSpPr>
            <a:spLocks xmlns:a="http://schemas.openxmlformats.org/drawingml/2006/main" noGrp="1"/>
          </p:cNvSpPr>
          <p:nvPr/>
        </p:nvSpPr>
        <p:spPr>
          <a:xfrm xmlns:a="http://schemas.openxmlformats.org/drawingml/2006/main">
            <a:off x="609585" y="274320"/>
            <a:ext cx="335272"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C8401F"/>
                </a:solidFill>
                <a:latin typeface="Arial"/>
                <a:ea typeface="Arial"/>
                <a:cs typeface="Arial"/>
              </a:defRPr>
            </a:defPPr>
            <a:lvl1pPr algn="l">
              <a:defRPr sz="1020" b="1">
                <a:solidFill>
                  <a:srgbClr val="C8401F"/>
                </a:solidFill>
                <a:latin typeface="Arial"/>
                <a:ea typeface="Arial"/>
                <a:cs typeface="Arial"/>
              </a:defRPr>
            </a:lvl1pPr>
            <a:lvl2pPr algn="l">
              <a:defRPr sz="1020" b="1">
                <a:solidFill>
                  <a:srgbClr val="C8401F"/>
                </a:solidFill>
                <a:latin typeface="Arial"/>
                <a:ea typeface="Arial"/>
                <a:cs typeface="Arial"/>
              </a:defRPr>
            </a:lvl2pPr>
            <a:lvl3pPr algn="l">
              <a:defRPr sz="1020" b="1">
                <a:solidFill>
                  <a:srgbClr val="C8401F"/>
                </a:solidFill>
                <a:latin typeface="Arial"/>
                <a:ea typeface="Arial"/>
                <a:cs typeface="Arial"/>
              </a:defRPr>
            </a:lvl3pPr>
            <a:lvl4pPr algn="l">
              <a:defRPr sz="1020" b="1">
                <a:solidFill>
                  <a:srgbClr val="C8401F"/>
                </a:solidFill>
                <a:latin typeface="Arial"/>
                <a:ea typeface="Arial"/>
                <a:cs typeface="Arial"/>
              </a:defRPr>
            </a:lvl4pPr>
            <a:lvl5pPr algn="l">
              <a:defRPr sz="1020" b="1">
                <a:solidFill>
                  <a:srgbClr val="C8401F"/>
                </a:solidFill>
                <a:latin typeface="Arial"/>
                <a:ea typeface="Arial"/>
                <a:cs typeface="Arial"/>
              </a:defRPr>
            </a:lvl5pPr>
            <a:lvl6pPr algn="l">
              <a:defRPr sz="1020" b="1">
                <a:solidFill>
                  <a:srgbClr val="C8401F"/>
                </a:solidFill>
                <a:latin typeface="Arial"/>
                <a:ea typeface="Arial"/>
                <a:cs typeface="Arial"/>
              </a:defRPr>
            </a:lvl6pPr>
            <a:lvl7pPr algn="l">
              <a:defRPr sz="1020" b="1">
                <a:solidFill>
                  <a:srgbClr val="C8401F"/>
                </a:solidFill>
                <a:latin typeface="Arial"/>
                <a:ea typeface="Arial"/>
                <a:cs typeface="Arial"/>
              </a:defRPr>
            </a:lvl7pPr>
            <a:lvl8pPr algn="l">
              <a:defRPr sz="1020" b="1">
                <a:solidFill>
                  <a:srgbClr val="C8401F"/>
                </a:solidFill>
                <a:latin typeface="Arial"/>
                <a:ea typeface="Arial"/>
                <a:cs typeface="Arial"/>
              </a:defRPr>
            </a:lvl8pPr>
            <a:lvl9pPr algn="l">
              <a:defRPr sz="1020" b="1">
                <a:solidFill>
                  <a:srgbClr val="C8401F"/>
                </a:solidFill>
                <a:latin typeface="Arial"/>
                <a:ea typeface="Arial"/>
                <a:cs typeface="Arial"/>
              </a:defRPr>
            </a:lvl9pPr>
          </a:lstStyle>
          <a:p xmlns:a="http://schemas.openxmlformats.org/drawingml/2006/main">
            <a:pPr algn="l">
              <a:defRPr sz="1020" b="1">
                <a:solidFill>
                  <a:srgbClr val="C8401F"/>
                </a:solidFill>
                <a:latin typeface="Arial"/>
                <a:ea typeface="Arial"/>
                <a:cs typeface="Arial"/>
              </a:defRPr>
            </a:pPr>
            <a:r>
              <a:rPr sz="1020" b="1">
                <a:solidFill>
                  <a:srgbClr val="C8401F"/>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CC64F77D-BB4F-4C37-8E50-584724E81A15}"/>
              </a:ext>
            </a:extLst>
          </p:cNvPr>
          <p:cNvSpPr>
            <a:spLocks xmlns:a="http://schemas.openxmlformats.org/drawingml/2006/main" noGrp="1"/>
          </p:cNvSpPr>
          <p:nvPr/>
        </p:nvSpPr>
        <p:spPr>
          <a:xfrm xmlns:a="http://schemas.openxmlformats.org/drawingml/2006/main">
            <a:off x="1051534" y="274320"/>
            <a:ext cx="8610385"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1">
                <a:solidFill>
                  <a:srgbClr val="55504A"/>
                </a:solidFill>
                <a:latin typeface="Arial"/>
                <a:ea typeface="Arial"/>
                <a:cs typeface="Arial"/>
              </a:defRPr>
            </a:defPPr>
            <a:lvl1pPr algn="l">
              <a:defRPr sz="960" b="1">
                <a:solidFill>
                  <a:srgbClr val="55504A"/>
                </a:solidFill>
                <a:latin typeface="Arial"/>
                <a:ea typeface="Arial"/>
                <a:cs typeface="Arial"/>
              </a:defRPr>
            </a:lvl1pPr>
            <a:lvl2pPr algn="l">
              <a:defRPr sz="960" b="1">
                <a:solidFill>
                  <a:srgbClr val="55504A"/>
                </a:solidFill>
                <a:latin typeface="Arial"/>
                <a:ea typeface="Arial"/>
                <a:cs typeface="Arial"/>
              </a:defRPr>
            </a:lvl2pPr>
            <a:lvl3pPr algn="l">
              <a:defRPr sz="960" b="1">
                <a:solidFill>
                  <a:srgbClr val="55504A"/>
                </a:solidFill>
                <a:latin typeface="Arial"/>
                <a:ea typeface="Arial"/>
                <a:cs typeface="Arial"/>
              </a:defRPr>
            </a:lvl3pPr>
            <a:lvl4pPr algn="l">
              <a:defRPr sz="960" b="1">
                <a:solidFill>
                  <a:srgbClr val="55504A"/>
                </a:solidFill>
                <a:latin typeface="Arial"/>
                <a:ea typeface="Arial"/>
                <a:cs typeface="Arial"/>
              </a:defRPr>
            </a:lvl4pPr>
            <a:lvl5pPr algn="l">
              <a:defRPr sz="960" b="1">
                <a:solidFill>
                  <a:srgbClr val="55504A"/>
                </a:solidFill>
                <a:latin typeface="Arial"/>
                <a:ea typeface="Arial"/>
                <a:cs typeface="Arial"/>
              </a:defRPr>
            </a:lvl5pPr>
            <a:lvl6pPr algn="l">
              <a:defRPr sz="960" b="1">
                <a:solidFill>
                  <a:srgbClr val="55504A"/>
                </a:solidFill>
                <a:latin typeface="Arial"/>
                <a:ea typeface="Arial"/>
                <a:cs typeface="Arial"/>
              </a:defRPr>
            </a:lvl6pPr>
            <a:lvl7pPr algn="l">
              <a:defRPr sz="960" b="1">
                <a:solidFill>
                  <a:srgbClr val="55504A"/>
                </a:solidFill>
                <a:latin typeface="Arial"/>
                <a:ea typeface="Arial"/>
                <a:cs typeface="Arial"/>
              </a:defRPr>
            </a:lvl7pPr>
            <a:lvl8pPr algn="l">
              <a:defRPr sz="960" b="1">
                <a:solidFill>
                  <a:srgbClr val="55504A"/>
                </a:solidFill>
                <a:latin typeface="Arial"/>
                <a:ea typeface="Arial"/>
                <a:cs typeface="Arial"/>
              </a:defRPr>
            </a:lvl8pPr>
            <a:lvl9pPr algn="l">
              <a:defRPr sz="960" b="1">
                <a:solidFill>
                  <a:srgbClr val="55504A"/>
                </a:solidFill>
                <a:latin typeface="Arial"/>
                <a:ea typeface="Arial"/>
                <a:cs typeface="Arial"/>
              </a:defRPr>
            </a:lvl9pPr>
          </a:lstStyle>
          <a:p xmlns:a="http://schemas.openxmlformats.org/drawingml/2006/main">
            <a:pPr algn="l">
              <a:defRPr sz="960" b="1">
                <a:solidFill>
                  <a:srgbClr val="55504A"/>
                </a:solidFill>
                <a:latin typeface="Arial"/>
                <a:ea typeface="Arial"/>
                <a:cs typeface="Arial"/>
              </a:defRPr>
            </a:pPr>
            <a:r>
              <a:rPr sz="960" b="1">
                <a:solidFill>
                  <a:srgbClr val="55504A"/>
                </a:solidFill>
                <a:latin typeface="Arial"/>
                <a:ea typeface="Arial"/>
                <a:cs typeface="Arial"/>
              </a:rPr>
              <a:t>CONCLUSIONS AND LIMITS</a:t>
            </a:r>
          </a:p>
        </p:txBody>
      </p:sp>
      <p:sp>
        <p:nvSpPr>
          <p:cNvPr id="3" name="">
            <a:extLst xmlns:a="http://schemas.openxmlformats.org/drawingml/2006/main">
              <a:ext uri="{FF2B5EF4-FFF2-40B4-BE49-F238E27FC236}">
                <a16:creationId xmlns:a16="http://schemas.microsoft.com/office/drawing/2014/main" id="{7C92B8CE-B4D1-406F-9C60-79EAB1FE90AA}"/>
              </a:ext>
            </a:extLst>
          </p:cNvPr>
          <p:cNvSpPr>
            <a:spLocks xmlns:a="http://schemas.openxmlformats.org/drawingml/2006/main" noGrp="1"/>
          </p:cNvSpPr>
          <p:nvPr/>
        </p:nvSpPr>
        <p:spPr>
          <a:xfrm xmlns:a="http://schemas.openxmlformats.org/drawingml/2006/main">
            <a:off x="10286743" y="274320"/>
            <a:ext cx="1295368"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60" b="0">
                <a:solidFill>
                  <a:srgbClr val="55504A"/>
                </a:solidFill>
                <a:latin typeface="Arial"/>
                <a:ea typeface="Arial"/>
                <a:cs typeface="Arial"/>
              </a:defRPr>
            </a:defPPr>
            <a:lvl1pPr algn="r">
              <a:defRPr sz="960" b="0">
                <a:solidFill>
                  <a:srgbClr val="55504A"/>
                </a:solidFill>
                <a:latin typeface="Arial"/>
                <a:ea typeface="Arial"/>
                <a:cs typeface="Arial"/>
              </a:defRPr>
            </a:lvl1pPr>
            <a:lvl2pPr algn="r">
              <a:defRPr sz="960" b="0">
                <a:solidFill>
                  <a:srgbClr val="55504A"/>
                </a:solidFill>
                <a:latin typeface="Arial"/>
                <a:ea typeface="Arial"/>
                <a:cs typeface="Arial"/>
              </a:defRPr>
            </a:lvl2pPr>
            <a:lvl3pPr algn="r">
              <a:defRPr sz="960" b="0">
                <a:solidFill>
                  <a:srgbClr val="55504A"/>
                </a:solidFill>
                <a:latin typeface="Arial"/>
                <a:ea typeface="Arial"/>
                <a:cs typeface="Arial"/>
              </a:defRPr>
            </a:lvl3pPr>
            <a:lvl4pPr algn="r">
              <a:defRPr sz="960" b="0">
                <a:solidFill>
                  <a:srgbClr val="55504A"/>
                </a:solidFill>
                <a:latin typeface="Arial"/>
                <a:ea typeface="Arial"/>
                <a:cs typeface="Arial"/>
              </a:defRPr>
            </a:lvl4pPr>
            <a:lvl5pPr algn="r">
              <a:defRPr sz="960" b="0">
                <a:solidFill>
                  <a:srgbClr val="55504A"/>
                </a:solidFill>
                <a:latin typeface="Arial"/>
                <a:ea typeface="Arial"/>
                <a:cs typeface="Arial"/>
              </a:defRPr>
            </a:lvl5pPr>
            <a:lvl6pPr algn="r">
              <a:defRPr sz="960" b="0">
                <a:solidFill>
                  <a:srgbClr val="55504A"/>
                </a:solidFill>
                <a:latin typeface="Arial"/>
                <a:ea typeface="Arial"/>
                <a:cs typeface="Arial"/>
              </a:defRPr>
            </a:lvl6pPr>
            <a:lvl7pPr algn="r">
              <a:defRPr sz="960" b="0">
                <a:solidFill>
                  <a:srgbClr val="55504A"/>
                </a:solidFill>
                <a:latin typeface="Arial"/>
                <a:ea typeface="Arial"/>
                <a:cs typeface="Arial"/>
              </a:defRPr>
            </a:lvl7pPr>
            <a:lvl8pPr algn="r">
              <a:defRPr sz="960" b="0">
                <a:solidFill>
                  <a:srgbClr val="55504A"/>
                </a:solidFill>
                <a:latin typeface="Arial"/>
                <a:ea typeface="Arial"/>
                <a:cs typeface="Arial"/>
              </a:defRPr>
            </a:lvl8pPr>
            <a:lvl9pPr algn="r">
              <a:defRPr sz="960" b="0">
                <a:solidFill>
                  <a:srgbClr val="55504A"/>
                </a:solidFill>
                <a:latin typeface="Arial"/>
                <a:ea typeface="Arial"/>
                <a:cs typeface="Arial"/>
              </a:defRPr>
            </a:lvl9pPr>
          </a:lstStyle>
          <a:p xmlns:a="http://schemas.openxmlformats.org/drawingml/2006/main">
            <a:pPr algn="r">
              <a:defRPr sz="960" b="0">
                <a:solidFill>
                  <a:srgbClr val="55504A"/>
                </a:solidFill>
                <a:latin typeface="Arial"/>
                <a:ea typeface="Arial"/>
                <a:cs typeface="Arial"/>
              </a:defRPr>
            </a:pPr>
            <a:r>
              <a:rPr sz="960" b="0">
                <a:solidFill>
                  <a:srgbClr val="55504A"/>
                </a:solidFill>
                <a:latin typeface="Arial"/>
                <a:ea typeface="Arial"/>
                <a:cs typeface="Arial"/>
              </a:rPr>
              <a:t>45 / 46</a:t>
            </a:r>
          </a:p>
        </p:txBody>
      </p:sp>
      <p:sp>
        <p:nvSpPr>
          <p:cNvPr id="4" name="">
            <a:extLst xmlns:a="http://schemas.openxmlformats.org/drawingml/2006/main">
              <a:ext uri="{FF2B5EF4-FFF2-40B4-BE49-F238E27FC236}">
                <a16:creationId xmlns:a16="http://schemas.microsoft.com/office/drawing/2014/main" id="{495A3ADD-51A9-45E3-8FE1-CBB6D193F105}"/>
              </a:ext>
            </a:extLst>
          </p:cNvPr>
          <p:cNvSpPr>
            <a:spLocks xmlns:a="http://schemas.openxmlformats.org/drawingml/2006/main" noGrp="1"/>
          </p:cNvSpPr>
          <p:nvPr/>
        </p:nvSpPr>
        <p:spPr>
          <a:xfrm xmlns:a="http://schemas.openxmlformats.org/drawingml/2006/main">
            <a:off x="609585" y="5562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2878355-2CEB-4698-9FB0-07EB961327DB}"/>
              </a:ext>
            </a:extLst>
          </p:cNvPr>
          <p:cNvSpPr>
            <a:spLocks xmlns:a="http://schemas.openxmlformats.org/drawingml/2006/main" noGrp="1"/>
          </p:cNvSpPr>
          <p:nvPr/>
        </p:nvSpPr>
        <p:spPr>
          <a:xfrm xmlns:a="http://schemas.openxmlformats.org/drawingml/2006/main">
            <a:off x="609585" y="746760"/>
            <a:ext cx="10972526"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defPPr algn="l">
              <a:defRPr sz="3300" b="0">
                <a:solidFill>
                  <a:srgbClr val="151312"/>
                </a:solidFill>
                <a:latin typeface="Georgia"/>
                <a:ea typeface="Georgia"/>
                <a:cs typeface="Georgia"/>
              </a:defRPr>
            </a:defPPr>
            <a:lvl1pPr algn="l">
              <a:defRPr sz="3300" b="0">
                <a:solidFill>
                  <a:srgbClr val="151312"/>
                </a:solidFill>
                <a:latin typeface="Georgia"/>
                <a:ea typeface="Georgia"/>
                <a:cs typeface="Georgia"/>
              </a:defRPr>
            </a:lvl1pPr>
            <a:lvl2pPr algn="l">
              <a:defRPr sz="3300" b="0">
                <a:solidFill>
                  <a:srgbClr val="151312"/>
                </a:solidFill>
                <a:latin typeface="Georgia"/>
                <a:ea typeface="Georgia"/>
                <a:cs typeface="Georgia"/>
              </a:defRPr>
            </a:lvl2pPr>
            <a:lvl3pPr algn="l">
              <a:defRPr sz="3300" b="0">
                <a:solidFill>
                  <a:srgbClr val="151312"/>
                </a:solidFill>
                <a:latin typeface="Georgia"/>
                <a:ea typeface="Georgia"/>
                <a:cs typeface="Georgia"/>
              </a:defRPr>
            </a:lvl3pPr>
            <a:lvl4pPr algn="l">
              <a:defRPr sz="3300" b="0">
                <a:solidFill>
                  <a:srgbClr val="151312"/>
                </a:solidFill>
                <a:latin typeface="Georgia"/>
                <a:ea typeface="Georgia"/>
                <a:cs typeface="Georgia"/>
              </a:defRPr>
            </a:lvl4pPr>
            <a:lvl5pPr algn="l">
              <a:defRPr sz="3300" b="0">
                <a:solidFill>
                  <a:srgbClr val="151312"/>
                </a:solidFill>
                <a:latin typeface="Georgia"/>
                <a:ea typeface="Georgia"/>
                <a:cs typeface="Georgia"/>
              </a:defRPr>
            </a:lvl5pPr>
            <a:lvl6pPr algn="l">
              <a:defRPr sz="3300" b="0">
                <a:solidFill>
                  <a:srgbClr val="151312"/>
                </a:solidFill>
                <a:latin typeface="Georgia"/>
                <a:ea typeface="Georgia"/>
                <a:cs typeface="Georgia"/>
              </a:defRPr>
            </a:lvl6pPr>
            <a:lvl7pPr algn="l">
              <a:defRPr sz="3300" b="0">
                <a:solidFill>
                  <a:srgbClr val="151312"/>
                </a:solidFill>
                <a:latin typeface="Georgia"/>
                <a:ea typeface="Georgia"/>
                <a:cs typeface="Georgia"/>
              </a:defRPr>
            </a:lvl7pPr>
            <a:lvl8pPr algn="l">
              <a:defRPr sz="3300" b="0">
                <a:solidFill>
                  <a:srgbClr val="151312"/>
                </a:solidFill>
                <a:latin typeface="Georgia"/>
                <a:ea typeface="Georgia"/>
                <a:cs typeface="Georgia"/>
              </a:defRPr>
            </a:lvl8pPr>
            <a:lvl9pPr algn="l">
              <a:defRPr sz="3300" b="0">
                <a:solidFill>
                  <a:srgbClr val="151312"/>
                </a:solidFill>
                <a:latin typeface="Georgia"/>
                <a:ea typeface="Georgia"/>
                <a:cs typeface="Georgia"/>
              </a:defRPr>
            </a:lvl9pPr>
          </a:lstStyle>
          <a:p xmlns:a="http://schemas.openxmlformats.org/drawingml/2006/main">
            <a:pPr algn="l">
              <a:defRPr sz="3300" b="0">
                <a:solidFill>
                  <a:srgbClr val="151312"/>
                </a:solidFill>
                <a:latin typeface="Georgia"/>
                <a:ea typeface="Georgia"/>
                <a:cs typeface="Georgia"/>
              </a:defRPr>
            </a:pPr>
            <a:r>
              <a:rPr sz="3300" b="0">
                <a:solidFill>
                  <a:srgbClr val="151312"/>
                </a:solidFill>
                <a:latin typeface="Georgia"/>
                <a:ea typeface="Georgia"/>
                <a:cs typeface="Georgia"/>
              </a:rPr>
              <a:t>What would change our minds, and what we do next</a:t>
            </a:r>
          </a:p>
        </p:txBody>
      </p:sp>
      <p:sp>
        <p:nvSpPr>
          <p:cNvPr id="6" name="">
            <a:extLst xmlns:a="http://schemas.openxmlformats.org/drawingml/2006/main">
              <a:ext uri="{FF2B5EF4-FFF2-40B4-BE49-F238E27FC236}">
                <a16:creationId xmlns:a16="http://schemas.microsoft.com/office/drawing/2014/main" id="{E6CA5F31-C3D9-4095-B84A-592636F194C3}"/>
              </a:ext>
            </a:extLst>
          </p:cNvPr>
          <p:cNvSpPr>
            <a:spLocks xmlns:a="http://schemas.openxmlformats.org/drawingml/2006/main" noGrp="1"/>
          </p:cNvSpPr>
          <p:nvPr/>
        </p:nvSpPr>
        <p:spPr>
          <a:xfrm xmlns:a="http://schemas.openxmlformats.org/drawingml/2006/main">
            <a:off x="609585" y="1348740"/>
            <a:ext cx="1097252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40" b="0">
                <a:solidFill>
                  <a:srgbClr val="45413C"/>
                </a:solidFill>
                <a:latin typeface="Arial"/>
                <a:ea typeface="Arial"/>
                <a:cs typeface="Arial"/>
              </a:defRPr>
            </a:defPPr>
            <a:lvl1pPr algn="l">
              <a:defRPr sz="1440" b="0">
                <a:solidFill>
                  <a:srgbClr val="45413C"/>
                </a:solidFill>
                <a:latin typeface="Arial"/>
                <a:ea typeface="Arial"/>
                <a:cs typeface="Arial"/>
              </a:defRPr>
            </a:lvl1pPr>
            <a:lvl2pPr algn="l">
              <a:defRPr sz="1440" b="0">
                <a:solidFill>
                  <a:srgbClr val="45413C"/>
                </a:solidFill>
                <a:latin typeface="Arial"/>
                <a:ea typeface="Arial"/>
                <a:cs typeface="Arial"/>
              </a:defRPr>
            </a:lvl2pPr>
            <a:lvl3pPr algn="l">
              <a:defRPr sz="1440" b="0">
                <a:solidFill>
                  <a:srgbClr val="45413C"/>
                </a:solidFill>
                <a:latin typeface="Arial"/>
                <a:ea typeface="Arial"/>
                <a:cs typeface="Arial"/>
              </a:defRPr>
            </a:lvl3pPr>
            <a:lvl4pPr algn="l">
              <a:defRPr sz="1440" b="0">
                <a:solidFill>
                  <a:srgbClr val="45413C"/>
                </a:solidFill>
                <a:latin typeface="Arial"/>
                <a:ea typeface="Arial"/>
                <a:cs typeface="Arial"/>
              </a:defRPr>
            </a:lvl4pPr>
            <a:lvl5pPr algn="l">
              <a:defRPr sz="1440" b="0">
                <a:solidFill>
                  <a:srgbClr val="45413C"/>
                </a:solidFill>
                <a:latin typeface="Arial"/>
                <a:ea typeface="Arial"/>
                <a:cs typeface="Arial"/>
              </a:defRPr>
            </a:lvl5pPr>
            <a:lvl6pPr algn="l">
              <a:defRPr sz="1440" b="0">
                <a:solidFill>
                  <a:srgbClr val="45413C"/>
                </a:solidFill>
                <a:latin typeface="Arial"/>
                <a:ea typeface="Arial"/>
                <a:cs typeface="Arial"/>
              </a:defRPr>
            </a:lvl6pPr>
            <a:lvl7pPr algn="l">
              <a:defRPr sz="1440" b="0">
                <a:solidFill>
                  <a:srgbClr val="45413C"/>
                </a:solidFill>
                <a:latin typeface="Arial"/>
                <a:ea typeface="Arial"/>
                <a:cs typeface="Arial"/>
              </a:defRPr>
            </a:lvl7pPr>
            <a:lvl8pPr algn="l">
              <a:defRPr sz="1440" b="0">
                <a:solidFill>
                  <a:srgbClr val="45413C"/>
                </a:solidFill>
                <a:latin typeface="Arial"/>
                <a:ea typeface="Arial"/>
                <a:cs typeface="Arial"/>
              </a:defRPr>
            </a:lvl8pPr>
            <a:lvl9pPr algn="l">
              <a:defRPr sz="1440" b="0">
                <a:solidFill>
                  <a:srgbClr val="45413C"/>
                </a:solidFill>
                <a:latin typeface="Arial"/>
                <a:ea typeface="Arial"/>
                <a:cs typeface="Arial"/>
              </a:defRPr>
            </a:lvl9pPr>
          </a:lstStyle>
          <a:p xmlns:a="http://schemas.openxmlformats.org/drawingml/2006/main">
            <a:pPr algn="l">
              <a:defRPr sz="1440" b="0">
                <a:solidFill>
                  <a:srgbClr val="45413C"/>
                </a:solidFill>
                <a:latin typeface="Arial"/>
                <a:ea typeface="Arial"/>
                <a:cs typeface="Arial"/>
              </a:defRPr>
            </a:pPr>
            <a:r>
              <a:rPr sz="1440" b="0">
                <a:solidFill>
                  <a:srgbClr val="45413C"/>
                </a:solidFill>
                <a:latin typeface="Arial"/>
                <a:ea typeface="Arial"/>
                <a:cs typeface="Arial"/>
              </a:rPr>
              <a:t>H1 is supported on public expert labels; independent human validation remains absent</a:t>
            </a:r>
          </a:p>
        </p:txBody>
      </p:sp>
      <p:sp>
        <p:nvSpPr>
          <p:cNvPr id="7" name="">
            <a:extLst xmlns:a="http://schemas.openxmlformats.org/drawingml/2006/main">
              <a:ext uri="{FF2B5EF4-FFF2-40B4-BE49-F238E27FC236}">
                <a16:creationId xmlns:a16="http://schemas.microsoft.com/office/drawing/2014/main" id="{BB5292DD-265B-4AD7-A87A-5C3A0E39D221}"/>
              </a:ext>
            </a:extLst>
          </p:cNvPr>
          <p:cNvSpPr>
            <a:spLocks xmlns:a="http://schemas.openxmlformats.org/drawingml/2006/main" noGrp="1"/>
          </p:cNvSpPr>
          <p:nvPr/>
        </p:nvSpPr>
        <p:spPr>
          <a:xfrm xmlns:a="http://schemas.openxmlformats.org/drawingml/2006/main">
            <a:off x="609585" y="5928360"/>
            <a:ext cx="22859" cy="28956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45361D8-1FAE-40E8-B713-C9F66189EA5A}"/>
              </a:ext>
            </a:extLst>
          </p:cNvPr>
          <p:cNvSpPr>
            <a:spLocks xmlns:a="http://schemas.openxmlformats.org/drawingml/2006/main" noGrp="1"/>
          </p:cNvSpPr>
          <p:nvPr/>
        </p:nvSpPr>
        <p:spPr>
          <a:xfrm xmlns:a="http://schemas.openxmlformats.org/drawingml/2006/main">
            <a:off x="769601" y="5920740"/>
            <a:ext cx="1066773"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00" b="1">
                <a:solidFill>
                  <a:srgbClr val="151312"/>
                </a:solidFill>
                <a:latin typeface="Arial"/>
                <a:ea typeface="Arial"/>
                <a:cs typeface="Arial"/>
              </a:defRPr>
            </a:defPPr>
            <a:lvl1pPr algn="l">
              <a:defRPr sz="900" b="1">
                <a:solidFill>
                  <a:srgbClr val="151312"/>
                </a:solidFill>
                <a:latin typeface="Arial"/>
                <a:ea typeface="Arial"/>
                <a:cs typeface="Arial"/>
              </a:defRPr>
            </a:lvl1pPr>
            <a:lvl2pPr algn="l">
              <a:defRPr sz="900" b="1">
                <a:solidFill>
                  <a:srgbClr val="151312"/>
                </a:solidFill>
                <a:latin typeface="Arial"/>
                <a:ea typeface="Arial"/>
                <a:cs typeface="Arial"/>
              </a:defRPr>
            </a:lvl2pPr>
            <a:lvl3pPr algn="l">
              <a:defRPr sz="900" b="1">
                <a:solidFill>
                  <a:srgbClr val="151312"/>
                </a:solidFill>
                <a:latin typeface="Arial"/>
                <a:ea typeface="Arial"/>
                <a:cs typeface="Arial"/>
              </a:defRPr>
            </a:lvl3pPr>
            <a:lvl4pPr algn="l">
              <a:defRPr sz="900" b="1">
                <a:solidFill>
                  <a:srgbClr val="151312"/>
                </a:solidFill>
                <a:latin typeface="Arial"/>
                <a:ea typeface="Arial"/>
                <a:cs typeface="Arial"/>
              </a:defRPr>
            </a:lvl4pPr>
            <a:lvl5pPr algn="l">
              <a:defRPr sz="900" b="1">
                <a:solidFill>
                  <a:srgbClr val="151312"/>
                </a:solidFill>
                <a:latin typeface="Arial"/>
                <a:ea typeface="Arial"/>
                <a:cs typeface="Arial"/>
              </a:defRPr>
            </a:lvl5pPr>
            <a:lvl6pPr algn="l">
              <a:defRPr sz="900" b="1">
                <a:solidFill>
                  <a:srgbClr val="151312"/>
                </a:solidFill>
                <a:latin typeface="Arial"/>
                <a:ea typeface="Arial"/>
                <a:cs typeface="Arial"/>
              </a:defRPr>
            </a:lvl6pPr>
            <a:lvl7pPr algn="l">
              <a:defRPr sz="900" b="1">
                <a:solidFill>
                  <a:srgbClr val="151312"/>
                </a:solidFill>
                <a:latin typeface="Arial"/>
                <a:ea typeface="Arial"/>
                <a:cs typeface="Arial"/>
              </a:defRPr>
            </a:lvl7pPr>
            <a:lvl8pPr algn="l">
              <a:defRPr sz="900" b="1">
                <a:solidFill>
                  <a:srgbClr val="151312"/>
                </a:solidFill>
                <a:latin typeface="Arial"/>
                <a:ea typeface="Arial"/>
                <a:cs typeface="Arial"/>
              </a:defRPr>
            </a:lvl8pPr>
            <a:lvl9pPr algn="l">
              <a:defRPr sz="900" b="1">
                <a:solidFill>
                  <a:srgbClr val="151312"/>
                </a:solidFill>
                <a:latin typeface="Arial"/>
                <a:ea typeface="Arial"/>
                <a:cs typeface="Arial"/>
              </a:defRPr>
            </a:lvl9pPr>
          </a:lstStyle>
          <a:p xmlns:a="http://schemas.openxmlformats.org/drawingml/2006/main">
            <a:pPr algn="l">
              <a:defRPr sz="900" b="1">
                <a:solidFill>
                  <a:srgbClr val="151312"/>
                </a:solidFill>
                <a:latin typeface="Arial"/>
                <a:ea typeface="Arial"/>
                <a:cs typeface="Arial"/>
              </a:defRPr>
            </a:pPr>
            <a:r>
              <a:rPr sz="900" b="1">
                <a:solidFill>
                  <a:srgbClr val="151312"/>
                </a:solidFill>
                <a:latin typeface="Arial"/>
                <a:ea typeface="Arial"/>
                <a:cs typeface="Arial"/>
              </a:rPr>
              <a:t>Next</a:t>
            </a:r>
          </a:p>
        </p:txBody>
      </p:sp>
      <p:sp>
        <p:nvSpPr>
          <p:cNvPr id="9" name="">
            <a:extLst xmlns:a="http://schemas.openxmlformats.org/drawingml/2006/main">
              <a:ext uri="{FF2B5EF4-FFF2-40B4-BE49-F238E27FC236}">
                <a16:creationId xmlns:a16="http://schemas.microsoft.com/office/drawing/2014/main" id="{6DA03D55-BB33-4641-A249-996A53D375D7}"/>
              </a:ext>
            </a:extLst>
          </p:cNvPr>
          <p:cNvSpPr>
            <a:spLocks xmlns:a="http://schemas.openxmlformats.org/drawingml/2006/main" noGrp="1"/>
          </p:cNvSpPr>
          <p:nvPr/>
        </p:nvSpPr>
        <p:spPr>
          <a:xfrm xmlns:a="http://schemas.openxmlformats.org/drawingml/2006/main">
            <a:off x="1950671" y="5913120"/>
            <a:ext cx="9631439"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60" b="0">
                <a:solidFill>
                  <a:srgbClr val="45413C"/>
                </a:solidFill>
                <a:latin typeface="Arial"/>
                <a:ea typeface="Arial"/>
                <a:cs typeface="Arial"/>
              </a:defRPr>
            </a:defPPr>
            <a:lvl1pPr algn="l">
              <a:defRPr sz="1260" b="0">
                <a:solidFill>
                  <a:srgbClr val="45413C"/>
                </a:solidFill>
                <a:latin typeface="Arial"/>
                <a:ea typeface="Arial"/>
                <a:cs typeface="Arial"/>
              </a:defRPr>
            </a:lvl1pPr>
            <a:lvl2pPr algn="l">
              <a:defRPr sz="1260" b="0">
                <a:solidFill>
                  <a:srgbClr val="45413C"/>
                </a:solidFill>
                <a:latin typeface="Arial"/>
                <a:ea typeface="Arial"/>
                <a:cs typeface="Arial"/>
              </a:defRPr>
            </a:lvl2pPr>
            <a:lvl3pPr algn="l">
              <a:defRPr sz="1260" b="0">
                <a:solidFill>
                  <a:srgbClr val="45413C"/>
                </a:solidFill>
                <a:latin typeface="Arial"/>
                <a:ea typeface="Arial"/>
                <a:cs typeface="Arial"/>
              </a:defRPr>
            </a:lvl3pPr>
            <a:lvl4pPr algn="l">
              <a:defRPr sz="1260" b="0">
                <a:solidFill>
                  <a:srgbClr val="45413C"/>
                </a:solidFill>
                <a:latin typeface="Arial"/>
                <a:ea typeface="Arial"/>
                <a:cs typeface="Arial"/>
              </a:defRPr>
            </a:lvl4pPr>
            <a:lvl5pPr algn="l">
              <a:defRPr sz="1260" b="0">
                <a:solidFill>
                  <a:srgbClr val="45413C"/>
                </a:solidFill>
                <a:latin typeface="Arial"/>
                <a:ea typeface="Arial"/>
                <a:cs typeface="Arial"/>
              </a:defRPr>
            </a:lvl5pPr>
            <a:lvl6pPr algn="l">
              <a:defRPr sz="1260" b="0">
                <a:solidFill>
                  <a:srgbClr val="45413C"/>
                </a:solidFill>
                <a:latin typeface="Arial"/>
                <a:ea typeface="Arial"/>
                <a:cs typeface="Arial"/>
              </a:defRPr>
            </a:lvl6pPr>
            <a:lvl7pPr algn="l">
              <a:defRPr sz="1260" b="0">
                <a:solidFill>
                  <a:srgbClr val="45413C"/>
                </a:solidFill>
                <a:latin typeface="Arial"/>
                <a:ea typeface="Arial"/>
                <a:cs typeface="Arial"/>
              </a:defRPr>
            </a:lvl7pPr>
            <a:lvl8pPr algn="l">
              <a:defRPr sz="1260" b="0">
                <a:solidFill>
                  <a:srgbClr val="45413C"/>
                </a:solidFill>
                <a:latin typeface="Arial"/>
                <a:ea typeface="Arial"/>
                <a:cs typeface="Arial"/>
              </a:defRPr>
            </a:lvl8pPr>
            <a:lvl9pPr algn="l">
              <a:defRPr sz="1260" b="0">
                <a:solidFill>
                  <a:srgbClr val="45413C"/>
                </a:solidFill>
                <a:latin typeface="Arial"/>
                <a:ea typeface="Arial"/>
                <a:cs typeface="Arial"/>
              </a:defRPr>
            </a:lvl9pPr>
          </a:lstStyle>
          <a:p xmlns:a="http://schemas.openxmlformats.org/drawingml/2006/main">
            <a:pPr algn="l">
              <a:defRPr sz="1260" b="0">
                <a:solidFill>
                  <a:srgbClr val="45413C"/>
                </a:solidFill>
                <a:latin typeface="Arial"/>
                <a:ea typeface="Arial"/>
                <a:cs typeface="Arial"/>
              </a:defRPr>
            </a:pPr>
            <a:r>
              <a:rPr sz="1260" b="0">
                <a:solidFill>
                  <a:srgbClr val="45413C"/>
                </a:solidFill>
                <a:latin typeface="Arial"/>
                <a:ea typeface="Arial"/>
                <a:cs typeface="Arial"/>
              </a:rPr>
              <a:t>Independent labels, intraday yields, and more frozen-rule releases would strengthen the evidence.</a:t>
            </a:r>
          </a:p>
        </p:txBody>
      </p:sp>
      <p:sp>
        <p:nvSpPr>
          <p:cNvPr id="10" name="">
            <a:extLst xmlns:a="http://schemas.openxmlformats.org/drawingml/2006/main">
              <a:ext uri="{FF2B5EF4-FFF2-40B4-BE49-F238E27FC236}">
                <a16:creationId xmlns:a16="http://schemas.microsoft.com/office/drawing/2014/main" id="{E4508CA4-1861-4574-9026-998C97CC87AF}"/>
              </a:ext>
            </a:extLst>
          </p:cNvPr>
          <p:cNvSpPr>
            <a:spLocks xmlns:a="http://schemas.openxmlformats.org/drawingml/2006/main" noGrp="1"/>
          </p:cNvSpPr>
          <p:nvPr/>
        </p:nvSpPr>
        <p:spPr>
          <a:xfrm xmlns:a="http://schemas.openxmlformats.org/drawingml/2006/main">
            <a:off x="609585" y="636270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41379E4-590A-4193-A16F-5103A229CFAC}"/>
              </a:ext>
            </a:extLst>
          </p:cNvPr>
          <p:cNvSpPr>
            <a:spLocks xmlns:a="http://schemas.openxmlformats.org/drawingml/2006/main" noGrp="1"/>
          </p:cNvSpPr>
          <p:nvPr/>
        </p:nvSpPr>
        <p:spPr>
          <a:xfrm xmlns:a="http://schemas.openxmlformats.org/drawingml/2006/main">
            <a:off x="609585" y="6431280"/>
            <a:ext cx="10972526"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60" b="0">
                <a:solidFill>
                  <a:srgbClr val="55504A"/>
                </a:solidFill>
                <a:latin typeface="Arial"/>
                <a:ea typeface="Arial"/>
                <a:cs typeface="Arial"/>
              </a:defRPr>
            </a:defPPr>
            <a:lvl1pPr algn="l">
              <a:defRPr sz="960" b="0">
                <a:solidFill>
                  <a:srgbClr val="55504A"/>
                </a:solidFill>
                <a:latin typeface="Arial"/>
                <a:ea typeface="Arial"/>
                <a:cs typeface="Arial"/>
              </a:defRPr>
            </a:lvl1pPr>
            <a:lvl2pPr algn="l">
              <a:defRPr sz="960" b="0">
                <a:solidFill>
                  <a:srgbClr val="55504A"/>
                </a:solidFill>
                <a:latin typeface="Arial"/>
                <a:ea typeface="Arial"/>
                <a:cs typeface="Arial"/>
              </a:defRPr>
            </a:lvl2pPr>
            <a:lvl3pPr algn="l">
              <a:defRPr sz="960" b="0">
                <a:solidFill>
                  <a:srgbClr val="55504A"/>
                </a:solidFill>
                <a:latin typeface="Arial"/>
                <a:ea typeface="Arial"/>
                <a:cs typeface="Arial"/>
              </a:defRPr>
            </a:lvl3pPr>
            <a:lvl4pPr algn="l">
              <a:defRPr sz="960" b="0">
                <a:solidFill>
                  <a:srgbClr val="55504A"/>
                </a:solidFill>
                <a:latin typeface="Arial"/>
                <a:ea typeface="Arial"/>
                <a:cs typeface="Arial"/>
              </a:defRPr>
            </a:lvl4pPr>
            <a:lvl5pPr algn="l">
              <a:defRPr sz="960" b="0">
                <a:solidFill>
                  <a:srgbClr val="55504A"/>
                </a:solidFill>
                <a:latin typeface="Arial"/>
                <a:ea typeface="Arial"/>
                <a:cs typeface="Arial"/>
              </a:defRPr>
            </a:lvl5pPr>
            <a:lvl6pPr algn="l">
              <a:defRPr sz="960" b="0">
                <a:solidFill>
                  <a:srgbClr val="55504A"/>
                </a:solidFill>
                <a:latin typeface="Arial"/>
                <a:ea typeface="Arial"/>
                <a:cs typeface="Arial"/>
              </a:defRPr>
            </a:lvl6pPr>
            <a:lvl7pPr algn="l">
              <a:defRPr sz="960" b="0">
                <a:solidFill>
                  <a:srgbClr val="55504A"/>
                </a:solidFill>
                <a:latin typeface="Arial"/>
                <a:ea typeface="Arial"/>
                <a:cs typeface="Arial"/>
              </a:defRPr>
            </a:lvl7pPr>
            <a:lvl8pPr algn="l">
              <a:defRPr sz="960" b="0">
                <a:solidFill>
                  <a:srgbClr val="55504A"/>
                </a:solidFill>
                <a:latin typeface="Arial"/>
                <a:ea typeface="Arial"/>
                <a:cs typeface="Arial"/>
              </a:defRPr>
            </a:lvl8pPr>
            <a:lvl9pPr algn="l">
              <a:defRPr sz="960" b="0">
                <a:solidFill>
                  <a:srgbClr val="55504A"/>
                </a:solidFill>
                <a:latin typeface="Arial"/>
                <a:ea typeface="Arial"/>
                <a:cs typeface="Arial"/>
              </a:defRPr>
            </a:lvl9pPr>
          </a:lstStyle>
          <a:p xmlns:a="http://schemas.openxmlformats.org/drawingml/2006/main">
            <a:pPr algn="l">
              <a:defRPr sz="960" b="0">
                <a:solidFill>
                  <a:srgbClr val="55504A"/>
                </a:solidFill>
                <a:latin typeface="Arial"/>
                <a:ea typeface="Arial"/>
                <a:cs typeface="Arial"/>
              </a:defRPr>
            </a:pPr>
            <a:r>
              <a:rPr sz="960" b="0">
                <a:solidFill>
                  <a:srgbClr val="55504A"/>
                </a:solidFill>
                <a:latin typeface="Arial"/>
                <a:ea typeface="Arial"/>
                <a:cs typeface="Arial"/>
              </a:rPr>
              <a:t>Source: docs/DESIGN.md (limitations); docs/PRODUCT_VALIDATION.md.</a:t>
            </a:r>
          </a:p>
        </p:txBody>
      </p:sp>
      <p:sp>
        <p:nvSpPr>
          <p:cNvPr id="12" name="">
            <a:extLst xmlns:a="http://schemas.openxmlformats.org/drawingml/2006/main">
              <a:ext uri="{FF2B5EF4-FFF2-40B4-BE49-F238E27FC236}">
                <a16:creationId xmlns:a16="http://schemas.microsoft.com/office/drawing/2014/main" id="{E413EA6E-7605-4C7E-AC80-F4DBBC361DE4}"/>
              </a:ext>
            </a:extLst>
          </p:cNvPr>
          <p:cNvSpPr>
            <a:spLocks xmlns:a="http://schemas.openxmlformats.org/drawingml/2006/main" noGrp="1"/>
          </p:cNvSpPr>
          <p:nvPr/>
        </p:nvSpPr>
        <p:spPr>
          <a:xfrm xmlns:a="http://schemas.openxmlformats.org/drawingml/2006/main">
            <a:off x="0"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ADA8029-886B-4F98-9B55-7D7C7D04D79F}"/>
              </a:ext>
            </a:extLst>
          </p:cNvPr>
          <p:cNvSpPr>
            <a:spLocks xmlns:a="http://schemas.openxmlformats.org/drawingml/2006/main" noGrp="1"/>
          </p:cNvSpPr>
          <p:nvPr/>
        </p:nvSpPr>
        <p:spPr>
          <a:xfrm xmlns:a="http://schemas.openxmlformats.org/drawingml/2006/main">
            <a:off x="2438339"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3FDD49B-17C5-4707-A599-92754699A1B1}"/>
              </a:ext>
            </a:extLst>
          </p:cNvPr>
          <p:cNvSpPr>
            <a:spLocks xmlns:a="http://schemas.openxmlformats.org/drawingml/2006/main" noGrp="1"/>
          </p:cNvSpPr>
          <p:nvPr/>
        </p:nvSpPr>
        <p:spPr>
          <a:xfrm xmlns:a="http://schemas.openxmlformats.org/drawingml/2006/main">
            <a:off x="4876678"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F01C420-C179-40C5-AA36-59585A33B3FE}"/>
              </a:ext>
            </a:extLst>
          </p:cNvPr>
          <p:cNvSpPr>
            <a:spLocks xmlns:a="http://schemas.openxmlformats.org/drawingml/2006/main" noGrp="1"/>
          </p:cNvSpPr>
          <p:nvPr/>
        </p:nvSpPr>
        <p:spPr>
          <a:xfrm xmlns:a="http://schemas.openxmlformats.org/drawingml/2006/main">
            <a:off x="7315017" y="6819900"/>
            <a:ext cx="2415480" cy="3810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4B8B129-DC66-4198-9495-11D26E4201F3}"/>
              </a:ext>
            </a:extLst>
          </p:cNvPr>
          <p:cNvSpPr>
            <a:spLocks xmlns:a="http://schemas.openxmlformats.org/drawingml/2006/main" noGrp="1"/>
          </p:cNvSpPr>
          <p:nvPr/>
        </p:nvSpPr>
        <p:spPr>
          <a:xfrm xmlns:a="http://schemas.openxmlformats.org/drawingml/2006/main">
            <a:off x="9753356" y="6819900"/>
            <a:ext cx="2415480" cy="38100"/>
          </a:xfrm>
          <a:prstGeom xmlns:a="http://schemas.openxmlformats.org/drawingml/2006/main" prst="rect">
            <a:avLst/>
          </a:prstGeom>
          <a:solidFill xmlns:a="http://schemas.openxmlformats.org/drawingml/2006/main">
            <a:srgbClr val="C8401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8880246-45D9-4B2E-BB99-E1E6FB787BA3}"/>
              </a:ext>
            </a:extLst>
          </p:cNvPr>
          <p:cNvSpPr>
            <a:spLocks xmlns:a="http://schemas.openxmlformats.org/drawingml/2006/main" noGrp="1"/>
          </p:cNvSpPr>
          <p:nvPr/>
        </p:nvSpPr>
        <p:spPr>
          <a:xfrm xmlns:a="http://schemas.openxmlformats.org/drawingml/2006/main">
            <a:off x="609585" y="1920240"/>
            <a:ext cx="2583115" cy="3048000"/>
          </a:xfrm>
          <a:prstGeom xmlns:a="http://schemas.openxmlformats.org/drawingml/2006/main" prst="rect">
            <a:avLst/>
          </a:prstGeom>
          <a:solidFill xmlns:a="http://schemas.openxmlformats.org/drawingml/2006/main">
            <a:srgbClr val="FAF8F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80F8CAF-74A0-4DA3-B57E-2693D3A6A8A7}"/>
              </a:ext>
            </a:extLst>
          </p:cNvPr>
          <p:cNvSpPr>
            <a:spLocks xmlns:a="http://schemas.openxmlformats.org/drawingml/2006/main" noGrp="1"/>
          </p:cNvSpPr>
          <p:nvPr/>
        </p:nvSpPr>
        <p:spPr>
          <a:xfrm xmlns:a="http://schemas.openxmlformats.org/drawingml/2006/main">
            <a:off x="609585" y="1920240"/>
            <a:ext cx="2583115" cy="2286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764D52B-92DF-49C0-9E78-59BDD621BFDE}"/>
              </a:ext>
            </a:extLst>
          </p:cNvPr>
          <p:cNvSpPr>
            <a:spLocks xmlns:a="http://schemas.openxmlformats.org/drawingml/2006/main" noGrp="1"/>
          </p:cNvSpPr>
          <p:nvPr/>
        </p:nvSpPr>
        <p:spPr>
          <a:xfrm xmlns:a="http://schemas.openxmlformats.org/drawingml/2006/main">
            <a:off x="807700" y="2103120"/>
            <a:ext cx="218688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1">
                <a:solidFill>
                  <a:srgbClr val="C8401F"/>
                </a:solidFill>
                <a:latin typeface="Arial"/>
                <a:ea typeface="Arial"/>
                <a:cs typeface="Arial"/>
              </a:defRPr>
            </a:defPPr>
            <a:lvl1pPr algn="l">
              <a:defRPr sz="1320" b="1">
                <a:solidFill>
                  <a:srgbClr val="C8401F"/>
                </a:solidFill>
                <a:latin typeface="Arial"/>
                <a:ea typeface="Arial"/>
                <a:cs typeface="Arial"/>
              </a:defRPr>
            </a:lvl1pPr>
            <a:lvl2pPr algn="l">
              <a:defRPr sz="1320" b="1">
                <a:solidFill>
                  <a:srgbClr val="C8401F"/>
                </a:solidFill>
                <a:latin typeface="Arial"/>
                <a:ea typeface="Arial"/>
                <a:cs typeface="Arial"/>
              </a:defRPr>
            </a:lvl2pPr>
            <a:lvl3pPr algn="l">
              <a:defRPr sz="1320" b="1">
                <a:solidFill>
                  <a:srgbClr val="C8401F"/>
                </a:solidFill>
                <a:latin typeface="Arial"/>
                <a:ea typeface="Arial"/>
                <a:cs typeface="Arial"/>
              </a:defRPr>
            </a:lvl3pPr>
            <a:lvl4pPr algn="l">
              <a:defRPr sz="1320" b="1">
                <a:solidFill>
                  <a:srgbClr val="C8401F"/>
                </a:solidFill>
                <a:latin typeface="Arial"/>
                <a:ea typeface="Arial"/>
                <a:cs typeface="Arial"/>
              </a:defRPr>
            </a:lvl4pPr>
            <a:lvl5pPr algn="l">
              <a:defRPr sz="1320" b="1">
                <a:solidFill>
                  <a:srgbClr val="C8401F"/>
                </a:solidFill>
                <a:latin typeface="Arial"/>
                <a:ea typeface="Arial"/>
                <a:cs typeface="Arial"/>
              </a:defRPr>
            </a:lvl5pPr>
            <a:lvl6pPr algn="l">
              <a:defRPr sz="1320" b="1">
                <a:solidFill>
                  <a:srgbClr val="C8401F"/>
                </a:solidFill>
                <a:latin typeface="Arial"/>
                <a:ea typeface="Arial"/>
                <a:cs typeface="Arial"/>
              </a:defRPr>
            </a:lvl6pPr>
            <a:lvl7pPr algn="l">
              <a:defRPr sz="1320" b="1">
                <a:solidFill>
                  <a:srgbClr val="C8401F"/>
                </a:solidFill>
                <a:latin typeface="Arial"/>
                <a:ea typeface="Arial"/>
                <a:cs typeface="Arial"/>
              </a:defRPr>
            </a:lvl7pPr>
            <a:lvl8pPr algn="l">
              <a:defRPr sz="1320" b="1">
                <a:solidFill>
                  <a:srgbClr val="C8401F"/>
                </a:solidFill>
                <a:latin typeface="Arial"/>
                <a:ea typeface="Arial"/>
                <a:cs typeface="Arial"/>
              </a:defRPr>
            </a:lvl8pPr>
            <a:lvl9pPr algn="l">
              <a:defRPr sz="1320" b="1">
                <a:solidFill>
                  <a:srgbClr val="C8401F"/>
                </a:solidFill>
                <a:latin typeface="Arial"/>
                <a:ea typeface="Arial"/>
                <a:cs typeface="Arial"/>
              </a:defRPr>
            </a:lvl9pPr>
          </a:lstStyle>
          <a:p xmlns:a="http://schemas.openxmlformats.org/drawingml/2006/main">
            <a:pPr algn="l">
              <a:defRPr sz="1320" b="1">
                <a:solidFill>
                  <a:srgbClr val="C8401F"/>
                </a:solidFill>
                <a:latin typeface="Arial"/>
                <a:ea typeface="Arial"/>
                <a:cs typeface="Arial"/>
              </a:defRPr>
            </a:pPr>
            <a:r>
              <a:rPr sz="1320" b="1">
                <a:solidFill>
                  <a:srgbClr val="C8401F"/>
                </a:solidFill>
                <a:latin typeface="Arial"/>
                <a:ea typeface="Arial"/>
                <a:cs typeface="Arial"/>
              </a:rPr>
              <a:t>01</a:t>
            </a:r>
          </a:p>
        </p:txBody>
      </p:sp>
      <p:sp>
        <p:nvSpPr>
          <p:cNvPr id="20" name="">
            <a:extLst xmlns:a="http://schemas.openxmlformats.org/drawingml/2006/main">
              <a:ext uri="{FF2B5EF4-FFF2-40B4-BE49-F238E27FC236}">
                <a16:creationId xmlns:a16="http://schemas.microsoft.com/office/drawing/2014/main" id="{545162B6-7C5A-4F01-9ACB-F47DEB59D419}"/>
              </a:ext>
            </a:extLst>
          </p:cNvPr>
          <p:cNvSpPr>
            <a:spLocks xmlns:a="http://schemas.openxmlformats.org/drawingml/2006/main" noGrp="1"/>
          </p:cNvSpPr>
          <p:nvPr/>
        </p:nvSpPr>
        <p:spPr>
          <a:xfrm xmlns:a="http://schemas.openxmlformats.org/drawingml/2006/main">
            <a:off x="807700" y="2438400"/>
            <a:ext cx="2186885"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680" b="0">
                <a:solidFill>
                  <a:srgbClr val="151312"/>
                </a:solidFill>
                <a:latin typeface="Georgia"/>
                <a:ea typeface="Georgia"/>
                <a:cs typeface="Georgia"/>
              </a:defRPr>
            </a:defPPr>
            <a:lvl1pPr algn="l">
              <a:defRPr sz="1680" b="0">
                <a:solidFill>
                  <a:srgbClr val="151312"/>
                </a:solidFill>
                <a:latin typeface="Georgia"/>
                <a:ea typeface="Georgia"/>
                <a:cs typeface="Georgia"/>
              </a:defRPr>
            </a:lvl1pPr>
            <a:lvl2pPr algn="l">
              <a:defRPr sz="1680" b="0">
                <a:solidFill>
                  <a:srgbClr val="151312"/>
                </a:solidFill>
                <a:latin typeface="Georgia"/>
                <a:ea typeface="Georgia"/>
                <a:cs typeface="Georgia"/>
              </a:defRPr>
            </a:lvl2pPr>
            <a:lvl3pPr algn="l">
              <a:defRPr sz="1680" b="0">
                <a:solidFill>
                  <a:srgbClr val="151312"/>
                </a:solidFill>
                <a:latin typeface="Georgia"/>
                <a:ea typeface="Georgia"/>
                <a:cs typeface="Georgia"/>
              </a:defRPr>
            </a:lvl3pPr>
            <a:lvl4pPr algn="l">
              <a:defRPr sz="1680" b="0">
                <a:solidFill>
                  <a:srgbClr val="151312"/>
                </a:solidFill>
                <a:latin typeface="Georgia"/>
                <a:ea typeface="Georgia"/>
                <a:cs typeface="Georgia"/>
              </a:defRPr>
            </a:lvl4pPr>
            <a:lvl5pPr algn="l">
              <a:defRPr sz="1680" b="0">
                <a:solidFill>
                  <a:srgbClr val="151312"/>
                </a:solidFill>
                <a:latin typeface="Georgia"/>
                <a:ea typeface="Georgia"/>
                <a:cs typeface="Georgia"/>
              </a:defRPr>
            </a:lvl5pPr>
            <a:lvl6pPr algn="l">
              <a:defRPr sz="1680" b="0">
                <a:solidFill>
                  <a:srgbClr val="151312"/>
                </a:solidFill>
                <a:latin typeface="Georgia"/>
                <a:ea typeface="Georgia"/>
                <a:cs typeface="Georgia"/>
              </a:defRPr>
            </a:lvl6pPr>
            <a:lvl7pPr algn="l">
              <a:defRPr sz="1680" b="0">
                <a:solidFill>
                  <a:srgbClr val="151312"/>
                </a:solidFill>
                <a:latin typeface="Georgia"/>
                <a:ea typeface="Georgia"/>
                <a:cs typeface="Georgia"/>
              </a:defRPr>
            </a:lvl7pPr>
            <a:lvl8pPr algn="l">
              <a:defRPr sz="1680" b="0">
                <a:solidFill>
                  <a:srgbClr val="151312"/>
                </a:solidFill>
                <a:latin typeface="Georgia"/>
                <a:ea typeface="Georgia"/>
                <a:cs typeface="Georgia"/>
              </a:defRPr>
            </a:lvl8pPr>
            <a:lvl9pPr algn="l">
              <a:defRPr sz="1680" b="0">
                <a:solidFill>
                  <a:srgbClr val="151312"/>
                </a:solidFill>
                <a:latin typeface="Georgia"/>
                <a:ea typeface="Georgia"/>
                <a:cs typeface="Georgia"/>
              </a:defRPr>
            </a:lvl9pPr>
          </a:lstStyle>
          <a:p xmlns:a="http://schemas.openxmlformats.org/drawingml/2006/main">
            <a:pPr algn="l">
              <a:defRPr sz="1680" b="0">
                <a:solidFill>
                  <a:srgbClr val="151312"/>
                </a:solidFill>
                <a:latin typeface="Georgia"/>
                <a:ea typeface="Georgia"/>
                <a:cs typeface="Georgia"/>
              </a:defRPr>
            </a:pPr>
            <a:r>
              <a:rPr sz="1680" b="0">
                <a:solidFill>
                  <a:srgbClr val="151312"/>
                </a:solidFill>
                <a:latin typeface="Georgia"/>
                <a:ea typeface="Georgia"/>
                <a:cs typeface="Georgia"/>
              </a:rPr>
              <a:t>Daily closes, not ticks</a:t>
            </a:r>
          </a:p>
        </p:txBody>
      </p:sp>
      <p:sp>
        <p:nvSpPr>
          <p:cNvPr id="21" name="">
            <a:extLst xmlns:a="http://schemas.openxmlformats.org/drawingml/2006/main">
              <a:ext uri="{FF2B5EF4-FFF2-40B4-BE49-F238E27FC236}">
                <a16:creationId xmlns:a16="http://schemas.microsoft.com/office/drawing/2014/main" id="{316FE4C0-D1B5-4EA9-8F81-DB6A9E05D251}"/>
              </a:ext>
            </a:extLst>
          </p:cNvPr>
          <p:cNvSpPr>
            <a:spLocks xmlns:a="http://schemas.openxmlformats.org/drawingml/2006/main" noGrp="1"/>
          </p:cNvSpPr>
          <p:nvPr/>
        </p:nvSpPr>
        <p:spPr>
          <a:xfrm xmlns:a="http://schemas.openxmlformats.org/drawingml/2006/main">
            <a:off x="807700" y="3154680"/>
            <a:ext cx="2186885" cy="1661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380" b="0">
                <a:solidFill>
                  <a:srgbClr val="45413C"/>
                </a:solidFill>
                <a:latin typeface="Arial"/>
                <a:ea typeface="Arial"/>
                <a:cs typeface="Arial"/>
              </a:defRPr>
            </a:defPPr>
            <a:lvl1pPr algn="l">
              <a:defRPr sz="1380" b="0">
                <a:solidFill>
                  <a:srgbClr val="45413C"/>
                </a:solidFill>
                <a:latin typeface="Arial"/>
                <a:ea typeface="Arial"/>
                <a:cs typeface="Arial"/>
              </a:defRPr>
            </a:lvl1pPr>
            <a:lvl2pPr algn="l">
              <a:defRPr sz="1380" b="0">
                <a:solidFill>
                  <a:srgbClr val="45413C"/>
                </a:solidFill>
                <a:latin typeface="Arial"/>
                <a:ea typeface="Arial"/>
                <a:cs typeface="Arial"/>
              </a:defRPr>
            </a:lvl2pPr>
            <a:lvl3pPr algn="l">
              <a:defRPr sz="1380" b="0">
                <a:solidFill>
                  <a:srgbClr val="45413C"/>
                </a:solidFill>
                <a:latin typeface="Arial"/>
                <a:ea typeface="Arial"/>
                <a:cs typeface="Arial"/>
              </a:defRPr>
            </a:lvl3pPr>
            <a:lvl4pPr algn="l">
              <a:defRPr sz="1380" b="0">
                <a:solidFill>
                  <a:srgbClr val="45413C"/>
                </a:solidFill>
                <a:latin typeface="Arial"/>
                <a:ea typeface="Arial"/>
                <a:cs typeface="Arial"/>
              </a:defRPr>
            </a:lvl4pPr>
            <a:lvl5pPr algn="l">
              <a:defRPr sz="1380" b="0">
                <a:solidFill>
                  <a:srgbClr val="45413C"/>
                </a:solidFill>
                <a:latin typeface="Arial"/>
                <a:ea typeface="Arial"/>
                <a:cs typeface="Arial"/>
              </a:defRPr>
            </a:lvl5pPr>
            <a:lvl6pPr algn="l">
              <a:defRPr sz="1380" b="0">
                <a:solidFill>
                  <a:srgbClr val="45413C"/>
                </a:solidFill>
                <a:latin typeface="Arial"/>
                <a:ea typeface="Arial"/>
                <a:cs typeface="Arial"/>
              </a:defRPr>
            </a:lvl6pPr>
            <a:lvl7pPr algn="l">
              <a:defRPr sz="1380" b="0">
                <a:solidFill>
                  <a:srgbClr val="45413C"/>
                </a:solidFill>
                <a:latin typeface="Arial"/>
                <a:ea typeface="Arial"/>
                <a:cs typeface="Arial"/>
              </a:defRPr>
            </a:lvl7pPr>
            <a:lvl8pPr algn="l">
              <a:defRPr sz="1380" b="0">
                <a:solidFill>
                  <a:srgbClr val="45413C"/>
                </a:solidFill>
                <a:latin typeface="Arial"/>
                <a:ea typeface="Arial"/>
                <a:cs typeface="Arial"/>
              </a:defRPr>
            </a:lvl8pPr>
            <a:lvl9pPr algn="l">
              <a:defRPr sz="1380" b="0">
                <a:solidFill>
                  <a:srgbClr val="45413C"/>
                </a:solidFill>
                <a:latin typeface="Arial"/>
                <a:ea typeface="Arial"/>
                <a:cs typeface="Arial"/>
              </a:defRPr>
            </a:lvl9pPr>
          </a:lstStyle>
          <a:p xmlns:a="http://schemas.openxmlformats.org/drawingml/2006/main">
            <a:pPr algn="l">
              <a:defRPr sz="1380" b="0">
                <a:solidFill>
                  <a:srgbClr val="45413C"/>
                </a:solidFill>
                <a:latin typeface="Arial"/>
                <a:ea typeface="Arial"/>
                <a:cs typeface="Arial"/>
              </a:defRPr>
            </a:pPr>
            <a:r>
              <a:rPr sz="1380" b="0">
                <a:solidFill>
                  <a:srgbClr val="45413C"/>
                </a:solidFill>
                <a:latin typeface="Arial"/>
                <a:ea typeface="Arial"/>
                <a:cs typeface="Arial"/>
              </a:rPr>
              <a:t>Release windows use the 3:30 p.m. Treasury fix; intraday data would sharpen the statement tests.</a:t>
            </a:r>
          </a:p>
        </p:txBody>
      </p:sp>
      <p:sp>
        <p:nvSpPr>
          <p:cNvPr id="22" name="">
            <a:extLst xmlns:a="http://schemas.openxmlformats.org/drawingml/2006/main">
              <a:ext uri="{FF2B5EF4-FFF2-40B4-BE49-F238E27FC236}">
                <a16:creationId xmlns:a16="http://schemas.microsoft.com/office/drawing/2014/main" id="{12E3CB46-0E77-4FEE-9C33-240802B52E9E}"/>
              </a:ext>
            </a:extLst>
          </p:cNvPr>
          <p:cNvSpPr>
            <a:spLocks xmlns:a="http://schemas.openxmlformats.org/drawingml/2006/main" noGrp="1"/>
          </p:cNvSpPr>
          <p:nvPr/>
        </p:nvSpPr>
        <p:spPr>
          <a:xfrm xmlns:a="http://schemas.openxmlformats.org/drawingml/2006/main">
            <a:off x="3406055" y="1920240"/>
            <a:ext cx="2583115" cy="3048000"/>
          </a:xfrm>
          <a:prstGeom xmlns:a="http://schemas.openxmlformats.org/drawingml/2006/main" prst="rect">
            <a:avLst/>
          </a:prstGeom>
          <a:solidFill xmlns:a="http://schemas.openxmlformats.org/drawingml/2006/main">
            <a:srgbClr val="FAF8F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614789D-0A76-4DCD-A14D-3204147450C7}"/>
              </a:ext>
            </a:extLst>
          </p:cNvPr>
          <p:cNvSpPr>
            <a:spLocks xmlns:a="http://schemas.openxmlformats.org/drawingml/2006/main" noGrp="1"/>
          </p:cNvSpPr>
          <p:nvPr/>
        </p:nvSpPr>
        <p:spPr>
          <a:xfrm xmlns:a="http://schemas.openxmlformats.org/drawingml/2006/main">
            <a:off x="3406055" y="1920240"/>
            <a:ext cx="2583115" cy="2286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C2AA19A-2185-4C0A-ACA4-2169DB8522CE}"/>
              </a:ext>
            </a:extLst>
          </p:cNvPr>
          <p:cNvSpPr>
            <a:spLocks xmlns:a="http://schemas.openxmlformats.org/drawingml/2006/main" noGrp="1"/>
          </p:cNvSpPr>
          <p:nvPr/>
        </p:nvSpPr>
        <p:spPr>
          <a:xfrm xmlns:a="http://schemas.openxmlformats.org/drawingml/2006/main">
            <a:off x="3604170" y="2103120"/>
            <a:ext cx="218688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1">
                <a:solidFill>
                  <a:srgbClr val="C8401F"/>
                </a:solidFill>
                <a:latin typeface="Arial"/>
                <a:ea typeface="Arial"/>
                <a:cs typeface="Arial"/>
              </a:defRPr>
            </a:defPPr>
            <a:lvl1pPr algn="l">
              <a:defRPr sz="1320" b="1">
                <a:solidFill>
                  <a:srgbClr val="C8401F"/>
                </a:solidFill>
                <a:latin typeface="Arial"/>
                <a:ea typeface="Arial"/>
                <a:cs typeface="Arial"/>
              </a:defRPr>
            </a:lvl1pPr>
            <a:lvl2pPr algn="l">
              <a:defRPr sz="1320" b="1">
                <a:solidFill>
                  <a:srgbClr val="C8401F"/>
                </a:solidFill>
                <a:latin typeface="Arial"/>
                <a:ea typeface="Arial"/>
                <a:cs typeface="Arial"/>
              </a:defRPr>
            </a:lvl2pPr>
            <a:lvl3pPr algn="l">
              <a:defRPr sz="1320" b="1">
                <a:solidFill>
                  <a:srgbClr val="C8401F"/>
                </a:solidFill>
                <a:latin typeface="Arial"/>
                <a:ea typeface="Arial"/>
                <a:cs typeface="Arial"/>
              </a:defRPr>
            </a:lvl3pPr>
            <a:lvl4pPr algn="l">
              <a:defRPr sz="1320" b="1">
                <a:solidFill>
                  <a:srgbClr val="C8401F"/>
                </a:solidFill>
                <a:latin typeface="Arial"/>
                <a:ea typeface="Arial"/>
                <a:cs typeface="Arial"/>
              </a:defRPr>
            </a:lvl4pPr>
            <a:lvl5pPr algn="l">
              <a:defRPr sz="1320" b="1">
                <a:solidFill>
                  <a:srgbClr val="C8401F"/>
                </a:solidFill>
                <a:latin typeface="Arial"/>
                <a:ea typeface="Arial"/>
                <a:cs typeface="Arial"/>
              </a:defRPr>
            </a:lvl5pPr>
            <a:lvl6pPr algn="l">
              <a:defRPr sz="1320" b="1">
                <a:solidFill>
                  <a:srgbClr val="C8401F"/>
                </a:solidFill>
                <a:latin typeface="Arial"/>
                <a:ea typeface="Arial"/>
                <a:cs typeface="Arial"/>
              </a:defRPr>
            </a:lvl6pPr>
            <a:lvl7pPr algn="l">
              <a:defRPr sz="1320" b="1">
                <a:solidFill>
                  <a:srgbClr val="C8401F"/>
                </a:solidFill>
                <a:latin typeface="Arial"/>
                <a:ea typeface="Arial"/>
                <a:cs typeface="Arial"/>
              </a:defRPr>
            </a:lvl7pPr>
            <a:lvl8pPr algn="l">
              <a:defRPr sz="1320" b="1">
                <a:solidFill>
                  <a:srgbClr val="C8401F"/>
                </a:solidFill>
                <a:latin typeface="Arial"/>
                <a:ea typeface="Arial"/>
                <a:cs typeface="Arial"/>
              </a:defRPr>
            </a:lvl8pPr>
            <a:lvl9pPr algn="l">
              <a:defRPr sz="1320" b="1">
                <a:solidFill>
                  <a:srgbClr val="C8401F"/>
                </a:solidFill>
                <a:latin typeface="Arial"/>
                <a:ea typeface="Arial"/>
                <a:cs typeface="Arial"/>
              </a:defRPr>
            </a:lvl9pPr>
          </a:lstStyle>
          <a:p xmlns:a="http://schemas.openxmlformats.org/drawingml/2006/main">
            <a:pPr algn="l">
              <a:defRPr sz="1320" b="1">
                <a:solidFill>
                  <a:srgbClr val="C8401F"/>
                </a:solidFill>
                <a:latin typeface="Arial"/>
                <a:ea typeface="Arial"/>
                <a:cs typeface="Arial"/>
              </a:defRPr>
            </a:pPr>
            <a:r>
              <a:rPr sz="1320" b="1">
                <a:solidFill>
                  <a:srgbClr val="C8401F"/>
                </a:solidFill>
                <a:latin typeface="Arial"/>
                <a:ea typeface="Arial"/>
                <a:cs typeface="Arial"/>
              </a:rPr>
              <a:t>02</a:t>
            </a:r>
          </a:p>
        </p:txBody>
      </p:sp>
      <p:sp>
        <p:nvSpPr>
          <p:cNvPr id="25" name="">
            <a:extLst xmlns:a="http://schemas.openxmlformats.org/drawingml/2006/main">
              <a:ext uri="{FF2B5EF4-FFF2-40B4-BE49-F238E27FC236}">
                <a16:creationId xmlns:a16="http://schemas.microsoft.com/office/drawing/2014/main" id="{B7788536-082E-4460-9249-8642560A141F}"/>
              </a:ext>
            </a:extLst>
          </p:cNvPr>
          <p:cNvSpPr>
            <a:spLocks xmlns:a="http://schemas.openxmlformats.org/drawingml/2006/main" noGrp="1"/>
          </p:cNvSpPr>
          <p:nvPr/>
        </p:nvSpPr>
        <p:spPr>
          <a:xfrm xmlns:a="http://schemas.openxmlformats.org/drawingml/2006/main">
            <a:off x="3604170" y="2438400"/>
            <a:ext cx="2186885"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680" b="0">
                <a:solidFill>
                  <a:srgbClr val="151312"/>
                </a:solidFill>
                <a:latin typeface="Georgia"/>
                <a:ea typeface="Georgia"/>
                <a:cs typeface="Georgia"/>
              </a:defRPr>
            </a:defPPr>
            <a:lvl1pPr algn="l">
              <a:defRPr sz="1680" b="0">
                <a:solidFill>
                  <a:srgbClr val="151312"/>
                </a:solidFill>
                <a:latin typeface="Georgia"/>
                <a:ea typeface="Georgia"/>
                <a:cs typeface="Georgia"/>
              </a:defRPr>
            </a:lvl1pPr>
            <a:lvl2pPr algn="l">
              <a:defRPr sz="1680" b="0">
                <a:solidFill>
                  <a:srgbClr val="151312"/>
                </a:solidFill>
                <a:latin typeface="Georgia"/>
                <a:ea typeface="Georgia"/>
                <a:cs typeface="Georgia"/>
              </a:defRPr>
            </a:lvl2pPr>
            <a:lvl3pPr algn="l">
              <a:defRPr sz="1680" b="0">
                <a:solidFill>
                  <a:srgbClr val="151312"/>
                </a:solidFill>
                <a:latin typeface="Georgia"/>
                <a:ea typeface="Georgia"/>
                <a:cs typeface="Georgia"/>
              </a:defRPr>
            </a:lvl3pPr>
            <a:lvl4pPr algn="l">
              <a:defRPr sz="1680" b="0">
                <a:solidFill>
                  <a:srgbClr val="151312"/>
                </a:solidFill>
                <a:latin typeface="Georgia"/>
                <a:ea typeface="Georgia"/>
                <a:cs typeface="Georgia"/>
              </a:defRPr>
            </a:lvl4pPr>
            <a:lvl5pPr algn="l">
              <a:defRPr sz="1680" b="0">
                <a:solidFill>
                  <a:srgbClr val="151312"/>
                </a:solidFill>
                <a:latin typeface="Georgia"/>
                <a:ea typeface="Georgia"/>
                <a:cs typeface="Georgia"/>
              </a:defRPr>
            </a:lvl5pPr>
            <a:lvl6pPr algn="l">
              <a:defRPr sz="1680" b="0">
                <a:solidFill>
                  <a:srgbClr val="151312"/>
                </a:solidFill>
                <a:latin typeface="Georgia"/>
                <a:ea typeface="Georgia"/>
                <a:cs typeface="Georgia"/>
              </a:defRPr>
            </a:lvl6pPr>
            <a:lvl7pPr algn="l">
              <a:defRPr sz="1680" b="0">
                <a:solidFill>
                  <a:srgbClr val="151312"/>
                </a:solidFill>
                <a:latin typeface="Georgia"/>
                <a:ea typeface="Georgia"/>
                <a:cs typeface="Georgia"/>
              </a:defRPr>
            </a:lvl7pPr>
            <a:lvl8pPr algn="l">
              <a:defRPr sz="1680" b="0">
                <a:solidFill>
                  <a:srgbClr val="151312"/>
                </a:solidFill>
                <a:latin typeface="Georgia"/>
                <a:ea typeface="Georgia"/>
                <a:cs typeface="Georgia"/>
              </a:defRPr>
            </a:lvl8pPr>
            <a:lvl9pPr algn="l">
              <a:defRPr sz="1680" b="0">
                <a:solidFill>
                  <a:srgbClr val="151312"/>
                </a:solidFill>
                <a:latin typeface="Georgia"/>
                <a:ea typeface="Georgia"/>
                <a:cs typeface="Georgia"/>
              </a:defRPr>
            </a:lvl9pPr>
          </a:lstStyle>
          <a:p xmlns:a="http://schemas.openxmlformats.org/drawingml/2006/main">
            <a:pPr algn="l">
              <a:defRPr sz="1680" b="0">
                <a:solidFill>
                  <a:srgbClr val="151312"/>
                </a:solidFill>
                <a:latin typeface="Georgia"/>
                <a:ea typeface="Georgia"/>
                <a:cs typeface="Georgia"/>
              </a:defRPr>
            </a:pPr>
            <a:r>
              <a:rPr sz="1680" b="0">
                <a:solidFill>
                  <a:srgbClr val="151312"/>
                </a:solidFill>
                <a:latin typeface="Georgia"/>
                <a:ea typeface="Georgia"/>
                <a:cs typeface="Georgia"/>
              </a:rPr>
              <a:t>Small post-cutoff sample</a:t>
            </a:r>
          </a:p>
        </p:txBody>
      </p:sp>
      <p:sp>
        <p:nvSpPr>
          <p:cNvPr id="26" name="">
            <a:extLst xmlns:a="http://schemas.openxmlformats.org/drawingml/2006/main">
              <a:ext uri="{FF2B5EF4-FFF2-40B4-BE49-F238E27FC236}">
                <a16:creationId xmlns:a16="http://schemas.microsoft.com/office/drawing/2014/main" id="{4756463C-041F-4E32-B7A6-E6079783DE62}"/>
              </a:ext>
            </a:extLst>
          </p:cNvPr>
          <p:cNvSpPr>
            <a:spLocks xmlns:a="http://schemas.openxmlformats.org/drawingml/2006/main" noGrp="1"/>
          </p:cNvSpPr>
          <p:nvPr/>
        </p:nvSpPr>
        <p:spPr>
          <a:xfrm xmlns:a="http://schemas.openxmlformats.org/drawingml/2006/main">
            <a:off x="3604170" y="3154680"/>
            <a:ext cx="2186885" cy="1661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380" b="0">
                <a:solidFill>
                  <a:srgbClr val="45413C"/>
                </a:solidFill>
                <a:latin typeface="Arial"/>
                <a:ea typeface="Arial"/>
                <a:cs typeface="Arial"/>
              </a:defRPr>
            </a:defPPr>
            <a:lvl1pPr algn="l">
              <a:defRPr sz="1380" b="0">
                <a:solidFill>
                  <a:srgbClr val="45413C"/>
                </a:solidFill>
                <a:latin typeface="Arial"/>
                <a:ea typeface="Arial"/>
                <a:cs typeface="Arial"/>
              </a:defRPr>
            </a:lvl1pPr>
            <a:lvl2pPr algn="l">
              <a:defRPr sz="1380" b="0">
                <a:solidFill>
                  <a:srgbClr val="45413C"/>
                </a:solidFill>
                <a:latin typeface="Arial"/>
                <a:ea typeface="Arial"/>
                <a:cs typeface="Arial"/>
              </a:defRPr>
            </a:lvl2pPr>
            <a:lvl3pPr algn="l">
              <a:defRPr sz="1380" b="0">
                <a:solidFill>
                  <a:srgbClr val="45413C"/>
                </a:solidFill>
                <a:latin typeface="Arial"/>
                <a:ea typeface="Arial"/>
                <a:cs typeface="Arial"/>
              </a:defRPr>
            </a:lvl3pPr>
            <a:lvl4pPr algn="l">
              <a:defRPr sz="1380" b="0">
                <a:solidFill>
                  <a:srgbClr val="45413C"/>
                </a:solidFill>
                <a:latin typeface="Arial"/>
                <a:ea typeface="Arial"/>
                <a:cs typeface="Arial"/>
              </a:defRPr>
            </a:lvl4pPr>
            <a:lvl5pPr algn="l">
              <a:defRPr sz="1380" b="0">
                <a:solidFill>
                  <a:srgbClr val="45413C"/>
                </a:solidFill>
                <a:latin typeface="Arial"/>
                <a:ea typeface="Arial"/>
                <a:cs typeface="Arial"/>
              </a:defRPr>
            </a:lvl5pPr>
            <a:lvl6pPr algn="l">
              <a:defRPr sz="1380" b="0">
                <a:solidFill>
                  <a:srgbClr val="45413C"/>
                </a:solidFill>
                <a:latin typeface="Arial"/>
                <a:ea typeface="Arial"/>
                <a:cs typeface="Arial"/>
              </a:defRPr>
            </a:lvl6pPr>
            <a:lvl7pPr algn="l">
              <a:defRPr sz="1380" b="0">
                <a:solidFill>
                  <a:srgbClr val="45413C"/>
                </a:solidFill>
                <a:latin typeface="Arial"/>
                <a:ea typeface="Arial"/>
                <a:cs typeface="Arial"/>
              </a:defRPr>
            </a:lvl7pPr>
            <a:lvl8pPr algn="l">
              <a:defRPr sz="1380" b="0">
                <a:solidFill>
                  <a:srgbClr val="45413C"/>
                </a:solidFill>
                <a:latin typeface="Arial"/>
                <a:ea typeface="Arial"/>
                <a:cs typeface="Arial"/>
              </a:defRPr>
            </a:lvl8pPr>
            <a:lvl9pPr algn="l">
              <a:defRPr sz="1380" b="0">
                <a:solidFill>
                  <a:srgbClr val="45413C"/>
                </a:solidFill>
                <a:latin typeface="Arial"/>
                <a:ea typeface="Arial"/>
                <a:cs typeface="Arial"/>
              </a:defRPr>
            </a:lvl9pPr>
          </a:lstStyle>
          <a:p xmlns:a="http://schemas.openxmlformats.org/drawingml/2006/main">
            <a:pPr algn="l">
              <a:defRPr sz="1380" b="0">
                <a:solidFill>
                  <a:srgbClr val="45413C"/>
                </a:solidFill>
                <a:latin typeface="Arial"/>
                <a:ea typeface="Arial"/>
                <a:cs typeface="Arial"/>
              </a:defRPr>
            </a:pPr>
            <a:r>
              <a:rPr sz="1380" b="0">
                <a:solidFill>
                  <a:srgbClr val="45413C"/>
                </a:solidFill>
                <a:latin typeface="Arial"/>
                <a:ea typeface="Arial"/>
                <a:cs typeface="Arial"/>
              </a:rPr>
              <a:t>34 documents since the configured post-cutoff date, 2026-07-01; no independent human reference.</a:t>
            </a:r>
          </a:p>
        </p:txBody>
      </p:sp>
      <p:sp>
        <p:nvSpPr>
          <p:cNvPr id="27" name="">
            <a:extLst xmlns:a="http://schemas.openxmlformats.org/drawingml/2006/main">
              <a:ext uri="{FF2B5EF4-FFF2-40B4-BE49-F238E27FC236}">
                <a16:creationId xmlns:a16="http://schemas.microsoft.com/office/drawing/2014/main" id="{428E8504-F7B5-457B-B3F7-C7B8BFFCC9F2}"/>
              </a:ext>
            </a:extLst>
          </p:cNvPr>
          <p:cNvSpPr>
            <a:spLocks xmlns:a="http://schemas.openxmlformats.org/drawingml/2006/main" noGrp="1"/>
          </p:cNvSpPr>
          <p:nvPr/>
        </p:nvSpPr>
        <p:spPr>
          <a:xfrm xmlns:a="http://schemas.openxmlformats.org/drawingml/2006/main">
            <a:off x="6202525" y="1920240"/>
            <a:ext cx="2583115" cy="3048000"/>
          </a:xfrm>
          <a:prstGeom xmlns:a="http://schemas.openxmlformats.org/drawingml/2006/main" prst="rect">
            <a:avLst/>
          </a:prstGeom>
          <a:solidFill xmlns:a="http://schemas.openxmlformats.org/drawingml/2006/main">
            <a:srgbClr val="FAF8F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A615392-C2DA-490B-9650-FA02EE031E4E}"/>
              </a:ext>
            </a:extLst>
          </p:cNvPr>
          <p:cNvSpPr>
            <a:spLocks xmlns:a="http://schemas.openxmlformats.org/drawingml/2006/main" noGrp="1"/>
          </p:cNvSpPr>
          <p:nvPr/>
        </p:nvSpPr>
        <p:spPr>
          <a:xfrm xmlns:a="http://schemas.openxmlformats.org/drawingml/2006/main">
            <a:off x="6202525" y="1920240"/>
            <a:ext cx="2583115" cy="2286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2C9972E-49FA-46ED-8C76-B68F2B67B6D6}"/>
              </a:ext>
            </a:extLst>
          </p:cNvPr>
          <p:cNvSpPr>
            <a:spLocks xmlns:a="http://schemas.openxmlformats.org/drawingml/2006/main" noGrp="1"/>
          </p:cNvSpPr>
          <p:nvPr/>
        </p:nvSpPr>
        <p:spPr>
          <a:xfrm xmlns:a="http://schemas.openxmlformats.org/drawingml/2006/main">
            <a:off x="6400640" y="2103120"/>
            <a:ext cx="218688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1">
                <a:solidFill>
                  <a:srgbClr val="C8401F"/>
                </a:solidFill>
                <a:latin typeface="Arial"/>
                <a:ea typeface="Arial"/>
                <a:cs typeface="Arial"/>
              </a:defRPr>
            </a:defPPr>
            <a:lvl1pPr algn="l">
              <a:defRPr sz="1320" b="1">
                <a:solidFill>
                  <a:srgbClr val="C8401F"/>
                </a:solidFill>
                <a:latin typeface="Arial"/>
                <a:ea typeface="Arial"/>
                <a:cs typeface="Arial"/>
              </a:defRPr>
            </a:lvl1pPr>
            <a:lvl2pPr algn="l">
              <a:defRPr sz="1320" b="1">
                <a:solidFill>
                  <a:srgbClr val="C8401F"/>
                </a:solidFill>
                <a:latin typeface="Arial"/>
                <a:ea typeface="Arial"/>
                <a:cs typeface="Arial"/>
              </a:defRPr>
            </a:lvl2pPr>
            <a:lvl3pPr algn="l">
              <a:defRPr sz="1320" b="1">
                <a:solidFill>
                  <a:srgbClr val="C8401F"/>
                </a:solidFill>
                <a:latin typeface="Arial"/>
                <a:ea typeface="Arial"/>
                <a:cs typeface="Arial"/>
              </a:defRPr>
            </a:lvl3pPr>
            <a:lvl4pPr algn="l">
              <a:defRPr sz="1320" b="1">
                <a:solidFill>
                  <a:srgbClr val="C8401F"/>
                </a:solidFill>
                <a:latin typeface="Arial"/>
                <a:ea typeface="Arial"/>
                <a:cs typeface="Arial"/>
              </a:defRPr>
            </a:lvl4pPr>
            <a:lvl5pPr algn="l">
              <a:defRPr sz="1320" b="1">
                <a:solidFill>
                  <a:srgbClr val="C8401F"/>
                </a:solidFill>
                <a:latin typeface="Arial"/>
                <a:ea typeface="Arial"/>
                <a:cs typeface="Arial"/>
              </a:defRPr>
            </a:lvl5pPr>
            <a:lvl6pPr algn="l">
              <a:defRPr sz="1320" b="1">
                <a:solidFill>
                  <a:srgbClr val="C8401F"/>
                </a:solidFill>
                <a:latin typeface="Arial"/>
                <a:ea typeface="Arial"/>
                <a:cs typeface="Arial"/>
              </a:defRPr>
            </a:lvl6pPr>
            <a:lvl7pPr algn="l">
              <a:defRPr sz="1320" b="1">
                <a:solidFill>
                  <a:srgbClr val="C8401F"/>
                </a:solidFill>
                <a:latin typeface="Arial"/>
                <a:ea typeface="Arial"/>
                <a:cs typeface="Arial"/>
              </a:defRPr>
            </a:lvl7pPr>
            <a:lvl8pPr algn="l">
              <a:defRPr sz="1320" b="1">
                <a:solidFill>
                  <a:srgbClr val="C8401F"/>
                </a:solidFill>
                <a:latin typeface="Arial"/>
                <a:ea typeface="Arial"/>
                <a:cs typeface="Arial"/>
              </a:defRPr>
            </a:lvl8pPr>
            <a:lvl9pPr algn="l">
              <a:defRPr sz="1320" b="1">
                <a:solidFill>
                  <a:srgbClr val="C8401F"/>
                </a:solidFill>
                <a:latin typeface="Arial"/>
                <a:ea typeface="Arial"/>
                <a:cs typeface="Arial"/>
              </a:defRPr>
            </a:lvl9pPr>
          </a:lstStyle>
          <a:p xmlns:a="http://schemas.openxmlformats.org/drawingml/2006/main">
            <a:pPr algn="l">
              <a:defRPr sz="1320" b="1">
                <a:solidFill>
                  <a:srgbClr val="C8401F"/>
                </a:solidFill>
                <a:latin typeface="Arial"/>
                <a:ea typeface="Arial"/>
                <a:cs typeface="Arial"/>
              </a:defRPr>
            </a:pPr>
            <a:r>
              <a:rPr sz="1320" b="1">
                <a:solidFill>
                  <a:srgbClr val="C8401F"/>
                </a:solidFill>
                <a:latin typeface="Arial"/>
                <a:ea typeface="Arial"/>
                <a:cs typeface="Arial"/>
              </a:rPr>
              <a:t>03</a:t>
            </a:r>
          </a:p>
        </p:txBody>
      </p:sp>
      <p:sp>
        <p:nvSpPr>
          <p:cNvPr id="30" name="">
            <a:extLst xmlns:a="http://schemas.openxmlformats.org/drawingml/2006/main">
              <a:ext uri="{FF2B5EF4-FFF2-40B4-BE49-F238E27FC236}">
                <a16:creationId xmlns:a16="http://schemas.microsoft.com/office/drawing/2014/main" id="{33C1F142-07BF-40BE-B069-2BD4847994F1}"/>
              </a:ext>
            </a:extLst>
          </p:cNvPr>
          <p:cNvSpPr>
            <a:spLocks xmlns:a="http://schemas.openxmlformats.org/drawingml/2006/main" noGrp="1"/>
          </p:cNvSpPr>
          <p:nvPr/>
        </p:nvSpPr>
        <p:spPr>
          <a:xfrm xmlns:a="http://schemas.openxmlformats.org/drawingml/2006/main">
            <a:off x="6400640" y="2438400"/>
            <a:ext cx="2186885"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680" b="0">
                <a:solidFill>
                  <a:srgbClr val="151312"/>
                </a:solidFill>
                <a:latin typeface="Georgia"/>
                <a:ea typeface="Georgia"/>
                <a:cs typeface="Georgia"/>
              </a:defRPr>
            </a:defPPr>
            <a:lvl1pPr algn="l">
              <a:defRPr sz="1680" b="0">
                <a:solidFill>
                  <a:srgbClr val="151312"/>
                </a:solidFill>
                <a:latin typeface="Georgia"/>
                <a:ea typeface="Georgia"/>
                <a:cs typeface="Georgia"/>
              </a:defRPr>
            </a:lvl1pPr>
            <a:lvl2pPr algn="l">
              <a:defRPr sz="1680" b="0">
                <a:solidFill>
                  <a:srgbClr val="151312"/>
                </a:solidFill>
                <a:latin typeface="Georgia"/>
                <a:ea typeface="Georgia"/>
                <a:cs typeface="Georgia"/>
              </a:defRPr>
            </a:lvl2pPr>
            <a:lvl3pPr algn="l">
              <a:defRPr sz="1680" b="0">
                <a:solidFill>
                  <a:srgbClr val="151312"/>
                </a:solidFill>
                <a:latin typeface="Georgia"/>
                <a:ea typeface="Georgia"/>
                <a:cs typeface="Georgia"/>
              </a:defRPr>
            </a:lvl3pPr>
            <a:lvl4pPr algn="l">
              <a:defRPr sz="1680" b="0">
                <a:solidFill>
                  <a:srgbClr val="151312"/>
                </a:solidFill>
                <a:latin typeface="Georgia"/>
                <a:ea typeface="Georgia"/>
                <a:cs typeface="Georgia"/>
              </a:defRPr>
            </a:lvl4pPr>
            <a:lvl5pPr algn="l">
              <a:defRPr sz="1680" b="0">
                <a:solidFill>
                  <a:srgbClr val="151312"/>
                </a:solidFill>
                <a:latin typeface="Georgia"/>
                <a:ea typeface="Georgia"/>
                <a:cs typeface="Georgia"/>
              </a:defRPr>
            </a:lvl5pPr>
            <a:lvl6pPr algn="l">
              <a:defRPr sz="1680" b="0">
                <a:solidFill>
                  <a:srgbClr val="151312"/>
                </a:solidFill>
                <a:latin typeface="Georgia"/>
                <a:ea typeface="Georgia"/>
                <a:cs typeface="Georgia"/>
              </a:defRPr>
            </a:lvl6pPr>
            <a:lvl7pPr algn="l">
              <a:defRPr sz="1680" b="0">
                <a:solidFill>
                  <a:srgbClr val="151312"/>
                </a:solidFill>
                <a:latin typeface="Georgia"/>
                <a:ea typeface="Georgia"/>
                <a:cs typeface="Georgia"/>
              </a:defRPr>
            </a:lvl7pPr>
            <a:lvl8pPr algn="l">
              <a:defRPr sz="1680" b="0">
                <a:solidFill>
                  <a:srgbClr val="151312"/>
                </a:solidFill>
                <a:latin typeface="Georgia"/>
                <a:ea typeface="Georgia"/>
                <a:cs typeface="Georgia"/>
              </a:defRPr>
            </a:lvl8pPr>
            <a:lvl9pPr algn="l">
              <a:defRPr sz="1680" b="0">
                <a:solidFill>
                  <a:srgbClr val="151312"/>
                </a:solidFill>
                <a:latin typeface="Georgia"/>
                <a:ea typeface="Georgia"/>
                <a:cs typeface="Georgia"/>
              </a:defRPr>
            </a:lvl9pPr>
          </a:lstStyle>
          <a:p xmlns:a="http://schemas.openxmlformats.org/drawingml/2006/main">
            <a:pPr algn="l">
              <a:defRPr sz="1680" b="0">
                <a:solidFill>
                  <a:srgbClr val="151312"/>
                </a:solidFill>
                <a:latin typeface="Georgia"/>
                <a:ea typeface="Georgia"/>
                <a:cs typeface="Georgia"/>
              </a:defRPr>
            </a:pPr>
            <a:r>
              <a:rPr sz="1680" b="0">
                <a:solidFill>
                  <a:srgbClr val="151312"/>
                </a:solidFill>
                <a:latin typeface="Georgia"/>
                <a:ea typeface="Georgia"/>
                <a:cs typeface="Georgia"/>
              </a:rPr>
              <a:t>No post-cutoff human test</a:t>
            </a:r>
          </a:p>
        </p:txBody>
      </p:sp>
      <p:sp>
        <p:nvSpPr>
          <p:cNvPr id="31" name="">
            <a:extLst xmlns:a="http://schemas.openxmlformats.org/drawingml/2006/main">
              <a:ext uri="{FF2B5EF4-FFF2-40B4-BE49-F238E27FC236}">
                <a16:creationId xmlns:a16="http://schemas.microsoft.com/office/drawing/2014/main" id="{66779374-D93A-44D9-BE58-9529F725827F}"/>
              </a:ext>
            </a:extLst>
          </p:cNvPr>
          <p:cNvSpPr>
            <a:spLocks xmlns:a="http://schemas.openxmlformats.org/drawingml/2006/main" noGrp="1"/>
          </p:cNvSpPr>
          <p:nvPr/>
        </p:nvSpPr>
        <p:spPr>
          <a:xfrm xmlns:a="http://schemas.openxmlformats.org/drawingml/2006/main">
            <a:off x="6400640" y="3154680"/>
            <a:ext cx="2186885" cy="1661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380" b="0">
                <a:solidFill>
                  <a:srgbClr val="45413C"/>
                </a:solidFill>
                <a:latin typeface="Arial"/>
                <a:ea typeface="Arial"/>
                <a:cs typeface="Arial"/>
              </a:defRPr>
            </a:defPPr>
            <a:lvl1pPr algn="l">
              <a:defRPr sz="1380" b="0">
                <a:solidFill>
                  <a:srgbClr val="45413C"/>
                </a:solidFill>
                <a:latin typeface="Arial"/>
                <a:ea typeface="Arial"/>
                <a:cs typeface="Arial"/>
              </a:defRPr>
            </a:lvl1pPr>
            <a:lvl2pPr algn="l">
              <a:defRPr sz="1380" b="0">
                <a:solidFill>
                  <a:srgbClr val="45413C"/>
                </a:solidFill>
                <a:latin typeface="Arial"/>
                <a:ea typeface="Arial"/>
                <a:cs typeface="Arial"/>
              </a:defRPr>
            </a:lvl2pPr>
            <a:lvl3pPr algn="l">
              <a:defRPr sz="1380" b="0">
                <a:solidFill>
                  <a:srgbClr val="45413C"/>
                </a:solidFill>
                <a:latin typeface="Arial"/>
                <a:ea typeface="Arial"/>
                <a:cs typeface="Arial"/>
              </a:defRPr>
            </a:lvl3pPr>
            <a:lvl4pPr algn="l">
              <a:defRPr sz="1380" b="0">
                <a:solidFill>
                  <a:srgbClr val="45413C"/>
                </a:solidFill>
                <a:latin typeface="Arial"/>
                <a:ea typeface="Arial"/>
                <a:cs typeface="Arial"/>
              </a:defRPr>
            </a:lvl4pPr>
            <a:lvl5pPr algn="l">
              <a:defRPr sz="1380" b="0">
                <a:solidFill>
                  <a:srgbClr val="45413C"/>
                </a:solidFill>
                <a:latin typeface="Arial"/>
                <a:ea typeface="Arial"/>
                <a:cs typeface="Arial"/>
              </a:defRPr>
            </a:lvl5pPr>
            <a:lvl6pPr algn="l">
              <a:defRPr sz="1380" b="0">
                <a:solidFill>
                  <a:srgbClr val="45413C"/>
                </a:solidFill>
                <a:latin typeface="Arial"/>
                <a:ea typeface="Arial"/>
                <a:cs typeface="Arial"/>
              </a:defRPr>
            </a:lvl6pPr>
            <a:lvl7pPr algn="l">
              <a:defRPr sz="1380" b="0">
                <a:solidFill>
                  <a:srgbClr val="45413C"/>
                </a:solidFill>
                <a:latin typeface="Arial"/>
                <a:ea typeface="Arial"/>
                <a:cs typeface="Arial"/>
              </a:defRPr>
            </a:lvl7pPr>
            <a:lvl8pPr algn="l">
              <a:defRPr sz="1380" b="0">
                <a:solidFill>
                  <a:srgbClr val="45413C"/>
                </a:solidFill>
                <a:latin typeface="Arial"/>
                <a:ea typeface="Arial"/>
                <a:cs typeface="Arial"/>
              </a:defRPr>
            </a:lvl8pPr>
            <a:lvl9pPr algn="l">
              <a:defRPr sz="1380" b="0">
                <a:solidFill>
                  <a:srgbClr val="45413C"/>
                </a:solidFill>
                <a:latin typeface="Arial"/>
                <a:ea typeface="Arial"/>
                <a:cs typeface="Arial"/>
              </a:defRPr>
            </a:lvl9pPr>
          </a:lstStyle>
          <a:p xmlns:a="http://schemas.openxmlformats.org/drawingml/2006/main">
            <a:pPr algn="l">
              <a:defRPr sz="1380" b="0">
                <a:solidFill>
                  <a:srgbClr val="45413C"/>
                </a:solidFill>
                <a:latin typeface="Arial"/>
                <a:ea typeface="Arial"/>
                <a:cs typeface="Arial"/>
              </a:defRPr>
            </a:pPr>
            <a:r>
              <a:rPr sz="1380" b="0">
                <a:solidFill>
                  <a:srgbClr val="45413C"/>
                </a:solidFill>
                <a:latin typeface="Arial"/>
                <a:ea typeface="Arial"/>
                <a:cs typeface="Arial"/>
              </a:rPr>
              <a:t>150 sentences have model predictions. No post-cutoff human or cross-model validation was performed.</a:t>
            </a:r>
          </a:p>
        </p:txBody>
      </p:sp>
      <p:sp>
        <p:nvSpPr>
          <p:cNvPr id="32" name="">
            <a:extLst xmlns:a="http://schemas.openxmlformats.org/drawingml/2006/main">
              <a:ext uri="{FF2B5EF4-FFF2-40B4-BE49-F238E27FC236}">
                <a16:creationId xmlns:a16="http://schemas.microsoft.com/office/drawing/2014/main" id="{10691D16-24E6-404D-863A-4321A8DC19E2}"/>
              </a:ext>
            </a:extLst>
          </p:cNvPr>
          <p:cNvSpPr>
            <a:spLocks xmlns:a="http://schemas.openxmlformats.org/drawingml/2006/main" noGrp="1"/>
          </p:cNvSpPr>
          <p:nvPr/>
        </p:nvSpPr>
        <p:spPr>
          <a:xfrm xmlns:a="http://schemas.openxmlformats.org/drawingml/2006/main">
            <a:off x="8998995" y="1920240"/>
            <a:ext cx="2583115" cy="3048000"/>
          </a:xfrm>
          <a:prstGeom xmlns:a="http://schemas.openxmlformats.org/drawingml/2006/main" prst="rect">
            <a:avLst/>
          </a:prstGeom>
          <a:solidFill xmlns:a="http://schemas.openxmlformats.org/drawingml/2006/main">
            <a:srgbClr val="FAF8F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00D77C9-82CA-4943-A697-E11A75941ADB}"/>
              </a:ext>
            </a:extLst>
          </p:cNvPr>
          <p:cNvSpPr>
            <a:spLocks xmlns:a="http://schemas.openxmlformats.org/drawingml/2006/main" noGrp="1"/>
          </p:cNvSpPr>
          <p:nvPr/>
        </p:nvSpPr>
        <p:spPr>
          <a:xfrm xmlns:a="http://schemas.openxmlformats.org/drawingml/2006/main">
            <a:off x="8998995" y="1920240"/>
            <a:ext cx="2583115" cy="22860"/>
          </a:xfrm>
          <a:prstGeom xmlns:a="http://schemas.openxmlformats.org/drawingml/2006/main" prst="rect">
            <a:avLst/>
          </a:prstGeom>
          <a:solidFill xmlns:a="http://schemas.openxmlformats.org/drawingml/2006/main">
            <a:srgbClr val="151312"/>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FAA2E986-250A-495C-8CC4-1F10F21DB91D}"/>
              </a:ext>
            </a:extLst>
          </p:cNvPr>
          <p:cNvSpPr>
            <a:spLocks xmlns:a="http://schemas.openxmlformats.org/drawingml/2006/main" noGrp="1"/>
          </p:cNvSpPr>
          <p:nvPr/>
        </p:nvSpPr>
        <p:spPr>
          <a:xfrm xmlns:a="http://schemas.openxmlformats.org/drawingml/2006/main">
            <a:off x="9197110" y="2103120"/>
            <a:ext cx="218688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1">
                <a:solidFill>
                  <a:srgbClr val="C8401F"/>
                </a:solidFill>
                <a:latin typeface="Arial"/>
                <a:ea typeface="Arial"/>
                <a:cs typeface="Arial"/>
              </a:defRPr>
            </a:defPPr>
            <a:lvl1pPr algn="l">
              <a:defRPr sz="1320" b="1">
                <a:solidFill>
                  <a:srgbClr val="C8401F"/>
                </a:solidFill>
                <a:latin typeface="Arial"/>
                <a:ea typeface="Arial"/>
                <a:cs typeface="Arial"/>
              </a:defRPr>
            </a:lvl1pPr>
            <a:lvl2pPr algn="l">
              <a:defRPr sz="1320" b="1">
                <a:solidFill>
                  <a:srgbClr val="C8401F"/>
                </a:solidFill>
                <a:latin typeface="Arial"/>
                <a:ea typeface="Arial"/>
                <a:cs typeface="Arial"/>
              </a:defRPr>
            </a:lvl2pPr>
            <a:lvl3pPr algn="l">
              <a:defRPr sz="1320" b="1">
                <a:solidFill>
                  <a:srgbClr val="C8401F"/>
                </a:solidFill>
                <a:latin typeface="Arial"/>
                <a:ea typeface="Arial"/>
                <a:cs typeface="Arial"/>
              </a:defRPr>
            </a:lvl3pPr>
            <a:lvl4pPr algn="l">
              <a:defRPr sz="1320" b="1">
                <a:solidFill>
                  <a:srgbClr val="C8401F"/>
                </a:solidFill>
                <a:latin typeface="Arial"/>
                <a:ea typeface="Arial"/>
                <a:cs typeface="Arial"/>
              </a:defRPr>
            </a:lvl4pPr>
            <a:lvl5pPr algn="l">
              <a:defRPr sz="1320" b="1">
                <a:solidFill>
                  <a:srgbClr val="C8401F"/>
                </a:solidFill>
                <a:latin typeface="Arial"/>
                <a:ea typeface="Arial"/>
                <a:cs typeface="Arial"/>
              </a:defRPr>
            </a:lvl5pPr>
            <a:lvl6pPr algn="l">
              <a:defRPr sz="1320" b="1">
                <a:solidFill>
                  <a:srgbClr val="C8401F"/>
                </a:solidFill>
                <a:latin typeface="Arial"/>
                <a:ea typeface="Arial"/>
                <a:cs typeface="Arial"/>
              </a:defRPr>
            </a:lvl6pPr>
            <a:lvl7pPr algn="l">
              <a:defRPr sz="1320" b="1">
                <a:solidFill>
                  <a:srgbClr val="C8401F"/>
                </a:solidFill>
                <a:latin typeface="Arial"/>
                <a:ea typeface="Arial"/>
                <a:cs typeface="Arial"/>
              </a:defRPr>
            </a:lvl7pPr>
            <a:lvl8pPr algn="l">
              <a:defRPr sz="1320" b="1">
                <a:solidFill>
                  <a:srgbClr val="C8401F"/>
                </a:solidFill>
                <a:latin typeface="Arial"/>
                <a:ea typeface="Arial"/>
                <a:cs typeface="Arial"/>
              </a:defRPr>
            </a:lvl8pPr>
            <a:lvl9pPr algn="l">
              <a:defRPr sz="1320" b="1">
                <a:solidFill>
                  <a:srgbClr val="C8401F"/>
                </a:solidFill>
                <a:latin typeface="Arial"/>
                <a:ea typeface="Arial"/>
                <a:cs typeface="Arial"/>
              </a:defRPr>
            </a:lvl9pPr>
          </a:lstStyle>
          <a:p xmlns:a="http://schemas.openxmlformats.org/drawingml/2006/main">
            <a:pPr algn="l">
              <a:defRPr sz="1320" b="1">
                <a:solidFill>
                  <a:srgbClr val="C8401F"/>
                </a:solidFill>
                <a:latin typeface="Arial"/>
                <a:ea typeface="Arial"/>
                <a:cs typeface="Arial"/>
              </a:defRPr>
            </a:pPr>
            <a:r>
              <a:rPr sz="1320" b="1">
                <a:solidFill>
                  <a:srgbClr val="C8401F"/>
                </a:solidFill>
                <a:latin typeface="Arial"/>
                <a:ea typeface="Arial"/>
                <a:cs typeface="Arial"/>
              </a:rPr>
              <a:t>04</a:t>
            </a:r>
          </a:p>
        </p:txBody>
      </p:sp>
      <p:sp>
        <p:nvSpPr>
          <p:cNvPr id="35" name="">
            <a:extLst xmlns:a="http://schemas.openxmlformats.org/drawingml/2006/main">
              <a:ext uri="{FF2B5EF4-FFF2-40B4-BE49-F238E27FC236}">
                <a16:creationId xmlns:a16="http://schemas.microsoft.com/office/drawing/2014/main" id="{CCF0ECAA-B3BA-4D0F-B373-045ADC36BBB7}"/>
              </a:ext>
            </a:extLst>
          </p:cNvPr>
          <p:cNvSpPr>
            <a:spLocks xmlns:a="http://schemas.openxmlformats.org/drawingml/2006/main" noGrp="1"/>
          </p:cNvSpPr>
          <p:nvPr/>
        </p:nvSpPr>
        <p:spPr>
          <a:xfrm xmlns:a="http://schemas.openxmlformats.org/drawingml/2006/main">
            <a:off x="9197110" y="2438400"/>
            <a:ext cx="2186885"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680" b="0">
                <a:solidFill>
                  <a:srgbClr val="151312"/>
                </a:solidFill>
                <a:latin typeface="Georgia"/>
                <a:ea typeface="Georgia"/>
                <a:cs typeface="Georgia"/>
              </a:defRPr>
            </a:defPPr>
            <a:lvl1pPr algn="l">
              <a:defRPr sz="1680" b="0">
                <a:solidFill>
                  <a:srgbClr val="151312"/>
                </a:solidFill>
                <a:latin typeface="Georgia"/>
                <a:ea typeface="Georgia"/>
                <a:cs typeface="Georgia"/>
              </a:defRPr>
            </a:lvl1pPr>
            <a:lvl2pPr algn="l">
              <a:defRPr sz="1680" b="0">
                <a:solidFill>
                  <a:srgbClr val="151312"/>
                </a:solidFill>
                <a:latin typeface="Georgia"/>
                <a:ea typeface="Georgia"/>
                <a:cs typeface="Georgia"/>
              </a:defRPr>
            </a:lvl2pPr>
            <a:lvl3pPr algn="l">
              <a:defRPr sz="1680" b="0">
                <a:solidFill>
                  <a:srgbClr val="151312"/>
                </a:solidFill>
                <a:latin typeface="Georgia"/>
                <a:ea typeface="Georgia"/>
                <a:cs typeface="Georgia"/>
              </a:defRPr>
            </a:lvl3pPr>
            <a:lvl4pPr algn="l">
              <a:defRPr sz="1680" b="0">
                <a:solidFill>
                  <a:srgbClr val="151312"/>
                </a:solidFill>
                <a:latin typeface="Georgia"/>
                <a:ea typeface="Georgia"/>
                <a:cs typeface="Georgia"/>
              </a:defRPr>
            </a:lvl4pPr>
            <a:lvl5pPr algn="l">
              <a:defRPr sz="1680" b="0">
                <a:solidFill>
                  <a:srgbClr val="151312"/>
                </a:solidFill>
                <a:latin typeface="Georgia"/>
                <a:ea typeface="Georgia"/>
                <a:cs typeface="Georgia"/>
              </a:defRPr>
            </a:lvl5pPr>
            <a:lvl6pPr algn="l">
              <a:defRPr sz="1680" b="0">
                <a:solidFill>
                  <a:srgbClr val="151312"/>
                </a:solidFill>
                <a:latin typeface="Georgia"/>
                <a:ea typeface="Georgia"/>
                <a:cs typeface="Georgia"/>
              </a:defRPr>
            </a:lvl6pPr>
            <a:lvl7pPr algn="l">
              <a:defRPr sz="1680" b="0">
                <a:solidFill>
                  <a:srgbClr val="151312"/>
                </a:solidFill>
                <a:latin typeface="Georgia"/>
                <a:ea typeface="Georgia"/>
                <a:cs typeface="Georgia"/>
              </a:defRPr>
            </a:lvl7pPr>
            <a:lvl8pPr algn="l">
              <a:defRPr sz="1680" b="0">
                <a:solidFill>
                  <a:srgbClr val="151312"/>
                </a:solidFill>
                <a:latin typeface="Georgia"/>
                <a:ea typeface="Georgia"/>
                <a:cs typeface="Georgia"/>
              </a:defRPr>
            </a:lvl8pPr>
            <a:lvl9pPr algn="l">
              <a:defRPr sz="1680" b="0">
                <a:solidFill>
                  <a:srgbClr val="151312"/>
                </a:solidFill>
                <a:latin typeface="Georgia"/>
                <a:ea typeface="Georgia"/>
                <a:cs typeface="Georgia"/>
              </a:defRPr>
            </a:lvl9pPr>
          </a:lstStyle>
          <a:p xmlns:a="http://schemas.openxmlformats.org/drawingml/2006/main">
            <a:pPr algn="l">
              <a:defRPr sz="1680" b="0">
                <a:solidFill>
                  <a:srgbClr val="151312"/>
                </a:solidFill>
                <a:latin typeface="Georgia"/>
                <a:ea typeface="Georgia"/>
                <a:cs typeface="Georgia"/>
              </a:defRPr>
            </a:pPr>
            <a:r>
              <a:rPr sz="1680" b="0">
                <a:solidFill>
                  <a:srgbClr val="151312"/>
                </a:solidFill>
                <a:latin typeface="Georgia"/>
                <a:ea typeface="Georgia"/>
                <a:cs typeface="Georgia"/>
              </a:rPr>
              <a:t>Public labels may be familiar</a:t>
            </a:r>
          </a:p>
        </p:txBody>
      </p:sp>
      <p:sp>
        <p:nvSpPr>
          <p:cNvPr id="36" name="">
            <a:extLst xmlns:a="http://schemas.openxmlformats.org/drawingml/2006/main">
              <a:ext uri="{FF2B5EF4-FFF2-40B4-BE49-F238E27FC236}">
                <a16:creationId xmlns:a16="http://schemas.microsoft.com/office/drawing/2014/main" id="{301FDC0D-1E13-4382-A08B-51831EDA3C56}"/>
              </a:ext>
            </a:extLst>
          </p:cNvPr>
          <p:cNvSpPr>
            <a:spLocks xmlns:a="http://schemas.openxmlformats.org/drawingml/2006/main" noGrp="1"/>
          </p:cNvSpPr>
          <p:nvPr/>
        </p:nvSpPr>
        <p:spPr>
          <a:xfrm xmlns:a="http://schemas.openxmlformats.org/drawingml/2006/main">
            <a:off x="9197110" y="3154680"/>
            <a:ext cx="2186885" cy="1661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380" b="0">
                <a:solidFill>
                  <a:srgbClr val="45413C"/>
                </a:solidFill>
                <a:latin typeface="Arial"/>
                <a:ea typeface="Arial"/>
                <a:cs typeface="Arial"/>
              </a:defRPr>
            </a:defPPr>
            <a:lvl1pPr algn="l">
              <a:defRPr sz="1380" b="0">
                <a:solidFill>
                  <a:srgbClr val="45413C"/>
                </a:solidFill>
                <a:latin typeface="Arial"/>
                <a:ea typeface="Arial"/>
                <a:cs typeface="Arial"/>
              </a:defRPr>
            </a:lvl1pPr>
            <a:lvl2pPr algn="l">
              <a:defRPr sz="1380" b="0">
                <a:solidFill>
                  <a:srgbClr val="45413C"/>
                </a:solidFill>
                <a:latin typeface="Arial"/>
                <a:ea typeface="Arial"/>
                <a:cs typeface="Arial"/>
              </a:defRPr>
            </a:lvl2pPr>
            <a:lvl3pPr algn="l">
              <a:defRPr sz="1380" b="0">
                <a:solidFill>
                  <a:srgbClr val="45413C"/>
                </a:solidFill>
                <a:latin typeface="Arial"/>
                <a:ea typeface="Arial"/>
                <a:cs typeface="Arial"/>
              </a:defRPr>
            </a:lvl3pPr>
            <a:lvl4pPr algn="l">
              <a:defRPr sz="1380" b="0">
                <a:solidFill>
                  <a:srgbClr val="45413C"/>
                </a:solidFill>
                <a:latin typeface="Arial"/>
                <a:ea typeface="Arial"/>
                <a:cs typeface="Arial"/>
              </a:defRPr>
            </a:lvl4pPr>
            <a:lvl5pPr algn="l">
              <a:defRPr sz="1380" b="0">
                <a:solidFill>
                  <a:srgbClr val="45413C"/>
                </a:solidFill>
                <a:latin typeface="Arial"/>
                <a:ea typeface="Arial"/>
                <a:cs typeface="Arial"/>
              </a:defRPr>
            </a:lvl5pPr>
            <a:lvl6pPr algn="l">
              <a:defRPr sz="1380" b="0">
                <a:solidFill>
                  <a:srgbClr val="45413C"/>
                </a:solidFill>
                <a:latin typeface="Arial"/>
                <a:ea typeface="Arial"/>
                <a:cs typeface="Arial"/>
              </a:defRPr>
            </a:lvl6pPr>
            <a:lvl7pPr algn="l">
              <a:defRPr sz="1380" b="0">
                <a:solidFill>
                  <a:srgbClr val="45413C"/>
                </a:solidFill>
                <a:latin typeface="Arial"/>
                <a:ea typeface="Arial"/>
                <a:cs typeface="Arial"/>
              </a:defRPr>
            </a:lvl7pPr>
            <a:lvl8pPr algn="l">
              <a:defRPr sz="1380" b="0">
                <a:solidFill>
                  <a:srgbClr val="45413C"/>
                </a:solidFill>
                <a:latin typeface="Arial"/>
                <a:ea typeface="Arial"/>
                <a:cs typeface="Arial"/>
              </a:defRPr>
            </a:lvl8pPr>
            <a:lvl9pPr algn="l">
              <a:defRPr sz="1380" b="0">
                <a:solidFill>
                  <a:srgbClr val="45413C"/>
                </a:solidFill>
                <a:latin typeface="Arial"/>
                <a:ea typeface="Arial"/>
                <a:cs typeface="Arial"/>
              </a:defRPr>
            </a:lvl9pPr>
          </a:lstStyle>
          <a:p xmlns:a="http://schemas.openxmlformats.org/drawingml/2006/main">
            <a:pPr algn="l">
              <a:defRPr sz="1380" b="0">
                <a:solidFill>
                  <a:srgbClr val="45413C"/>
                </a:solidFill>
                <a:latin typeface="Arial"/>
                <a:ea typeface="Arial"/>
                <a:cs typeface="Arial"/>
              </a:defRPr>
            </a:pPr>
            <a:r>
              <a:rPr sz="1380" b="0">
                <a:solidFill>
                  <a:srgbClr val="45413C"/>
                </a:solidFill>
                <a:latin typeface="Arial"/>
                <a:ea typeface="Arial"/>
                <a:cs typeface="Arial"/>
              </a:rPr>
              <a:t>Expert labels may be in the model's training data. Masking dates and names partly addresses this risk.</a:t>
            </a:r>
          </a:p>
        </p:txBody>
      </p:sp>
    </p:spTree>
    <p:extLst>
      <p:ext uri="{BB962C8B-B14F-4D97-AF65-F5344CB8AC3E}">
        <p14:creationId xmlns:p14="http://schemas.microsoft.com/office/powerpoint/2010/main" val="1926952259"/>
      </p:ext>
    </p:extLst>
  </p:cSld>
</p:sld>
</file>

<file path=ppt/slides/slide46.xml><?xml version="1.0" encoding="utf-8"?>
<p:sld xmlns:p="http://schemas.openxmlformats.org/presentationml/2006/main">
  <p:cSld>
    <p:bg>
      <p:bgPr>
        <a:solidFill xmlns:a="http://schemas.openxmlformats.org/drawingml/2006/main">
          <a:srgbClr val="F1ECE2"/>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DFB0E4B-4074-4A7B-B5AB-03DA73E150EA}"/>
              </a:ext>
            </a:extLst>
          </p:cNvPr>
          <p:cNvPicPr>
            <a:picLocks xmlns:a="http://schemas.openxmlformats.org/drawingml/2006/main" noChangeAspect="1"/>
          </p:cNvPicPr>
          <p:nvPr/>
        </p:nvPicPr>
        <p:blipFill>
          <a:blip xmlns:r="http://schemas.openxmlformats.org/officeDocument/2006/relationships" xmlns:a="http://schemas.openxmlformats.org/drawingml/2006/main" r:embed="R003c68f0d5df4bf7"/>
          <a:stretch xmlns:a="http://schemas.openxmlformats.org/drawingml/2006/main"/>
        </p:blipFill>
        <p:spPr>
          <a:xfrm xmlns:a="http://schemas.openxmlformats.org/drawingml/2006/main">
            <a:off x="609585" y="426726"/>
            <a:ext cx="487668" cy="487668"/>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0819C39-CB0A-4546-9C95-327E6241B922}"/>
              </a:ext>
            </a:extLst>
          </p:cNvPr>
          <p:cNvSpPr>
            <a:spLocks xmlns:a="http://schemas.openxmlformats.org/drawingml/2006/main" noGrp="1"/>
          </p:cNvSpPr>
          <p:nvPr/>
        </p:nvSpPr>
        <p:spPr>
          <a:xfrm xmlns:a="http://schemas.openxmlformats.org/drawingml/2006/main">
            <a:off x="1295368" y="518160"/>
            <a:ext cx="1028674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20" b="1">
                <a:solidFill>
                  <a:srgbClr val="55504A"/>
                </a:solidFill>
                <a:latin typeface="Arial"/>
                <a:ea typeface="Arial"/>
                <a:cs typeface="Arial"/>
              </a:defRPr>
            </a:defPPr>
            <a:lvl1pPr algn="l">
              <a:defRPr sz="1020" b="1">
                <a:solidFill>
                  <a:srgbClr val="55504A"/>
                </a:solidFill>
                <a:latin typeface="Arial"/>
                <a:ea typeface="Arial"/>
                <a:cs typeface="Arial"/>
              </a:defRPr>
            </a:lvl1pPr>
            <a:lvl2pPr algn="l">
              <a:defRPr sz="1020" b="1">
                <a:solidFill>
                  <a:srgbClr val="55504A"/>
                </a:solidFill>
                <a:latin typeface="Arial"/>
                <a:ea typeface="Arial"/>
                <a:cs typeface="Arial"/>
              </a:defRPr>
            </a:lvl2pPr>
            <a:lvl3pPr algn="l">
              <a:defRPr sz="1020" b="1">
                <a:solidFill>
                  <a:srgbClr val="55504A"/>
                </a:solidFill>
                <a:latin typeface="Arial"/>
                <a:ea typeface="Arial"/>
                <a:cs typeface="Arial"/>
              </a:defRPr>
            </a:lvl3pPr>
            <a:lvl4pPr algn="l">
              <a:defRPr sz="1020" b="1">
                <a:solidFill>
                  <a:srgbClr val="55504A"/>
                </a:solidFill>
                <a:latin typeface="Arial"/>
                <a:ea typeface="Arial"/>
                <a:cs typeface="Arial"/>
              </a:defRPr>
            </a:lvl4pPr>
            <a:lvl5pPr algn="l">
              <a:defRPr sz="1020" b="1">
                <a:solidFill>
                  <a:srgbClr val="55504A"/>
                </a:solidFill>
                <a:latin typeface="Arial"/>
                <a:ea typeface="Arial"/>
                <a:cs typeface="Arial"/>
              </a:defRPr>
            </a:lvl5pPr>
            <a:lvl6pPr algn="l">
              <a:defRPr sz="1020" b="1">
                <a:solidFill>
                  <a:srgbClr val="55504A"/>
                </a:solidFill>
                <a:latin typeface="Arial"/>
                <a:ea typeface="Arial"/>
                <a:cs typeface="Arial"/>
              </a:defRPr>
            </a:lvl6pPr>
            <a:lvl7pPr algn="l">
              <a:defRPr sz="1020" b="1">
                <a:solidFill>
                  <a:srgbClr val="55504A"/>
                </a:solidFill>
                <a:latin typeface="Arial"/>
                <a:ea typeface="Arial"/>
                <a:cs typeface="Arial"/>
              </a:defRPr>
            </a:lvl7pPr>
            <a:lvl8pPr algn="l">
              <a:defRPr sz="1020" b="1">
                <a:solidFill>
                  <a:srgbClr val="55504A"/>
                </a:solidFill>
                <a:latin typeface="Arial"/>
                <a:ea typeface="Arial"/>
                <a:cs typeface="Arial"/>
              </a:defRPr>
            </a:lvl8pPr>
            <a:lvl9pPr algn="l">
              <a:defRPr sz="1020" b="1">
                <a:solidFill>
                  <a:srgbClr val="55504A"/>
                </a:solidFill>
                <a:latin typeface="Arial"/>
                <a:ea typeface="Arial"/>
                <a:cs typeface="Arial"/>
              </a:defRPr>
            </a:lvl9pPr>
          </a:lstStyle>
          <a:p xmlns:a="http://schemas.openxmlformats.org/drawingml/2006/main">
            <a:pPr algn="l">
              <a:defRPr sz="1020" b="1">
                <a:solidFill>
                  <a:srgbClr val="55504A"/>
                </a:solidFill>
                <a:latin typeface="Arial"/>
                <a:ea typeface="Arial"/>
                <a:cs typeface="Arial"/>
              </a:defRPr>
            </a:pPr>
            <a:r>
              <a:rPr sz="1020" b="1">
                <a:solidFill>
                  <a:srgbClr val="55504A"/>
                </a:solidFill>
                <a:latin typeface="Arial"/>
                <a:ea typeface="Arial"/>
                <a:cs typeface="Arial"/>
              </a:rPr>
              <a:t>Final Project Group 2 · IEOR 4723, AI-Augmented Investment Management, Fall 2026</a:t>
            </a:r>
          </a:p>
        </p:txBody>
      </p:sp>
      <p:sp>
        <p:nvSpPr>
          <p:cNvPr id="3" name="">
            <a:extLst xmlns:a="http://schemas.openxmlformats.org/drawingml/2006/main">
              <a:ext uri="{FF2B5EF4-FFF2-40B4-BE49-F238E27FC236}">
                <a16:creationId xmlns:a16="http://schemas.microsoft.com/office/drawing/2014/main" id="{443AD457-F89E-424C-B9A0-F0DA0A05744E}"/>
              </a:ext>
            </a:extLst>
          </p:cNvPr>
          <p:cNvSpPr>
            <a:spLocks xmlns:a="http://schemas.openxmlformats.org/drawingml/2006/main" noGrp="1"/>
          </p:cNvSpPr>
          <p:nvPr/>
        </p:nvSpPr>
        <p:spPr>
          <a:xfrm xmlns:a="http://schemas.openxmlformats.org/drawingml/2006/main">
            <a:off x="609585" y="108966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43185DF-EE97-4B5D-8B22-513CD35AEFBC}"/>
              </a:ext>
            </a:extLst>
          </p:cNvPr>
          <p:cNvSpPr>
            <a:spLocks xmlns:a="http://schemas.openxmlformats.org/drawingml/2006/main" noGrp="1"/>
          </p:cNvSpPr>
          <p:nvPr/>
        </p:nvSpPr>
        <p:spPr>
          <a:xfrm xmlns:a="http://schemas.openxmlformats.org/drawingml/2006/main">
            <a:off x="609585" y="1905000"/>
            <a:ext cx="10972526" cy="1127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99462"/>
          </a:bodyPr>
          <a:lstStyle xmlns:a="http://schemas.openxmlformats.org/drawingml/2006/main">
            <a:defPPr algn="l">
              <a:defRPr sz="7440" b="0">
                <a:solidFill>
                  <a:srgbClr val="151312"/>
                </a:solidFill>
                <a:latin typeface="Georgia"/>
                <a:ea typeface="Georgia"/>
                <a:cs typeface="Georgia"/>
              </a:defRPr>
            </a:defPPr>
            <a:lvl1pPr algn="l">
              <a:defRPr sz="7440" b="0">
                <a:solidFill>
                  <a:srgbClr val="151312"/>
                </a:solidFill>
                <a:latin typeface="Georgia"/>
                <a:ea typeface="Georgia"/>
                <a:cs typeface="Georgia"/>
              </a:defRPr>
            </a:lvl1pPr>
            <a:lvl2pPr algn="l">
              <a:defRPr sz="7440" b="0">
                <a:solidFill>
                  <a:srgbClr val="151312"/>
                </a:solidFill>
                <a:latin typeface="Georgia"/>
                <a:ea typeface="Georgia"/>
                <a:cs typeface="Georgia"/>
              </a:defRPr>
            </a:lvl2pPr>
            <a:lvl3pPr algn="l">
              <a:defRPr sz="7440" b="0">
                <a:solidFill>
                  <a:srgbClr val="151312"/>
                </a:solidFill>
                <a:latin typeface="Georgia"/>
                <a:ea typeface="Georgia"/>
                <a:cs typeface="Georgia"/>
              </a:defRPr>
            </a:lvl3pPr>
            <a:lvl4pPr algn="l">
              <a:defRPr sz="7440" b="0">
                <a:solidFill>
                  <a:srgbClr val="151312"/>
                </a:solidFill>
                <a:latin typeface="Georgia"/>
                <a:ea typeface="Georgia"/>
                <a:cs typeface="Georgia"/>
              </a:defRPr>
            </a:lvl4pPr>
            <a:lvl5pPr algn="l">
              <a:defRPr sz="7440" b="0">
                <a:solidFill>
                  <a:srgbClr val="151312"/>
                </a:solidFill>
                <a:latin typeface="Georgia"/>
                <a:ea typeface="Georgia"/>
                <a:cs typeface="Georgia"/>
              </a:defRPr>
            </a:lvl5pPr>
            <a:lvl6pPr algn="l">
              <a:defRPr sz="7440" b="0">
                <a:solidFill>
                  <a:srgbClr val="151312"/>
                </a:solidFill>
                <a:latin typeface="Georgia"/>
                <a:ea typeface="Georgia"/>
                <a:cs typeface="Georgia"/>
              </a:defRPr>
            </a:lvl6pPr>
            <a:lvl7pPr algn="l">
              <a:defRPr sz="7440" b="0">
                <a:solidFill>
                  <a:srgbClr val="151312"/>
                </a:solidFill>
                <a:latin typeface="Georgia"/>
                <a:ea typeface="Georgia"/>
                <a:cs typeface="Georgia"/>
              </a:defRPr>
            </a:lvl7pPr>
            <a:lvl8pPr algn="l">
              <a:defRPr sz="7440" b="0">
                <a:solidFill>
                  <a:srgbClr val="151312"/>
                </a:solidFill>
                <a:latin typeface="Georgia"/>
                <a:ea typeface="Georgia"/>
                <a:cs typeface="Georgia"/>
              </a:defRPr>
            </a:lvl8pPr>
            <a:lvl9pPr algn="l">
              <a:defRPr sz="7440" b="0">
                <a:solidFill>
                  <a:srgbClr val="151312"/>
                </a:solidFill>
                <a:latin typeface="Georgia"/>
                <a:ea typeface="Georgia"/>
                <a:cs typeface="Georgia"/>
              </a:defRPr>
            </a:lvl9pPr>
          </a:lstStyle>
          <a:p xmlns:a="http://schemas.openxmlformats.org/drawingml/2006/main">
            <a:pPr algn="l">
              <a:defRPr sz="7440" b="0">
                <a:solidFill>
                  <a:srgbClr val="151312"/>
                </a:solidFill>
                <a:latin typeface="Georgia"/>
                <a:ea typeface="Georgia"/>
                <a:cs typeface="Georgia"/>
              </a:defRPr>
            </a:pPr>
            <a:r>
              <a:rPr sz="7440" b="0">
                <a:solidFill>
                  <a:srgbClr val="151312"/>
                </a:solidFill>
                <a:latin typeface="Georgia"/>
                <a:ea typeface="Georgia"/>
                <a:cs typeface="Georgia"/>
              </a:rPr>
              <a:t>Thank you</a:t>
            </a:r>
          </a:p>
        </p:txBody>
      </p:sp>
      <p:sp>
        <p:nvSpPr>
          <p:cNvPr id="5" name="">
            <a:extLst xmlns:a="http://schemas.openxmlformats.org/drawingml/2006/main">
              <a:ext uri="{FF2B5EF4-FFF2-40B4-BE49-F238E27FC236}">
                <a16:creationId xmlns:a16="http://schemas.microsoft.com/office/drawing/2014/main" id="{BEC8D3CB-FA49-4BD3-B2E7-804D2CCB499F}"/>
              </a:ext>
            </a:extLst>
          </p:cNvPr>
          <p:cNvSpPr>
            <a:spLocks xmlns:a="http://schemas.openxmlformats.org/drawingml/2006/main" noGrp="1"/>
          </p:cNvSpPr>
          <p:nvPr/>
        </p:nvSpPr>
        <p:spPr>
          <a:xfrm xmlns:a="http://schemas.openxmlformats.org/drawingml/2006/main">
            <a:off x="609585" y="3185160"/>
            <a:ext cx="10515337"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920" b="0">
                <a:solidFill>
                  <a:srgbClr val="45413C"/>
                </a:solidFill>
                <a:latin typeface="Arial"/>
                <a:ea typeface="Arial"/>
                <a:cs typeface="Arial"/>
              </a:defRPr>
            </a:defPPr>
            <a:lvl1pPr algn="l">
              <a:defRPr sz="1920" b="0">
                <a:solidFill>
                  <a:srgbClr val="45413C"/>
                </a:solidFill>
                <a:latin typeface="Arial"/>
                <a:ea typeface="Arial"/>
                <a:cs typeface="Arial"/>
              </a:defRPr>
            </a:lvl1pPr>
            <a:lvl2pPr algn="l">
              <a:defRPr sz="1920" b="0">
                <a:solidFill>
                  <a:srgbClr val="45413C"/>
                </a:solidFill>
                <a:latin typeface="Arial"/>
                <a:ea typeface="Arial"/>
                <a:cs typeface="Arial"/>
              </a:defRPr>
            </a:lvl2pPr>
            <a:lvl3pPr algn="l">
              <a:defRPr sz="1920" b="0">
                <a:solidFill>
                  <a:srgbClr val="45413C"/>
                </a:solidFill>
                <a:latin typeface="Arial"/>
                <a:ea typeface="Arial"/>
                <a:cs typeface="Arial"/>
              </a:defRPr>
            </a:lvl3pPr>
            <a:lvl4pPr algn="l">
              <a:defRPr sz="1920" b="0">
                <a:solidFill>
                  <a:srgbClr val="45413C"/>
                </a:solidFill>
                <a:latin typeface="Arial"/>
                <a:ea typeface="Arial"/>
                <a:cs typeface="Arial"/>
              </a:defRPr>
            </a:lvl4pPr>
            <a:lvl5pPr algn="l">
              <a:defRPr sz="1920" b="0">
                <a:solidFill>
                  <a:srgbClr val="45413C"/>
                </a:solidFill>
                <a:latin typeface="Arial"/>
                <a:ea typeface="Arial"/>
                <a:cs typeface="Arial"/>
              </a:defRPr>
            </a:lvl5pPr>
            <a:lvl6pPr algn="l">
              <a:defRPr sz="1920" b="0">
                <a:solidFill>
                  <a:srgbClr val="45413C"/>
                </a:solidFill>
                <a:latin typeface="Arial"/>
                <a:ea typeface="Arial"/>
                <a:cs typeface="Arial"/>
              </a:defRPr>
            </a:lvl6pPr>
            <a:lvl7pPr algn="l">
              <a:defRPr sz="1920" b="0">
                <a:solidFill>
                  <a:srgbClr val="45413C"/>
                </a:solidFill>
                <a:latin typeface="Arial"/>
                <a:ea typeface="Arial"/>
                <a:cs typeface="Arial"/>
              </a:defRPr>
            </a:lvl7pPr>
            <a:lvl8pPr algn="l">
              <a:defRPr sz="1920" b="0">
                <a:solidFill>
                  <a:srgbClr val="45413C"/>
                </a:solidFill>
                <a:latin typeface="Arial"/>
                <a:ea typeface="Arial"/>
                <a:cs typeface="Arial"/>
              </a:defRPr>
            </a:lvl8pPr>
            <a:lvl9pPr algn="l">
              <a:defRPr sz="1920" b="0">
                <a:solidFill>
                  <a:srgbClr val="45413C"/>
                </a:solidFill>
                <a:latin typeface="Arial"/>
                <a:ea typeface="Arial"/>
                <a:cs typeface="Arial"/>
              </a:defRPr>
            </a:lvl9pPr>
          </a:lstStyle>
          <a:p xmlns:a="http://schemas.openxmlformats.org/drawingml/2006/main">
            <a:pPr algn="l">
              <a:defRPr sz="1920" b="0">
                <a:solidFill>
                  <a:srgbClr val="45413C"/>
                </a:solidFill>
                <a:latin typeface="Arial"/>
                <a:ea typeface="Arial"/>
                <a:cs typeface="Arial"/>
              </a:defRPr>
            </a:pPr>
            <a:r>
              <a:rPr sz="1920" b="0">
                <a:solidFill>
                  <a:srgbClr val="45413C"/>
                </a:solidFill>
                <a:latin typeface="Arial"/>
                <a:ea typeface="Arial"/>
                <a:cs typeface="Arial"/>
              </a:rPr>
              <a:t>Questions and discussion</a:t>
            </a:r>
          </a:p>
        </p:txBody>
      </p:sp>
      <p:sp>
        <p:nvSpPr>
          <p:cNvPr id="6" name="">
            <a:extLst xmlns:a="http://schemas.openxmlformats.org/drawingml/2006/main">
              <a:ext uri="{FF2B5EF4-FFF2-40B4-BE49-F238E27FC236}">
                <a16:creationId xmlns:a16="http://schemas.microsoft.com/office/drawing/2014/main" id="{20D99D72-E37B-4E98-A062-E5CDCD10B43F}"/>
              </a:ext>
            </a:extLst>
          </p:cNvPr>
          <p:cNvSpPr>
            <a:spLocks xmlns:a="http://schemas.openxmlformats.org/drawingml/2006/main" noGrp="1"/>
          </p:cNvSpPr>
          <p:nvPr/>
        </p:nvSpPr>
        <p:spPr>
          <a:xfrm xmlns:a="http://schemas.openxmlformats.org/drawingml/2006/main">
            <a:off x="609585" y="4175760"/>
            <a:ext cx="10972526"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2040" b="0">
                <a:solidFill>
                  <a:srgbClr val="151312"/>
                </a:solidFill>
                <a:latin typeface="Arial"/>
                <a:ea typeface="Arial"/>
                <a:cs typeface="Arial"/>
              </a:defRPr>
            </a:defPPr>
            <a:lvl1pPr algn="l">
              <a:defRPr sz="2040" b="0">
                <a:solidFill>
                  <a:srgbClr val="151312"/>
                </a:solidFill>
                <a:latin typeface="Arial"/>
                <a:ea typeface="Arial"/>
                <a:cs typeface="Arial"/>
              </a:defRPr>
            </a:lvl1pPr>
            <a:lvl2pPr algn="l">
              <a:defRPr sz="2040" b="0">
                <a:solidFill>
                  <a:srgbClr val="151312"/>
                </a:solidFill>
                <a:latin typeface="Arial"/>
                <a:ea typeface="Arial"/>
                <a:cs typeface="Arial"/>
              </a:defRPr>
            </a:lvl2pPr>
            <a:lvl3pPr algn="l">
              <a:defRPr sz="2040" b="0">
                <a:solidFill>
                  <a:srgbClr val="151312"/>
                </a:solidFill>
                <a:latin typeface="Arial"/>
                <a:ea typeface="Arial"/>
                <a:cs typeface="Arial"/>
              </a:defRPr>
            </a:lvl3pPr>
            <a:lvl4pPr algn="l">
              <a:defRPr sz="2040" b="0">
                <a:solidFill>
                  <a:srgbClr val="151312"/>
                </a:solidFill>
                <a:latin typeface="Arial"/>
                <a:ea typeface="Arial"/>
                <a:cs typeface="Arial"/>
              </a:defRPr>
            </a:lvl4pPr>
            <a:lvl5pPr algn="l">
              <a:defRPr sz="2040" b="0">
                <a:solidFill>
                  <a:srgbClr val="151312"/>
                </a:solidFill>
                <a:latin typeface="Arial"/>
                <a:ea typeface="Arial"/>
                <a:cs typeface="Arial"/>
              </a:defRPr>
            </a:lvl5pPr>
            <a:lvl6pPr algn="l">
              <a:defRPr sz="2040" b="0">
                <a:solidFill>
                  <a:srgbClr val="151312"/>
                </a:solidFill>
                <a:latin typeface="Arial"/>
                <a:ea typeface="Arial"/>
                <a:cs typeface="Arial"/>
              </a:defRPr>
            </a:lvl6pPr>
            <a:lvl7pPr algn="l">
              <a:defRPr sz="2040" b="0">
                <a:solidFill>
                  <a:srgbClr val="151312"/>
                </a:solidFill>
                <a:latin typeface="Arial"/>
                <a:ea typeface="Arial"/>
                <a:cs typeface="Arial"/>
              </a:defRPr>
            </a:lvl7pPr>
            <a:lvl8pPr algn="l">
              <a:defRPr sz="2040" b="0">
                <a:solidFill>
                  <a:srgbClr val="151312"/>
                </a:solidFill>
                <a:latin typeface="Arial"/>
                <a:ea typeface="Arial"/>
                <a:cs typeface="Arial"/>
              </a:defRPr>
            </a:lvl8pPr>
            <a:lvl9pPr algn="l">
              <a:defRPr sz="2040" b="0">
                <a:solidFill>
                  <a:srgbClr val="151312"/>
                </a:solidFill>
                <a:latin typeface="Arial"/>
                <a:ea typeface="Arial"/>
                <a:cs typeface="Arial"/>
              </a:defRPr>
            </a:lvl9pPr>
          </a:lstStyle>
          <a:p xmlns:a="http://schemas.openxmlformats.org/drawingml/2006/main">
            <a:pPr algn="l">
              <a:defRPr sz="2040" b="0">
                <a:solidFill>
                  <a:srgbClr val="151312"/>
                </a:solidFill>
                <a:latin typeface="Arial"/>
                <a:ea typeface="Arial"/>
                <a:cs typeface="Arial"/>
              </a:defRPr>
            </a:pPr>
            <a:r>
              <a:rPr sz="2040" b="0">
                <a:solidFill>
                  <a:srgbClr val="151312"/>
                </a:solidFill>
                <a:latin typeface="Arial"/>
                <a:ea typeface="Arial"/>
                <a:cs typeface="Arial"/>
              </a:rPr>
              <a:t>fedtone.web.app</a:t>
            </a:r>
          </a:p>
        </p:txBody>
      </p:sp>
      <p:sp>
        <p:nvSpPr>
          <p:cNvPr id="7" name="">
            <a:extLst xmlns:a="http://schemas.openxmlformats.org/drawingml/2006/main">
              <a:ext uri="{FF2B5EF4-FFF2-40B4-BE49-F238E27FC236}">
                <a16:creationId xmlns:a16="http://schemas.microsoft.com/office/drawing/2014/main" id="{C5C50BA0-FF10-40F0-A310-BAF41A4C720B}"/>
              </a:ext>
            </a:extLst>
          </p:cNvPr>
          <p:cNvSpPr>
            <a:spLocks xmlns:a="http://schemas.openxmlformats.org/drawingml/2006/main" noGrp="1"/>
          </p:cNvSpPr>
          <p:nvPr/>
        </p:nvSpPr>
        <p:spPr>
          <a:xfrm xmlns:a="http://schemas.openxmlformats.org/drawingml/2006/main">
            <a:off x="609585" y="4648200"/>
            <a:ext cx="10972526"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2040" b="0">
                <a:solidFill>
                  <a:srgbClr val="151312"/>
                </a:solidFill>
                <a:latin typeface="Arial"/>
                <a:ea typeface="Arial"/>
                <a:cs typeface="Arial"/>
              </a:defRPr>
            </a:defPPr>
            <a:lvl1pPr algn="l">
              <a:defRPr sz="2040" b="0">
                <a:solidFill>
                  <a:srgbClr val="151312"/>
                </a:solidFill>
                <a:latin typeface="Arial"/>
                <a:ea typeface="Arial"/>
                <a:cs typeface="Arial"/>
              </a:defRPr>
            </a:lvl1pPr>
            <a:lvl2pPr algn="l">
              <a:defRPr sz="2040" b="0">
                <a:solidFill>
                  <a:srgbClr val="151312"/>
                </a:solidFill>
                <a:latin typeface="Arial"/>
                <a:ea typeface="Arial"/>
                <a:cs typeface="Arial"/>
              </a:defRPr>
            </a:lvl2pPr>
            <a:lvl3pPr algn="l">
              <a:defRPr sz="2040" b="0">
                <a:solidFill>
                  <a:srgbClr val="151312"/>
                </a:solidFill>
                <a:latin typeface="Arial"/>
                <a:ea typeface="Arial"/>
                <a:cs typeface="Arial"/>
              </a:defRPr>
            </a:lvl3pPr>
            <a:lvl4pPr algn="l">
              <a:defRPr sz="2040" b="0">
                <a:solidFill>
                  <a:srgbClr val="151312"/>
                </a:solidFill>
                <a:latin typeface="Arial"/>
                <a:ea typeface="Arial"/>
                <a:cs typeface="Arial"/>
              </a:defRPr>
            </a:lvl4pPr>
            <a:lvl5pPr algn="l">
              <a:defRPr sz="2040" b="0">
                <a:solidFill>
                  <a:srgbClr val="151312"/>
                </a:solidFill>
                <a:latin typeface="Arial"/>
                <a:ea typeface="Arial"/>
                <a:cs typeface="Arial"/>
              </a:defRPr>
            </a:lvl5pPr>
            <a:lvl6pPr algn="l">
              <a:defRPr sz="2040" b="0">
                <a:solidFill>
                  <a:srgbClr val="151312"/>
                </a:solidFill>
                <a:latin typeface="Arial"/>
                <a:ea typeface="Arial"/>
                <a:cs typeface="Arial"/>
              </a:defRPr>
            </a:lvl6pPr>
            <a:lvl7pPr algn="l">
              <a:defRPr sz="2040" b="0">
                <a:solidFill>
                  <a:srgbClr val="151312"/>
                </a:solidFill>
                <a:latin typeface="Arial"/>
                <a:ea typeface="Arial"/>
                <a:cs typeface="Arial"/>
              </a:defRPr>
            </a:lvl7pPr>
            <a:lvl8pPr algn="l">
              <a:defRPr sz="2040" b="0">
                <a:solidFill>
                  <a:srgbClr val="151312"/>
                </a:solidFill>
                <a:latin typeface="Arial"/>
                <a:ea typeface="Arial"/>
                <a:cs typeface="Arial"/>
              </a:defRPr>
            </a:lvl8pPr>
            <a:lvl9pPr algn="l">
              <a:defRPr sz="2040" b="0">
                <a:solidFill>
                  <a:srgbClr val="151312"/>
                </a:solidFill>
                <a:latin typeface="Arial"/>
                <a:ea typeface="Arial"/>
                <a:cs typeface="Arial"/>
              </a:defRPr>
            </a:lvl9pPr>
          </a:lstStyle>
          <a:p xmlns:a="http://schemas.openxmlformats.org/drawingml/2006/main">
            <a:pPr algn="l">
              <a:defRPr sz="2040" b="0">
                <a:solidFill>
                  <a:srgbClr val="151312"/>
                </a:solidFill>
                <a:latin typeface="Arial"/>
                <a:ea typeface="Arial"/>
                <a:cs typeface="Arial"/>
              </a:defRPr>
            </a:pPr>
            <a:r>
              <a:rPr sz="2040" b="0">
                <a:solidFill>
                  <a:srgbClr val="151312"/>
                </a:solidFill>
                <a:latin typeface="Arial"/>
                <a:ea typeface="Arial"/>
                <a:cs typeface="Arial"/>
              </a:rPr>
              <a:t>github.com/flukier1016/fomc-tone-lab</a:t>
            </a:r>
          </a:p>
        </p:txBody>
      </p:sp>
      <p:sp>
        <p:nvSpPr>
          <p:cNvPr id="8" name="">
            <a:extLst xmlns:a="http://schemas.openxmlformats.org/drawingml/2006/main">
              <a:ext uri="{FF2B5EF4-FFF2-40B4-BE49-F238E27FC236}">
                <a16:creationId xmlns:a16="http://schemas.microsoft.com/office/drawing/2014/main" id="{241D0F94-5537-4E65-BE36-4985413FEF3C}"/>
              </a:ext>
            </a:extLst>
          </p:cNvPr>
          <p:cNvSpPr>
            <a:spLocks xmlns:a="http://schemas.openxmlformats.org/drawingml/2006/main" noGrp="1"/>
          </p:cNvSpPr>
          <p:nvPr/>
        </p:nvSpPr>
        <p:spPr>
          <a:xfrm xmlns:a="http://schemas.openxmlformats.org/drawingml/2006/main">
            <a:off x="609585" y="5958840"/>
            <a:ext cx="10972526" cy="7620"/>
          </a:xfrm>
          <a:prstGeom xmlns:a="http://schemas.openxmlformats.org/drawingml/2006/main" prst="rect">
            <a:avLst/>
          </a:prstGeom>
          <a:solidFill xmlns:a="http://schemas.openxmlformats.org/drawingml/2006/main">
            <a:srgbClr val="DDD8C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FE4B3EA-C0D9-4BD6-B774-542CC09541EB}"/>
              </a:ext>
            </a:extLst>
          </p:cNvPr>
          <p:cNvSpPr>
            <a:spLocks xmlns:a="http://schemas.openxmlformats.org/drawingml/2006/main" noGrp="1"/>
          </p:cNvSpPr>
          <p:nvPr/>
        </p:nvSpPr>
        <p:spPr>
          <a:xfrm xmlns:a="http://schemas.openxmlformats.org/drawingml/2006/main">
            <a:off x="609585" y="6134100"/>
            <a:ext cx="2514537"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151312"/>
                </a:solidFill>
                <a:latin typeface="Arial"/>
                <a:ea typeface="Arial"/>
                <a:cs typeface="Arial"/>
              </a:defRPr>
            </a:defPPr>
            <a:lvl1pPr algn="l">
              <a:defRPr sz="1320" b="0">
                <a:solidFill>
                  <a:srgbClr val="151312"/>
                </a:solidFill>
                <a:latin typeface="Arial"/>
                <a:ea typeface="Arial"/>
                <a:cs typeface="Arial"/>
              </a:defRPr>
            </a:lvl1pPr>
            <a:lvl2pPr algn="l">
              <a:defRPr sz="1320" b="0">
                <a:solidFill>
                  <a:srgbClr val="151312"/>
                </a:solidFill>
                <a:latin typeface="Arial"/>
                <a:ea typeface="Arial"/>
                <a:cs typeface="Arial"/>
              </a:defRPr>
            </a:lvl2pPr>
            <a:lvl3pPr algn="l">
              <a:defRPr sz="1320" b="0">
                <a:solidFill>
                  <a:srgbClr val="151312"/>
                </a:solidFill>
                <a:latin typeface="Arial"/>
                <a:ea typeface="Arial"/>
                <a:cs typeface="Arial"/>
              </a:defRPr>
            </a:lvl3pPr>
            <a:lvl4pPr algn="l">
              <a:defRPr sz="1320" b="0">
                <a:solidFill>
                  <a:srgbClr val="151312"/>
                </a:solidFill>
                <a:latin typeface="Arial"/>
                <a:ea typeface="Arial"/>
                <a:cs typeface="Arial"/>
              </a:defRPr>
            </a:lvl4pPr>
            <a:lvl5pPr algn="l">
              <a:defRPr sz="1320" b="0">
                <a:solidFill>
                  <a:srgbClr val="151312"/>
                </a:solidFill>
                <a:latin typeface="Arial"/>
                <a:ea typeface="Arial"/>
                <a:cs typeface="Arial"/>
              </a:defRPr>
            </a:lvl5pPr>
            <a:lvl6pPr algn="l">
              <a:defRPr sz="1320" b="0">
                <a:solidFill>
                  <a:srgbClr val="151312"/>
                </a:solidFill>
                <a:latin typeface="Arial"/>
                <a:ea typeface="Arial"/>
                <a:cs typeface="Arial"/>
              </a:defRPr>
            </a:lvl6pPr>
            <a:lvl7pPr algn="l">
              <a:defRPr sz="1320" b="0">
                <a:solidFill>
                  <a:srgbClr val="151312"/>
                </a:solidFill>
                <a:latin typeface="Arial"/>
                <a:ea typeface="Arial"/>
                <a:cs typeface="Arial"/>
              </a:defRPr>
            </a:lvl7pPr>
            <a:lvl8pPr algn="l">
              <a:defRPr sz="1320" b="0">
                <a:solidFill>
                  <a:srgbClr val="151312"/>
                </a:solidFill>
                <a:latin typeface="Arial"/>
                <a:ea typeface="Arial"/>
                <a:cs typeface="Arial"/>
              </a:defRPr>
            </a:lvl8pPr>
            <a:lvl9pPr algn="l">
              <a:defRPr sz="1320" b="0">
                <a:solidFill>
                  <a:srgbClr val="151312"/>
                </a:solidFill>
                <a:latin typeface="Arial"/>
                <a:ea typeface="Arial"/>
                <a:cs typeface="Arial"/>
              </a:defRPr>
            </a:lvl9pPr>
          </a:lstStyle>
          <a:p xmlns:a="http://schemas.openxmlformats.org/drawingml/2006/main">
            <a:pPr algn="l">
              <a:defRPr sz="1320" b="0">
                <a:solidFill>
                  <a:srgbClr val="151312"/>
                </a:solidFill>
                <a:latin typeface="Arial"/>
                <a:ea typeface="Arial"/>
                <a:cs typeface="Arial"/>
              </a:defRPr>
            </a:pPr>
            <a:r>
              <a:rPr sz="1320" b="0">
                <a:solidFill>
                  <a:srgbClr val="151312"/>
                </a:solidFill>
                <a:latin typeface="Arial"/>
                <a:ea typeface="Arial"/>
                <a:cs typeface="Arial"/>
              </a:rPr>
              <a:t>Genie Zhang</a:t>
            </a:r>
          </a:p>
        </p:txBody>
      </p:sp>
      <p:sp>
        <p:nvSpPr>
          <p:cNvPr id="10" name="">
            <a:extLst xmlns:a="http://schemas.openxmlformats.org/drawingml/2006/main">
              <a:ext uri="{FF2B5EF4-FFF2-40B4-BE49-F238E27FC236}">
                <a16:creationId xmlns:a16="http://schemas.microsoft.com/office/drawing/2014/main" id="{BC539EF5-3DC2-44D9-A7CE-C0123B1344DA}"/>
              </a:ext>
            </a:extLst>
          </p:cNvPr>
          <p:cNvSpPr>
            <a:spLocks xmlns:a="http://schemas.openxmlformats.org/drawingml/2006/main" noGrp="1"/>
          </p:cNvSpPr>
          <p:nvPr/>
        </p:nvSpPr>
        <p:spPr>
          <a:xfrm xmlns:a="http://schemas.openxmlformats.org/drawingml/2006/main">
            <a:off x="3352716" y="6134100"/>
            <a:ext cx="2514537"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151312"/>
                </a:solidFill>
                <a:latin typeface="Arial"/>
                <a:ea typeface="Arial"/>
                <a:cs typeface="Arial"/>
              </a:defRPr>
            </a:defPPr>
            <a:lvl1pPr algn="l">
              <a:defRPr sz="1320" b="0">
                <a:solidFill>
                  <a:srgbClr val="151312"/>
                </a:solidFill>
                <a:latin typeface="Arial"/>
                <a:ea typeface="Arial"/>
                <a:cs typeface="Arial"/>
              </a:defRPr>
            </a:lvl1pPr>
            <a:lvl2pPr algn="l">
              <a:defRPr sz="1320" b="0">
                <a:solidFill>
                  <a:srgbClr val="151312"/>
                </a:solidFill>
                <a:latin typeface="Arial"/>
                <a:ea typeface="Arial"/>
                <a:cs typeface="Arial"/>
              </a:defRPr>
            </a:lvl2pPr>
            <a:lvl3pPr algn="l">
              <a:defRPr sz="1320" b="0">
                <a:solidFill>
                  <a:srgbClr val="151312"/>
                </a:solidFill>
                <a:latin typeface="Arial"/>
                <a:ea typeface="Arial"/>
                <a:cs typeface="Arial"/>
              </a:defRPr>
            </a:lvl3pPr>
            <a:lvl4pPr algn="l">
              <a:defRPr sz="1320" b="0">
                <a:solidFill>
                  <a:srgbClr val="151312"/>
                </a:solidFill>
                <a:latin typeface="Arial"/>
                <a:ea typeface="Arial"/>
                <a:cs typeface="Arial"/>
              </a:defRPr>
            </a:lvl4pPr>
            <a:lvl5pPr algn="l">
              <a:defRPr sz="1320" b="0">
                <a:solidFill>
                  <a:srgbClr val="151312"/>
                </a:solidFill>
                <a:latin typeface="Arial"/>
                <a:ea typeface="Arial"/>
                <a:cs typeface="Arial"/>
              </a:defRPr>
            </a:lvl5pPr>
            <a:lvl6pPr algn="l">
              <a:defRPr sz="1320" b="0">
                <a:solidFill>
                  <a:srgbClr val="151312"/>
                </a:solidFill>
                <a:latin typeface="Arial"/>
                <a:ea typeface="Arial"/>
                <a:cs typeface="Arial"/>
              </a:defRPr>
            </a:lvl6pPr>
            <a:lvl7pPr algn="l">
              <a:defRPr sz="1320" b="0">
                <a:solidFill>
                  <a:srgbClr val="151312"/>
                </a:solidFill>
                <a:latin typeface="Arial"/>
                <a:ea typeface="Arial"/>
                <a:cs typeface="Arial"/>
              </a:defRPr>
            </a:lvl7pPr>
            <a:lvl8pPr algn="l">
              <a:defRPr sz="1320" b="0">
                <a:solidFill>
                  <a:srgbClr val="151312"/>
                </a:solidFill>
                <a:latin typeface="Arial"/>
                <a:ea typeface="Arial"/>
                <a:cs typeface="Arial"/>
              </a:defRPr>
            </a:lvl8pPr>
            <a:lvl9pPr algn="l">
              <a:defRPr sz="1320" b="0">
                <a:solidFill>
                  <a:srgbClr val="151312"/>
                </a:solidFill>
                <a:latin typeface="Arial"/>
                <a:ea typeface="Arial"/>
                <a:cs typeface="Arial"/>
              </a:defRPr>
            </a:lvl9pPr>
          </a:lstStyle>
          <a:p xmlns:a="http://schemas.openxmlformats.org/drawingml/2006/main">
            <a:pPr algn="l">
              <a:defRPr sz="1320" b="0">
                <a:solidFill>
                  <a:srgbClr val="151312"/>
                </a:solidFill>
                <a:latin typeface="Arial"/>
                <a:ea typeface="Arial"/>
                <a:cs typeface="Arial"/>
              </a:defRPr>
            </a:pPr>
            <a:r>
              <a:rPr sz="1320" b="0">
                <a:solidFill>
                  <a:srgbClr val="151312"/>
                </a:solidFill>
                <a:latin typeface="Arial"/>
                <a:ea typeface="Arial"/>
                <a:cs typeface="Arial"/>
              </a:rPr>
              <a:t>Hong-syuan Lin</a:t>
            </a:r>
          </a:p>
        </p:txBody>
      </p:sp>
      <p:sp>
        <p:nvSpPr>
          <p:cNvPr id="11" name="">
            <a:extLst xmlns:a="http://schemas.openxmlformats.org/drawingml/2006/main">
              <a:ext uri="{FF2B5EF4-FFF2-40B4-BE49-F238E27FC236}">
                <a16:creationId xmlns:a16="http://schemas.microsoft.com/office/drawing/2014/main" id="{FD9D6345-F95C-4844-8497-488D370C3388}"/>
              </a:ext>
            </a:extLst>
          </p:cNvPr>
          <p:cNvSpPr>
            <a:spLocks xmlns:a="http://schemas.openxmlformats.org/drawingml/2006/main" noGrp="1"/>
          </p:cNvSpPr>
          <p:nvPr/>
        </p:nvSpPr>
        <p:spPr>
          <a:xfrm xmlns:a="http://schemas.openxmlformats.org/drawingml/2006/main">
            <a:off x="6095848" y="6134100"/>
            <a:ext cx="2514537"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151312"/>
                </a:solidFill>
                <a:latin typeface="Arial"/>
                <a:ea typeface="Arial"/>
                <a:cs typeface="Arial"/>
              </a:defRPr>
            </a:defPPr>
            <a:lvl1pPr algn="l">
              <a:defRPr sz="1320" b="0">
                <a:solidFill>
                  <a:srgbClr val="151312"/>
                </a:solidFill>
                <a:latin typeface="Arial"/>
                <a:ea typeface="Arial"/>
                <a:cs typeface="Arial"/>
              </a:defRPr>
            </a:lvl1pPr>
            <a:lvl2pPr algn="l">
              <a:defRPr sz="1320" b="0">
                <a:solidFill>
                  <a:srgbClr val="151312"/>
                </a:solidFill>
                <a:latin typeface="Arial"/>
                <a:ea typeface="Arial"/>
                <a:cs typeface="Arial"/>
              </a:defRPr>
            </a:lvl2pPr>
            <a:lvl3pPr algn="l">
              <a:defRPr sz="1320" b="0">
                <a:solidFill>
                  <a:srgbClr val="151312"/>
                </a:solidFill>
                <a:latin typeface="Arial"/>
                <a:ea typeface="Arial"/>
                <a:cs typeface="Arial"/>
              </a:defRPr>
            </a:lvl3pPr>
            <a:lvl4pPr algn="l">
              <a:defRPr sz="1320" b="0">
                <a:solidFill>
                  <a:srgbClr val="151312"/>
                </a:solidFill>
                <a:latin typeface="Arial"/>
                <a:ea typeface="Arial"/>
                <a:cs typeface="Arial"/>
              </a:defRPr>
            </a:lvl4pPr>
            <a:lvl5pPr algn="l">
              <a:defRPr sz="1320" b="0">
                <a:solidFill>
                  <a:srgbClr val="151312"/>
                </a:solidFill>
                <a:latin typeface="Arial"/>
                <a:ea typeface="Arial"/>
                <a:cs typeface="Arial"/>
              </a:defRPr>
            </a:lvl5pPr>
            <a:lvl6pPr algn="l">
              <a:defRPr sz="1320" b="0">
                <a:solidFill>
                  <a:srgbClr val="151312"/>
                </a:solidFill>
                <a:latin typeface="Arial"/>
                <a:ea typeface="Arial"/>
                <a:cs typeface="Arial"/>
              </a:defRPr>
            </a:lvl6pPr>
            <a:lvl7pPr algn="l">
              <a:defRPr sz="1320" b="0">
                <a:solidFill>
                  <a:srgbClr val="151312"/>
                </a:solidFill>
                <a:latin typeface="Arial"/>
                <a:ea typeface="Arial"/>
                <a:cs typeface="Arial"/>
              </a:defRPr>
            </a:lvl7pPr>
            <a:lvl8pPr algn="l">
              <a:defRPr sz="1320" b="0">
                <a:solidFill>
                  <a:srgbClr val="151312"/>
                </a:solidFill>
                <a:latin typeface="Arial"/>
                <a:ea typeface="Arial"/>
                <a:cs typeface="Arial"/>
              </a:defRPr>
            </a:lvl8pPr>
            <a:lvl9pPr algn="l">
              <a:defRPr sz="1320" b="0">
                <a:solidFill>
                  <a:srgbClr val="151312"/>
                </a:solidFill>
                <a:latin typeface="Arial"/>
                <a:ea typeface="Arial"/>
                <a:cs typeface="Arial"/>
              </a:defRPr>
            </a:lvl9pPr>
          </a:lstStyle>
          <a:p xmlns:a="http://schemas.openxmlformats.org/drawingml/2006/main">
            <a:pPr algn="l">
              <a:defRPr sz="1320" b="0">
                <a:solidFill>
                  <a:srgbClr val="151312"/>
                </a:solidFill>
                <a:latin typeface="Arial"/>
                <a:ea typeface="Arial"/>
                <a:cs typeface="Arial"/>
              </a:defRPr>
            </a:pPr>
            <a:r>
              <a:rPr sz="1320" b="0">
                <a:solidFill>
                  <a:srgbClr val="151312"/>
                </a:solidFill>
                <a:latin typeface="Arial"/>
                <a:ea typeface="Arial"/>
                <a:cs typeface="Arial"/>
              </a:rPr>
              <a:t>Myron Pang</a:t>
            </a:r>
          </a:p>
        </p:txBody>
      </p:sp>
      <p:sp>
        <p:nvSpPr>
          <p:cNvPr id="12" name="">
            <a:extLst xmlns:a="http://schemas.openxmlformats.org/drawingml/2006/main">
              <a:ext uri="{FF2B5EF4-FFF2-40B4-BE49-F238E27FC236}">
                <a16:creationId xmlns:a16="http://schemas.microsoft.com/office/drawing/2014/main" id="{433A0148-73CB-4E03-B865-3851D76D7787}"/>
              </a:ext>
            </a:extLst>
          </p:cNvPr>
          <p:cNvSpPr>
            <a:spLocks xmlns:a="http://schemas.openxmlformats.org/drawingml/2006/main" noGrp="1"/>
          </p:cNvSpPr>
          <p:nvPr/>
        </p:nvSpPr>
        <p:spPr>
          <a:xfrm xmlns:a="http://schemas.openxmlformats.org/drawingml/2006/main">
            <a:off x="8838979" y="6134100"/>
            <a:ext cx="2514537"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320" b="0">
                <a:solidFill>
                  <a:srgbClr val="151312"/>
                </a:solidFill>
                <a:latin typeface="Arial"/>
                <a:ea typeface="Arial"/>
                <a:cs typeface="Arial"/>
              </a:defRPr>
            </a:defPPr>
            <a:lvl1pPr algn="l">
              <a:defRPr sz="1320" b="0">
                <a:solidFill>
                  <a:srgbClr val="151312"/>
                </a:solidFill>
                <a:latin typeface="Arial"/>
                <a:ea typeface="Arial"/>
                <a:cs typeface="Arial"/>
              </a:defRPr>
            </a:lvl1pPr>
            <a:lvl2pPr algn="l">
              <a:defRPr sz="1320" b="0">
                <a:solidFill>
                  <a:srgbClr val="151312"/>
                </a:solidFill>
                <a:latin typeface="Arial"/>
                <a:ea typeface="Arial"/>
                <a:cs typeface="Arial"/>
              </a:defRPr>
            </a:lvl2pPr>
            <a:lvl3pPr algn="l">
              <a:defRPr sz="1320" b="0">
                <a:solidFill>
                  <a:srgbClr val="151312"/>
                </a:solidFill>
                <a:latin typeface="Arial"/>
                <a:ea typeface="Arial"/>
                <a:cs typeface="Arial"/>
              </a:defRPr>
            </a:lvl3pPr>
            <a:lvl4pPr algn="l">
              <a:defRPr sz="1320" b="0">
                <a:solidFill>
                  <a:srgbClr val="151312"/>
                </a:solidFill>
                <a:latin typeface="Arial"/>
                <a:ea typeface="Arial"/>
                <a:cs typeface="Arial"/>
              </a:defRPr>
            </a:lvl4pPr>
            <a:lvl5pPr algn="l">
              <a:defRPr sz="1320" b="0">
                <a:solidFill>
                  <a:srgbClr val="151312"/>
                </a:solidFill>
                <a:latin typeface="Arial"/>
                <a:ea typeface="Arial"/>
                <a:cs typeface="Arial"/>
              </a:defRPr>
            </a:lvl5pPr>
            <a:lvl6pPr algn="l">
              <a:defRPr sz="1320" b="0">
                <a:solidFill>
                  <a:srgbClr val="151312"/>
                </a:solidFill>
                <a:latin typeface="Arial"/>
                <a:ea typeface="Arial"/>
                <a:cs typeface="Arial"/>
              </a:defRPr>
            </a:lvl6pPr>
            <a:lvl7pPr algn="l">
              <a:defRPr sz="1320" b="0">
                <a:solidFill>
                  <a:srgbClr val="151312"/>
                </a:solidFill>
                <a:latin typeface="Arial"/>
                <a:ea typeface="Arial"/>
                <a:cs typeface="Arial"/>
              </a:defRPr>
            </a:lvl7pPr>
            <a:lvl8pPr algn="l">
              <a:defRPr sz="1320" b="0">
                <a:solidFill>
                  <a:srgbClr val="151312"/>
                </a:solidFill>
                <a:latin typeface="Arial"/>
                <a:ea typeface="Arial"/>
                <a:cs typeface="Arial"/>
              </a:defRPr>
            </a:lvl8pPr>
            <a:lvl9pPr algn="l">
              <a:defRPr sz="1320" b="0">
                <a:solidFill>
                  <a:srgbClr val="151312"/>
                </a:solidFill>
                <a:latin typeface="Arial"/>
                <a:ea typeface="Arial"/>
                <a:cs typeface="Arial"/>
              </a:defRPr>
            </a:lvl9pPr>
          </a:lstStyle>
          <a:p xmlns:a="http://schemas.openxmlformats.org/drawingml/2006/main">
            <a:pPr algn="l">
              <a:defRPr sz="1320" b="0">
                <a:solidFill>
                  <a:srgbClr val="151312"/>
                </a:solidFill>
                <a:latin typeface="Arial"/>
                <a:ea typeface="Arial"/>
                <a:cs typeface="Arial"/>
              </a:defRPr>
            </a:pPr>
            <a:r>
              <a:rPr sz="1320" b="0">
                <a:solidFill>
                  <a:srgbClr val="151312"/>
                </a:solidFill>
                <a:latin typeface="Arial"/>
                <a:ea typeface="Arial"/>
                <a:cs typeface="Arial"/>
              </a:rPr>
              <a:t>Weijun Situ</a:t>
            </a:r>
          </a:p>
        </p:txBody>
      </p:sp>
    </p:spTree>
    <p:extLst>
      <p:ext uri="{BB962C8B-B14F-4D97-AF65-F5344CB8AC3E}">
        <p14:creationId xmlns:p14="http://schemas.microsoft.com/office/powerpoint/2010/main" val="11597848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FOMC Tone Lab</ap:Application>
  <ap:PresentationFormat>Widescreen</ap:PresentationFormat>
  <ap:Slides>46</ap:Slides>
  <ap:Notes>46</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Genie Zhang, Hong-syuan Lin, Myron Pang, Weijun Situ</dc:creator>
  <lastModifiedBy>Final Project Group 2</lastModifiedBy>
  <dc:title>FOMC Tone Lab</dc:title>
  <dcterms:created xsi:type="dcterms:W3CDTF">2026-10-26T21:45:35.5830000Z</dcterms:created>
  <dcterms:modified xsi:type="dcterms:W3CDTF">2026-10-26T21:45:35.5830000Z</dcterms:modified>
</coreProperties>
</file>